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c9fd839ba4c3d" /><Relationship Type="http://schemas.openxmlformats.org/officeDocument/2006/relationships/extended-properties" Target="/docProps/app.xml" Id="R0380d3279d024f58" /><Relationship Type="http://schemas.openxmlformats.org/officeDocument/2006/relationships/officeDocument" Target="/ppt/presentation.xml" Id="Rae8354913986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5df30ac1e4983"/>
  </p:sldMasterIdLst>
  <p:notesMasterIdLst>
    <p:notesMasterId xmlns:r="http://schemas.openxmlformats.org/officeDocument/2006/relationships" r:id="R0a2b0b61b9564af6"/>
  </p:notesMasterIdLst>
  <p:sldIdLst>
    <p:sldId xmlns:r="http://schemas.openxmlformats.org/officeDocument/2006/relationships" id="256" r:id="Rd5fbeb3f3a2c4474"/>
    <p:sldId xmlns:r="http://schemas.openxmlformats.org/officeDocument/2006/relationships" id="257" r:id="Ra2a3b937765e487c"/>
    <p:sldId xmlns:r="http://schemas.openxmlformats.org/officeDocument/2006/relationships" id="258" r:id="R05fbdec691b7486f"/>
    <p:sldId xmlns:r="http://schemas.openxmlformats.org/officeDocument/2006/relationships" id="259" r:id="Rd50f7fd0ed5d4276"/>
    <p:sldId xmlns:r="http://schemas.openxmlformats.org/officeDocument/2006/relationships" id="260" r:id="R633136ba51aa4844"/>
    <p:sldId xmlns:r="http://schemas.openxmlformats.org/officeDocument/2006/relationships" id="261" r:id="Re62a37cf36fb45e6"/>
    <p:sldId xmlns:r="http://schemas.openxmlformats.org/officeDocument/2006/relationships" id="262" r:id="R0a8c1a67beda4e42"/>
    <p:sldId xmlns:r="http://schemas.openxmlformats.org/officeDocument/2006/relationships" id="263" r:id="Rac2aa8e7397f430e"/>
    <p:sldId xmlns:r="http://schemas.openxmlformats.org/officeDocument/2006/relationships" id="264" r:id="R0d1e673936db4aaf"/>
    <p:sldId xmlns:r="http://schemas.openxmlformats.org/officeDocument/2006/relationships" id="265" r:id="Rdb1573c3866d4b93"/>
    <p:sldId xmlns:r="http://schemas.openxmlformats.org/officeDocument/2006/relationships" id="266" r:id="R8f1d5691778a460b"/>
    <p:sldId xmlns:r="http://schemas.openxmlformats.org/officeDocument/2006/relationships" id="267" r:id="R867f66e971b84b6d"/>
    <p:sldId xmlns:r="http://schemas.openxmlformats.org/officeDocument/2006/relationships" id="268" r:id="R01ff1ed693824105"/>
    <p:sldId xmlns:r="http://schemas.openxmlformats.org/officeDocument/2006/relationships" id="269" r:id="Rb6f790255d7d4f57"/>
    <p:sldId xmlns:r="http://schemas.openxmlformats.org/officeDocument/2006/relationships" id="270" r:id="Rd919fb1b8ef14c5f"/>
    <p:sldId xmlns:r="http://schemas.openxmlformats.org/officeDocument/2006/relationships" id="271" r:id="R367be52200004deb"/>
    <p:sldId xmlns:r="http://schemas.openxmlformats.org/officeDocument/2006/relationships" id="272" r:id="R0899e909440f4912"/>
    <p:sldId xmlns:r="http://schemas.openxmlformats.org/officeDocument/2006/relationships" id="273" r:id="R9883835545b7482e"/>
    <p:sldId xmlns:r="http://schemas.openxmlformats.org/officeDocument/2006/relationships" id="274" r:id="R38035311ea034a8c"/>
    <p:sldId xmlns:r="http://schemas.openxmlformats.org/officeDocument/2006/relationships" id="275" r:id="Rd3abdc9289a34dfb"/>
    <p:sldId xmlns:r="http://schemas.openxmlformats.org/officeDocument/2006/relationships" id="276" r:id="R901cafa6982e4675"/>
    <p:sldId xmlns:r="http://schemas.openxmlformats.org/officeDocument/2006/relationships" id="277" r:id="R342a6357541a4586"/>
    <p:sldId xmlns:r="http://schemas.openxmlformats.org/officeDocument/2006/relationships" id="278" r:id="R5fd67262f9834714"/>
    <p:sldId xmlns:r="http://schemas.openxmlformats.org/officeDocument/2006/relationships" id="279" r:id="Re26bcf78c96843de"/>
    <p:sldId xmlns:r="http://schemas.openxmlformats.org/officeDocument/2006/relationships" id="280" r:id="Rb1cc1ef054e64c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926d4bc121470a" /><Relationship Type="http://schemas.openxmlformats.org/officeDocument/2006/relationships/slideMaster" Target="/ppt/slideMasters/slideMaster1.xml" Id="R3825df30ac1e4983" /><Relationship Type="http://schemas.openxmlformats.org/officeDocument/2006/relationships/notesMaster" Target="/ppt/notesMasters/notesMaster1.xml" Id="R0a2b0b61b9564af6" /><Relationship Type="http://schemas.openxmlformats.org/officeDocument/2006/relationships/presProps" Target="/ppt/presProps.xml" Id="Ra09ccc57e0514988" /><Relationship Type="http://schemas.openxmlformats.org/officeDocument/2006/relationships/tableStyles" Target="/ppt/tableStyles.xml" Id="R38000f3866ad4068" /><Relationship Type="http://schemas.openxmlformats.org/officeDocument/2006/relationships/slide" Target="/ppt/slides/slide1.xml" Id="Rd5fbeb3f3a2c4474" /><Relationship Type="http://schemas.openxmlformats.org/officeDocument/2006/relationships/slide" Target="/ppt/slides/slide2.xml" Id="Ra2a3b937765e487c" /><Relationship Type="http://schemas.openxmlformats.org/officeDocument/2006/relationships/slide" Target="/ppt/slides/slide3.xml" Id="R05fbdec691b7486f" /><Relationship Type="http://schemas.openxmlformats.org/officeDocument/2006/relationships/slide" Target="/ppt/slides/slide4.xml" Id="Rd50f7fd0ed5d4276" /><Relationship Type="http://schemas.openxmlformats.org/officeDocument/2006/relationships/slide" Target="/ppt/slides/slide5.xml" Id="R633136ba51aa4844" /><Relationship Type="http://schemas.openxmlformats.org/officeDocument/2006/relationships/slide" Target="/ppt/slides/slide6.xml" Id="Re62a37cf36fb45e6" /><Relationship Type="http://schemas.openxmlformats.org/officeDocument/2006/relationships/slide" Target="/ppt/slides/slide7.xml" Id="R0a8c1a67beda4e42" /><Relationship Type="http://schemas.openxmlformats.org/officeDocument/2006/relationships/slide" Target="/ppt/slides/slide8.xml" Id="Rac2aa8e7397f430e" /><Relationship Type="http://schemas.openxmlformats.org/officeDocument/2006/relationships/slide" Target="/ppt/slides/slide9.xml" Id="R0d1e673936db4aaf" /><Relationship Type="http://schemas.openxmlformats.org/officeDocument/2006/relationships/slide" Target="/ppt/slides/slide10.xml" Id="Rdb1573c3866d4b93" /><Relationship Type="http://schemas.openxmlformats.org/officeDocument/2006/relationships/slide" Target="/ppt/slides/slide11.xml" Id="R8f1d5691778a460b" /><Relationship Type="http://schemas.openxmlformats.org/officeDocument/2006/relationships/slide" Target="/ppt/slides/slide12.xml" Id="R867f66e971b84b6d" /><Relationship Type="http://schemas.openxmlformats.org/officeDocument/2006/relationships/slide" Target="/ppt/slides/slide13.xml" Id="R01ff1ed693824105" /><Relationship Type="http://schemas.openxmlformats.org/officeDocument/2006/relationships/slide" Target="/ppt/slides/slide14.xml" Id="Rb6f790255d7d4f57" /><Relationship Type="http://schemas.openxmlformats.org/officeDocument/2006/relationships/slide" Target="/ppt/slides/slide15.xml" Id="Rd919fb1b8ef14c5f" /><Relationship Type="http://schemas.openxmlformats.org/officeDocument/2006/relationships/slide" Target="/ppt/slides/slide16.xml" Id="R367be52200004deb" /><Relationship Type="http://schemas.openxmlformats.org/officeDocument/2006/relationships/slide" Target="/ppt/slides/slide17.xml" Id="R0899e909440f4912" /><Relationship Type="http://schemas.openxmlformats.org/officeDocument/2006/relationships/slide" Target="/ppt/slides/slide18.xml" Id="R9883835545b7482e" /><Relationship Type="http://schemas.openxmlformats.org/officeDocument/2006/relationships/slide" Target="/ppt/slides/slide19.xml" Id="R38035311ea034a8c" /><Relationship Type="http://schemas.openxmlformats.org/officeDocument/2006/relationships/slide" Target="/ppt/slides/slide20.xml" Id="Rd3abdc9289a34dfb" /><Relationship Type="http://schemas.openxmlformats.org/officeDocument/2006/relationships/slide" Target="/ppt/slides/slide21.xml" Id="R901cafa6982e4675" /><Relationship Type="http://schemas.openxmlformats.org/officeDocument/2006/relationships/slide" Target="/ppt/slides/slide22.xml" Id="R342a6357541a4586" /><Relationship Type="http://schemas.openxmlformats.org/officeDocument/2006/relationships/slide" Target="/ppt/slides/slide23.xml" Id="R5fd67262f9834714" /><Relationship Type="http://schemas.openxmlformats.org/officeDocument/2006/relationships/slide" Target="/ppt/slides/slide24.xml" Id="Re26bcf78c96843de" /><Relationship Type="http://schemas.openxmlformats.org/officeDocument/2006/relationships/slide" Target="/ppt/slides/slide25.xml" Id="Rb1cc1ef054e64c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dd2ace3ee2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b73a11ee354eac" /><Relationship Type="http://schemas.openxmlformats.org/officeDocument/2006/relationships/notesMaster" Target="/ppt/notesMasters/notesMaster1.xml" Id="Rd46e4aacae2c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3024cf4804d07" /><Relationship Type="http://schemas.openxmlformats.org/officeDocument/2006/relationships/notesMaster" Target="/ppt/notesMasters/notesMaster1.xml" Id="R7a7799cf0a3847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b1ef58513c4e27" /><Relationship Type="http://schemas.openxmlformats.org/officeDocument/2006/relationships/notesMaster" Target="/ppt/notesMasters/notesMaster1.xml" Id="Rdeb2d19db465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eb6cbbbeed4144" /><Relationship Type="http://schemas.openxmlformats.org/officeDocument/2006/relationships/notesMaster" Target="/ppt/notesMasters/notesMaster1.xml" Id="R961064ccd223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035dc6702049ca" /><Relationship Type="http://schemas.openxmlformats.org/officeDocument/2006/relationships/notesMaster" Target="/ppt/notesMasters/notesMaster1.xml" Id="R87ec90a5c8d9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07ce04fd5b4bb4" /><Relationship Type="http://schemas.openxmlformats.org/officeDocument/2006/relationships/notesMaster" Target="/ppt/notesMasters/notesMaster1.xml" Id="Rb39563f8cb374b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9dd2330f1045c3" /><Relationship Type="http://schemas.openxmlformats.org/officeDocument/2006/relationships/notesMaster" Target="/ppt/notesMasters/notesMaster1.xml" Id="R9364f733f8c84d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df00384f224700" /><Relationship Type="http://schemas.openxmlformats.org/officeDocument/2006/relationships/notesMaster" Target="/ppt/notesMasters/notesMaster1.xml" Id="Raeb205ffa3624c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fb12e29f10485f" /><Relationship Type="http://schemas.openxmlformats.org/officeDocument/2006/relationships/notesMaster" Target="/ppt/notesMasters/notesMaster1.xml" Id="R59b27e58cca041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80ae9a94c4631" /><Relationship Type="http://schemas.openxmlformats.org/officeDocument/2006/relationships/notesMaster" Target="/ppt/notesMasters/notesMaster1.xml" Id="R68963fa57f134d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190cccac274f22" /><Relationship Type="http://schemas.openxmlformats.org/officeDocument/2006/relationships/notesMaster" Target="/ppt/notesMasters/notesMaster1.xml" Id="R5d39131066ad49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94d33ea3a2433e" /><Relationship Type="http://schemas.openxmlformats.org/officeDocument/2006/relationships/notesMaster" Target="/ppt/notesMasters/notesMaster1.xml" Id="R8006892aa9984e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242c5b4a564dd5" /><Relationship Type="http://schemas.openxmlformats.org/officeDocument/2006/relationships/notesMaster" Target="/ppt/notesMasters/notesMaster1.xml" Id="R4e314a4fe0ef40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4181bf2f23439c" /><Relationship Type="http://schemas.openxmlformats.org/officeDocument/2006/relationships/notesMaster" Target="/ppt/notesMasters/notesMaster1.xml" Id="R87707c6764d449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6c837616b248a9" /><Relationship Type="http://schemas.openxmlformats.org/officeDocument/2006/relationships/notesMaster" Target="/ppt/notesMasters/notesMaster1.xml" Id="Rd312a64d8b9e4c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24add3d4e7488a" /><Relationship Type="http://schemas.openxmlformats.org/officeDocument/2006/relationships/notesMaster" Target="/ppt/notesMasters/notesMaster1.xml" Id="R1f516bb0d2e644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9734f894d54916" /><Relationship Type="http://schemas.openxmlformats.org/officeDocument/2006/relationships/notesMaster" Target="/ppt/notesMasters/notesMaster1.xml" Id="Rf0ee467133534d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c57c545c6a4926" /><Relationship Type="http://schemas.openxmlformats.org/officeDocument/2006/relationships/notesMaster" Target="/ppt/notesMasters/notesMaster1.xml" Id="R123569d99de245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f2281e77e94857" /><Relationship Type="http://schemas.openxmlformats.org/officeDocument/2006/relationships/notesMaster" Target="/ppt/notesMasters/notesMaster1.xml" Id="Rb5381ff6d1c84a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2fff383fe34194" /><Relationship Type="http://schemas.openxmlformats.org/officeDocument/2006/relationships/notesMaster" Target="/ppt/notesMasters/notesMaster1.xml" Id="R82d592e7b85749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553e99fb2242fa" /><Relationship Type="http://schemas.openxmlformats.org/officeDocument/2006/relationships/notesMaster" Target="/ppt/notesMasters/notesMaster1.xml" Id="Rc87fa4a220fa4d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9af861ab0f42c1" /><Relationship Type="http://schemas.openxmlformats.org/officeDocument/2006/relationships/notesMaster" Target="/ppt/notesMasters/notesMaster1.xml" Id="R2c87bd560cbc42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d75948abf3437c" /><Relationship Type="http://schemas.openxmlformats.org/officeDocument/2006/relationships/notesMaster" Target="/ppt/notesMasters/notesMaster1.xml" Id="Rd82ed463c95f42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37b496dfa7a4a54" /><Relationship Type="http://schemas.openxmlformats.org/officeDocument/2006/relationships/notesMaster" Target="/ppt/notesMasters/notesMaster1.xml" Id="R4e97beb1282c4e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09eeaa5b46e4b22" /><Relationship Type="http://schemas.openxmlformats.org/officeDocument/2006/relationships/notesMaster" Target="/ppt/notesMasters/notesMaster1.xml" Id="Rcf43558b912642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Welcome participants, confirm that all activity stays inside approved lab environments, and introduce the four scanner streams.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/Users/anjali/Cloud_Vulnerabilities/workshop/marp-demo/images/deeptrustxai-logo.png</a:t>
            </a:r>
          </a:p>
          <a:p xmlns:a="http://schemas.openxmlformats.org/drawingml/2006/main">
            <a:r>
              <a:t>- /Users/anjali/Cloud_Vulnerabilities/output/playwright/cloudguard-portal.png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Set the success criteria before discussing tools. Ask participants to keep one finding throughout the session and use it in the final evidence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>Explain the pace and the warm-live approach. The workshop remains within two and a half hours if each exercise stops at its stated completion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Introduce the first module and state that the workshop uses vulnerable resources inside isolated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Trace one scan from the portal to a worker, then to evidence storage and the GRC view. Avoid discussing deployment internals that do not affect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/Users/anjali/Cloud_Vulnerabilities/handoff/grc-compliance-governance/setup-dokploy-cloudguard-stack.png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Confirm written authorization, stop conditions, and who owns cleanup. Make it explicit that the lab creates insecure resources, not insecure production accounts.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Assign one assistant to watch scan jobs and one person to track cleanup. Open all required pages in separate tabs before the workshop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- /Users/anjali/Cloud_Vulnerabilities/output/playwright/cloudguard-portal.png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Tell participants that each demonstration follows the same sequence so they can compare scanner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Explain the fallback policy. The audience should still see a live launch even when the completed result supplies the detailed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Use the pre-provisioned AWS lab. Show the account boundary before launching the scan, then select one finding that can later be mapped to GRC.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/Users/anjali/Cloud_Vulnerabilities/grc-platform/cloudguard-test-labs/aws/main.tf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>If the optional test principal is configured, show the broad editor binding. Otherwise focus on storage, firewall, and VM posture.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/Users/anjali/Cloud_Vulnerabilities/grc-platform/cloudguard-test-labs/gcp/main.tf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Keep the workload benign even though its configuration is unsafe. Do not place real secrets or data inside the namespace.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/Users/anjali/Cloud_Vulnerabilities/grc-platform/cloudguard-test-labs/kubernetes/vulnerable-k8s.yaml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>Do not apply the IaC fixtures. Show the original file, the scanner finding with line evidence, one corrected setting, and the clean or reduced rescan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/Users/anjali/Cloud_Vulnerabilities/grc-platform/cloudguard-test-labs/iac/terraform/vulnerable-aws.tf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Ask the audience to prioritize one finding. Require them to state the asset value, exposure path, identity impact, and available closure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Split participants into pairs if access is limited. State the completion check for each exercise before the timer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 minutes</a:t>
            </a:r>
          </a:p>
          <a:p xmlns:a="http://schemas.openxmlformats.org/drawingml/2006/main">
            <a:r>
              <a:t>The facilitator should pre-provision the AWS lab. Participants scan and analyze it; they should not create new accounts or make destructive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/Users/anjali/Cloud_Vulnerabilities/grc-platform/cloudguard-test-labs/aws/main.tf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 minutes</a:t>
            </a:r>
          </a:p>
          <a:p xmlns:a="http://schemas.openxmlformats.org/drawingml/2006/main">
            <a:r>
              <a:t>Use only the instructor-provided project. If cloud quota or latency blocks the live job, use the completed scan while keeping the fresh job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/Users/anjali/Cloud_Vulnerabilities/grc-platform/cloudguard-test-labs/gcp/main.tf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Apply only to a disposable cluster. Keep the payload benign, verify the namespace name before deletion, and capture cleanup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/Users/anjali/Cloud_Vulnerabilities/grc-platform/cloudguard-test-labs/kubernetes/vulnerable-k8s.yaml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</a:t>
            </a:r>
          </a:p>
          <a:p xmlns:a="http://schemas.openxmlformats.org/drawingml/2006/main">
            <a:r>
              <a:t>This exercise does not need cloud credentials. If time is short, use it as the mandatory participant exercise and treat the live cloud labs as guided demonstrations.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/Users/anjali/Cloud_Vulnerabilities/grc-platform/cloudguard-test-labs/iac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Collect one record from each group. Use the selected records in Module 4 to demonstrate GRC mapping and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Use the lab report-out as the input for the governance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</a:t>
            </a:r>
          </a:p>
          <a:p xmlns:a="http://schemas.openxmlformats.org/drawingml/2006/main">
            <a:r>
              <a:t>Take one lab finding and identify its source, asset, proof, control mapping, and owner. Emphasize checksum and lineage when evidence moves through a connector.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/Users/anjali/Cloud_Vulnerabilities/handoff/grc-compliance-governance/architecture-grc-evidence-flow.png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Map the selected lab finding to a control. Assign the owner and identify the evidence or rescan needed to change the control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/Users/anjali/Cloud_Vulnerabilities/grc-platform/frontend/e2e/__snapshots__/visual.spec.ts/controls-list.png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- /Users/anjali/Cloud_Vulnerabilities/grc-platform/README.md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Demonstrate validation and approval. Do not execute production-changing automation during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/Users/anjali/Cloud_Vulnerabilities/output/playwright/cloudguard-reason-act.png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Verify cleanup before questions. Assign any unresolved cleanup action to a named owner and keep the session open until the owner confirms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aa8207e1846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d9c4b952a4829" /><Relationship Type="http://schemas.openxmlformats.org/officeDocument/2006/relationships/slideLayout" Target="/ppt/slideLayouts/slideLayout1.xml" Id="R4f05e1a8afc648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05e1a8afc648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487fe49114ea1" /><Relationship Type="http://schemas.openxmlformats.org/officeDocument/2006/relationships/image" Target="/ppt/media/image.png" Id="R0955e8f0b2c946e2" /><Relationship Type="http://schemas.openxmlformats.org/officeDocument/2006/relationships/image" Target="/ppt/media/image2.png" Id="R4fd93d1151e043bd" /><Relationship Type="http://schemas.openxmlformats.org/officeDocument/2006/relationships/notesSlide" Target="/ppt/notesSlides/notesSlide1.xml" Id="Raa7b5ee4adf54f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5c1ef758044be" /><Relationship Type="http://schemas.openxmlformats.org/officeDocument/2006/relationships/image" Target="/ppt/media/image3.png" Id="R99439f7dc1464d21" /><Relationship Type="http://schemas.openxmlformats.org/officeDocument/2006/relationships/notesSlide" Target="/ppt/notesSlides/notesSlide2.xml" Id="R6c73c760838047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a957663e7402e" /><Relationship Type="http://schemas.openxmlformats.org/officeDocument/2006/relationships/image" Target="/ppt/media/image4.png" Id="R530d9ebf50174f9f" /><Relationship Type="http://schemas.openxmlformats.org/officeDocument/2006/relationships/notesSlide" Target="/ppt/notesSlides/notesSlide3.xml" Id="R314d0553ccc246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e41c0c7aa4f6a" /><Relationship Type="http://schemas.openxmlformats.org/officeDocument/2006/relationships/image" Target="/ppt/media/image5.png" Id="Re6439cb9fc3d42c8" /><Relationship Type="http://schemas.openxmlformats.org/officeDocument/2006/relationships/notesSlide" Target="/ppt/notesSlides/notesSlide4.xml" Id="R661656d3ff214d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37cc5f7cc4a85" /><Relationship Type="http://schemas.openxmlformats.org/officeDocument/2006/relationships/image" Target="/ppt/media/image6.png" Id="R8a69294d47ee49d6" /><Relationship Type="http://schemas.openxmlformats.org/officeDocument/2006/relationships/image" Target="/ppt/media/image7.png" Id="R2564ed8fc7b64959" /><Relationship Type="http://schemas.openxmlformats.org/officeDocument/2006/relationships/notesSlide" Target="/ppt/notesSlides/notesSlide5.xml" Id="R2c951737b46541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be8e4413f470d" /><Relationship Type="http://schemas.openxmlformats.org/officeDocument/2006/relationships/image" Target="/ppt/media/image8.png" Id="R7129524cfd424921" /><Relationship Type="http://schemas.openxmlformats.org/officeDocument/2006/relationships/notesSlide" Target="/ppt/notesSlides/notesSlide6.xml" Id="R6969d9ffe9b745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978dc734c4e36" /><Relationship Type="http://schemas.openxmlformats.org/officeDocument/2006/relationships/image" Target="/ppt/media/image9.png" Id="Rffe042452754402f" /><Relationship Type="http://schemas.openxmlformats.org/officeDocument/2006/relationships/notesSlide" Target="/ppt/notesSlides/notesSlide7.xml" Id="R2f3f137b831041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cf183287b44ee" /><Relationship Type="http://schemas.openxmlformats.org/officeDocument/2006/relationships/image" Target="/ppt/media/image10.png" Id="R2bc624f09f064987" /><Relationship Type="http://schemas.openxmlformats.org/officeDocument/2006/relationships/notesSlide" Target="/ppt/notesSlides/notesSlide8.xml" Id="R500b6de5906b42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d8d9411b34a2b" /><Relationship Type="http://schemas.openxmlformats.org/officeDocument/2006/relationships/image" Target="/ppt/media/image11.png" Id="Rd3d7ca8eb8284db8" /><Relationship Type="http://schemas.openxmlformats.org/officeDocument/2006/relationships/notesSlide" Target="/ppt/notesSlides/notesSlide9.xml" Id="R44585387091444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81966eeb4679" /><Relationship Type="http://schemas.openxmlformats.org/officeDocument/2006/relationships/image" Target="/ppt/media/image12.png" Id="Radcdeea380b642e9" /><Relationship Type="http://schemas.openxmlformats.org/officeDocument/2006/relationships/notesSlide" Target="/ppt/notesSlides/notesSlide10.xml" Id="Re28be3cc35eb4d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aeff30cf64eae" /><Relationship Type="http://schemas.openxmlformats.org/officeDocument/2006/relationships/image" Target="/ppt/media/image13.png" Id="Rf1a21a0faf7a4eca" /><Relationship Type="http://schemas.openxmlformats.org/officeDocument/2006/relationships/notesSlide" Target="/ppt/notesSlides/notesSlide11.xml" Id="R9af9a9e1770344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2aca619574741" /><Relationship Type="http://schemas.openxmlformats.org/officeDocument/2006/relationships/image" Target="/ppt/media/image14.png" Id="Rdefc03f0f2984236" /><Relationship Type="http://schemas.openxmlformats.org/officeDocument/2006/relationships/notesSlide" Target="/ppt/notesSlides/notesSlide12.xml" Id="R583862e86f3149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acfad23834021" /><Relationship Type="http://schemas.openxmlformats.org/officeDocument/2006/relationships/image" Target="/ppt/media/image15.png" Id="Re8742caa31f94e27" /><Relationship Type="http://schemas.openxmlformats.org/officeDocument/2006/relationships/notesSlide" Target="/ppt/notesSlides/notesSlide13.xml" Id="Rfb09dfeb293c42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604bff7f44e2c" /><Relationship Type="http://schemas.openxmlformats.org/officeDocument/2006/relationships/image" Target="/ppt/media/image16.png" Id="R5bcb798159eb4c62" /><Relationship Type="http://schemas.openxmlformats.org/officeDocument/2006/relationships/notesSlide" Target="/ppt/notesSlides/notesSlide14.xml" Id="Rea060ed1324e45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98307319a4109" /><Relationship Type="http://schemas.openxmlformats.org/officeDocument/2006/relationships/image" Target="/ppt/media/image17.png" Id="Rd84427bcd57342c7" /><Relationship Type="http://schemas.openxmlformats.org/officeDocument/2006/relationships/notesSlide" Target="/ppt/notesSlides/notesSlide15.xml" Id="R11c36006601f49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ff2409a9b4b33" /><Relationship Type="http://schemas.openxmlformats.org/officeDocument/2006/relationships/image" Target="/ppt/media/image18.png" Id="R1e22fa0c5a7a459a" /><Relationship Type="http://schemas.openxmlformats.org/officeDocument/2006/relationships/notesSlide" Target="/ppt/notesSlides/notesSlide16.xml" Id="R8fa473afb8264b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966860b424f11" /><Relationship Type="http://schemas.openxmlformats.org/officeDocument/2006/relationships/image" Target="/ppt/media/image19.png" Id="R57987a1f124d4b5c" /><Relationship Type="http://schemas.openxmlformats.org/officeDocument/2006/relationships/notesSlide" Target="/ppt/notesSlides/notesSlide17.xml" Id="R3fefd2735e3048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7ae9c19ba426e" /><Relationship Type="http://schemas.openxmlformats.org/officeDocument/2006/relationships/image" Target="/ppt/media/image20.png" Id="R3a230000ce15476b" /><Relationship Type="http://schemas.openxmlformats.org/officeDocument/2006/relationships/notesSlide" Target="/ppt/notesSlides/notesSlide18.xml" Id="Rbd984276757a4c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97b5ca0774c29" /><Relationship Type="http://schemas.openxmlformats.org/officeDocument/2006/relationships/image" Target="/ppt/media/image21.png" Id="R1481afc521fa4357" /><Relationship Type="http://schemas.openxmlformats.org/officeDocument/2006/relationships/notesSlide" Target="/ppt/notesSlides/notesSlide19.xml" Id="R6e3dca4693fd4e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3c75eb29a4cfb" /><Relationship Type="http://schemas.openxmlformats.org/officeDocument/2006/relationships/image" Target="/ppt/media/image22.png" Id="R397150106ecf443f" /><Relationship Type="http://schemas.openxmlformats.org/officeDocument/2006/relationships/notesSlide" Target="/ppt/notesSlides/notesSlide20.xml" Id="Rdd9030c53e9847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b2c0d68a47e1" /><Relationship Type="http://schemas.openxmlformats.org/officeDocument/2006/relationships/image" Target="/ppt/media/image23.png" Id="Rc518dfdca52249a0" /><Relationship Type="http://schemas.openxmlformats.org/officeDocument/2006/relationships/notesSlide" Target="/ppt/notesSlides/notesSlide21.xml" Id="R68e6556718e646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455e58b784f68" /><Relationship Type="http://schemas.openxmlformats.org/officeDocument/2006/relationships/image" Target="/ppt/media/image24.png" Id="R7cbb4a40c7e44082" /><Relationship Type="http://schemas.openxmlformats.org/officeDocument/2006/relationships/image" Target="/ppt/media/image25.png" Id="Rf42077a2d9ed4f69" /><Relationship Type="http://schemas.openxmlformats.org/officeDocument/2006/relationships/notesSlide" Target="/ppt/notesSlides/notesSlide22.xml" Id="R2267f7b5643449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9637248604610" /><Relationship Type="http://schemas.openxmlformats.org/officeDocument/2006/relationships/image" Target="/ppt/media/image26.png" Id="Rf1f496c786484170" /><Relationship Type="http://schemas.openxmlformats.org/officeDocument/2006/relationships/image" Target="/ppt/media/image27.png" Id="R7c391122529b4b2d" /><Relationship Type="http://schemas.openxmlformats.org/officeDocument/2006/relationships/notesSlide" Target="/ppt/notesSlides/notesSlide23.xml" Id="Rb41c1eacbab743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8cabc3e854dc8" /><Relationship Type="http://schemas.openxmlformats.org/officeDocument/2006/relationships/image" Target="/ppt/media/image28.png" Id="R09a4b91911e34bb4" /><Relationship Type="http://schemas.openxmlformats.org/officeDocument/2006/relationships/image" Target="/ppt/media/image29.png" Id="R79900cc736f2462d" /><Relationship Type="http://schemas.openxmlformats.org/officeDocument/2006/relationships/notesSlide" Target="/ppt/notesSlides/notesSlide24.xml" Id="R9159e8b68ed94a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79006b089495b" /><Relationship Type="http://schemas.openxmlformats.org/officeDocument/2006/relationships/image" Target="/ppt/media/image30.png" Id="R69fd39eadf1542cd" /><Relationship Type="http://schemas.openxmlformats.org/officeDocument/2006/relationships/notesSlide" Target="/ppt/notesSlides/notesSlide25.xml" Id="R0d23873c7c554a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5e8f0b2c946e2"/>
          <a:stretch xmlns:a="http://schemas.openxmlformats.org/drawingml/2006/main"/>
        </p:blipFill>
        <p:spPr>
          <a:xfrm xmlns:a="http://schemas.openxmlformats.org/drawingml/2006/main">
            <a:off x="647700" y="4953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F27CD5F7-1E54-415E-A395-00CA4295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6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9A064CB-63D2-4F6B-9141-ED03C99C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42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CloudGuard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Security Workshop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7D1C56F-0951-470D-9834-E1DE778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Four scanner demonstrations with separate practical labs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71D2462E-EB60-41A0-92A0-74F77C85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CB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7CBC5"/>
                </a:solidFill>
                <a:latin typeface="Helvetica Neue"/>
                <a:ea typeface="Helvetica Neue"/>
                <a:cs typeface="Helvetica Neue"/>
              </a:rPr>
              <a:t>AWS   GCP   Kubernetes   Infrastructure as Code</a:t>
            </a:r>
          </a:p>
        </p:txBody>
      </p:sp>
      <p:sp>
        <p:nvSpPr>
          <p:cNvPr id="6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7EE1F4D0-260E-4F91-90A2-B9F8B68D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Facilitator deck  |  150 minutes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93d1151e043bd"/>
          <a:srcRect xmlns:a="http://schemas.openxmlformats.org/drawingml/2006/main" l="23281" t="0" r="232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95300"/>
            <a:ext cx="5429250" cy="5715000"/>
          </a:xfrm>
          <a:prstGeom xmlns:a="http://schemas.openxmlformats.org/drawingml/2006/main" prst="roundRect">
            <a:avLst>
              <a:gd name="adj" fmla="val 2456"/>
            </a:avLst>
          </a:prstGeom>
        </p:spPr>
      </p:pic>
    </p:spTree>
    <p:extLst>
      <p:ext uri="{BB962C8B-B14F-4D97-AF65-F5344CB8AC3E}">
        <p14:creationId xmlns:p14="http://schemas.microsoft.com/office/powerpoint/2010/main" val="238899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">
            <a:extLst xmlns:a="http://schemas.openxmlformats.org/drawingml/2006/main">
              <a:ext uri="{FF2B5EF4-FFF2-40B4-BE49-F238E27FC236}">
                <a16:creationId xmlns:a16="http://schemas.microsoft.com/office/drawing/2014/main" id="{B10B159E-E25D-40D8-9D30-AC07B40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OPENING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4C58319-F0D0-4149-85A7-1530797F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3548560B-2197-44C1-A32A-E7949DE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39f7dc1464d21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">
            <a:extLst xmlns:a="http://schemas.openxmlformats.org/drawingml/2006/main">
              <a:ext uri="{FF2B5EF4-FFF2-40B4-BE49-F238E27FC236}">
                <a16:creationId xmlns:a16="http://schemas.microsoft.com/office/drawing/2014/main" id="{B8A22275-115F-4428-9983-34F3500D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74616194-451B-49C2-A800-D1626929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BA03DAA6-82D7-4F65-BFF6-DF8CE3A0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outcome-lead">
            <a:extLst xmlns:a="http://schemas.openxmlformats.org/drawingml/2006/main">
              <a:ext uri="{FF2B5EF4-FFF2-40B4-BE49-F238E27FC236}">
                <a16:creationId xmlns:a16="http://schemas.microsoft.com/office/drawing/2014/main" id="{C64A769C-FF36-4CAA-B3FC-81BD6BA9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Participants finish with a complete finding story, not only a scan report.</a:t>
            </a:r>
          </a:p>
        </p:txBody>
      </p:sp>
      <p:sp>
        <p:nvSpPr>
          <p:cNvPr id="9" name="outcome-left-title">
            <a:extLst xmlns:a="http://schemas.openxmlformats.org/drawingml/2006/main">
              <a:ext uri="{FF2B5EF4-FFF2-40B4-BE49-F238E27FC236}">
                <a16:creationId xmlns:a16="http://schemas.microsoft.com/office/drawing/2014/main" id="{5E990BFE-E086-4EEE-8C5C-8CEFBBFB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Participants will be able to</a:t>
            </a:r>
          </a:p>
        </p:txBody>
      </p:sp>
      <p:sp>
        <p:nvSpPr>
          <p:cNvPr id="10" name="outcome-left">
            <a:extLst xmlns:a="http://schemas.openxmlformats.org/drawingml/2006/main">
              <a:ext uri="{FF2B5EF4-FFF2-40B4-BE49-F238E27FC236}">
                <a16:creationId xmlns:a16="http://schemas.microsoft.com/office/drawing/2014/main" id="{7EE83E5C-D508-486E-9261-6960906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 what each scanner checks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unsafe identity, storage, network, workload, and IaC settings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Collect evidence without exposing real credentials or data</a:t>
            </a:r>
          </a:p>
        </p:txBody>
      </p:sp>
      <p:sp>
        <p:nvSpPr>
          <p:cNvPr id="11" name="outcome-divider">
            <a:extLst xmlns:a="http://schemas.openxmlformats.org/drawingml/2006/main">
              <a:ext uri="{FF2B5EF4-FFF2-40B4-BE49-F238E27FC236}">
                <a16:creationId xmlns:a16="http://schemas.microsoft.com/office/drawing/2014/main" id="{1BB2E814-F2C7-4DAF-B775-0D27049E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2" name="outcome-right-title">
            <a:extLst xmlns:a="http://schemas.openxmlformats.org/drawingml/2006/main">
              <a:ext uri="{FF2B5EF4-FFF2-40B4-BE49-F238E27FC236}">
                <a16:creationId xmlns:a16="http://schemas.microsoft.com/office/drawing/2014/main" id="{F5A7403D-1139-400E-8214-D8F9FBE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output</a:t>
            </a:r>
          </a:p>
        </p:txBody>
      </p:sp>
      <p:sp>
        <p:nvSpPr>
          <p:cNvPr id="13" name="outcome-right">
            <a:extLst xmlns:a="http://schemas.openxmlformats.org/drawingml/2006/main">
              <a:ext uri="{FF2B5EF4-FFF2-40B4-BE49-F238E27FC236}">
                <a16:creationId xmlns:a16="http://schemas.microsoft.com/office/drawing/2014/main" id="{264B43EF-BBBA-496B-A486-60C8491E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One finding mapped to an asset and control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 named remediation owner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 cleanup event or rescan that proves closure</a:t>
            </a:r>
          </a:p>
        </p:txBody>
      </p:sp>
    </p:spTree>
    <p:extLst>
      <p:ext uri="{BB962C8B-B14F-4D97-AF65-F5344CB8AC3E}">
        <p14:creationId xmlns:p14="http://schemas.microsoft.com/office/powerpoint/2010/main" val="1585057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3">
            <a:extLst xmlns:a="http://schemas.openxmlformats.org/drawingml/2006/main">
              <a:ext uri="{FF2B5EF4-FFF2-40B4-BE49-F238E27FC236}">
                <a16:creationId xmlns:a16="http://schemas.microsoft.com/office/drawing/2014/main" id="{ECFBFCCE-AE3D-4CA4-B60E-B979ACBD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OPENING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912B181-84C4-4B7C-B197-347C583E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150-minute agenda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EB49A55-0449-4782-AC99-3502C5E4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d9ebf50174f9f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3">
            <a:extLst xmlns:a="http://schemas.openxmlformats.org/drawingml/2006/main">
              <a:ext uri="{FF2B5EF4-FFF2-40B4-BE49-F238E27FC236}">
                <a16:creationId xmlns:a16="http://schemas.microsoft.com/office/drawing/2014/main" id="{B026DEA3-DE1D-4664-94C5-F034F498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25F100CD-A0AE-4234-97D2-6F57A2CF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22FD3B04-410E-4C0C-9CAC-E54BDFE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428750"/>
                <a:gridCol w="7886700"/>
              </a:tblGrid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Opening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Outcomes, scope, and lab rules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Foundations and safe lab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2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demonstrations of all four scanners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practical lab exercises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4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Evidence, GRC, and approval workflow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Cleanup proof, questions, and next steps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71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39cb9fc3d42c8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4">
            <a:extLst xmlns:a="http://schemas.openxmlformats.org/drawingml/2006/main">
              <a:ext uri="{FF2B5EF4-FFF2-40B4-BE49-F238E27FC236}">
                <a16:creationId xmlns:a16="http://schemas.microsoft.com/office/drawing/2014/main" id="{85F3504A-3BE7-451D-B59D-80B28947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7A3CEB5F-E291-414C-B0F9-94DE3E83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module-title-4">
            <a:extLst xmlns:a="http://schemas.openxmlformats.org/drawingml/2006/main">
              <a:ext uri="{FF2B5EF4-FFF2-40B4-BE49-F238E27FC236}">
                <a16:creationId xmlns:a16="http://schemas.microsoft.com/office/drawing/2014/main" id="{7B6E4EB2-F699-4187-A68F-85E876D3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Foundations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lab design</a:t>
            </a:r>
          </a:p>
        </p:txBody>
      </p:sp>
      <p:sp>
        <p:nvSpPr>
          <p:cNvPr id="5" name="module-purpose-4">
            <a:extLst xmlns:a="http://schemas.openxmlformats.org/drawingml/2006/main">
              <a:ext uri="{FF2B5EF4-FFF2-40B4-BE49-F238E27FC236}">
                <a16:creationId xmlns:a16="http://schemas.microsoft.com/office/drawing/2014/main" id="{F3DDB929-A0FF-4365-852F-6559B5F4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Understand the platform, the authorization boundary, and the facilitator setup before any scan begins.</a:t>
            </a:r>
          </a:p>
        </p:txBody>
      </p:sp>
      <p:sp>
        <p:nvSpPr>
          <p:cNvPr id="6" name="module-time-4">
            <a:extLst xmlns:a="http://schemas.openxmlformats.org/drawingml/2006/main">
              <a:ext uri="{FF2B5EF4-FFF2-40B4-BE49-F238E27FC236}">
                <a16:creationId xmlns:a16="http://schemas.microsoft.com/office/drawing/2014/main" id="{D7151150-B41C-46E5-89F0-F519E5DD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20 minutes</a:t>
            </a:r>
          </a:p>
        </p:txBody>
      </p:sp>
      <p:sp>
        <p:nvSpPr>
          <p:cNvPr id="7" name="module-rule-4">
            <a:extLst xmlns:a="http://schemas.openxmlformats.org/drawingml/2006/main">
              <a:ext uri="{FF2B5EF4-FFF2-40B4-BE49-F238E27FC236}">
                <a16:creationId xmlns:a16="http://schemas.microsoft.com/office/drawing/2014/main" id="{9D32C4AB-DA76-4089-89AD-04BB908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4">
            <a:extLst xmlns:a="http://schemas.openxmlformats.org/drawingml/2006/main">
              <a:ext uri="{FF2B5EF4-FFF2-40B4-BE49-F238E27FC236}">
                <a16:creationId xmlns:a16="http://schemas.microsoft.com/office/drawing/2014/main" id="{14A8B1C9-CCE7-496E-8112-39402DAF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4">
            <a:extLst xmlns:a="http://schemas.openxmlformats.org/drawingml/2006/main">
              <a:ext uri="{FF2B5EF4-FFF2-40B4-BE49-F238E27FC236}">
                <a16:creationId xmlns:a16="http://schemas.microsoft.com/office/drawing/2014/main" id="{894B4C93-500A-4419-B68E-08E3C8A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8384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33AF014B-39BE-40AF-B860-4D8D04B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4D0AB25-65FF-4F75-9044-9638EE0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CloudGuard platform architecture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B404770-9C7F-466F-8F57-1CA445EA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9294d47ee49d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5">
            <a:extLst xmlns:a="http://schemas.openxmlformats.org/drawingml/2006/main">
              <a:ext uri="{FF2B5EF4-FFF2-40B4-BE49-F238E27FC236}">
                <a16:creationId xmlns:a16="http://schemas.microsoft.com/office/drawing/2014/main" id="{2A3848A5-8319-4165-A5C2-BFCD697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BAB86559-DD2F-4B44-B4FF-FAAC8E6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D68A04E8-F830-4C41-941D-ACD1E43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8" name="arch-copy">
            <a:extLst xmlns:a="http://schemas.openxmlformats.org/drawingml/2006/main">
              <a:ext uri="{FF2B5EF4-FFF2-40B4-BE49-F238E27FC236}">
                <a16:creationId xmlns:a16="http://schemas.microsoft.com/office/drawing/2014/main" id="{8A02D8E4-478E-4943-9D85-F5A29BD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The portal records scope and scan status. Separate workers collect provider-specific findings, and the evidence layer keeps the governance view available.</a:t>
            </a:r>
          </a:p>
        </p:txBody>
      </p:sp>
      <p:sp>
        <p:nvSpPr>
          <p:cNvPr id="9" name="arch-bullets">
            <a:extLst xmlns:a="http://schemas.openxmlformats.org/drawingml/2006/main">
              <a:ext uri="{FF2B5EF4-FFF2-40B4-BE49-F238E27FC236}">
                <a16:creationId xmlns:a16="http://schemas.microsoft.com/office/drawing/2014/main" id="{D6BE83CF-C33C-4CF8-90FF-7828E830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Portal for targets, credential references, and job state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Workers for AWS, GCP, Kubernetes, and IaC analysis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records with source, asset, proof, and checksum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GRC records with owner, action, and audit history</a:t>
            </a:r>
          </a:p>
        </p:txBody>
      </p:sp>
      <p:sp>
        <p:nvSpPr>
          <p:cNvPr id="10" name="arch-frame">
            <a:extLst xmlns:a="http://schemas.openxmlformats.org/drawingml/2006/main">
              <a:ext uri="{FF2B5EF4-FFF2-40B4-BE49-F238E27FC236}">
                <a16:creationId xmlns:a16="http://schemas.microsoft.com/office/drawing/2014/main" id="{6AD0A800-C22C-433B-BB1D-586F8D97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896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B9C9C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4ed8fc7b64959"/>
          <a:stretch xmlns:a="http://schemas.openxmlformats.org/drawingml/2006/main"/>
        </p:blipFill>
        <p:spPr>
          <a:xfrm xmlns:a="http://schemas.openxmlformats.org/drawingml/2006/main">
            <a:off x="4914900" y="1946672"/>
            <a:ext cx="6591300" cy="3707606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</p:spTree>
    <p:extLst>
      <p:ext uri="{BB962C8B-B14F-4D97-AF65-F5344CB8AC3E}">
        <p14:creationId xmlns:p14="http://schemas.microsoft.com/office/powerpoint/2010/main" val="104044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6">
            <a:extLst xmlns:a="http://schemas.openxmlformats.org/drawingml/2006/main">
              <a:ext uri="{FF2B5EF4-FFF2-40B4-BE49-F238E27FC236}">
                <a16:creationId xmlns:a16="http://schemas.microsoft.com/office/drawing/2014/main" id="{658C5B66-1EB1-41E5-B498-55E31E4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BADC04E-3D97-491E-BE9C-4C287601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Authorized lab boundaries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E2E1E8FA-B522-4895-B23F-E4583AF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9524cfd424921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6">
            <a:extLst xmlns:a="http://schemas.openxmlformats.org/drawingml/2006/main">
              <a:ext uri="{FF2B5EF4-FFF2-40B4-BE49-F238E27FC236}">
                <a16:creationId xmlns:a16="http://schemas.microsoft.com/office/drawing/2014/main" id="{4FF964AE-E8EA-4F5F-AD10-CDD64569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B2D2302F-2911-4D7C-B120-6FC0880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1BEEF664-23A3-475B-B412-8C0F542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8" name="safety-callout">
            <a:extLst xmlns:a="http://schemas.openxmlformats.org/drawingml/2006/main">
              <a:ext uri="{FF2B5EF4-FFF2-40B4-BE49-F238E27FC236}">
                <a16:creationId xmlns:a16="http://schemas.microsoft.com/office/drawing/2014/main" id="{5B593CBA-B953-4C28-B257-BC59D1C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rPr>
              <a:t>Use vulnerable resources inside approved sandboxes. Do not weaken production accounts.</a:t>
            </a:r>
          </a:p>
        </p:txBody>
      </p:sp>
      <p:sp>
        <p:nvSpPr>
          <p:cNvPr id="9" name="safety-scope-title">
            <a:extLst xmlns:a="http://schemas.openxmlformats.org/drawingml/2006/main">
              <a:ext uri="{FF2B5EF4-FFF2-40B4-BE49-F238E27FC236}">
                <a16:creationId xmlns:a16="http://schemas.microsoft.com/office/drawing/2014/main" id="{5B5ACC96-11EF-44EB-B778-01CCF611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Allowed scope</a:t>
            </a:r>
          </a:p>
        </p:txBody>
      </p:sp>
      <p:sp>
        <p:nvSpPr>
          <p:cNvPr id="10" name="safety-scope">
            <a:extLst xmlns:a="http://schemas.openxmlformats.org/drawingml/2006/main">
              <a:ext uri="{FF2B5EF4-FFF2-40B4-BE49-F238E27FC236}">
                <a16:creationId xmlns:a16="http://schemas.microsoft.com/office/drawing/2014/main" id="{5DBDFA42-E70D-42F2-B996-6D28953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AWS account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GCP project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cluster or namespace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Local IaC fixture that will never be applied</a:t>
            </a:r>
          </a:p>
        </p:txBody>
      </p:sp>
      <p:sp>
        <p:nvSpPr>
          <p:cNvPr id="11" name="safety-controls-title">
            <a:extLst xmlns:a="http://schemas.openxmlformats.org/drawingml/2006/main">
              <a:ext uri="{FF2B5EF4-FFF2-40B4-BE49-F238E27FC236}">
                <a16:creationId xmlns:a16="http://schemas.microsoft.com/office/drawing/2014/main" id="{2D877B25-624C-48D1-BD8C-03AC28EB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Required controls</a:t>
            </a:r>
          </a:p>
        </p:txBody>
      </p:sp>
      <p:sp>
        <p:nvSpPr>
          <p:cNvPr id="12" name="safety-controls">
            <a:extLst xmlns:a="http://schemas.openxmlformats.org/drawingml/2006/main">
              <a:ext uri="{FF2B5EF4-FFF2-40B4-BE49-F238E27FC236}">
                <a16:creationId xmlns:a16="http://schemas.microsoft.com/office/drawing/2014/main" id="{363D1A2D-5DB5-4B76-B3F8-67D0374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Dummy data and dummy secrets only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cloudguard-test tag or label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Budget alert, expiry, and named cleanup owner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Destroy command tested before the workshop</a:t>
            </a:r>
          </a:p>
        </p:txBody>
      </p:sp>
    </p:spTree>
    <p:extLst>
      <p:ext uri="{BB962C8B-B14F-4D97-AF65-F5344CB8AC3E}">
        <p14:creationId xmlns:p14="http://schemas.microsoft.com/office/powerpoint/2010/main" val="873307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7">
            <a:extLst xmlns:a="http://schemas.openxmlformats.org/drawingml/2006/main">
              <a:ext uri="{FF2B5EF4-FFF2-40B4-BE49-F238E27FC236}">
                <a16:creationId xmlns:a16="http://schemas.microsoft.com/office/drawing/2014/main" id="{3C60AD5C-F88B-4C8D-BF37-E7DB1D9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98D6B20-2CFD-45B6-AF3A-4F96BCB3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Facilitator readiness checklist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7D44B9F3-0A34-465F-AF8D-B34FFE5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042452754402f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7">
            <a:extLst xmlns:a="http://schemas.openxmlformats.org/drawingml/2006/main">
              <a:ext uri="{FF2B5EF4-FFF2-40B4-BE49-F238E27FC236}">
                <a16:creationId xmlns:a16="http://schemas.microsoft.com/office/drawing/2014/main" id="{85F40812-996B-4171-8686-22066D55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9FE5537B-CF5E-4368-8F0C-401DB35D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45DE13F4-B1AE-4F75-8576-AF5C8E0B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695700"/>
              </a:tblGrid>
              <a:tr h="742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participants arrive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During every demo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the session ends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portal login and tenants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Show a fresh job entering the queue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Destroy AWS and GCP resources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 one successful scan per provider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the completed result if the live job waits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Delete Kubernetes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Capture fallback screenshots and raw output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raw evidence redacted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cleanup events and final proof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Verify budget alerts and destroy commands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the selected finding 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Revoke temporary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adiness-note-bg">
            <a:extLst xmlns:a="http://schemas.openxmlformats.org/drawingml/2006/main">
              <a:ext uri="{FF2B5EF4-FFF2-40B4-BE49-F238E27FC236}">
                <a16:creationId xmlns:a16="http://schemas.microsoft.com/office/drawing/2014/main" id="{1942DFC8-E017-472D-A7F6-7ABF1F68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0" name="readiness-note">
            <a:extLst xmlns:a="http://schemas.openxmlformats.org/drawingml/2006/main">
              <a:ext uri="{FF2B5EF4-FFF2-40B4-BE49-F238E27FC236}">
                <a16:creationId xmlns:a16="http://schemas.microsoft.com/office/drawing/2014/main" id="{13ED7F6D-6025-49BA-8C38-B230F8A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Keep live launch and queue state visible, with a completed scan ready as the fallback.</a:t>
            </a:r>
          </a:p>
        </p:txBody>
      </p:sp>
    </p:spTree>
    <p:extLst>
      <p:ext uri="{BB962C8B-B14F-4D97-AF65-F5344CB8AC3E}">
        <p14:creationId xmlns:p14="http://schemas.microsoft.com/office/powerpoint/2010/main" val="531975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624f09f06498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8">
            <a:extLst xmlns:a="http://schemas.openxmlformats.org/drawingml/2006/main">
              <a:ext uri="{FF2B5EF4-FFF2-40B4-BE49-F238E27FC236}">
                <a16:creationId xmlns:a16="http://schemas.microsoft.com/office/drawing/2014/main" id="{0CB156D3-2EAA-4B6C-8919-20313B09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8">
            <a:extLst xmlns:a="http://schemas.openxmlformats.org/drawingml/2006/main">
              <a:ext uri="{FF2B5EF4-FFF2-40B4-BE49-F238E27FC236}">
                <a16:creationId xmlns:a16="http://schemas.microsoft.com/office/drawing/2014/main" id="{B8D5CDCD-F829-4DA8-96BC-14751B19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module-title-8">
            <a:extLst xmlns:a="http://schemas.openxmlformats.org/drawingml/2006/main">
              <a:ext uri="{FF2B5EF4-FFF2-40B4-BE49-F238E27FC236}">
                <a16:creationId xmlns:a16="http://schemas.microsoft.com/office/drawing/2014/main" id="{52EF771E-0598-4DB2-B8D9-CDE1029F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scanner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demonstrations</a:t>
            </a:r>
          </a:p>
        </p:txBody>
      </p:sp>
      <p:sp>
        <p:nvSpPr>
          <p:cNvPr id="5" name="module-purpose-8">
            <a:extLst xmlns:a="http://schemas.openxmlformats.org/drawingml/2006/main">
              <a:ext uri="{FF2B5EF4-FFF2-40B4-BE49-F238E27FC236}">
                <a16:creationId xmlns:a16="http://schemas.microsoft.com/office/drawing/2014/main" id="{F5D2CDAB-736B-429F-B63A-453E333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Show the full path from authorized target to finding, evidence, and the next action.</a:t>
            </a:r>
          </a:p>
        </p:txBody>
      </p:sp>
      <p:sp>
        <p:nvSpPr>
          <p:cNvPr id="6" name="module-time-8">
            <a:extLst xmlns:a="http://schemas.openxmlformats.org/drawingml/2006/main">
              <a:ext uri="{FF2B5EF4-FFF2-40B4-BE49-F238E27FC236}">
                <a16:creationId xmlns:a16="http://schemas.microsoft.com/office/drawing/2014/main" id="{0ACD71FC-303F-4AD0-945C-7CADE132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55 minutes</a:t>
            </a:r>
          </a:p>
        </p:txBody>
      </p:sp>
      <p:sp>
        <p:nvSpPr>
          <p:cNvPr id="7" name="module-rule-8">
            <a:extLst xmlns:a="http://schemas.openxmlformats.org/drawingml/2006/main">
              <a:ext uri="{FF2B5EF4-FFF2-40B4-BE49-F238E27FC236}">
                <a16:creationId xmlns:a16="http://schemas.microsoft.com/office/drawing/2014/main" id="{57CB90FC-9E9C-4F36-984D-CEF6EBE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8">
            <a:extLst xmlns:a="http://schemas.openxmlformats.org/drawingml/2006/main">
              <a:ext uri="{FF2B5EF4-FFF2-40B4-BE49-F238E27FC236}">
                <a16:creationId xmlns:a16="http://schemas.microsoft.com/office/drawing/2014/main" id="{4D7C8655-AA7E-4B15-AA8B-9D44C515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8">
            <a:extLst xmlns:a="http://schemas.openxmlformats.org/drawingml/2006/main">
              <a:ext uri="{FF2B5EF4-FFF2-40B4-BE49-F238E27FC236}">
                <a16:creationId xmlns:a16="http://schemas.microsoft.com/office/drawing/2014/main" id="{AFA911DC-4562-4E18-8A40-C374285D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0099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9">
            <a:extLst xmlns:a="http://schemas.openxmlformats.org/drawingml/2006/main">
              <a:ext uri="{FF2B5EF4-FFF2-40B4-BE49-F238E27FC236}">
                <a16:creationId xmlns:a16="http://schemas.microsoft.com/office/drawing/2014/main" id="{03FF0CF3-A4AD-48E3-98C0-148FC3DA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84E4E42-8827-42F9-9129-311D516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Warm-live demonstration method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5D7B9B80-EF53-4D3C-AA6C-40E2E29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7ca8eb8284db8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9">
            <a:extLst xmlns:a="http://schemas.openxmlformats.org/drawingml/2006/main">
              <a:ext uri="{FF2B5EF4-FFF2-40B4-BE49-F238E27FC236}">
                <a16:creationId xmlns:a16="http://schemas.microsoft.com/office/drawing/2014/main" id="{EF8D470C-CEA4-4769-B20A-A7F8815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95690A48-0E11-478F-BA1D-D2EE48EF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8C53BADE-F9C7-41E0-B6B8-676C74E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8" name="warm-num-0">
            <a:extLst xmlns:a="http://schemas.openxmlformats.org/drawingml/2006/main">
              <a:ext uri="{FF2B5EF4-FFF2-40B4-BE49-F238E27FC236}">
                <a16:creationId xmlns:a16="http://schemas.microsoft.com/office/drawing/2014/main" id="{CF685858-7429-4513-8CCB-F761BE78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warm-rule-0">
            <a:extLst xmlns:a="http://schemas.openxmlformats.org/drawingml/2006/main">
              <a:ext uri="{FF2B5EF4-FFF2-40B4-BE49-F238E27FC236}">
                <a16:creationId xmlns:a16="http://schemas.microsoft.com/office/drawing/2014/main" id="{FA19FCE2-A9C3-40F0-8D76-6B2A3AB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0" name="warm-title-0">
            <a:extLst xmlns:a="http://schemas.openxmlformats.org/drawingml/2006/main">
              <a:ext uri="{FF2B5EF4-FFF2-40B4-BE49-F238E27FC236}">
                <a16:creationId xmlns:a16="http://schemas.microsoft.com/office/drawing/2014/main" id="{DC1BC202-B9D9-4D3F-9FE5-1E6758A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1" name="warm-body-0">
            <a:extLst xmlns:a="http://schemas.openxmlformats.org/drawingml/2006/main">
              <a:ext uri="{FF2B5EF4-FFF2-40B4-BE49-F238E27FC236}">
                <a16:creationId xmlns:a16="http://schemas.microsoft.com/office/drawing/2014/main" id="{92305AE3-8668-4741-96B6-C661550E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Provision targets and retain one completed scan for each provider.</a:t>
            </a:r>
          </a:p>
        </p:txBody>
      </p:sp>
      <p:sp>
        <p:nvSpPr>
          <p:cNvPr id="12" name="warm-num-1">
            <a:extLst xmlns:a="http://schemas.openxmlformats.org/drawingml/2006/main">
              <a:ext uri="{FF2B5EF4-FFF2-40B4-BE49-F238E27FC236}">
                <a16:creationId xmlns:a16="http://schemas.microsoft.com/office/drawing/2014/main" id="{30DE72E9-8490-4889-B8AC-564E106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warm-rule-1">
            <a:extLst xmlns:a="http://schemas.openxmlformats.org/drawingml/2006/main">
              <a:ext uri="{FF2B5EF4-FFF2-40B4-BE49-F238E27FC236}">
                <a16:creationId xmlns:a16="http://schemas.microsoft.com/office/drawing/2014/main" id="{F0883D78-EC19-4AAF-9972-45321C12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4" name="warm-title-1">
            <a:extLst xmlns:a="http://schemas.openxmlformats.org/drawingml/2006/main">
              <a:ext uri="{FF2B5EF4-FFF2-40B4-BE49-F238E27FC236}">
                <a16:creationId xmlns:a16="http://schemas.microsoft.com/office/drawing/2014/main" id="{D91F39B8-5909-4333-8BB1-5755D10A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15" name="warm-body-1">
            <a:extLst xmlns:a="http://schemas.openxmlformats.org/drawingml/2006/main">
              <a:ext uri="{FF2B5EF4-FFF2-40B4-BE49-F238E27FC236}">
                <a16:creationId xmlns:a16="http://schemas.microsoft.com/office/drawing/2014/main" id="{6EC73C52-6E13-46C8-8E68-AA16119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Start a fresh scan and show the queued or running state.</a:t>
            </a:r>
          </a:p>
        </p:txBody>
      </p:sp>
      <p:sp>
        <p:nvSpPr>
          <p:cNvPr id="16" name="warm-num-2">
            <a:extLst xmlns:a="http://schemas.openxmlformats.org/drawingml/2006/main">
              <a:ext uri="{FF2B5EF4-FFF2-40B4-BE49-F238E27FC236}">
                <a16:creationId xmlns:a16="http://schemas.microsoft.com/office/drawing/2014/main" id="{1D20C9FD-6702-40E1-AC67-9817796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warm-rule-2">
            <a:extLst xmlns:a="http://schemas.openxmlformats.org/drawingml/2006/main">
              <a:ext uri="{FF2B5EF4-FFF2-40B4-BE49-F238E27FC236}">
                <a16:creationId xmlns:a16="http://schemas.microsoft.com/office/drawing/2014/main" id="{58D657AB-4E51-46BA-878C-76387F6B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8" name="warm-title-2">
            <a:extLst xmlns:a="http://schemas.openxmlformats.org/drawingml/2006/main">
              <a:ext uri="{FF2B5EF4-FFF2-40B4-BE49-F238E27FC236}">
                <a16:creationId xmlns:a16="http://schemas.microsoft.com/office/drawing/2014/main" id="{513D2257-30D1-45F3-B258-C3BFC2A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</a:t>
            </a:r>
          </a:p>
        </p:txBody>
      </p:sp>
      <p:sp>
        <p:nvSpPr>
          <p:cNvPr id="19" name="warm-body-2">
            <a:extLst xmlns:a="http://schemas.openxmlformats.org/drawingml/2006/main">
              <a:ext uri="{FF2B5EF4-FFF2-40B4-BE49-F238E27FC236}">
                <a16:creationId xmlns:a16="http://schemas.microsoft.com/office/drawing/2014/main" id="{EB039927-6731-48A8-AD17-C6FC043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Use the completed result while the new job runs.</a:t>
            </a:r>
          </a:p>
        </p:txBody>
      </p:sp>
      <p:sp>
        <p:nvSpPr>
          <p:cNvPr id="20" name="warm-num-3">
            <a:extLst xmlns:a="http://schemas.openxmlformats.org/drawingml/2006/main">
              <a:ext uri="{FF2B5EF4-FFF2-40B4-BE49-F238E27FC236}">
                <a16:creationId xmlns:a16="http://schemas.microsoft.com/office/drawing/2014/main" id="{83B5BA30-F6C9-4A64-B195-712496BD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warm-rule-3">
            <a:extLst xmlns:a="http://schemas.openxmlformats.org/drawingml/2006/main">
              <a:ext uri="{FF2B5EF4-FFF2-40B4-BE49-F238E27FC236}">
                <a16:creationId xmlns:a16="http://schemas.microsoft.com/office/drawing/2014/main" id="{A94F95D1-9CBD-4404-8B31-46830F76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22" name="warm-title-3">
            <a:extLst xmlns:a="http://schemas.openxmlformats.org/drawingml/2006/main">
              <a:ext uri="{FF2B5EF4-FFF2-40B4-BE49-F238E27FC236}">
                <a16:creationId xmlns:a16="http://schemas.microsoft.com/office/drawing/2014/main" id="{679FAD2A-ABF3-422C-9ACA-3FE71488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23" name="warm-body-3">
            <a:extLst xmlns:a="http://schemas.openxmlformats.org/drawingml/2006/main">
              <a:ext uri="{FF2B5EF4-FFF2-40B4-BE49-F238E27FC236}">
                <a16:creationId xmlns:a16="http://schemas.microsoft.com/office/drawing/2014/main" id="{5387389B-6570-4B76-A2DF-6929658A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Revisit the live job, capture evidence, and show cleanup.</a:t>
            </a:r>
          </a:p>
        </p:txBody>
      </p:sp>
      <p:sp>
        <p:nvSpPr>
          <p:cNvPr id="24" name="warm-note-bg">
            <a:extLst xmlns:a="http://schemas.openxmlformats.org/drawingml/2006/main">
              <a:ext uri="{FF2B5EF4-FFF2-40B4-BE49-F238E27FC236}">
                <a16:creationId xmlns:a16="http://schemas.microsoft.com/office/drawing/2014/main" id="{60802F21-7839-4D9A-8E32-97789487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25" name="warm-note">
            <a:extLst xmlns:a="http://schemas.openxmlformats.org/drawingml/2006/main">
              <a:ext uri="{FF2B5EF4-FFF2-40B4-BE49-F238E27FC236}">
                <a16:creationId xmlns:a16="http://schemas.microsoft.com/office/drawing/2014/main" id="{DB3572D6-F5C0-4C55-BAC1-E61FC604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 latency should never consume the lab exercise time.</a:t>
            </a:r>
          </a:p>
        </p:txBody>
      </p:sp>
    </p:spTree>
    <p:extLst>
      <p:ext uri="{BB962C8B-B14F-4D97-AF65-F5344CB8AC3E}">
        <p14:creationId xmlns:p14="http://schemas.microsoft.com/office/powerpoint/2010/main" val="1629339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38714821-918B-4306-B0B3-AE61B86F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5508428-7FD4-49EE-B164-10D919E1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AWS scanner walkthrough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6EF6DB4A-8B75-4F94-9561-DDDC963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deea380b642e9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0">
            <a:extLst xmlns:a="http://schemas.openxmlformats.org/drawingml/2006/main">
              <a:ext uri="{FF2B5EF4-FFF2-40B4-BE49-F238E27FC236}">
                <a16:creationId xmlns:a16="http://schemas.microsoft.com/office/drawing/2014/main" id="{0BA98D26-BC0F-459D-96D6-341D24BC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0">
            <a:extLst xmlns:a="http://schemas.openxmlformats.org/drawingml/2006/main">
              <a:ext uri="{FF2B5EF4-FFF2-40B4-BE49-F238E27FC236}">
                <a16:creationId xmlns:a16="http://schemas.microsoft.com/office/drawing/2014/main" id="{ACF1583C-BD61-4108-92F7-16D9277F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C3C8FEA9-C4E0-4CE3-810E-DD954468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8" name="provider-band-10">
            <a:extLst xmlns:a="http://schemas.openxmlformats.org/drawingml/2006/main">
              <a:ext uri="{FF2B5EF4-FFF2-40B4-BE49-F238E27FC236}">
                <a16:creationId xmlns:a16="http://schemas.microsoft.com/office/drawing/2014/main" id="{BD8F6181-FB3F-48F1-BAC3-36AB1A2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provider-name-10">
            <a:extLst xmlns:a="http://schemas.openxmlformats.org/drawingml/2006/main">
              <a:ext uri="{FF2B5EF4-FFF2-40B4-BE49-F238E27FC236}">
                <a16:creationId xmlns:a16="http://schemas.microsoft.com/office/drawing/2014/main" id="{A8442EA1-A159-4B72-9F88-12B18FA9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0" name="provider-target-label-10">
            <a:extLst xmlns:a="http://schemas.openxmlformats.org/drawingml/2006/main">
              <a:ext uri="{FF2B5EF4-FFF2-40B4-BE49-F238E27FC236}">
                <a16:creationId xmlns:a16="http://schemas.microsoft.com/office/drawing/2014/main" id="{469D6AA0-7EB6-43B5-BD44-07C63FD5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0">
            <a:extLst xmlns:a="http://schemas.openxmlformats.org/drawingml/2006/main">
              <a:ext uri="{FF2B5EF4-FFF2-40B4-BE49-F238E27FC236}">
                <a16:creationId xmlns:a16="http://schemas.microsoft.com/office/drawing/2014/main" id="{D88E0436-2BD5-4EA2-934C-8DE1D6C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S3 bucket with dummy content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Internet-facing SSH and RDP rules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IAM user with wildcard permissions</a:t>
            </a:r>
          </a:p>
        </p:txBody>
      </p:sp>
      <p:sp>
        <p:nvSpPr>
          <p:cNvPr id="12" name="provider-run-label-10">
            <a:extLst xmlns:a="http://schemas.openxmlformats.org/drawingml/2006/main">
              <a:ext uri="{FF2B5EF4-FFF2-40B4-BE49-F238E27FC236}">
                <a16:creationId xmlns:a16="http://schemas.microsoft.com/office/drawing/2014/main" id="{256F0E21-6DE6-4DA3-B606-0B0B50BB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0-0">
            <a:extLst xmlns:a="http://schemas.openxmlformats.org/drawingml/2006/main">
              <a:ext uri="{FF2B5EF4-FFF2-40B4-BE49-F238E27FC236}">
                <a16:creationId xmlns:a16="http://schemas.microsoft.com/office/drawing/2014/main" id="{4694C85A-D529-417E-A73F-8F0009D0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0-0">
            <a:extLst xmlns:a="http://schemas.openxmlformats.org/drawingml/2006/main">
              <a:ext uri="{FF2B5EF4-FFF2-40B4-BE49-F238E27FC236}">
                <a16:creationId xmlns:a16="http://schemas.microsoft.com/office/drawing/2014/main" id="{B6CAAD06-2365-46C0-ABBE-B6668E8A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sandbox account and cloudguard-test tags</a:t>
            </a:r>
          </a:p>
        </p:txBody>
      </p:sp>
      <p:sp>
        <p:nvSpPr>
          <p:cNvPr id="15" name="provider-run-num-10-1">
            <a:extLst xmlns:a="http://schemas.openxmlformats.org/drawingml/2006/main">
              <a:ext uri="{FF2B5EF4-FFF2-40B4-BE49-F238E27FC236}">
                <a16:creationId xmlns:a16="http://schemas.microsoft.com/office/drawing/2014/main" id="{114BCE83-52D0-41B3-B8B8-546D8EC5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0-1">
            <a:extLst xmlns:a="http://schemas.openxmlformats.org/drawingml/2006/main">
              <a:ext uri="{FF2B5EF4-FFF2-40B4-BE49-F238E27FC236}">
                <a16:creationId xmlns:a16="http://schemas.microsoft.com/office/drawing/2014/main" id="{3B692AAF-2B44-40B6-8445-D7A1981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AWS scan and show job status</a:t>
            </a:r>
          </a:p>
        </p:txBody>
      </p:sp>
      <p:sp>
        <p:nvSpPr>
          <p:cNvPr id="17" name="provider-run-num-10-2">
            <a:extLst xmlns:a="http://schemas.openxmlformats.org/drawingml/2006/main">
              <a:ext uri="{FF2B5EF4-FFF2-40B4-BE49-F238E27FC236}">
                <a16:creationId xmlns:a16="http://schemas.microsoft.com/office/drawing/2014/main" id="{1711E73C-E668-453E-AC88-08A8E12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0-2">
            <a:extLst xmlns:a="http://schemas.openxmlformats.org/drawingml/2006/main">
              <a:ext uri="{FF2B5EF4-FFF2-40B4-BE49-F238E27FC236}">
                <a16:creationId xmlns:a16="http://schemas.microsoft.com/office/drawing/2014/main" id="{5F6FDAB9-A76A-473F-B59F-35F76B6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Open one storage finding and one identity finding</a:t>
            </a:r>
          </a:p>
        </p:txBody>
      </p:sp>
      <p:sp>
        <p:nvSpPr>
          <p:cNvPr id="19" name="provider-run-num-10-3">
            <a:extLst xmlns:a="http://schemas.openxmlformats.org/drawingml/2006/main">
              <a:ext uri="{FF2B5EF4-FFF2-40B4-BE49-F238E27FC236}">
                <a16:creationId xmlns:a16="http://schemas.microsoft.com/office/drawing/2014/main" id="{5EBDC14D-904A-49DC-B438-10C0783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0-3">
            <a:extLst xmlns:a="http://schemas.openxmlformats.org/drawingml/2006/main">
              <a:ext uri="{FF2B5EF4-FFF2-40B4-BE49-F238E27FC236}">
                <a16:creationId xmlns:a16="http://schemas.microsoft.com/office/drawing/2014/main" id="{02EA13DD-0700-479D-8400-212AC20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Select one finding for the evidence workflow</a:t>
            </a:r>
          </a:p>
        </p:txBody>
      </p:sp>
      <p:sp>
        <p:nvSpPr>
          <p:cNvPr id="21" name="provider-takeaway-bg-10">
            <a:extLst xmlns:a="http://schemas.openxmlformats.org/drawingml/2006/main">
              <a:ext uri="{FF2B5EF4-FFF2-40B4-BE49-F238E27FC236}">
                <a16:creationId xmlns:a16="http://schemas.microsoft.com/office/drawing/2014/main" id="{2161778F-3F39-48F2-B0C7-188F6D7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0">
            <a:extLst xmlns:a="http://schemas.openxmlformats.org/drawingml/2006/main">
              <a:ext uri="{FF2B5EF4-FFF2-40B4-BE49-F238E27FC236}">
                <a16:creationId xmlns:a16="http://schemas.microsoft.com/office/drawing/2014/main" id="{509C4282-BBDB-4D60-8373-38763B72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 severity with the affected asset, exposure, and identity impact.</a:t>
            </a:r>
          </a:p>
        </p:txBody>
      </p:sp>
    </p:spTree>
    <p:extLst>
      <p:ext uri="{BB962C8B-B14F-4D97-AF65-F5344CB8AC3E}">
        <p14:creationId xmlns:p14="http://schemas.microsoft.com/office/powerpoint/2010/main" val="543652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1">
            <a:extLst xmlns:a="http://schemas.openxmlformats.org/drawingml/2006/main">
              <a:ext uri="{FF2B5EF4-FFF2-40B4-BE49-F238E27FC236}">
                <a16:creationId xmlns:a16="http://schemas.microsoft.com/office/drawing/2014/main" id="{4DBB5C37-76B5-4700-AA70-BA57BD87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E7312CB-20DC-4FFD-AF6B-C9A6F78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GCP scanner walkthrough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A491CF3D-1AE2-4DA4-869D-74068586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21a0faf7a4eca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1">
            <a:extLst xmlns:a="http://schemas.openxmlformats.org/drawingml/2006/main">
              <a:ext uri="{FF2B5EF4-FFF2-40B4-BE49-F238E27FC236}">
                <a16:creationId xmlns:a16="http://schemas.microsoft.com/office/drawing/2014/main" id="{BF1255CF-C1B1-4A60-A5A0-5D71B354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1">
            <a:extLst xmlns:a="http://schemas.openxmlformats.org/drawingml/2006/main">
              <a:ext uri="{FF2B5EF4-FFF2-40B4-BE49-F238E27FC236}">
                <a16:creationId xmlns:a16="http://schemas.microsoft.com/office/drawing/2014/main" id="{6D0B303A-44EA-4C51-8DC8-87601924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DBA1AB5F-0F51-4F6F-808E-C65CF99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8" name="provider-band-11">
            <a:extLst xmlns:a="http://schemas.openxmlformats.org/drawingml/2006/main">
              <a:ext uri="{FF2B5EF4-FFF2-40B4-BE49-F238E27FC236}">
                <a16:creationId xmlns:a16="http://schemas.microsoft.com/office/drawing/2014/main" id="{6F2EAC76-53AE-45CA-8CF5-74D8FEF1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9" name="provider-name-11">
            <a:extLst xmlns:a="http://schemas.openxmlformats.org/drawingml/2006/main">
              <a:ext uri="{FF2B5EF4-FFF2-40B4-BE49-F238E27FC236}">
                <a16:creationId xmlns:a16="http://schemas.microsoft.com/office/drawing/2014/main" id="{9B8948BF-1494-42A4-A1A6-65FBF72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10" name="provider-target-label-11">
            <a:extLst xmlns:a="http://schemas.openxmlformats.org/drawingml/2006/main">
              <a:ext uri="{FF2B5EF4-FFF2-40B4-BE49-F238E27FC236}">
                <a16:creationId xmlns:a16="http://schemas.microsoft.com/office/drawing/2014/main" id="{5365C06E-D541-45F0-9E9E-BE6C1AF5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1">
            <a:extLst xmlns:a="http://schemas.openxmlformats.org/drawingml/2006/main">
              <a:ext uri="{FF2B5EF4-FFF2-40B4-BE49-F238E27FC236}">
                <a16:creationId xmlns:a16="http://schemas.microsoft.com/office/drawing/2014/main" id="{C9276435-5009-499E-84CD-4247642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Cloud Storage bucket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Firewall rules open to the internet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VM with weak hardening</a:t>
            </a:r>
          </a:p>
        </p:txBody>
      </p:sp>
      <p:sp>
        <p:nvSpPr>
          <p:cNvPr id="12" name="provider-run-label-11">
            <a:extLst xmlns:a="http://schemas.openxmlformats.org/drawingml/2006/main">
              <a:ext uri="{FF2B5EF4-FFF2-40B4-BE49-F238E27FC236}">
                <a16:creationId xmlns:a16="http://schemas.microsoft.com/office/drawing/2014/main" id="{7C9EB739-AECB-4774-B2C6-28A4AA13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1-0">
            <a:extLst xmlns:a="http://schemas.openxmlformats.org/drawingml/2006/main">
              <a:ext uri="{FF2B5EF4-FFF2-40B4-BE49-F238E27FC236}">
                <a16:creationId xmlns:a16="http://schemas.microsoft.com/office/drawing/2014/main" id="{6DE9F880-CD7B-4B55-A82F-DD91CAA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1-0">
            <a:extLst xmlns:a="http://schemas.openxmlformats.org/drawingml/2006/main">
              <a:ext uri="{FF2B5EF4-FFF2-40B4-BE49-F238E27FC236}">
                <a16:creationId xmlns:a16="http://schemas.microsoft.com/office/drawing/2014/main" id="{C4FD0CF5-B34D-43B4-9EB4-42E09347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project, region, and cloudguard-test labels</a:t>
            </a:r>
          </a:p>
        </p:txBody>
      </p:sp>
      <p:sp>
        <p:nvSpPr>
          <p:cNvPr id="15" name="provider-run-num-11-1">
            <a:extLst xmlns:a="http://schemas.openxmlformats.org/drawingml/2006/main">
              <a:ext uri="{FF2B5EF4-FFF2-40B4-BE49-F238E27FC236}">
                <a16:creationId xmlns:a16="http://schemas.microsoft.com/office/drawing/2014/main" id="{C8368923-F1B9-41A8-A89B-62ABA01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1-1">
            <a:extLst xmlns:a="http://schemas.openxmlformats.org/drawingml/2006/main">
              <a:ext uri="{FF2B5EF4-FFF2-40B4-BE49-F238E27FC236}">
                <a16:creationId xmlns:a16="http://schemas.microsoft.com/office/drawing/2014/main" id="{8EDE68DA-41D6-42C2-985F-9C3B5F4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GCP scan and show the job lifecycle</a:t>
            </a:r>
          </a:p>
        </p:txBody>
      </p:sp>
      <p:sp>
        <p:nvSpPr>
          <p:cNvPr id="17" name="provider-run-num-11-2">
            <a:extLst xmlns:a="http://schemas.openxmlformats.org/drawingml/2006/main">
              <a:ext uri="{FF2B5EF4-FFF2-40B4-BE49-F238E27FC236}">
                <a16:creationId xmlns:a16="http://schemas.microsoft.com/office/drawing/2014/main" id="{78E0632C-7CF5-4570-89A1-33DDB64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1-2">
            <a:extLst xmlns:a="http://schemas.openxmlformats.org/drawingml/2006/main">
              <a:ext uri="{FF2B5EF4-FFF2-40B4-BE49-F238E27FC236}">
                <a16:creationId xmlns:a16="http://schemas.microsoft.com/office/drawing/2014/main" id="{55672EE3-2179-4614-A4D6-3D34F207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storage, network, and identity results with AWS</a:t>
            </a:r>
          </a:p>
        </p:txBody>
      </p:sp>
      <p:sp>
        <p:nvSpPr>
          <p:cNvPr id="19" name="provider-run-num-11-3">
            <a:extLst xmlns:a="http://schemas.openxmlformats.org/drawingml/2006/main">
              <a:ext uri="{FF2B5EF4-FFF2-40B4-BE49-F238E27FC236}">
                <a16:creationId xmlns:a16="http://schemas.microsoft.com/office/drawing/2014/main" id="{E5AB2670-1A74-4B19-BF38-E1154111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1-3">
            <a:extLst xmlns:a="http://schemas.openxmlformats.org/drawingml/2006/main">
              <a:ext uri="{FF2B5EF4-FFF2-40B4-BE49-F238E27FC236}">
                <a16:creationId xmlns:a16="http://schemas.microsoft.com/office/drawing/2014/main" id="{DE8653D2-EFA1-49F0-861B-4CC8780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Map one result to the same business risk category</a:t>
            </a:r>
          </a:p>
        </p:txBody>
      </p:sp>
      <p:sp>
        <p:nvSpPr>
          <p:cNvPr id="21" name="provider-takeaway-bg-11">
            <a:extLst xmlns:a="http://schemas.openxmlformats.org/drawingml/2006/main">
              <a:ext uri="{FF2B5EF4-FFF2-40B4-BE49-F238E27FC236}">
                <a16:creationId xmlns:a16="http://schemas.microsoft.com/office/drawing/2014/main" id="{0D7ED8C4-6846-4695-A1B8-3EBF4351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1">
            <a:extLst xmlns:a="http://schemas.openxmlformats.org/drawingml/2006/main">
              <a:ext uri="{FF2B5EF4-FFF2-40B4-BE49-F238E27FC236}">
                <a16:creationId xmlns:a16="http://schemas.microsoft.com/office/drawing/2014/main" id="{85ECC04B-2C44-495D-BF14-CD2A4B1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Normalize equivalent risks so teams can compare cloud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6933065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2">
            <a:extLst xmlns:a="http://schemas.openxmlformats.org/drawingml/2006/main">
              <a:ext uri="{FF2B5EF4-FFF2-40B4-BE49-F238E27FC236}">
                <a16:creationId xmlns:a16="http://schemas.microsoft.com/office/drawing/2014/main" id="{744EC164-D767-4861-B919-794E6FC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D2B85944-3782-4065-9A4B-60B00D6F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Kubernetes scanner walkthrough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38F2530B-9E1B-4E4B-8DA8-6A8EAB1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c03f0f298423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2">
            <a:extLst xmlns:a="http://schemas.openxmlformats.org/drawingml/2006/main">
              <a:ext uri="{FF2B5EF4-FFF2-40B4-BE49-F238E27FC236}">
                <a16:creationId xmlns:a16="http://schemas.microsoft.com/office/drawing/2014/main" id="{1039F21C-F883-48EE-9E01-56A84CAB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2">
            <a:extLst xmlns:a="http://schemas.openxmlformats.org/drawingml/2006/main">
              <a:ext uri="{FF2B5EF4-FFF2-40B4-BE49-F238E27FC236}">
                <a16:creationId xmlns:a16="http://schemas.microsoft.com/office/drawing/2014/main" id="{3696069D-E459-46FF-B186-06D3BABC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F0AA03C3-B4AF-4087-A5C7-CB07695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" name="provider-band-12">
            <a:extLst xmlns:a="http://schemas.openxmlformats.org/drawingml/2006/main">
              <a:ext uri="{FF2B5EF4-FFF2-40B4-BE49-F238E27FC236}">
                <a16:creationId xmlns:a16="http://schemas.microsoft.com/office/drawing/2014/main" id="{7476DB42-A7EA-4F1B-9A5A-2C3FF6D7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9" name="provider-name-12">
            <a:extLst xmlns:a="http://schemas.openxmlformats.org/drawingml/2006/main">
              <a:ext uri="{FF2B5EF4-FFF2-40B4-BE49-F238E27FC236}">
                <a16:creationId xmlns:a16="http://schemas.microsoft.com/office/drawing/2014/main" id="{3B99C70A-96DF-410B-AAA7-DBD7E58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10" name="provider-target-label-12">
            <a:extLst xmlns:a="http://schemas.openxmlformats.org/drawingml/2006/main">
              <a:ext uri="{FF2B5EF4-FFF2-40B4-BE49-F238E27FC236}">
                <a16:creationId xmlns:a16="http://schemas.microsoft.com/office/drawing/2014/main" id="{33FE2BBB-0B1C-4C87-B645-7219413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2">
            <a:extLst xmlns:a="http://schemas.openxmlformats.org/drawingml/2006/main">
              <a:ext uri="{FF2B5EF4-FFF2-40B4-BE49-F238E27FC236}">
                <a16:creationId xmlns:a16="http://schemas.microsoft.com/office/drawing/2014/main" id="{0DA74B80-F5B0-4B51-91DB-8C25A4C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Cluster-admin service account binding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Privileged workload with host access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NodePort, LoadBalancer, and broad ingress</a:t>
            </a:r>
          </a:p>
        </p:txBody>
      </p:sp>
      <p:sp>
        <p:nvSpPr>
          <p:cNvPr id="12" name="provider-run-label-12">
            <a:extLst xmlns:a="http://schemas.openxmlformats.org/drawingml/2006/main">
              <a:ext uri="{FF2B5EF4-FFF2-40B4-BE49-F238E27FC236}">
                <a16:creationId xmlns:a16="http://schemas.microsoft.com/office/drawing/2014/main" id="{26FC3831-6A77-4946-A9F0-66258AA1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2-0">
            <a:extLst xmlns:a="http://schemas.openxmlformats.org/drawingml/2006/main">
              <a:ext uri="{FF2B5EF4-FFF2-40B4-BE49-F238E27FC236}">
                <a16:creationId xmlns:a16="http://schemas.microsoft.com/office/drawing/2014/main" id="{25EE5E48-FF04-4198-93FB-3ACEB242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2-0">
            <a:extLst xmlns:a="http://schemas.openxmlformats.org/drawingml/2006/main">
              <a:ext uri="{FF2B5EF4-FFF2-40B4-BE49-F238E27FC236}">
                <a16:creationId xmlns:a16="http://schemas.microsoft.com/office/drawing/2014/main" id="{A159F2A1-497D-4FA6-9A1F-7FC6207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disposable cluster and cloudguard-test namespace</a:t>
            </a:r>
          </a:p>
        </p:txBody>
      </p:sp>
      <p:sp>
        <p:nvSpPr>
          <p:cNvPr id="15" name="provider-run-num-12-1">
            <a:extLst xmlns:a="http://schemas.openxmlformats.org/drawingml/2006/main">
              <a:ext uri="{FF2B5EF4-FFF2-40B4-BE49-F238E27FC236}">
                <a16:creationId xmlns:a16="http://schemas.microsoft.com/office/drawing/2014/main" id="{B115B5E8-75EA-4EE2-8643-4635C18D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2-1">
            <a:extLst xmlns:a="http://schemas.openxmlformats.org/drawingml/2006/main">
              <a:ext uri="{FF2B5EF4-FFF2-40B4-BE49-F238E27FC236}">
                <a16:creationId xmlns:a16="http://schemas.microsoft.com/office/drawing/2014/main" id="{5FD2EE63-DCAE-44FA-BA14-E302136D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Kubernetes scan with the assigned kubeconfig</a:t>
            </a:r>
          </a:p>
        </p:txBody>
      </p:sp>
      <p:sp>
        <p:nvSpPr>
          <p:cNvPr id="17" name="provider-run-num-12-2">
            <a:extLst xmlns:a="http://schemas.openxmlformats.org/drawingml/2006/main">
              <a:ext uri="{FF2B5EF4-FFF2-40B4-BE49-F238E27FC236}">
                <a16:creationId xmlns:a16="http://schemas.microsoft.com/office/drawing/2014/main" id="{A390C61E-3591-47F2-9D06-E41DAD17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2-2">
            <a:extLst xmlns:a="http://schemas.openxmlformats.org/drawingml/2006/main">
              <a:ext uri="{FF2B5EF4-FFF2-40B4-BE49-F238E27FC236}">
                <a16:creationId xmlns:a16="http://schemas.microsoft.com/office/drawing/2014/main" id="{7E710F21-7FDA-4EA2-94E5-D0C012E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Inspect workload, RBAC, service, and network findings</a:t>
            </a:r>
          </a:p>
        </p:txBody>
      </p:sp>
      <p:sp>
        <p:nvSpPr>
          <p:cNvPr id="19" name="provider-run-num-12-3">
            <a:extLst xmlns:a="http://schemas.openxmlformats.org/drawingml/2006/main">
              <a:ext uri="{FF2B5EF4-FFF2-40B4-BE49-F238E27FC236}">
                <a16:creationId xmlns:a16="http://schemas.microsoft.com/office/drawing/2014/main" id="{173803E7-B451-4907-A989-BD11786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2-3">
            <a:extLst xmlns:a="http://schemas.openxmlformats.org/drawingml/2006/main">
              <a:ext uri="{FF2B5EF4-FFF2-40B4-BE49-F238E27FC236}">
                <a16:creationId xmlns:a16="http://schemas.microsoft.com/office/drawing/2014/main" id="{1C0E4FB3-DD55-4F62-B176-98787A5B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the manifest with the live cluster state</a:t>
            </a:r>
          </a:p>
        </p:txBody>
      </p:sp>
      <p:sp>
        <p:nvSpPr>
          <p:cNvPr id="21" name="provider-takeaway-bg-12">
            <a:extLst xmlns:a="http://schemas.openxmlformats.org/drawingml/2006/main">
              <a:ext uri="{FF2B5EF4-FFF2-40B4-BE49-F238E27FC236}">
                <a16:creationId xmlns:a16="http://schemas.microsoft.com/office/drawing/2014/main" id="{D9CF93F1-CD37-46B4-9A31-48BE223B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2">
            <a:extLst xmlns:a="http://schemas.openxmlformats.org/drawingml/2006/main">
              <a:ext uri="{FF2B5EF4-FFF2-40B4-BE49-F238E27FC236}">
                <a16:creationId xmlns:a16="http://schemas.microsoft.com/office/drawing/2014/main" id="{E5D22B59-F9BD-4BF9-BC0D-A4D464FE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Prioritize the finding that creates the largest cluster blast radius.</a:t>
            </a:r>
          </a:p>
        </p:txBody>
      </p:sp>
    </p:spTree>
    <p:extLst>
      <p:ext uri="{BB962C8B-B14F-4D97-AF65-F5344CB8AC3E}">
        <p14:creationId xmlns:p14="http://schemas.microsoft.com/office/powerpoint/2010/main" val="11916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3">
            <a:extLst xmlns:a="http://schemas.openxmlformats.org/drawingml/2006/main">
              <a:ext uri="{FF2B5EF4-FFF2-40B4-BE49-F238E27FC236}">
                <a16:creationId xmlns:a16="http://schemas.microsoft.com/office/drawing/2014/main" id="{FD620A2D-0F25-4DE5-91F0-FFF251E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DC3ADBD-947F-4D8C-9FCB-EB6103F0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Infrastructure as Code scanner walkthrough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4442383-C7AF-47FB-9847-5474E5A6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42caa31f94e2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3">
            <a:extLst xmlns:a="http://schemas.openxmlformats.org/drawingml/2006/main">
              <a:ext uri="{FF2B5EF4-FFF2-40B4-BE49-F238E27FC236}">
                <a16:creationId xmlns:a16="http://schemas.microsoft.com/office/drawing/2014/main" id="{C75D2A4D-BA75-453D-B57C-EF04D48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3">
            <a:extLst xmlns:a="http://schemas.openxmlformats.org/drawingml/2006/main">
              <a:ext uri="{FF2B5EF4-FFF2-40B4-BE49-F238E27FC236}">
                <a16:creationId xmlns:a16="http://schemas.microsoft.com/office/drawing/2014/main" id="{BE29B318-92DF-4E0A-A95C-C6AA088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0A953FD6-53C4-4DAA-AEBA-DF98E41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8" name="iac-code-bg">
            <a:extLst xmlns:a="http://schemas.openxmlformats.org/drawingml/2006/main">
              <a:ext uri="{FF2B5EF4-FFF2-40B4-BE49-F238E27FC236}">
                <a16:creationId xmlns:a16="http://schemas.microsoft.com/office/drawing/2014/main" id="{2C02B51A-39A3-40F8-8643-4F7A7038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sp>
        <p:nvSpPr>
          <p:cNvPr id="9" name="iac-code-label">
            <a:extLst xmlns:a="http://schemas.openxmlformats.org/drawingml/2006/main">
              <a:ext uri="{FF2B5EF4-FFF2-40B4-BE49-F238E27FC236}">
                <a16:creationId xmlns:a16="http://schemas.microsoft.com/office/drawing/2014/main" id="{FB87D851-1BAD-48CC-A2B3-33B3ABD8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7B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2D7B0"/>
                </a:solidFill>
                <a:latin typeface="Menlo"/>
                <a:ea typeface="Menlo"/>
                <a:cs typeface="Menlo"/>
              </a:rPr>
              <a:t>vulnerable-aws.tf</a:t>
            </a:r>
          </a:p>
        </p:txBody>
      </p:sp>
      <p:sp>
        <p:nvSpPr>
          <p:cNvPr id="10" name="iac-code">
            <a:extLst xmlns:a="http://schemas.openxmlformats.org/drawingml/2006/main">
              <a:ext uri="{FF2B5EF4-FFF2-40B4-BE49-F238E27FC236}">
                <a16:creationId xmlns:a16="http://schemas.microsoft.com/office/drawing/2014/main" id="{319EDE6E-3464-4419-9E36-D87FFFBF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public bucket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 ingress from 0.0.0.0/0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public unencrypted database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wildcard IAM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Workshop rule: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scan the files, never apply them</a:t>
            </a:r>
          </a:p>
        </p:txBody>
      </p:sp>
      <p:sp>
        <p:nvSpPr>
          <p:cNvPr id="11" name="iac-predict">
            <a:extLst xmlns:a="http://schemas.openxmlformats.org/drawingml/2006/main">
              <a:ext uri="{FF2B5EF4-FFF2-40B4-BE49-F238E27FC236}">
                <a16:creationId xmlns:a16="http://schemas.microsoft.com/office/drawing/2014/main" id="{127AC4D5-EF2B-45F6-861E-5DE203EC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Predict before scanning</a:t>
            </a:r>
          </a:p>
        </p:txBody>
      </p:sp>
      <p:sp>
        <p:nvSpPr>
          <p:cNvPr id="12" name="iac-steps">
            <a:extLst xmlns:a="http://schemas.openxmlformats.org/drawingml/2006/main">
              <a:ext uri="{FF2B5EF4-FFF2-40B4-BE49-F238E27FC236}">
                <a16:creationId xmlns:a16="http://schemas.microsoft.com/office/drawing/2014/main" id="{0934C16B-F416-466B-BB05-2F9153D6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Upload the Terraform, CloudFormation, and Kubernetes fixtures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Record the findings participants expect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local IaC scan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file and line evidence with the predictions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 one setting and rescan</a:t>
            </a:r>
          </a:p>
        </p:txBody>
      </p:sp>
      <p:sp>
        <p:nvSpPr>
          <p:cNvPr id="13" name="iac-note-bg">
            <a:extLst xmlns:a="http://schemas.openxmlformats.org/drawingml/2006/main">
              <a:ext uri="{FF2B5EF4-FFF2-40B4-BE49-F238E27FC236}">
                <a16:creationId xmlns:a16="http://schemas.microsoft.com/office/drawing/2014/main" id="{C87336B7-8F8D-48D4-8843-2F43D8F4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4705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4" name="iac-note">
            <a:extLst xmlns:a="http://schemas.openxmlformats.org/drawingml/2006/main">
              <a:ext uri="{FF2B5EF4-FFF2-40B4-BE49-F238E27FC236}">
                <a16:creationId xmlns:a16="http://schemas.microsoft.com/office/drawing/2014/main" id="{76B61CEF-6CEF-4864-A138-9D6C48CC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10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This scanner is the fastest live fallback because it has no cloud dependency.</a:t>
            </a:r>
          </a:p>
        </p:txBody>
      </p:sp>
    </p:spTree>
    <p:extLst>
      <p:ext uri="{BB962C8B-B14F-4D97-AF65-F5344CB8AC3E}">
        <p14:creationId xmlns:p14="http://schemas.microsoft.com/office/powerpoint/2010/main" val="70753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4">
            <a:extLst xmlns:a="http://schemas.openxmlformats.org/drawingml/2006/main">
              <a:ext uri="{FF2B5EF4-FFF2-40B4-BE49-F238E27FC236}">
                <a16:creationId xmlns:a16="http://schemas.microsoft.com/office/drawing/2014/main" id="{C515E46E-F8AC-40DC-9877-2812BF0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93A79A3-4232-4555-993B-16B59AFC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Cross-scanner comparison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2C43643-830A-4276-A41A-C8CBCF7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b798159eb4c62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4">
            <a:extLst xmlns:a="http://schemas.openxmlformats.org/drawingml/2006/main">
              <a:ext uri="{FF2B5EF4-FFF2-40B4-BE49-F238E27FC236}">
                <a16:creationId xmlns:a16="http://schemas.microsoft.com/office/drawing/2014/main" id="{C8B30E5F-3331-4FAA-8FD5-CD907CF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4">
            <a:extLst xmlns:a="http://schemas.openxmlformats.org/drawingml/2006/main">
              <a:ext uri="{FF2B5EF4-FFF2-40B4-BE49-F238E27FC236}">
                <a16:creationId xmlns:a16="http://schemas.microsoft.com/office/drawing/2014/main" id="{7DDBDCE1-0F25-4C17-97DE-271B9865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7C9FA1D0-B8E4-438B-8C5C-728DB615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667000"/>
                <a:gridCol w="2381250"/>
                <a:gridCol w="2000250"/>
                <a:gridCol w="2457450"/>
              </a:tblGrid>
              <a:tr h="7124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Scanner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 finding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proof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Likely owner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Closure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AWS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storage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Bucket policy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team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change and rescan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IAM binding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IAM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Binding removed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Kubernetes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Privileged workload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Pod and RBAC spec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Platform team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Manifest change and rescan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Broad ingress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 and 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mparison-prompt">
            <a:extLst xmlns:a="http://schemas.openxmlformats.org/drawingml/2006/main">
              <a:ext uri="{FF2B5EF4-FFF2-40B4-BE49-F238E27FC236}">
                <a16:creationId xmlns:a16="http://schemas.microsoft.com/office/drawing/2014/main" id="{B13057D0-326D-49CC-A828-3DFC1930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Discussion: Which finding should be fixed first, and what context would change the answer?</a:t>
            </a:r>
          </a:p>
        </p:txBody>
      </p:sp>
    </p:spTree>
    <p:extLst>
      <p:ext uri="{BB962C8B-B14F-4D97-AF65-F5344CB8AC3E}">
        <p14:creationId xmlns:p14="http://schemas.microsoft.com/office/powerpoint/2010/main" val="1486068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27bcd57342c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15">
            <a:extLst xmlns:a="http://schemas.openxmlformats.org/drawingml/2006/main">
              <a:ext uri="{FF2B5EF4-FFF2-40B4-BE49-F238E27FC236}">
                <a16:creationId xmlns:a16="http://schemas.microsoft.com/office/drawing/2014/main" id="{92403677-BDF4-4C37-9C73-609AA781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15">
            <a:extLst xmlns:a="http://schemas.openxmlformats.org/drawingml/2006/main">
              <a:ext uri="{FF2B5EF4-FFF2-40B4-BE49-F238E27FC236}">
                <a16:creationId xmlns:a16="http://schemas.microsoft.com/office/drawing/2014/main" id="{08795AFC-7EDF-41BB-A376-09A35571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module-title-15">
            <a:extLst xmlns:a="http://schemas.openxmlformats.org/drawingml/2006/main">
              <a:ext uri="{FF2B5EF4-FFF2-40B4-BE49-F238E27FC236}">
                <a16:creationId xmlns:a16="http://schemas.microsoft.com/office/drawing/2014/main" id="{9B130153-F1B9-4F62-889C-8428207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Practical lab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exercises</a:t>
            </a:r>
          </a:p>
        </p:txBody>
      </p:sp>
      <p:sp>
        <p:nvSpPr>
          <p:cNvPr id="5" name="module-purpose-15">
            <a:extLst xmlns:a="http://schemas.openxmlformats.org/drawingml/2006/main">
              <a:ext uri="{FF2B5EF4-FFF2-40B4-BE49-F238E27FC236}">
                <a16:creationId xmlns:a16="http://schemas.microsoft.com/office/drawing/2014/main" id="{A763A2ED-6934-46CC-9F3A-67BE4A00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Participants use the four scanners in separate exercises and submit evidence from each one.</a:t>
            </a:r>
          </a:p>
        </p:txBody>
      </p:sp>
      <p:sp>
        <p:nvSpPr>
          <p:cNvPr id="6" name="module-time-15">
            <a:extLst xmlns:a="http://schemas.openxmlformats.org/drawingml/2006/main">
              <a:ext uri="{FF2B5EF4-FFF2-40B4-BE49-F238E27FC236}">
                <a16:creationId xmlns:a16="http://schemas.microsoft.com/office/drawing/2014/main" id="{8FEA7ECC-6101-4295-B878-13848909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45 minutes</a:t>
            </a:r>
          </a:p>
        </p:txBody>
      </p:sp>
      <p:sp>
        <p:nvSpPr>
          <p:cNvPr id="7" name="module-rule-15">
            <a:extLst xmlns:a="http://schemas.openxmlformats.org/drawingml/2006/main">
              <a:ext uri="{FF2B5EF4-FFF2-40B4-BE49-F238E27FC236}">
                <a16:creationId xmlns:a16="http://schemas.microsoft.com/office/drawing/2014/main" id="{B11D4ABA-82DD-4D09-B12C-889C42B1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15">
            <a:extLst xmlns:a="http://schemas.openxmlformats.org/drawingml/2006/main">
              <a:ext uri="{FF2B5EF4-FFF2-40B4-BE49-F238E27FC236}">
                <a16:creationId xmlns:a16="http://schemas.microsoft.com/office/drawing/2014/main" id="{1932E721-83F7-4741-A124-656D7FE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15">
            <a:extLst xmlns:a="http://schemas.openxmlformats.org/drawingml/2006/main">
              <a:ext uri="{FF2B5EF4-FFF2-40B4-BE49-F238E27FC236}">
                <a16:creationId xmlns:a16="http://schemas.microsoft.com/office/drawing/2014/main" id="{B8EA9C31-3251-4B81-8EA5-A5CBD0F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74186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6">
            <a:extLst xmlns:a="http://schemas.openxmlformats.org/drawingml/2006/main">
              <a:ext uri="{FF2B5EF4-FFF2-40B4-BE49-F238E27FC236}">
                <a16:creationId xmlns:a16="http://schemas.microsoft.com/office/drawing/2014/main" id="{63936B3F-A849-4CDB-B490-14F3687F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B3478493-293D-4136-A4EF-CACA42C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1: AWS scanner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B3EAE702-8B6E-4FFC-BA9E-049F7BA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2fa0c5a7a459a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6">
            <a:extLst xmlns:a="http://schemas.openxmlformats.org/drawingml/2006/main">
              <a:ext uri="{FF2B5EF4-FFF2-40B4-BE49-F238E27FC236}">
                <a16:creationId xmlns:a16="http://schemas.microsoft.com/office/drawing/2014/main" id="{56F530A5-287C-44DC-9A3A-4FAABA5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6">
            <a:extLst xmlns:a="http://schemas.openxmlformats.org/drawingml/2006/main">
              <a:ext uri="{FF2B5EF4-FFF2-40B4-BE49-F238E27FC236}">
                <a16:creationId xmlns:a16="http://schemas.microsoft.com/office/drawing/2014/main" id="{88EB4E36-4F8D-4655-AE0F-C80D0FE6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08CBD1CD-9446-4049-9B8A-9E19E62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8" name="lab-band-16">
            <a:extLst xmlns:a="http://schemas.openxmlformats.org/drawingml/2006/main">
              <a:ext uri="{FF2B5EF4-FFF2-40B4-BE49-F238E27FC236}">
                <a16:creationId xmlns:a16="http://schemas.microsoft.com/office/drawing/2014/main" id="{307214A6-1102-4921-BB45-BD8A477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lab-number-16">
            <a:extLst xmlns:a="http://schemas.openxmlformats.org/drawingml/2006/main">
              <a:ext uri="{FF2B5EF4-FFF2-40B4-BE49-F238E27FC236}">
                <a16:creationId xmlns:a16="http://schemas.microsoft.com/office/drawing/2014/main" id="{AB0104C4-E82D-4A95-9BF4-812184A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1</a:t>
            </a:r>
          </a:p>
        </p:txBody>
      </p:sp>
      <p:sp>
        <p:nvSpPr>
          <p:cNvPr id="10" name="lab-provider-16">
            <a:extLst xmlns:a="http://schemas.openxmlformats.org/drawingml/2006/main">
              <a:ext uri="{FF2B5EF4-FFF2-40B4-BE49-F238E27FC236}">
                <a16:creationId xmlns:a16="http://schemas.microsoft.com/office/drawing/2014/main" id="{BB9EC6A4-92C9-4B7E-B7CC-DE1E7B5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1" name="lab-time-label-16">
            <a:extLst xmlns:a="http://schemas.openxmlformats.org/drawingml/2006/main">
              <a:ext uri="{FF2B5EF4-FFF2-40B4-BE49-F238E27FC236}">
                <a16:creationId xmlns:a16="http://schemas.microsoft.com/office/drawing/2014/main" id="{E0139F3F-D7BD-4BBB-8290-0AF8074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6">
            <a:extLst xmlns:a="http://schemas.openxmlformats.org/drawingml/2006/main">
              <a:ext uri="{FF2B5EF4-FFF2-40B4-BE49-F238E27FC236}">
                <a16:creationId xmlns:a16="http://schemas.microsoft.com/office/drawing/2014/main" id="{A4CE0707-A01B-4976-A7DA-C1680882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minutes</a:t>
            </a:r>
          </a:p>
        </p:txBody>
      </p:sp>
      <p:sp>
        <p:nvSpPr>
          <p:cNvPr id="13" name="lab-setup-label-16">
            <a:extLst xmlns:a="http://schemas.openxmlformats.org/drawingml/2006/main">
              <a:ext uri="{FF2B5EF4-FFF2-40B4-BE49-F238E27FC236}">
                <a16:creationId xmlns:a16="http://schemas.microsoft.com/office/drawing/2014/main" id="{B3463696-B28D-4794-8F8B-6DD844AB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6">
            <a:extLst xmlns:a="http://schemas.openxmlformats.org/drawingml/2006/main">
              <a:ext uri="{FF2B5EF4-FFF2-40B4-BE49-F238E27FC236}">
                <a16:creationId xmlns:a16="http://schemas.microsoft.com/office/drawing/2014/main" id="{86559167-933B-4CBA-8A8C-113BB363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assigned AWS sandbox with the pre-created CloudGuard test resources.</a:t>
            </a:r>
          </a:p>
        </p:txBody>
      </p:sp>
      <p:sp>
        <p:nvSpPr>
          <p:cNvPr id="15" name="lab-task-label-16">
            <a:extLst xmlns:a="http://schemas.openxmlformats.org/drawingml/2006/main">
              <a:ext uri="{FF2B5EF4-FFF2-40B4-BE49-F238E27FC236}">
                <a16:creationId xmlns:a16="http://schemas.microsoft.com/office/drawing/2014/main" id="{6D9958A8-6686-4AFA-A076-E392A60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6">
            <a:extLst xmlns:a="http://schemas.openxmlformats.org/drawingml/2006/main">
              <a:ext uri="{FF2B5EF4-FFF2-40B4-BE49-F238E27FC236}">
                <a16:creationId xmlns:a16="http://schemas.microsoft.com/office/drawing/2014/main" id="{A10E263F-3245-4960-8D6E-F3BE492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account ID and tagged lab resources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AWS scan from the portal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one storage and one IAM or network finding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Choose the higher-risk finding and explain why</a:t>
            </a:r>
          </a:p>
        </p:txBody>
      </p:sp>
      <p:sp>
        <p:nvSpPr>
          <p:cNvPr id="17" name="lab-evidence-label-16">
            <a:extLst xmlns:a="http://schemas.openxmlformats.org/drawingml/2006/main">
              <a:ext uri="{FF2B5EF4-FFF2-40B4-BE49-F238E27FC236}">
                <a16:creationId xmlns:a16="http://schemas.microsoft.com/office/drawing/2014/main" id="{6F4B9841-171C-4AF0-8E7C-A07AEB9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6">
            <a:extLst xmlns:a="http://schemas.openxmlformats.org/drawingml/2006/main">
              <a:ext uri="{FF2B5EF4-FFF2-40B4-BE49-F238E27FC236}">
                <a16:creationId xmlns:a16="http://schemas.microsoft.com/office/drawing/2014/main" id="{F42161BF-887A-48D0-9681-C6685486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Scan job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One evidence screenshot</a:t>
            </a:r>
          </a:p>
        </p:txBody>
      </p:sp>
      <p:sp>
        <p:nvSpPr>
          <p:cNvPr id="19" name="lab-finish-bg-16">
            <a:extLst xmlns:a="http://schemas.openxmlformats.org/drawingml/2006/main">
              <a:ext uri="{FF2B5EF4-FFF2-40B4-BE49-F238E27FC236}">
                <a16:creationId xmlns:a16="http://schemas.microsoft.com/office/drawing/2014/main" id="{231F0BC7-5929-475B-AB52-9A1E5079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6">
            <a:extLst xmlns:a="http://schemas.openxmlformats.org/drawingml/2006/main">
              <a:ext uri="{FF2B5EF4-FFF2-40B4-BE49-F238E27FC236}">
                <a16:creationId xmlns:a16="http://schemas.microsoft.com/office/drawing/2014/main" id="{136B26E5-3EE3-4510-A474-1ABB6B57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chosen finding includes an asset, proof, severity, and owner</a:t>
            </a:r>
          </a:p>
        </p:txBody>
      </p:sp>
    </p:spTree>
    <p:extLst>
      <p:ext uri="{BB962C8B-B14F-4D97-AF65-F5344CB8AC3E}">
        <p14:creationId xmlns:p14="http://schemas.microsoft.com/office/powerpoint/2010/main" val="18577642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7">
            <a:extLst xmlns:a="http://schemas.openxmlformats.org/drawingml/2006/main">
              <a:ext uri="{FF2B5EF4-FFF2-40B4-BE49-F238E27FC236}">
                <a16:creationId xmlns:a16="http://schemas.microsoft.com/office/drawing/2014/main" id="{086F72A2-1B68-4EB9-BF45-D3E6915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18A2FABF-695A-4071-AFF2-2416B861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2: GCP scanner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F5074C05-02E5-437C-A203-409B93BD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87a1f124d4b5c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7">
            <a:extLst xmlns:a="http://schemas.openxmlformats.org/drawingml/2006/main">
              <a:ext uri="{FF2B5EF4-FFF2-40B4-BE49-F238E27FC236}">
                <a16:creationId xmlns:a16="http://schemas.microsoft.com/office/drawing/2014/main" id="{E8A7789D-94BD-484C-938A-9784280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7">
            <a:extLst xmlns:a="http://schemas.openxmlformats.org/drawingml/2006/main">
              <a:ext uri="{FF2B5EF4-FFF2-40B4-BE49-F238E27FC236}">
                <a16:creationId xmlns:a16="http://schemas.microsoft.com/office/drawing/2014/main" id="{7E380B5A-902A-4364-A3E7-879973D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CFEE780A-6602-48D0-A739-ECEEE0D2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lab-band-17">
            <a:extLst xmlns:a="http://schemas.openxmlformats.org/drawingml/2006/main">
              <a:ext uri="{FF2B5EF4-FFF2-40B4-BE49-F238E27FC236}">
                <a16:creationId xmlns:a16="http://schemas.microsoft.com/office/drawing/2014/main" id="{6BC928D0-C42F-4F8F-8341-6D5206B5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9" name="lab-number-17">
            <a:extLst xmlns:a="http://schemas.openxmlformats.org/drawingml/2006/main">
              <a:ext uri="{FF2B5EF4-FFF2-40B4-BE49-F238E27FC236}">
                <a16:creationId xmlns:a16="http://schemas.microsoft.com/office/drawing/2014/main" id="{4A0B9D9B-73B1-4680-8F6E-770E7332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2</a:t>
            </a:r>
          </a:p>
        </p:txBody>
      </p:sp>
      <p:sp>
        <p:nvSpPr>
          <p:cNvPr id="10" name="lab-provider-17">
            <a:extLst xmlns:a="http://schemas.openxmlformats.org/drawingml/2006/main">
              <a:ext uri="{FF2B5EF4-FFF2-40B4-BE49-F238E27FC236}">
                <a16:creationId xmlns:a16="http://schemas.microsoft.com/office/drawing/2014/main" id="{88326A43-935B-4BF0-B975-B6956713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11" name="lab-time-label-17">
            <a:extLst xmlns:a="http://schemas.openxmlformats.org/drawingml/2006/main">
              <a:ext uri="{FF2B5EF4-FFF2-40B4-BE49-F238E27FC236}">
                <a16:creationId xmlns:a16="http://schemas.microsoft.com/office/drawing/2014/main" id="{6E583CC3-DBB6-47EC-85B0-03BB402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7">
            <a:extLst xmlns:a="http://schemas.openxmlformats.org/drawingml/2006/main">
              <a:ext uri="{FF2B5EF4-FFF2-40B4-BE49-F238E27FC236}">
                <a16:creationId xmlns:a16="http://schemas.microsoft.com/office/drawing/2014/main" id="{54247218-DD61-48DB-ACDE-C2D2FA9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minutes</a:t>
            </a:r>
          </a:p>
        </p:txBody>
      </p:sp>
      <p:sp>
        <p:nvSpPr>
          <p:cNvPr id="13" name="lab-setup-label-17">
            <a:extLst xmlns:a="http://schemas.openxmlformats.org/drawingml/2006/main">
              <a:ext uri="{FF2B5EF4-FFF2-40B4-BE49-F238E27FC236}">
                <a16:creationId xmlns:a16="http://schemas.microsoft.com/office/drawing/2014/main" id="{0CB36C73-D056-40B2-ABE7-C6B91328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7">
            <a:extLst xmlns:a="http://schemas.openxmlformats.org/drawingml/2006/main">
              <a:ext uri="{FF2B5EF4-FFF2-40B4-BE49-F238E27FC236}">
                <a16:creationId xmlns:a16="http://schemas.microsoft.com/office/drawing/2014/main" id="{1C2D77BE-5397-40EF-A8BE-0EEAD78D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assigned disposable project and the pre-created CloudGuard test resources.</a:t>
            </a:r>
          </a:p>
        </p:txBody>
      </p:sp>
      <p:sp>
        <p:nvSpPr>
          <p:cNvPr id="15" name="lab-task-label-17">
            <a:extLst xmlns:a="http://schemas.openxmlformats.org/drawingml/2006/main">
              <a:ext uri="{FF2B5EF4-FFF2-40B4-BE49-F238E27FC236}">
                <a16:creationId xmlns:a16="http://schemas.microsoft.com/office/drawing/2014/main" id="{99FAF934-5C38-4B35-9B77-8A9EF27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7">
            <a:extLst xmlns:a="http://schemas.openxmlformats.org/drawingml/2006/main">
              <a:ext uri="{FF2B5EF4-FFF2-40B4-BE49-F238E27FC236}">
                <a16:creationId xmlns:a16="http://schemas.microsoft.com/office/drawing/2014/main" id="{8BF1E43C-7BF9-41DC-A320-DE17329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project ID and resource labels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GCP scan from the portal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 the public bucket and one network weakness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the result with the equivalent AWS risk</a:t>
            </a:r>
          </a:p>
        </p:txBody>
      </p:sp>
      <p:sp>
        <p:nvSpPr>
          <p:cNvPr id="17" name="lab-evidence-label-17">
            <a:extLst xmlns:a="http://schemas.openxmlformats.org/drawingml/2006/main">
              <a:ext uri="{FF2B5EF4-FFF2-40B4-BE49-F238E27FC236}">
                <a16:creationId xmlns:a16="http://schemas.microsoft.com/office/drawing/2014/main" id="{4EDB37BA-F9E3-4F96-A947-E3BA31B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7">
            <a:extLst xmlns:a="http://schemas.openxmlformats.org/drawingml/2006/main">
              <a:ext uri="{FF2B5EF4-FFF2-40B4-BE49-F238E27FC236}">
                <a16:creationId xmlns:a16="http://schemas.microsoft.com/office/drawing/2014/main" id="{174DFEBD-DEC1-4C81-87CA-F7FF08B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Scan job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Cross-cloud comparison note</a:t>
            </a:r>
          </a:p>
        </p:txBody>
      </p:sp>
      <p:sp>
        <p:nvSpPr>
          <p:cNvPr id="19" name="lab-finish-bg-17">
            <a:extLst xmlns:a="http://schemas.openxmlformats.org/drawingml/2006/main">
              <a:ext uri="{FF2B5EF4-FFF2-40B4-BE49-F238E27FC236}">
                <a16:creationId xmlns:a16="http://schemas.microsoft.com/office/drawing/2014/main" id="{FA2044BD-460D-4E3D-B76B-7AF3A03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7">
            <a:extLst xmlns:a="http://schemas.openxmlformats.org/drawingml/2006/main">
              <a:ext uri="{FF2B5EF4-FFF2-40B4-BE49-F238E27FC236}">
                <a16:creationId xmlns:a16="http://schemas.microsoft.com/office/drawing/2014/main" id="{D37F336E-BD41-4361-AA6A-30D454C8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finding maps to a provider-neutral risk category</a:t>
            </a:r>
          </a:p>
        </p:txBody>
      </p:sp>
    </p:spTree>
    <p:extLst>
      <p:ext uri="{BB962C8B-B14F-4D97-AF65-F5344CB8AC3E}">
        <p14:creationId xmlns:p14="http://schemas.microsoft.com/office/powerpoint/2010/main" val="21196155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8">
            <a:extLst xmlns:a="http://schemas.openxmlformats.org/drawingml/2006/main">
              <a:ext uri="{FF2B5EF4-FFF2-40B4-BE49-F238E27FC236}">
                <a16:creationId xmlns:a16="http://schemas.microsoft.com/office/drawing/2014/main" id="{30B7CB5F-B3A7-46C2-8B7A-3DE1D33F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F566E46A-2D4A-440E-8B64-3310B87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3: Kubernetes scanner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705A1B8A-0B92-43AC-B4B9-07410106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30000ce15476b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8">
            <a:extLst xmlns:a="http://schemas.openxmlformats.org/drawingml/2006/main">
              <a:ext uri="{FF2B5EF4-FFF2-40B4-BE49-F238E27FC236}">
                <a16:creationId xmlns:a16="http://schemas.microsoft.com/office/drawing/2014/main" id="{807EC730-1F1E-4AB4-B8DD-FBFCC837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8">
            <a:extLst xmlns:a="http://schemas.openxmlformats.org/drawingml/2006/main">
              <a:ext uri="{FF2B5EF4-FFF2-40B4-BE49-F238E27FC236}">
                <a16:creationId xmlns:a16="http://schemas.microsoft.com/office/drawing/2014/main" id="{BC7E3FEE-F253-4EF4-A6FB-739F664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67535AAE-569C-45A2-98A5-5EAA4FF2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8" name="lab-band-18">
            <a:extLst xmlns:a="http://schemas.openxmlformats.org/drawingml/2006/main">
              <a:ext uri="{FF2B5EF4-FFF2-40B4-BE49-F238E27FC236}">
                <a16:creationId xmlns:a16="http://schemas.microsoft.com/office/drawing/2014/main" id="{D41A3893-40C1-4410-9809-708629B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9" name="lab-number-18">
            <a:extLst xmlns:a="http://schemas.openxmlformats.org/drawingml/2006/main">
              <a:ext uri="{FF2B5EF4-FFF2-40B4-BE49-F238E27FC236}">
                <a16:creationId xmlns:a16="http://schemas.microsoft.com/office/drawing/2014/main" id="{E0AB8B4C-0B20-4B1D-A0F0-A9BFF62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3</a:t>
            </a:r>
          </a:p>
        </p:txBody>
      </p:sp>
      <p:sp>
        <p:nvSpPr>
          <p:cNvPr id="10" name="lab-provider-18">
            <a:extLst xmlns:a="http://schemas.openxmlformats.org/drawingml/2006/main">
              <a:ext uri="{FF2B5EF4-FFF2-40B4-BE49-F238E27FC236}">
                <a16:creationId xmlns:a16="http://schemas.microsoft.com/office/drawing/2014/main" id="{32BFA848-CE05-475A-969A-F4C1E9BA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11" name="lab-time-label-18">
            <a:extLst xmlns:a="http://schemas.openxmlformats.org/drawingml/2006/main">
              <a:ext uri="{FF2B5EF4-FFF2-40B4-BE49-F238E27FC236}">
                <a16:creationId xmlns:a16="http://schemas.microsoft.com/office/drawing/2014/main" id="{19754F43-2057-413A-8EE7-F54E99E0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8">
            <a:extLst xmlns:a="http://schemas.openxmlformats.org/drawingml/2006/main">
              <a:ext uri="{FF2B5EF4-FFF2-40B4-BE49-F238E27FC236}">
                <a16:creationId xmlns:a16="http://schemas.microsoft.com/office/drawing/2014/main" id="{120E9698-D478-49D6-9A81-8652183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 minutes</a:t>
            </a:r>
          </a:p>
        </p:txBody>
      </p:sp>
      <p:sp>
        <p:nvSpPr>
          <p:cNvPr id="13" name="lab-setup-label-18">
            <a:extLst xmlns:a="http://schemas.openxmlformats.org/drawingml/2006/main">
              <a:ext uri="{FF2B5EF4-FFF2-40B4-BE49-F238E27FC236}">
                <a16:creationId xmlns:a16="http://schemas.microsoft.com/office/drawing/2014/main" id="{698EA90B-DF66-46C1-8941-0C3AA0F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8">
            <a:extLst xmlns:a="http://schemas.openxmlformats.org/drawingml/2006/main">
              <a:ext uri="{FF2B5EF4-FFF2-40B4-BE49-F238E27FC236}">
                <a16:creationId xmlns:a16="http://schemas.microsoft.com/office/drawing/2014/main" id="{76B9E617-8B3B-43CC-A1E5-F6B0034F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a disposable kind, k3s, minikube, or instructor-provided cluster.</a:t>
            </a:r>
          </a:p>
        </p:txBody>
      </p:sp>
      <p:sp>
        <p:nvSpPr>
          <p:cNvPr id="15" name="lab-task-label-18">
            <a:extLst xmlns:a="http://schemas.openxmlformats.org/drawingml/2006/main">
              <a:ext uri="{FF2B5EF4-FFF2-40B4-BE49-F238E27FC236}">
                <a16:creationId xmlns:a16="http://schemas.microsoft.com/office/drawing/2014/main" id="{6210DFED-A6FE-41F4-9136-D76FE15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8">
            <a:extLst xmlns:a="http://schemas.openxmlformats.org/drawingml/2006/main">
              <a:ext uri="{FF2B5EF4-FFF2-40B4-BE49-F238E27FC236}">
                <a16:creationId xmlns:a16="http://schemas.microsoft.com/office/drawing/2014/main" id="{B3A5B823-FE44-467A-B10B-9B6B94B3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Apply vulnerable-k8s.yaml to the cloudguard-test namespace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Kubernetes scan with the assigned kubeconfig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the cluster-admin binding and privileged workload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Delete the manifest after evidence collection</a:t>
            </a:r>
          </a:p>
        </p:txBody>
      </p:sp>
      <p:sp>
        <p:nvSpPr>
          <p:cNvPr id="17" name="lab-evidence-label-18">
            <a:extLst xmlns:a="http://schemas.openxmlformats.org/drawingml/2006/main">
              <a:ext uri="{FF2B5EF4-FFF2-40B4-BE49-F238E27FC236}">
                <a16:creationId xmlns:a16="http://schemas.microsoft.com/office/drawing/2014/main" id="{A555DD07-3BE5-4395-8707-7C7264E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8">
            <a:extLst xmlns:a="http://schemas.openxmlformats.org/drawingml/2006/main">
              <a:ext uri="{FF2B5EF4-FFF2-40B4-BE49-F238E27FC236}">
                <a16:creationId xmlns:a16="http://schemas.microsoft.com/office/drawing/2014/main" id="{CBC80B42-0C7D-4393-8D46-DE3E3FE2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RBAC or workload proof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kubectl delete result</a:t>
            </a:r>
          </a:p>
        </p:txBody>
      </p:sp>
      <p:sp>
        <p:nvSpPr>
          <p:cNvPr id="19" name="lab-finish-bg-18">
            <a:extLst xmlns:a="http://schemas.openxmlformats.org/drawingml/2006/main">
              <a:ext uri="{FF2B5EF4-FFF2-40B4-BE49-F238E27FC236}">
                <a16:creationId xmlns:a16="http://schemas.microsoft.com/office/drawing/2014/main" id="{2175B98D-A495-4772-9905-9E7F303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8">
            <a:extLst xmlns:a="http://schemas.openxmlformats.org/drawingml/2006/main">
              <a:ext uri="{FF2B5EF4-FFF2-40B4-BE49-F238E27FC236}">
                <a16:creationId xmlns:a16="http://schemas.microsoft.com/office/drawing/2014/main" id="{4336B0DC-21D3-47CE-AE48-EAF2DBCA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namespace is deleted and the cleanup event is retained</a:t>
            </a:r>
          </a:p>
        </p:txBody>
      </p:sp>
    </p:spTree>
    <p:extLst>
      <p:ext uri="{BB962C8B-B14F-4D97-AF65-F5344CB8AC3E}">
        <p14:creationId xmlns:p14="http://schemas.microsoft.com/office/powerpoint/2010/main" val="500675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9">
            <a:extLst xmlns:a="http://schemas.openxmlformats.org/drawingml/2006/main">
              <a:ext uri="{FF2B5EF4-FFF2-40B4-BE49-F238E27FC236}">
                <a16:creationId xmlns:a16="http://schemas.microsoft.com/office/drawing/2014/main" id="{EA83433F-7FAD-4A24-9E2C-19E701A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18DEC619-F3C9-4D7E-87DB-16BF3909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4: Infrastructure as Code scanner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ADB56860-FB9D-46D1-8F72-9532A8E2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1afc521fa435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9">
            <a:extLst xmlns:a="http://schemas.openxmlformats.org/drawingml/2006/main">
              <a:ext uri="{FF2B5EF4-FFF2-40B4-BE49-F238E27FC236}">
                <a16:creationId xmlns:a16="http://schemas.microsoft.com/office/drawing/2014/main" id="{18DADD75-4374-4CFA-8AAD-CACB1D23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9">
            <a:extLst xmlns:a="http://schemas.openxmlformats.org/drawingml/2006/main">
              <a:ext uri="{FF2B5EF4-FFF2-40B4-BE49-F238E27FC236}">
                <a16:creationId xmlns:a16="http://schemas.microsoft.com/office/drawing/2014/main" id="{E4C3471F-9BBE-4EB1-8007-95B1148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ECF347AF-607E-4369-A391-BB2125F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8" name="lab-band-19">
            <a:extLst xmlns:a="http://schemas.openxmlformats.org/drawingml/2006/main">
              <a:ext uri="{FF2B5EF4-FFF2-40B4-BE49-F238E27FC236}">
                <a16:creationId xmlns:a16="http://schemas.microsoft.com/office/drawing/2014/main" id="{5FEE8F84-2389-4043-AEA8-3886722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lab-number-19">
            <a:extLst xmlns:a="http://schemas.openxmlformats.org/drawingml/2006/main">
              <a:ext uri="{FF2B5EF4-FFF2-40B4-BE49-F238E27FC236}">
                <a16:creationId xmlns:a16="http://schemas.microsoft.com/office/drawing/2014/main" id="{88C75868-0C7D-4592-BE05-656E7CC5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4</a:t>
            </a:r>
          </a:p>
        </p:txBody>
      </p:sp>
      <p:sp>
        <p:nvSpPr>
          <p:cNvPr id="10" name="lab-provider-19">
            <a:extLst xmlns:a="http://schemas.openxmlformats.org/drawingml/2006/main">
              <a:ext uri="{FF2B5EF4-FFF2-40B4-BE49-F238E27FC236}">
                <a16:creationId xmlns:a16="http://schemas.microsoft.com/office/drawing/2014/main" id="{5CA03098-20C4-4632-985D-9CFEAA0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IaC</a:t>
            </a:r>
          </a:p>
        </p:txBody>
      </p:sp>
      <p:sp>
        <p:nvSpPr>
          <p:cNvPr id="11" name="lab-time-label-19">
            <a:extLst xmlns:a="http://schemas.openxmlformats.org/drawingml/2006/main">
              <a:ext uri="{FF2B5EF4-FFF2-40B4-BE49-F238E27FC236}">
                <a16:creationId xmlns:a16="http://schemas.microsoft.com/office/drawing/2014/main" id="{FCF774F0-A662-498E-9E77-98684425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9">
            <a:extLst xmlns:a="http://schemas.openxmlformats.org/drawingml/2006/main">
              <a:ext uri="{FF2B5EF4-FFF2-40B4-BE49-F238E27FC236}">
                <a16:creationId xmlns:a16="http://schemas.microsoft.com/office/drawing/2014/main" id="{8A592329-0C7B-4775-B9E0-F683D66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minutes</a:t>
            </a:r>
          </a:p>
        </p:txBody>
      </p:sp>
      <p:sp>
        <p:nvSpPr>
          <p:cNvPr id="13" name="lab-setup-label-19">
            <a:extLst xmlns:a="http://schemas.openxmlformats.org/drawingml/2006/main">
              <a:ext uri="{FF2B5EF4-FFF2-40B4-BE49-F238E27FC236}">
                <a16:creationId xmlns:a16="http://schemas.microsoft.com/office/drawing/2014/main" id="{0711E2E2-7C7A-4DB3-ACC3-E38F900D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9">
            <a:extLst xmlns:a="http://schemas.openxmlformats.org/drawingml/2006/main">
              <a:ext uri="{FF2B5EF4-FFF2-40B4-BE49-F238E27FC236}">
                <a16:creationId xmlns:a16="http://schemas.microsoft.com/office/drawing/2014/main" id="{B3C63D83-2046-432D-8170-02F308DD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local grc-platform/cloudguard-test-labs/iac folder. Do not apply any file.</a:t>
            </a:r>
          </a:p>
        </p:txBody>
      </p:sp>
      <p:sp>
        <p:nvSpPr>
          <p:cNvPr id="15" name="lab-task-label-19">
            <a:extLst xmlns:a="http://schemas.openxmlformats.org/drawingml/2006/main">
              <a:ext uri="{FF2B5EF4-FFF2-40B4-BE49-F238E27FC236}">
                <a16:creationId xmlns:a16="http://schemas.microsoft.com/office/drawing/2014/main" id="{7411E76D-D50B-4809-9EC3-AB5CB898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9">
            <a:extLst xmlns:a="http://schemas.openxmlformats.org/drawingml/2006/main">
              <a:ext uri="{FF2B5EF4-FFF2-40B4-BE49-F238E27FC236}">
                <a16:creationId xmlns:a16="http://schemas.microsoft.com/office/drawing/2014/main" id="{4219354C-0E9A-46CB-952A-C0F68AD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Predict three findings before the scan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Upload or select the IaC fixture folder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scanner and compare results with the prediction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 one setting and run the scan again</a:t>
            </a:r>
          </a:p>
        </p:txBody>
      </p:sp>
      <p:sp>
        <p:nvSpPr>
          <p:cNvPr id="17" name="lab-evidence-label-19">
            <a:extLst xmlns:a="http://schemas.openxmlformats.org/drawingml/2006/main">
              <a:ext uri="{FF2B5EF4-FFF2-40B4-BE49-F238E27FC236}">
                <a16:creationId xmlns:a16="http://schemas.microsoft.com/office/drawing/2014/main" id="{6CE657B1-041A-44B8-B92C-4AF03D6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9">
            <a:extLst xmlns:a="http://schemas.openxmlformats.org/drawingml/2006/main">
              <a:ext uri="{FF2B5EF4-FFF2-40B4-BE49-F238E27FC236}">
                <a16:creationId xmlns:a16="http://schemas.microsoft.com/office/drawing/2014/main" id="{4406101D-271C-4D38-AA4C-1A1E4EF8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Original finding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File and line evidence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Corrected scan result</a:t>
            </a:r>
          </a:p>
        </p:txBody>
      </p:sp>
      <p:sp>
        <p:nvSpPr>
          <p:cNvPr id="19" name="lab-finish-bg-19">
            <a:extLst xmlns:a="http://schemas.openxmlformats.org/drawingml/2006/main">
              <a:ext uri="{FF2B5EF4-FFF2-40B4-BE49-F238E27FC236}">
                <a16:creationId xmlns:a16="http://schemas.microsoft.com/office/drawing/2014/main" id="{6B70D6EE-3296-4329-B2EA-95AD0853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9">
            <a:extLst xmlns:a="http://schemas.openxmlformats.org/drawingml/2006/main">
              <a:ext uri="{FF2B5EF4-FFF2-40B4-BE49-F238E27FC236}">
                <a16:creationId xmlns:a16="http://schemas.microsoft.com/office/drawing/2014/main" id="{EC2E90C8-8843-4DB0-903A-B44AF0D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one unsafe setting has a documented before and after result</a:t>
            </a:r>
          </a:p>
        </p:txBody>
      </p:sp>
    </p:spTree>
    <p:extLst>
      <p:ext uri="{BB962C8B-B14F-4D97-AF65-F5344CB8AC3E}">
        <p14:creationId xmlns:p14="http://schemas.microsoft.com/office/powerpoint/2010/main" val="8642456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0">
            <a:extLst xmlns:a="http://schemas.openxmlformats.org/drawingml/2006/main">
              <a:ext uri="{FF2B5EF4-FFF2-40B4-BE49-F238E27FC236}">
                <a16:creationId xmlns:a16="http://schemas.microsoft.com/office/drawing/2014/main" id="{B50FFF21-A552-4661-8173-9425012A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8C175007-0626-4532-843F-A9738D2C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report-out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6BE49613-C0C2-41E0-A602-F2E35A90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150106ecf443f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0">
            <a:extLst xmlns:a="http://schemas.openxmlformats.org/drawingml/2006/main">
              <a:ext uri="{FF2B5EF4-FFF2-40B4-BE49-F238E27FC236}">
                <a16:creationId xmlns:a16="http://schemas.microsoft.com/office/drawing/2014/main" id="{92296328-501D-4009-8C0A-B961387A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0">
            <a:extLst xmlns:a="http://schemas.openxmlformats.org/drawingml/2006/main">
              <a:ext uri="{FF2B5EF4-FFF2-40B4-BE49-F238E27FC236}">
                <a16:creationId xmlns:a16="http://schemas.microsoft.com/office/drawing/2014/main" id="{09C4BB80-28C6-40BE-A0BF-8779AE6B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0">
            <a:extLst xmlns:a="http://schemas.openxmlformats.org/drawingml/2006/main">
              <a:ext uri="{FF2B5EF4-FFF2-40B4-BE49-F238E27FC236}">
                <a16:creationId xmlns:a16="http://schemas.microsoft.com/office/drawing/2014/main" id="{92122E89-CA51-4957-A870-689DF0D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8" name="report-instruction">
            <a:extLst xmlns:a="http://schemas.openxmlformats.org/drawingml/2006/main">
              <a:ext uri="{FF2B5EF4-FFF2-40B4-BE49-F238E27FC236}">
                <a16:creationId xmlns:a16="http://schemas.microsoft.com/office/drawing/2014/main" id="{F441A55C-90E0-4607-9F4E-6E414591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Each group records one complete finding. Use provider-specific detail only in the evidence field.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743950"/>
              </a:tblGrid>
              <a:tr h="539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group should record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category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Identity, storage, network, workload, or IaC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Affected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resource or file 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Policy, configuration, screenshot, file and line, or cleanup output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Team responsible for the change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Closure proof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Rescan result, corrected code, or deletion event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9441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8dfdca52249a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21">
            <a:extLst xmlns:a="http://schemas.openxmlformats.org/drawingml/2006/main">
              <a:ext uri="{FF2B5EF4-FFF2-40B4-BE49-F238E27FC236}">
                <a16:creationId xmlns:a16="http://schemas.microsoft.com/office/drawing/2014/main" id="{7F80350A-763B-417A-931C-A8CA406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21">
            <a:extLst xmlns:a="http://schemas.openxmlformats.org/drawingml/2006/main">
              <a:ext uri="{FF2B5EF4-FFF2-40B4-BE49-F238E27FC236}">
                <a16:creationId xmlns:a16="http://schemas.microsoft.com/office/drawing/2014/main" id="{50EE6226-1C16-4D8C-B3C3-A28DF3DD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module-title-21">
            <a:extLst xmlns:a="http://schemas.openxmlformats.org/drawingml/2006/main">
              <a:ext uri="{FF2B5EF4-FFF2-40B4-BE49-F238E27FC236}">
                <a16:creationId xmlns:a16="http://schemas.microsoft.com/office/drawing/2014/main" id="{5533A890-AE0B-4956-BA4D-5D478DED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Evidence, GRC,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closure</a:t>
            </a:r>
          </a:p>
        </p:txBody>
      </p:sp>
      <p:sp>
        <p:nvSpPr>
          <p:cNvPr id="5" name="module-purpose-21">
            <a:extLst xmlns:a="http://schemas.openxmlformats.org/drawingml/2006/main">
              <a:ext uri="{FF2B5EF4-FFF2-40B4-BE49-F238E27FC236}">
                <a16:creationId xmlns:a16="http://schemas.microsoft.com/office/drawing/2014/main" id="{76D4BB5F-7E46-45BE-BFDE-A6901511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Convert scanner output into proof, ownership, and an approval-based remediation workflow.</a:t>
            </a:r>
          </a:p>
        </p:txBody>
      </p:sp>
      <p:sp>
        <p:nvSpPr>
          <p:cNvPr id="6" name="module-time-21">
            <a:extLst xmlns:a="http://schemas.openxmlformats.org/drawingml/2006/main">
              <a:ext uri="{FF2B5EF4-FFF2-40B4-BE49-F238E27FC236}">
                <a16:creationId xmlns:a16="http://schemas.microsoft.com/office/drawing/2014/main" id="{D26C4263-CE2F-405A-B791-8627061C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15 minutes</a:t>
            </a:r>
          </a:p>
        </p:txBody>
      </p:sp>
      <p:sp>
        <p:nvSpPr>
          <p:cNvPr id="7" name="module-rule-21">
            <a:extLst xmlns:a="http://schemas.openxmlformats.org/drawingml/2006/main">
              <a:ext uri="{FF2B5EF4-FFF2-40B4-BE49-F238E27FC236}">
                <a16:creationId xmlns:a16="http://schemas.microsoft.com/office/drawing/2014/main" id="{741FC0BC-7A42-4D14-B17F-C8F350B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21">
            <a:extLst xmlns:a="http://schemas.openxmlformats.org/drawingml/2006/main">
              <a:ext uri="{FF2B5EF4-FFF2-40B4-BE49-F238E27FC236}">
                <a16:creationId xmlns:a16="http://schemas.microsoft.com/office/drawing/2014/main" id="{7C6B3478-1B04-45D5-977D-8F47DE51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21">
            <a:extLst xmlns:a="http://schemas.openxmlformats.org/drawingml/2006/main">
              <a:ext uri="{FF2B5EF4-FFF2-40B4-BE49-F238E27FC236}">
                <a16:creationId xmlns:a16="http://schemas.microsoft.com/office/drawing/2014/main" id="{311475E2-D552-40F7-A138-93CD3B81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854860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2">
            <a:extLst xmlns:a="http://schemas.openxmlformats.org/drawingml/2006/main">
              <a:ext uri="{FF2B5EF4-FFF2-40B4-BE49-F238E27FC236}">
                <a16:creationId xmlns:a16="http://schemas.microsoft.com/office/drawing/2014/main" id="{05D32EB6-828F-4926-8AD6-3D23EBE2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683F9675-4176-4681-8BE2-43B8D94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pipeline</a:t>
            </a:r>
          </a:p>
        </p:txBody>
      </p:sp>
      <p:sp>
        <p:nvSpPr>
          <p:cNvPr id="3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98912AE6-1D30-405D-8D21-E6B08FEF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b4a40c7e44082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2">
            <a:extLst xmlns:a="http://schemas.openxmlformats.org/drawingml/2006/main">
              <a:ext uri="{FF2B5EF4-FFF2-40B4-BE49-F238E27FC236}">
                <a16:creationId xmlns:a16="http://schemas.microsoft.com/office/drawing/2014/main" id="{630B64EE-C14B-46E7-AC30-9530D35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2">
            <a:extLst xmlns:a="http://schemas.openxmlformats.org/drawingml/2006/main">
              <a:ext uri="{FF2B5EF4-FFF2-40B4-BE49-F238E27FC236}">
                <a16:creationId xmlns:a16="http://schemas.microsoft.com/office/drawing/2014/main" id="{E5DD4341-7BF9-4AFC-AABB-FE7A7DA9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2">
            <a:extLst xmlns:a="http://schemas.openxmlformats.org/drawingml/2006/main">
              <a:ext uri="{FF2B5EF4-FFF2-40B4-BE49-F238E27FC236}">
                <a16:creationId xmlns:a16="http://schemas.microsoft.com/office/drawing/2014/main" id="{8EDC725E-407C-41AB-AB32-C82F0C3C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8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2076C176-C886-4105-AA23-487F2CF1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B9C9C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077a2d9ed4f69"/>
          <a:stretch xmlns:a="http://schemas.openxmlformats.org/drawingml/2006/main"/>
        </p:blipFill>
        <p:spPr>
          <a:xfrm xmlns:a="http://schemas.openxmlformats.org/drawingml/2006/main">
            <a:off x="1068917" y="1905000"/>
            <a:ext cx="6739467" cy="3790950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  <p:sp>
        <p:nvSpPr>
          <p:cNvPr id="10" name="evidence-question-title">
            <a:extLst xmlns:a="http://schemas.openxmlformats.org/drawingml/2006/main">
              <a:ext uri="{FF2B5EF4-FFF2-40B4-BE49-F238E27FC236}">
                <a16:creationId xmlns:a16="http://schemas.microsoft.com/office/drawing/2014/main" id="{2A40057C-1A6E-4E75-8A0B-CDD9779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Every evidence record should answer</a:t>
            </a:r>
          </a:p>
        </p:txBody>
      </p:sp>
      <p:sp>
        <p:nvSpPr>
          <p:cNvPr id="11" name="evidence-questions">
            <a:extLst xmlns:a="http://schemas.openxmlformats.org/drawingml/2006/main">
              <a:ext uri="{FF2B5EF4-FFF2-40B4-BE49-F238E27FC236}">
                <a16:creationId xmlns:a16="http://schemas.microsoft.com/office/drawing/2014/main" id="{7E05CCD8-E7F1-4093-A5ED-99429CE8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819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Where did it come from?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Which asset does it describe?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What proof was retained?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Which control does it affect?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Who must act next?</a:t>
            </a:r>
          </a:p>
        </p:txBody>
      </p:sp>
    </p:spTree>
    <p:extLst>
      <p:ext uri="{BB962C8B-B14F-4D97-AF65-F5344CB8AC3E}">
        <p14:creationId xmlns:p14="http://schemas.microsoft.com/office/powerpoint/2010/main" val="1117978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3">
            <a:extLst xmlns:a="http://schemas.openxmlformats.org/drawingml/2006/main">
              <a:ext uri="{FF2B5EF4-FFF2-40B4-BE49-F238E27FC236}">
                <a16:creationId xmlns:a16="http://schemas.microsoft.com/office/drawing/2014/main" id="{DAB77AF3-FA52-4882-AE54-A63E8AA7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BF1E3231-D42D-4C08-85E6-040BCF7F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GRC control mapping</a:t>
            </a:r>
          </a:p>
        </p:txBody>
      </p:sp>
      <p:sp>
        <p:nvSpPr>
          <p:cNvPr id="3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F63CAAB4-B1AE-40C5-8C19-7EF8B373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496c78648417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3">
            <a:extLst xmlns:a="http://schemas.openxmlformats.org/drawingml/2006/main">
              <a:ext uri="{FF2B5EF4-FFF2-40B4-BE49-F238E27FC236}">
                <a16:creationId xmlns:a16="http://schemas.microsoft.com/office/drawing/2014/main" id="{1E106371-2956-4EA7-A165-042DFFD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3">
            <a:extLst xmlns:a="http://schemas.openxmlformats.org/drawingml/2006/main">
              <a:ext uri="{FF2B5EF4-FFF2-40B4-BE49-F238E27FC236}">
                <a16:creationId xmlns:a16="http://schemas.microsoft.com/office/drawing/2014/main" id="{A84004E9-23EA-47A8-937F-541D60D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3">
            <a:extLst xmlns:a="http://schemas.openxmlformats.org/drawingml/2006/main">
              <a:ext uri="{FF2B5EF4-FFF2-40B4-BE49-F238E27FC236}">
                <a16:creationId xmlns:a16="http://schemas.microsoft.com/office/drawing/2014/main" id="{0FA0B25B-105C-4734-925F-DC7796F9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8" name="grc-copy">
            <a:extLst xmlns:a="http://schemas.openxmlformats.org/drawingml/2006/main">
              <a:ext uri="{FF2B5EF4-FFF2-40B4-BE49-F238E27FC236}">
                <a16:creationId xmlns:a16="http://schemas.microsoft.com/office/drawing/2014/main" id="{9547E3FC-8CB4-40B8-9793-DD57C0CF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The governance view should show what failed, who owns the response, and what will prove closure.</a:t>
            </a:r>
          </a:p>
        </p:txBody>
      </p:sp>
      <p:sp>
        <p:nvSpPr>
          <p:cNvPr id="9" name="grc-bullets">
            <a:extLst xmlns:a="http://schemas.openxmlformats.org/drawingml/2006/main">
              <a:ext uri="{FF2B5EF4-FFF2-40B4-BE49-F238E27FC236}">
                <a16:creationId xmlns:a16="http://schemas.microsoft.com/office/drawing/2014/main" id="{81B7E5B9-0005-4838-9D2F-354753DB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Control and framework mapping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review and audit history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Risk and remediation tracking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Leadership and auditor visibility</a:t>
            </a:r>
          </a:p>
        </p:txBody>
      </p:sp>
      <p:sp>
        <p:nvSpPr>
          <p:cNvPr id="10" name="grc-frame">
            <a:extLst xmlns:a="http://schemas.openxmlformats.org/drawingml/2006/main">
              <a:ext uri="{FF2B5EF4-FFF2-40B4-BE49-F238E27FC236}">
                <a16:creationId xmlns:a16="http://schemas.microsoft.com/office/drawing/2014/main" id="{C31CC8F9-E25A-4801-AD07-52DAF6A9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896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91122529b4b2d"/>
          <a:srcRect xmlns:a="http://schemas.openxmlformats.org/drawingml/2006/main" l="1099" t="0" r="10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1905000"/>
            <a:ext cx="6591300" cy="3790950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</p:spTree>
    <p:extLst>
      <p:ext uri="{BB962C8B-B14F-4D97-AF65-F5344CB8AC3E}">
        <p14:creationId xmlns:p14="http://schemas.microsoft.com/office/powerpoint/2010/main" val="11730243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24">
            <a:extLst xmlns:a="http://schemas.openxmlformats.org/drawingml/2006/main">
              <a:ext uri="{FF2B5EF4-FFF2-40B4-BE49-F238E27FC236}">
                <a16:creationId xmlns:a16="http://schemas.microsoft.com/office/drawing/2014/main" id="{2D862C49-9C49-42AF-B3A5-D65BD29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251169DB-1D28-476E-9B11-73A218B8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Reason and Act workflow</a:t>
            </a:r>
          </a:p>
        </p:txBody>
      </p:sp>
      <p:sp>
        <p:nvSpPr>
          <p:cNvPr id="3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0A3427C9-38CB-4D9F-A1AD-489562A5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4b91911e34bb4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4">
            <a:extLst xmlns:a="http://schemas.openxmlformats.org/drawingml/2006/main">
              <a:ext uri="{FF2B5EF4-FFF2-40B4-BE49-F238E27FC236}">
                <a16:creationId xmlns:a16="http://schemas.microsoft.com/office/drawing/2014/main" id="{6417829E-82D7-4FB9-ACE5-4042D430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4">
            <a:extLst xmlns:a="http://schemas.openxmlformats.org/drawingml/2006/main">
              <a:ext uri="{FF2B5EF4-FFF2-40B4-BE49-F238E27FC236}">
                <a16:creationId xmlns:a16="http://schemas.microsoft.com/office/drawing/2014/main" id="{82A745F8-C629-4A09-8339-E6FE01E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4">
            <a:extLst xmlns:a="http://schemas.openxmlformats.org/drawingml/2006/main">
              <a:ext uri="{FF2B5EF4-FFF2-40B4-BE49-F238E27FC236}">
                <a16:creationId xmlns:a16="http://schemas.microsoft.com/office/drawing/2014/main" id="{109A24CB-2E1D-4DEE-ADE9-974E761F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8" name="reason-frame">
            <a:extLst xmlns:a="http://schemas.openxmlformats.org/drawingml/2006/main">
              <a:ext uri="{FF2B5EF4-FFF2-40B4-BE49-F238E27FC236}">
                <a16:creationId xmlns:a16="http://schemas.microsoft.com/office/drawing/2014/main" id="{3659EC94-003C-4626-ADBF-A72FA32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00cc736f2462d"/>
          <a:srcRect xmlns:a="http://schemas.openxmlformats.org/drawingml/2006/main" l="0" t="1404" r="0" b="1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05000"/>
            <a:ext cx="6934200" cy="3790950"/>
          </a:xfrm>
          <a:prstGeom xmlns:a="http://schemas.openxmlformats.org/drawingml/2006/main" prst="roundRect">
            <a:avLst>
              <a:gd name="adj" fmla="val 1508"/>
            </a:avLst>
          </a:prstGeom>
        </p:spPr>
      </p:pic>
      <p:sp>
        <p:nvSpPr>
          <p:cNvPr id="10" name="reason-num-0">
            <a:extLst xmlns:a="http://schemas.openxmlformats.org/drawingml/2006/main">
              <a:ext uri="{FF2B5EF4-FFF2-40B4-BE49-F238E27FC236}">
                <a16:creationId xmlns:a16="http://schemas.microsoft.com/office/drawing/2014/main" id="{C7DA6788-ECF6-4619-A6D4-6703BF37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reason-step-0">
            <a:extLst xmlns:a="http://schemas.openxmlformats.org/drawingml/2006/main">
              <a:ext uri="{FF2B5EF4-FFF2-40B4-BE49-F238E27FC236}">
                <a16:creationId xmlns:a16="http://schemas.microsoft.com/office/drawing/2014/main" id="{0116A212-7CFD-4881-87E1-F3D2A908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2" name="reason-num-1">
            <a:extLst xmlns:a="http://schemas.openxmlformats.org/drawingml/2006/main">
              <a:ext uri="{FF2B5EF4-FFF2-40B4-BE49-F238E27FC236}">
                <a16:creationId xmlns:a16="http://schemas.microsoft.com/office/drawing/2014/main" id="{A2934F8B-6C46-4BF1-B679-5B7057C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ason-step-1">
            <a:extLst xmlns:a="http://schemas.openxmlformats.org/drawingml/2006/main">
              <a:ext uri="{FF2B5EF4-FFF2-40B4-BE49-F238E27FC236}">
                <a16:creationId xmlns:a16="http://schemas.microsoft.com/office/drawing/2014/main" id="{0997387C-003E-42AB-9C54-85C4E6A0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Prioritize</a:t>
            </a:r>
          </a:p>
        </p:txBody>
      </p:sp>
      <p:sp>
        <p:nvSpPr>
          <p:cNvPr id="14" name="reason-num-2">
            <a:extLst xmlns:a="http://schemas.openxmlformats.org/drawingml/2006/main">
              <a:ext uri="{FF2B5EF4-FFF2-40B4-BE49-F238E27FC236}">
                <a16:creationId xmlns:a16="http://schemas.microsoft.com/office/drawing/2014/main" id="{136408F5-7787-40C8-B222-1444979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ason-step-2">
            <a:extLst xmlns:a="http://schemas.openxmlformats.org/drawingml/2006/main">
              <a:ext uri="{FF2B5EF4-FFF2-40B4-BE49-F238E27FC236}">
                <a16:creationId xmlns:a16="http://schemas.microsoft.com/office/drawing/2014/main" id="{8BAE10AC-357C-4D86-B083-9641668B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6" name="reason-num-3">
            <a:extLst xmlns:a="http://schemas.openxmlformats.org/drawingml/2006/main">
              <a:ext uri="{FF2B5EF4-FFF2-40B4-BE49-F238E27FC236}">
                <a16:creationId xmlns:a16="http://schemas.microsoft.com/office/drawing/2014/main" id="{35BE1758-488C-4074-A259-C13925BA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reason-step-3">
            <a:extLst xmlns:a="http://schemas.openxmlformats.org/drawingml/2006/main">
              <a:ext uri="{FF2B5EF4-FFF2-40B4-BE49-F238E27FC236}">
                <a16:creationId xmlns:a16="http://schemas.microsoft.com/office/drawing/2014/main" id="{FAEA9857-4D7F-4D02-B299-BD0D9259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18" name="reason-num-4">
            <a:extLst xmlns:a="http://schemas.openxmlformats.org/drawingml/2006/main">
              <a:ext uri="{FF2B5EF4-FFF2-40B4-BE49-F238E27FC236}">
                <a16:creationId xmlns:a16="http://schemas.microsoft.com/office/drawing/2014/main" id="{940F2C2C-2909-4F02-878A-D6C18224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reason-step-4">
            <a:extLst xmlns:a="http://schemas.openxmlformats.org/drawingml/2006/main">
              <a:ext uri="{FF2B5EF4-FFF2-40B4-BE49-F238E27FC236}">
                <a16:creationId xmlns:a16="http://schemas.microsoft.com/office/drawing/2014/main" id="{2791988C-50CB-47E1-B305-77789758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81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</p:txBody>
      </p:sp>
      <p:sp>
        <p:nvSpPr>
          <p:cNvPr id="20" name="reason-warning">
            <a:extLst xmlns:a="http://schemas.openxmlformats.org/drawingml/2006/main">
              <a:ext uri="{FF2B5EF4-FFF2-40B4-BE49-F238E27FC236}">
                <a16:creationId xmlns:a16="http://schemas.microsoft.com/office/drawing/2014/main" id="{99B4CAE3-D942-4089-85F9-E98DEFF6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rPr>
              <a:t>Production changes remain approval-gated until rollback and guardrails have been reviewed.</a:t>
            </a:r>
          </a:p>
        </p:txBody>
      </p:sp>
    </p:spTree>
    <p:extLst>
      <p:ext uri="{BB962C8B-B14F-4D97-AF65-F5344CB8AC3E}">
        <p14:creationId xmlns:p14="http://schemas.microsoft.com/office/powerpoint/2010/main" val="17129710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d39eadf1542cd"/>
          <a:stretch xmlns:a="http://schemas.openxmlformats.org/drawingml/2006/main"/>
        </p:blipFill>
        <p:spPr>
          <a:xfrm xmlns:a="http://schemas.openxmlformats.org/drawingml/2006/main">
            <a:off x="10287000" y="5905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C4EE4C15-319A-482D-B3BB-E529C3A7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8F5913F-AE80-4666-94E1-C4B07EC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workshop close</a:t>
            </a:r>
          </a:p>
        </p:txBody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07A6A181-5680-47CD-B49B-A07CB5EF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B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7CBC5"/>
                </a:solidFill>
                <a:latin typeface="Helvetica Neue"/>
                <a:ea typeface="Helvetica Neue"/>
                <a:cs typeface="Helvetica Neue"/>
              </a:rPr>
              <a:t>Before anyone leaves, confirm these conditions.</a:t>
            </a:r>
          </a:p>
        </p:txBody>
      </p:sp>
      <p:sp>
        <p:nvSpPr>
          <p:cNvPr id="5" name="close-list">
            <a:extLst xmlns:a="http://schemas.openxmlformats.org/drawingml/2006/main">
              <a:ext uri="{FF2B5EF4-FFF2-40B4-BE49-F238E27FC236}">
                <a16:creationId xmlns:a16="http://schemas.microsoft.com/office/drawing/2014/main" id="{A456EA8C-F598-4833-AC0E-26E8188C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four scanner streams produced a result or documented fallback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finding has evidence, a control, an owner, and a closure action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AWS, GCP, and Kubernetes lab resources have been destroyed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Temporary credentials and access have been revoked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events and the final rescan or validation result have been retained</a:t>
            </a:r>
          </a:p>
        </p:txBody>
      </p:sp>
      <p:sp>
        <p:nvSpPr>
          <p:cNvPr id="6" name="close-quote-bg">
            <a:extLst xmlns:a="http://schemas.openxmlformats.org/drawingml/2006/main">
              <a:ext uri="{FF2B5EF4-FFF2-40B4-BE49-F238E27FC236}">
                <a16:creationId xmlns:a16="http://schemas.microsoft.com/office/drawing/2014/main" id="{9461DF16-7AE6-423D-AA8D-BB3DB6D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0"/>
          </a:solidFill>
          <a:ln xmlns:a="http://schemas.openxmlformats.org/drawingml/2006/main" w="0">
            <a:solidFill>
              <a:srgbClr val="42D7B0"/>
            </a:solidFill>
            <a:prstDash val="solid"/>
          </a:ln>
        </p:spPr>
      </p:sp>
      <p:sp>
        <p:nvSpPr>
          <p:cNvPr id="7" name="close-quote-label">
            <a:extLst xmlns:a="http://schemas.openxmlformats.org/drawingml/2006/main">
              <a:ext uri="{FF2B5EF4-FFF2-40B4-BE49-F238E27FC236}">
                <a16:creationId xmlns:a16="http://schemas.microsoft.com/office/drawing/2014/main" id="{20CB3392-EE10-4517-81D6-A21705D9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WORKSHOP RESULT</a:t>
            </a:r>
          </a:p>
        </p:txBody>
      </p:sp>
      <p:sp>
        <p:nvSpPr>
          <p:cNvPr id="8" name="close-quote">
            <a:extLst xmlns:a="http://schemas.openxmlformats.org/drawingml/2006/main">
              <a:ext uri="{FF2B5EF4-FFF2-40B4-BE49-F238E27FC236}">
                <a16:creationId xmlns:a16="http://schemas.microsoft.com/office/drawing/2014/main" id="{8D6A3EC8-CE77-48CB-86B1-9C73BE84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A finding with</a:t>
            </a:r>
          </a:p>
          <a:p xmlns:a="http://schemas.openxmlformats.org/drawingml/2006/main">
            <a:pPr algn="l">
              <a:def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proof, ownership,</a:t>
            </a:r>
          </a:p>
          <a:p xmlns:a="http://schemas.openxmlformats.org/drawingml/2006/main">
            <a:pPr algn="l">
              <a:def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and a verified fix</a:t>
            </a:r>
          </a:p>
        </p:txBody>
      </p:sp>
      <p:sp>
        <p:nvSpPr>
          <p:cNvPr id="9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5F703EE3-94FD-45C8-AA4B-8E57CDAD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Questions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246130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2026-09-05T12:56:00.0260000Z</dcterms:created>
  <dcterms:modified xsi:type="dcterms:W3CDTF">2026-09-05T12:56:00.0260000Z</dcterms:modified>
</coreProperties>
</file>