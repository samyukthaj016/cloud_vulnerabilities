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cdb811e394398" /><Relationship Type="http://schemas.openxmlformats.org/officeDocument/2006/relationships/extended-properties" Target="/docProps/app.xml" Id="R24e327e2c06e4c15" /><Relationship Type="http://schemas.openxmlformats.org/officeDocument/2006/relationships/officeDocument" Target="/ppt/presentation.xml" Id="R4c6a09a8001546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ea9b57bd94392"/>
  </p:sldMasterIdLst>
  <p:notesMasterIdLst>
    <p:notesMasterId xmlns:r="http://schemas.openxmlformats.org/officeDocument/2006/relationships" r:id="Rf829a5f75f9a4ff1"/>
  </p:notesMasterIdLst>
  <p:sldIdLst>
    <p:sldId xmlns:r="http://schemas.openxmlformats.org/officeDocument/2006/relationships" id="256" r:id="R4185213bed184e4c"/>
    <p:sldId xmlns:r="http://schemas.openxmlformats.org/officeDocument/2006/relationships" id="257" r:id="Rd0d29dda9cdb47a4"/>
    <p:sldId xmlns:r="http://schemas.openxmlformats.org/officeDocument/2006/relationships" id="258" r:id="R6e7b021773274eb4"/>
    <p:sldId xmlns:r="http://schemas.openxmlformats.org/officeDocument/2006/relationships" id="259" r:id="R478db7d093704c4b"/>
    <p:sldId xmlns:r="http://schemas.openxmlformats.org/officeDocument/2006/relationships" id="260" r:id="R83ed9482cfd148e9"/>
    <p:sldId xmlns:r="http://schemas.openxmlformats.org/officeDocument/2006/relationships" id="261" r:id="R5f147ce63f08443f"/>
    <p:sldId xmlns:r="http://schemas.openxmlformats.org/officeDocument/2006/relationships" id="262" r:id="R3c6c052d771f449b"/>
    <p:sldId xmlns:r="http://schemas.openxmlformats.org/officeDocument/2006/relationships" id="263" r:id="R86146a05c9f449f5"/>
    <p:sldId xmlns:r="http://schemas.openxmlformats.org/officeDocument/2006/relationships" id="264" r:id="Rd333775cc8494197"/>
    <p:sldId xmlns:r="http://schemas.openxmlformats.org/officeDocument/2006/relationships" id="265" r:id="Ra885381b40dc4458"/>
    <p:sldId xmlns:r="http://schemas.openxmlformats.org/officeDocument/2006/relationships" id="266" r:id="R9be2e06755d04396"/>
    <p:sldId xmlns:r="http://schemas.openxmlformats.org/officeDocument/2006/relationships" id="267" r:id="R1a1b1fda4da74fd3"/>
    <p:sldId xmlns:r="http://schemas.openxmlformats.org/officeDocument/2006/relationships" id="268" r:id="Rb31a12ed0c964a5b"/>
    <p:sldId xmlns:r="http://schemas.openxmlformats.org/officeDocument/2006/relationships" id="269" r:id="R849d11b14f5a4cce"/>
    <p:sldId xmlns:r="http://schemas.openxmlformats.org/officeDocument/2006/relationships" id="270" r:id="Rc16bb1f9f3eb46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d883929fdb4d0c" /><Relationship Type="http://schemas.openxmlformats.org/officeDocument/2006/relationships/slideMaster" Target="/ppt/slideMasters/slideMaster1.xml" Id="Rb48ea9b57bd94392" /><Relationship Type="http://schemas.openxmlformats.org/officeDocument/2006/relationships/notesMaster" Target="/ppt/notesMasters/notesMaster1.xml" Id="Rf829a5f75f9a4ff1" /><Relationship Type="http://schemas.openxmlformats.org/officeDocument/2006/relationships/presProps" Target="/ppt/presProps.xml" Id="R2218bc369ff343bc" /><Relationship Type="http://schemas.openxmlformats.org/officeDocument/2006/relationships/tableStyles" Target="/ppt/tableStyles.xml" Id="R3690e35cc26b4b50" /><Relationship Type="http://schemas.openxmlformats.org/officeDocument/2006/relationships/slide" Target="/ppt/slides/slide1.xml" Id="R4185213bed184e4c" /><Relationship Type="http://schemas.openxmlformats.org/officeDocument/2006/relationships/slide" Target="/ppt/slides/slide2.xml" Id="Rd0d29dda9cdb47a4" /><Relationship Type="http://schemas.openxmlformats.org/officeDocument/2006/relationships/slide" Target="/ppt/slides/slide3.xml" Id="R6e7b021773274eb4" /><Relationship Type="http://schemas.openxmlformats.org/officeDocument/2006/relationships/slide" Target="/ppt/slides/slide4.xml" Id="R478db7d093704c4b" /><Relationship Type="http://schemas.openxmlformats.org/officeDocument/2006/relationships/slide" Target="/ppt/slides/slide5.xml" Id="R83ed9482cfd148e9" /><Relationship Type="http://schemas.openxmlformats.org/officeDocument/2006/relationships/slide" Target="/ppt/slides/slide6.xml" Id="R5f147ce63f08443f" /><Relationship Type="http://schemas.openxmlformats.org/officeDocument/2006/relationships/slide" Target="/ppt/slides/slide7.xml" Id="R3c6c052d771f449b" /><Relationship Type="http://schemas.openxmlformats.org/officeDocument/2006/relationships/slide" Target="/ppt/slides/slide8.xml" Id="R86146a05c9f449f5" /><Relationship Type="http://schemas.openxmlformats.org/officeDocument/2006/relationships/slide" Target="/ppt/slides/slide9.xml" Id="Rd333775cc8494197" /><Relationship Type="http://schemas.openxmlformats.org/officeDocument/2006/relationships/slide" Target="/ppt/slides/slide10.xml" Id="Ra885381b40dc4458" /><Relationship Type="http://schemas.openxmlformats.org/officeDocument/2006/relationships/slide" Target="/ppt/slides/slide11.xml" Id="R9be2e06755d04396" /><Relationship Type="http://schemas.openxmlformats.org/officeDocument/2006/relationships/slide" Target="/ppt/slides/slide12.xml" Id="R1a1b1fda4da74fd3" /><Relationship Type="http://schemas.openxmlformats.org/officeDocument/2006/relationships/slide" Target="/ppt/slides/slide13.xml" Id="Rb31a12ed0c964a5b" /><Relationship Type="http://schemas.openxmlformats.org/officeDocument/2006/relationships/slide" Target="/ppt/slides/slide14.xml" Id="R849d11b14f5a4cce" /><Relationship Type="http://schemas.openxmlformats.org/officeDocument/2006/relationships/slide" Target="/ppt/slides/slide15.xml" Id="Rc16bb1f9f3eb46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f0f7639261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92a301f8304fed" /><Relationship Type="http://schemas.openxmlformats.org/officeDocument/2006/relationships/notesMaster" Target="/ppt/notesMasters/notesMaster1.xml" Id="R4708bdaaf0354e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78aff1a9274f39" /><Relationship Type="http://schemas.openxmlformats.org/officeDocument/2006/relationships/notesMaster" Target="/ppt/notesMasters/notesMaster1.xml" Id="R05ee2711d7cd4c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cb990490184bc3" /><Relationship Type="http://schemas.openxmlformats.org/officeDocument/2006/relationships/notesMaster" Target="/ppt/notesMasters/notesMaster1.xml" Id="R04bb1f89b18e45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7285df08ee47d1" /><Relationship Type="http://schemas.openxmlformats.org/officeDocument/2006/relationships/notesMaster" Target="/ppt/notesMasters/notesMaster1.xml" Id="R498dda58fa4b44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4e42890209485b" /><Relationship Type="http://schemas.openxmlformats.org/officeDocument/2006/relationships/notesMaster" Target="/ppt/notesMasters/notesMaster1.xml" Id="R70d02312ba1a4e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ad50d8da944b5c" /><Relationship Type="http://schemas.openxmlformats.org/officeDocument/2006/relationships/notesMaster" Target="/ppt/notesMasters/notesMaster1.xml" Id="R2b821caed99749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ef8798e4ad4c8a" /><Relationship Type="http://schemas.openxmlformats.org/officeDocument/2006/relationships/notesMaster" Target="/ppt/notesMasters/notesMaster1.xml" Id="R655d53bcd7ec4a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99c512cd8d4950" /><Relationship Type="http://schemas.openxmlformats.org/officeDocument/2006/relationships/notesMaster" Target="/ppt/notesMasters/notesMaster1.xml" Id="Ra6e02d034245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8b858f94144230" /><Relationship Type="http://schemas.openxmlformats.org/officeDocument/2006/relationships/notesMaster" Target="/ppt/notesMasters/notesMaster1.xml" Id="R7f6a6c31693a48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005af7c6584c99" /><Relationship Type="http://schemas.openxmlformats.org/officeDocument/2006/relationships/notesMaster" Target="/ppt/notesMasters/notesMaster1.xml" Id="R2dffeaed44d24f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2ac8a6ddd149db" /><Relationship Type="http://schemas.openxmlformats.org/officeDocument/2006/relationships/notesMaster" Target="/ppt/notesMasters/notesMaster1.xml" Id="Rc5fead4107bf41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40dce858c94df9" /><Relationship Type="http://schemas.openxmlformats.org/officeDocument/2006/relationships/notesMaster" Target="/ppt/notesMasters/notesMaster1.xml" Id="R3e88a1ad731245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52dcf4cdca494f" /><Relationship Type="http://schemas.openxmlformats.org/officeDocument/2006/relationships/notesMaster" Target="/ppt/notesMasters/notesMaster1.xml" Id="Rb1e55c5ef35947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ab31618a0749a3" /><Relationship Type="http://schemas.openxmlformats.org/officeDocument/2006/relationships/notesMaster" Target="/ppt/notesMasters/notesMaster1.xml" Id="R1b186322fa1446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e914a78edc4f2e" /><Relationship Type="http://schemas.openxmlformats.org/officeDocument/2006/relationships/notesMaster" Target="/ppt/notesMasters/notesMaster1.xml" Id="Rc7c37ce4e54b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Welcome participants and state that every demonstration is authorized and isolated.</a:t>
            </a:r>
          </a:p>
          <a:p xmlns:a="http://schemas.openxmlformats.org/drawingml/2006/main">
            <a:r>
              <a:t>Set the promise: the session will not stop at finding vulnerabilities; it will show evidence, ownership, and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/Users/anjali/Cloud_Vulnerabilities/output/playwright/cloudguard-portal.png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Invite a quick show of hands: who works mainly in cloud, platform, development, or governance?</a:t>
            </a:r>
          </a:p>
          <a:p xmlns:a="http://schemas.openxmlformats.org/drawingml/2006/main">
            <a:r>
              <a:t>Use the answers to choose terminology depth during the four demos.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/Users/anjali/Cloud_Vulnerabilities/docs/vendor-neutral-reason-act-architecture.md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Tell participants that cloud scan duration is variable; the warm-live method prevents waiting from consuming the session.</a:t>
            </a:r>
          </a:p>
          <a:p xmlns:a="http://schemas.openxmlformats.org/drawingml/2006/main">
            <a:r>
              <a:t>Keep questions short during demos and collect deeper questions for the comparison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minutes.</a:t>
            </a:r>
          </a:p>
          <a:p xmlns:a="http://schemas.openxmlformats.org/drawingml/2006/main">
            <a:r>
              <a:t>Explain the queue before opening any provider-specific screen.</a:t>
            </a:r>
          </a:p>
          <a:p xmlns:a="http://schemas.openxmlformats.org/drawingml/2006/main">
            <a:r>
              <a:t>Emphasize that the portal can be hosted independently of AWS or GCP while still scanning them through stored credentials and workers.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/Users/anjali/Cloud_Vulnerabilities/handoff/grc-compliance-governance/setup-dokploy-cloudguard-stack.png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Use pre-created AWS and GCP sandboxes. Do not attempt live account creation or closure.</a:t>
            </a:r>
          </a:p>
          <a:p xmlns:a="http://schemas.openxmlformats.org/drawingml/2006/main">
            <a:r>
              <a:t>IaC is the zero-cost fallback. Kubernetes can use kind, k3s, or a temporary namespace in a dedicated cluster.</a:t>
            </a:r>
          </a:p>
          <a:p xmlns:a="http://schemas.openxmlformats.org/drawingml/2006/main">
            <a:r>
              <a:t>Before proceeding, state the authorization boundary and demonstrate the cleanup command or button.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/Users/anjali/Cloud_Vulnerabilities/db/init/12_migration_sandbox_labs.sql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Explain the warm-live method to the demo operator and lab assistant before the session.</a:t>
            </a:r>
          </a:p>
          <a:p xmlns:a="http://schemas.openxmlformats.org/drawingml/2006/main">
            <a:r>
              <a:t>Use a visible run sheet: target ready, credential validated, baseline result ready, fresh job started, cleanup 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</a:t>
            </a:r>
          </a:p>
          <a:p xmlns:a="http://schemas.openxmlformats.org/drawingml/2006/main">
            <a:r>
              <a:t>Do not store data in the test bucket. Keep the security group unattached and the IAM role unusable outside the lab.</a:t>
            </a:r>
          </a:p>
          <a:p xmlns:a="http://schemas.openxmlformats.org/drawingml/2006/main">
            <a:r>
              <a:t>Show resource prefix and expiry before showing findings.</a:t>
            </a:r>
          </a:p>
          <a:p xmlns:a="http://schemas.openxmlformats.org/drawingml/2006/main">
            <a:r>
              <a:t>Return to the live job after explaining the completed baseline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</a:t>
            </a:r>
          </a:p>
          <a:p xmlns:a="http://schemas.openxmlformats.org/drawingml/2006/main">
            <a:r>
              <a:t>Keep the storage bucket empty, do not create a service-account key, and do not attach the firewall rule to production workloads.</a:t>
            </a:r>
          </a:p>
          <a:p xmlns:a="http://schemas.openxmlformats.org/drawingml/2006/main">
            <a:r>
              <a:t>Ask participants which AWS finding is most similar to each GCP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</a:t>
            </a:r>
          </a:p>
          <a:p xmlns:a="http://schemas.openxmlformats.org/drawingml/2006/main">
            <a:r>
              <a:t>Start with the namespace or cluster boundary, then show the three risk surfaces in this order: workload, identity, network.</a:t>
            </a:r>
          </a:p>
          <a:p xmlns:a="http://schemas.openxmlformats.org/drawingml/2006/main">
            <a:r>
              <a:t>Do not use a harmful image, real secret, or hostPath containing host data.</a:t>
            </a:r>
          </a:p>
          <a:p xmlns:a="http://schemas.openxmlformats.org/drawingml/2006/main">
            <a:r>
              <a:t>End by deleting the temporary namespace or disposable cluster and showing the cleanup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Use the IaC demo as the participation moment: ask the room to predict public storage, broad ingress, encryption, privileged Kubernetes, and dummy-secret findings.</a:t>
            </a:r>
          </a:p>
          <a:p xmlns:a="http://schemas.openxmlformats.org/drawingml/2006/main">
            <a:r>
              <a:t>This is the zero-cost fallback if any live provider scan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minutes, including a short buffer for scans.</a:t>
            </a:r>
          </a:p>
          <a:p xmlns:a="http://schemas.openxmlformats.org/drawingml/2006/main">
            <a:r>
              <a:t>Ask teams to pick one finding and justify priority using exposure, identity impact, data sensitivity, and business criticality.</a:t>
            </a:r>
          </a:p>
          <a:p xmlns:a="http://schemas.openxmlformats.org/drawingml/2006/main">
            <a:r>
              <a:t>Do not present the example table as measured workshop output; it is a discussion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/Users/anjali/Cloud_Vulnerabilities/docs/vendor-neutral-reason-act-architecture.md</a:t>
            </a:r>
          </a:p>
          <a:p xmlns:a="http://schemas.openxmlformats.org/drawingml/2006/main">
            <a:r>
              <a:t>- /Users/anjali/Cloud_Vulnerabilities/db/init/11_migration_reason_act_workflow.sql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Open one evidence item and point out source system, scanner type, asset reference, checksum, metadata, and control mapping.</a:t>
            </a:r>
          </a:p>
          <a:p xmlns:a="http://schemas.openxmlformats.org/drawingml/2006/main">
            <a:r>
              <a:t>Explain that external scanners can use the same evidence contract without being embedded in the portal.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/Users/anjali/Cloud_Vulnerabilities/handoff/grc-compliance-governance/architecture-grc-evidence-flow.png</a:t>
            </a:r>
          </a:p>
          <a:p xmlns:a="http://schemas.openxmlformats.org/drawingml/2006/main">
            <a:r>
              <a:t>- /Users/anjali/Cloud_Vulnerabilities/db/init/09_migration_scan_jobs_evidence.sql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minutes.</a:t>
            </a:r>
          </a:p>
          <a:p xmlns:a="http://schemas.openxmlformats.org/drawingml/2006/main">
            <a:r>
              <a:t>Show how a scanner artifact becomes evidence for a control rather than merely a line in a vulnerability report.</a:t>
            </a:r>
          </a:p>
          <a:p xmlns:a="http://schemas.openxmlformats.org/drawingml/2006/main">
            <a:r>
              <a:t>Call out evidence count, status, framework association, and the expected remediation owner.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/Users/anjali/Cloud_Vulnerabilities/grc-platform/frontend/e2e/__snapshots__/visual.spec.ts/controls-list.png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- /Users/anjali/Cloud_Vulnerabilities/grc-platform/README.md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Open the Reason &amp; Act page and connect each phase to the finding selected during the comparison exercise.</a:t>
            </a:r>
          </a:p>
          <a:p xmlns:a="http://schemas.openxmlformats.org/drawingml/2006/main">
            <a:r>
              <a:t>Demonstrate learn or approve mode; do not execute production-changing automation in the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/Users/anjali/Cloud_Vulnerabilities/output/playwright/cloudguard-reason-act.png</a:t>
            </a:r>
          </a:p>
          <a:p xmlns:a="http://schemas.openxmlformats.org/drawingml/2006/main">
            <a:r>
              <a:t>- /Users/anjali/Cloud_Vulnerabilities/docs/vendor-neutral-reason-act-architecture.md</a:t>
            </a:r>
          </a:p>
          <a:p xmlns:a="http://schemas.openxmlformats.org/drawingml/2006/main">
            <a:r>
              <a:t>- /Users/anjali/Cloud_Vulnerabilities/db/init/11_migration_reason_act_workflow.sql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Run the cleanup checklist in front of participants.</a:t>
            </a:r>
          </a:p>
          <a:p xmlns:a="http://schemas.openxmlformats.org/drawingml/2006/main">
            <a:r>
              <a:t>Confirm that no temporary resource remains, then invite final questions and collect feedback.</a:t>
            </a:r>
          </a:p>
          <a:p xmlns:a="http://schemas.openxmlformats.org/drawingml/2006/main">
            <a:r>
              <a:t>Share the deck, lab guide, and approved sample outputs after the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/Users/anjali/Cloud_Vulnerabilities/docs/vendor-neutral-reason-act-architecture.md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f9ae27596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a8f88b3af54ec1" /><Relationship Type="http://schemas.openxmlformats.org/officeDocument/2006/relationships/slideLayout" Target="/ppt/slideLayouts/slideLayout1.xml" Id="R1a55bda07bef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5bda07bef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57e09bba64183" /><Relationship Type="http://schemas.openxmlformats.org/officeDocument/2006/relationships/image" Target="/ppt/media/image.png" Id="R68cffa90db5a467c" /><Relationship Type="http://schemas.openxmlformats.org/officeDocument/2006/relationships/notesSlide" Target="/ppt/notesSlides/notesSlide1.xml" Id="R2b6d6a8d41974f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d76234f9f4501" /><Relationship Type="http://schemas.openxmlformats.org/officeDocument/2006/relationships/notesSlide" Target="/ppt/notesSlides/notesSlide2.xml" Id="Rb3142122289d41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9b0d1fa9d44b6" /><Relationship Type="http://schemas.openxmlformats.org/officeDocument/2006/relationships/notesSlide" Target="/ppt/notesSlides/notesSlide3.xml" Id="R167185c619334c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db152e0a24602" /><Relationship Type="http://schemas.openxmlformats.org/officeDocument/2006/relationships/image" Target="/ppt/media/image2.png" Id="R9edda1f3326c43d5" /><Relationship Type="http://schemas.openxmlformats.org/officeDocument/2006/relationships/notesSlide" Target="/ppt/notesSlides/notesSlide4.xml" Id="R74e0f020ac43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abbdb151e41b6" /><Relationship Type="http://schemas.openxmlformats.org/officeDocument/2006/relationships/notesSlide" Target="/ppt/notesSlides/notesSlide5.xml" Id="Rc1be63ad311440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28745d5a447ca" /><Relationship Type="http://schemas.openxmlformats.org/officeDocument/2006/relationships/notesSlide" Target="/ppt/notesSlides/notesSlide6.xml" Id="R4907547eb7724e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12d6be8cb48f3" /><Relationship Type="http://schemas.openxmlformats.org/officeDocument/2006/relationships/notesSlide" Target="/ppt/notesSlides/notesSlide7.xml" Id="R4a4e8610690543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e5eabdaee4ca7" /><Relationship Type="http://schemas.openxmlformats.org/officeDocument/2006/relationships/notesSlide" Target="/ppt/notesSlides/notesSlide8.xml" Id="R4e3760b011c042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6ab15ae4c43bc" /><Relationship Type="http://schemas.openxmlformats.org/officeDocument/2006/relationships/notesSlide" Target="/ppt/notesSlides/notesSlide9.xml" Id="R10a61934d2bb40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36960e3784c99" /><Relationship Type="http://schemas.openxmlformats.org/officeDocument/2006/relationships/notesSlide" Target="/ppt/notesSlides/notesSlide10.xml" Id="Ra883b698022241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a4406c585486e" /><Relationship Type="http://schemas.openxmlformats.org/officeDocument/2006/relationships/notesSlide" Target="/ppt/notesSlides/notesSlide11.xml" Id="R37832d30a4984b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8e8aabd4740b7" /><Relationship Type="http://schemas.openxmlformats.org/officeDocument/2006/relationships/image" Target="/ppt/media/image3.png" Id="R88dfca236f104dfd" /><Relationship Type="http://schemas.openxmlformats.org/officeDocument/2006/relationships/notesSlide" Target="/ppt/notesSlides/notesSlide12.xml" Id="R609fbe57e04044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4715f52f34a2c" /><Relationship Type="http://schemas.openxmlformats.org/officeDocument/2006/relationships/image" Target="/ppt/media/image4.png" Id="R3df11317b54a4c58" /><Relationship Type="http://schemas.openxmlformats.org/officeDocument/2006/relationships/notesSlide" Target="/ppt/notesSlides/notesSlide13.xml" Id="R418969b3296d4a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33b76e9e74f3b" /><Relationship Type="http://schemas.openxmlformats.org/officeDocument/2006/relationships/image" Target="/ppt/media/image5.png" Id="R679d590be76540ec" /><Relationship Type="http://schemas.openxmlformats.org/officeDocument/2006/relationships/notesSlide" Target="/ppt/notesSlides/notesSlide14.xml" Id="Ree973619d7fc4a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c51c56da04ec9" /><Relationship Type="http://schemas.openxmlformats.org/officeDocument/2006/relationships/notesSlide" Target="/ppt/notesSlides/notesSlide15.xml" Id="Rd8c450d66980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C0D17CD-30E5-40BA-87A3-329BC7C0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LIVE SECURITY WORKSHOP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1FDCA7-2170-4D29-A5D6-B80C167D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CloudGuard</a:t>
            </a:r>
          </a:p>
          <a:p xmlns:a="http://schemas.openxmlformats.org/drawingml/2006/main">
            <a:pPr algn="l">
              <a:defRPr sz="4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Live Workshop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85889F3-295C-475A-8C6E-F1C105BC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Four scanners. One evidence trail.</a:t>
            </a:r>
          </a:p>
          <a:p xmlns:a="http://schemas.openxmlformats.org/drawingml/2006/main">
            <a:pPr algn="l">
              <a:defRPr sz="20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One verified closure story.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D54BDF3D-B97A-4A52-8CD8-2704097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AWS  •  GCP  •  Kubernetes  •  IaC</a:t>
            </a:r>
          </a:p>
        </p:txBody>
      </p:sp>
      <p:sp>
        <p:nvSpPr>
          <p:cNvPr id="5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8E827B5C-96C7-4A5F-863B-4A8E5B6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2.5-hour facilitator deck</a:t>
            </a:r>
          </a:p>
        </p:txBody>
      </p:sp>
      <p:sp>
        <p:nvSpPr>
          <p:cNvPr id="6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28EF7731-4DDD-4A9B-8B44-084E615A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"/>
            <a:ext cx="5467350" cy="5943600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ffa90db5a467c"/>
          <a:srcRect xmlns:a="http://schemas.openxmlformats.org/drawingml/2006/main" l="24129" t="0" r="24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38150"/>
            <a:ext cx="5467350" cy="5943600"/>
          </a:xfrm>
          <a:prstGeom xmlns:a="http://schemas.openxmlformats.org/drawingml/2006/main" prst="roundRect">
            <a:avLst>
              <a:gd name="adj" fmla="val 2787"/>
            </a:avLst>
          </a:prstGeom>
        </p:spPr>
      </p:pic>
    </p:spTree>
    <p:extLst>
      <p:ext uri="{BB962C8B-B14F-4D97-AF65-F5344CB8AC3E}">
        <p14:creationId xmlns:p14="http://schemas.microsoft.com/office/powerpoint/2010/main" val="1279779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8130F5F9-2763-4475-88CC-EADDF71A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WORKSHOP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8A81CAB-F175-4458-9F7A-C634386F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 finding matters only when it changes a decision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8F7F2867-C145-4BA6-A1DA-88373AC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6FFDFD97-3A2A-4176-A000-389E2EC8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3FB80B1-4278-4500-8151-EAC96B27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outcome-thesis">
            <a:extLst xmlns:a="http://schemas.openxmlformats.org/drawingml/2006/main">
              <a:ext uri="{FF2B5EF4-FFF2-40B4-BE49-F238E27FC236}">
                <a16:creationId xmlns:a16="http://schemas.microsoft.com/office/drawing/2014/main" id="{44FAF930-207D-4E19-981A-D7DE3AB4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Discover the weakness.</a:t>
            </a:r>
          </a:p>
          <a:p xmlns:a="http://schemas.openxmlformats.org/drawingml/2006/main">
            <a:pPr algn="l">
              <a:defRPr sz="33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Prove the risk.</a:t>
            </a:r>
          </a:p>
          <a:p xmlns:a="http://schemas.openxmlformats.org/drawingml/2006/main">
            <a:pPr algn="l">
              <a:defRPr sz="33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Govern the fix.</a:t>
            </a:r>
          </a:p>
        </p:txBody>
      </p:sp>
      <p:sp>
        <p:nvSpPr>
          <p:cNvPr id="7" name="outcome-divider">
            <a:extLst xmlns:a="http://schemas.openxmlformats.org/drawingml/2006/main">
              <a:ext uri="{FF2B5EF4-FFF2-40B4-BE49-F238E27FC236}">
                <a16:creationId xmlns:a16="http://schemas.microsoft.com/office/drawing/2014/main" id="{9BA032D8-E839-44EC-B61F-888080D6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8" name="outcome-leave">
            <a:extLst xmlns:a="http://schemas.openxmlformats.org/drawingml/2006/main">
              <a:ext uri="{FF2B5EF4-FFF2-40B4-BE49-F238E27FC236}">
                <a16:creationId xmlns:a16="http://schemas.microsoft.com/office/drawing/2014/main" id="{ECCEA8C0-78AF-4EE3-BA79-94C090A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By the end, participants can:</a:t>
            </a:r>
          </a:p>
        </p:txBody>
      </p:sp>
      <p:sp>
        <p:nvSpPr>
          <p:cNvPr id="9" name="outcome-bullets-dot-0">
            <a:extLst xmlns:a="http://schemas.openxmlformats.org/drawingml/2006/main">
              <a:ext uri="{FF2B5EF4-FFF2-40B4-BE49-F238E27FC236}">
                <a16:creationId xmlns:a16="http://schemas.microsoft.com/office/drawing/2014/main" id="{BE60E27D-D306-4A55-A87F-7ABDD86A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0" name="outcome-bullets-text-0">
            <a:extLst xmlns:a="http://schemas.openxmlformats.org/drawingml/2006/main">
              <a:ext uri="{FF2B5EF4-FFF2-40B4-BE49-F238E27FC236}">
                <a16:creationId xmlns:a16="http://schemas.microsoft.com/office/drawing/2014/main" id="{C4DCA0A0-2E02-4943-ABE1-F3208DD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Recognize what each of the four scanners proves</a:t>
            </a:r>
          </a:p>
        </p:txBody>
      </p:sp>
      <p:sp>
        <p:nvSpPr>
          <p:cNvPr id="11" name="outcome-bullets-dot-1">
            <a:extLst xmlns:a="http://schemas.openxmlformats.org/drawingml/2006/main">
              <a:ext uri="{FF2B5EF4-FFF2-40B4-BE49-F238E27FC236}">
                <a16:creationId xmlns:a16="http://schemas.microsoft.com/office/drawing/2014/main" id="{E4E81A29-A0DC-4011-BB19-E1708963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2" name="outcome-bullets-text-1">
            <a:extLst xmlns:a="http://schemas.openxmlformats.org/drawingml/2006/main">
              <a:ext uri="{FF2B5EF4-FFF2-40B4-BE49-F238E27FC236}">
                <a16:creationId xmlns:a16="http://schemas.microsoft.com/office/drawing/2014/main" id="{F79EBD6E-7C2D-4B45-A46C-EA698D88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Explain why isolated labs are safer than vulnerable production-like accounts</a:t>
            </a:r>
          </a:p>
        </p:txBody>
      </p:sp>
      <p:sp>
        <p:nvSpPr>
          <p:cNvPr id="13" name="outcome-bullets-dot-2">
            <a:extLst xmlns:a="http://schemas.openxmlformats.org/drawingml/2006/main">
              <a:ext uri="{FF2B5EF4-FFF2-40B4-BE49-F238E27FC236}">
                <a16:creationId xmlns:a16="http://schemas.microsoft.com/office/drawing/2014/main" id="{64CBB1BD-678A-405D-ACCF-96C7110D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4" name="outcome-bullets-text-2">
            <a:extLst xmlns:a="http://schemas.openxmlformats.org/drawingml/2006/main">
              <a:ext uri="{FF2B5EF4-FFF2-40B4-BE49-F238E27FC236}">
                <a16:creationId xmlns:a16="http://schemas.microsoft.com/office/drawing/2014/main" id="{CDA62612-D6B2-42C0-BB1D-9C059161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290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Follow one finding into evidence, priority, control mapping, and remediation</a:t>
            </a:r>
          </a:p>
        </p:txBody>
      </p:sp>
      <p:sp>
        <p:nvSpPr>
          <p:cNvPr id="15" name="outcome-bullets-dot-3">
            <a:extLst xmlns:a="http://schemas.openxmlformats.org/drawingml/2006/main">
              <a:ext uri="{FF2B5EF4-FFF2-40B4-BE49-F238E27FC236}">
                <a16:creationId xmlns:a16="http://schemas.microsoft.com/office/drawing/2014/main" id="{84EFD7B6-D509-4FD3-A12E-E28B992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6" name="outcome-bullets-text-3">
            <a:extLst xmlns:a="http://schemas.openxmlformats.org/drawingml/2006/main">
              <a:ext uri="{FF2B5EF4-FFF2-40B4-BE49-F238E27FC236}">
                <a16:creationId xmlns:a16="http://schemas.microsoft.com/office/drawing/2014/main" id="{456B612B-083E-49AF-8287-4BA929D6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Define the rescan or cleanup proof that closes the issue</a:t>
            </a:r>
          </a:p>
        </p:txBody>
      </p:sp>
    </p:spTree>
    <p:extLst>
      <p:ext uri="{BB962C8B-B14F-4D97-AF65-F5344CB8AC3E}">
        <p14:creationId xmlns:p14="http://schemas.microsoft.com/office/powerpoint/2010/main" val="1576161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3">
            <a:extLst xmlns:a="http://schemas.openxmlformats.org/drawingml/2006/main">
              <a:ext uri="{FF2B5EF4-FFF2-40B4-BE49-F238E27FC236}">
                <a16:creationId xmlns:a16="http://schemas.microsoft.com/office/drawing/2014/main" id="{5D83E8C0-EE15-4E62-A069-E67F641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RUN OF SHOW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0090545-3BC2-4C3E-AB92-B3AC0BE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The 150-minute workshop keeps every demo moving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9FDED13A-42C0-495E-9845-AD95A1F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6AEA240C-4966-43C6-9FAC-553EB898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6F81CE2-AE8E-4225-9BA8-315BF73E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agenda-bg-0">
            <a:extLst xmlns:a="http://schemas.openxmlformats.org/drawingml/2006/main">
              <a:ext uri="{FF2B5EF4-FFF2-40B4-BE49-F238E27FC236}">
                <a16:creationId xmlns:a16="http://schemas.microsoft.com/office/drawing/2014/main" id="{EE6F760F-02F8-407D-A875-3B2CD63B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B353C332-7D56-4368-98D5-3DB2D5BB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agenda-time-0">
            <a:extLst xmlns:a="http://schemas.openxmlformats.org/drawingml/2006/main">
              <a:ext uri="{FF2B5EF4-FFF2-40B4-BE49-F238E27FC236}">
                <a16:creationId xmlns:a16="http://schemas.microsoft.com/office/drawing/2014/main" id="{67872502-DC5C-461D-A303-79D02E97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00:00–00:20</a:t>
            </a:r>
          </a:p>
        </p:txBody>
      </p:sp>
      <p:sp>
        <p:nvSpPr>
          <p:cNvPr id="9" name="agenda-session-0">
            <a:extLst xmlns:a="http://schemas.openxmlformats.org/drawingml/2006/main">
              <a:ext uri="{FF2B5EF4-FFF2-40B4-BE49-F238E27FC236}">
                <a16:creationId xmlns:a16="http://schemas.microsoft.com/office/drawing/2014/main" id="{27FAE5C0-FF0F-4353-9726-25E6B1D6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192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Purpose, platform, and authorization rules</a:t>
            </a:r>
          </a:p>
        </p:txBody>
      </p:sp>
      <p:sp>
        <p:nvSpPr>
          <p:cNvPr id="10" name="agenda-bg-1">
            <a:extLst xmlns:a="http://schemas.openxmlformats.org/drawingml/2006/main">
              <a:ext uri="{FF2B5EF4-FFF2-40B4-BE49-F238E27FC236}">
                <a16:creationId xmlns:a16="http://schemas.microsoft.com/office/drawing/2014/main" id="{6B786F5A-962F-4E72-8CEE-A419514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A854D4C4-9891-4D63-943B-D9DAF73E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agenda-time-1">
            <a:extLst xmlns:a="http://schemas.openxmlformats.org/drawingml/2006/main">
              <a:ext uri="{FF2B5EF4-FFF2-40B4-BE49-F238E27FC236}">
                <a16:creationId xmlns:a16="http://schemas.microsoft.com/office/drawing/2014/main" id="{E49E11BC-83F1-4833-ABB2-B26265A2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00:20–00:40</a:t>
            </a:r>
          </a:p>
        </p:txBody>
      </p:sp>
      <p:sp>
        <p:nvSpPr>
          <p:cNvPr id="13" name="agenda-session-1">
            <a:extLst xmlns:a="http://schemas.openxmlformats.org/drawingml/2006/main">
              <a:ext uri="{FF2B5EF4-FFF2-40B4-BE49-F238E27FC236}">
                <a16:creationId xmlns:a16="http://schemas.microsoft.com/office/drawing/2014/main" id="{6225B5C5-1618-43F2-AE40-C54AE73E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AWS scanner demo</a:t>
            </a:r>
          </a:p>
        </p:txBody>
      </p:sp>
      <p:sp>
        <p:nvSpPr>
          <p:cNvPr id="14" name="agenda-bg-2">
            <a:extLst xmlns:a="http://schemas.openxmlformats.org/drawingml/2006/main">
              <a:ext uri="{FF2B5EF4-FFF2-40B4-BE49-F238E27FC236}">
                <a16:creationId xmlns:a16="http://schemas.microsoft.com/office/drawing/2014/main" id="{FD3F4D11-60D2-400D-855C-E76BDA6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64B9000-1EAC-4739-AE0D-BAB8846F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agenda-time-2">
            <a:extLst xmlns:a="http://schemas.openxmlformats.org/drawingml/2006/main">
              <a:ext uri="{FF2B5EF4-FFF2-40B4-BE49-F238E27FC236}">
                <a16:creationId xmlns:a16="http://schemas.microsoft.com/office/drawing/2014/main" id="{72C858EA-F0F8-42B1-A3F5-7CED7C3E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00:40–01:00</a:t>
            </a:r>
          </a:p>
        </p:txBody>
      </p:sp>
      <p:sp>
        <p:nvSpPr>
          <p:cNvPr id="17" name="agenda-session-2">
            <a:extLst xmlns:a="http://schemas.openxmlformats.org/drawingml/2006/main">
              <a:ext uri="{FF2B5EF4-FFF2-40B4-BE49-F238E27FC236}">
                <a16:creationId xmlns:a16="http://schemas.microsoft.com/office/drawing/2014/main" id="{51F34F7C-7B5C-4D9A-B23D-46E9D0D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GCP scanner demo</a:t>
            </a:r>
          </a:p>
        </p:txBody>
      </p:sp>
      <p:sp>
        <p:nvSpPr>
          <p:cNvPr id="18" name="agenda-bg-3">
            <a:extLst xmlns:a="http://schemas.openxmlformats.org/drawingml/2006/main">
              <a:ext uri="{FF2B5EF4-FFF2-40B4-BE49-F238E27FC236}">
                <a16:creationId xmlns:a16="http://schemas.microsoft.com/office/drawing/2014/main" id="{1F41CEA5-1B3C-4DC3-89C3-CED7D0D9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5F7465BD-8B2B-4E11-8920-F0646432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agenda-time-3">
            <a:extLst xmlns:a="http://schemas.openxmlformats.org/drawingml/2006/main">
              <a:ext uri="{FF2B5EF4-FFF2-40B4-BE49-F238E27FC236}">
                <a16:creationId xmlns:a16="http://schemas.microsoft.com/office/drawing/2014/main" id="{114C1A44-38CD-40B5-AE46-C36A1A6F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01:00–01:20</a:t>
            </a:r>
          </a:p>
        </p:txBody>
      </p:sp>
      <p:sp>
        <p:nvSpPr>
          <p:cNvPr id="21" name="agenda-session-3">
            <a:extLst xmlns:a="http://schemas.openxmlformats.org/drawingml/2006/main">
              <a:ext uri="{FF2B5EF4-FFF2-40B4-BE49-F238E27FC236}">
                <a16:creationId xmlns:a16="http://schemas.microsoft.com/office/drawing/2014/main" id="{32943F6D-76C7-4C41-9098-9790E09F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Kubernetes scanner demo</a:t>
            </a:r>
          </a:p>
        </p:txBody>
      </p:sp>
      <p:sp>
        <p:nvSpPr>
          <p:cNvPr id="22" name="agenda-bg-4">
            <a:extLst xmlns:a="http://schemas.openxmlformats.org/drawingml/2006/main">
              <a:ext uri="{FF2B5EF4-FFF2-40B4-BE49-F238E27FC236}">
                <a16:creationId xmlns:a16="http://schemas.microsoft.com/office/drawing/2014/main" id="{E9F6F36D-0162-431E-9B1D-8F256B29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23" name="agenda-num-4">
            <a:extLst xmlns:a="http://schemas.openxmlformats.org/drawingml/2006/main">
              <a:ext uri="{FF2B5EF4-FFF2-40B4-BE49-F238E27FC236}">
                <a16:creationId xmlns:a16="http://schemas.microsoft.com/office/drawing/2014/main" id="{EDEB2625-7975-44E6-B993-223530E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agenda-time-4">
            <a:extLst xmlns:a="http://schemas.openxmlformats.org/drawingml/2006/main">
              <a:ext uri="{FF2B5EF4-FFF2-40B4-BE49-F238E27FC236}">
                <a16:creationId xmlns:a16="http://schemas.microsoft.com/office/drawing/2014/main" id="{17FBCE33-A7D1-48B0-BA3E-041D8AFA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01:20–01:35</a:t>
            </a:r>
          </a:p>
        </p:txBody>
      </p:sp>
      <p:sp>
        <p:nvSpPr>
          <p:cNvPr id="25" name="agenda-session-4">
            <a:extLst xmlns:a="http://schemas.openxmlformats.org/drawingml/2006/main">
              <a:ext uri="{FF2B5EF4-FFF2-40B4-BE49-F238E27FC236}">
                <a16:creationId xmlns:a16="http://schemas.microsoft.com/office/drawing/2014/main" id="{5E7B2879-2DC7-4E58-B85E-4638D1E8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IaC scanner demo</a:t>
            </a:r>
          </a:p>
        </p:txBody>
      </p:sp>
      <p:sp>
        <p:nvSpPr>
          <p:cNvPr id="26" name="agenda-bg-5">
            <a:extLst xmlns:a="http://schemas.openxmlformats.org/drawingml/2006/main">
              <a:ext uri="{FF2B5EF4-FFF2-40B4-BE49-F238E27FC236}">
                <a16:creationId xmlns:a16="http://schemas.microsoft.com/office/drawing/2014/main" id="{69E2F52D-81CA-4BCE-AFA5-D230383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27" name="agenda-num-5">
            <a:extLst xmlns:a="http://schemas.openxmlformats.org/drawingml/2006/main">
              <a:ext uri="{FF2B5EF4-FFF2-40B4-BE49-F238E27FC236}">
                <a16:creationId xmlns:a16="http://schemas.microsoft.com/office/drawing/2014/main" id="{B6A8570C-BEAA-45B2-86D0-D3B4E35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agenda-time-5">
            <a:extLst xmlns:a="http://schemas.openxmlformats.org/drawingml/2006/main">
              <a:ext uri="{FF2B5EF4-FFF2-40B4-BE49-F238E27FC236}">
                <a16:creationId xmlns:a16="http://schemas.microsoft.com/office/drawing/2014/main" id="{25509490-E154-4004-9BA4-80EA39E1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01:35–02:05</a:t>
            </a:r>
          </a:p>
        </p:txBody>
      </p:sp>
      <p:sp>
        <p:nvSpPr>
          <p:cNvPr id="29" name="agenda-session-5">
            <a:extLst xmlns:a="http://schemas.openxmlformats.org/drawingml/2006/main">
              <a:ext uri="{FF2B5EF4-FFF2-40B4-BE49-F238E27FC236}">
                <a16:creationId xmlns:a16="http://schemas.microsoft.com/office/drawing/2014/main" id="{FA38F27B-97AF-42C6-A7D0-ACFAF85B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672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Buffer, comparison, and prioritization</a:t>
            </a:r>
          </a:p>
        </p:txBody>
      </p:sp>
      <p:sp>
        <p:nvSpPr>
          <p:cNvPr id="30" name="agenda-bg-6">
            <a:extLst xmlns:a="http://schemas.openxmlformats.org/drawingml/2006/main">
              <a:ext uri="{FF2B5EF4-FFF2-40B4-BE49-F238E27FC236}">
                <a16:creationId xmlns:a16="http://schemas.microsoft.com/office/drawing/2014/main" id="{3639BB23-C294-48A7-9BC6-69CB4A08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31" name="agenda-num-6">
            <a:extLst xmlns:a="http://schemas.openxmlformats.org/drawingml/2006/main">
              <a:ext uri="{FF2B5EF4-FFF2-40B4-BE49-F238E27FC236}">
                <a16:creationId xmlns:a16="http://schemas.microsoft.com/office/drawing/2014/main" id="{35F909AF-2353-4957-8623-2E760B2D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2" name="agenda-time-6">
            <a:extLst xmlns:a="http://schemas.openxmlformats.org/drawingml/2006/main">
              <a:ext uri="{FF2B5EF4-FFF2-40B4-BE49-F238E27FC236}">
                <a16:creationId xmlns:a16="http://schemas.microsoft.com/office/drawing/2014/main" id="{B81E4C40-583E-43F0-AD06-AE645835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959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02:05–02:30</a:t>
            </a:r>
          </a:p>
        </p:txBody>
      </p:sp>
      <p:sp>
        <p:nvSpPr>
          <p:cNvPr id="33" name="agenda-session-6">
            <a:extLst xmlns:a="http://schemas.openxmlformats.org/drawingml/2006/main">
              <a:ext uri="{FF2B5EF4-FFF2-40B4-BE49-F238E27FC236}">
                <a16:creationId xmlns:a16="http://schemas.microsoft.com/office/drawing/2014/main" id="{4B273EA4-657B-461E-94E4-4361494B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76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Evidence, GRC, Reason &amp; Act, and cleanup</a:t>
            </a:r>
          </a:p>
        </p:txBody>
      </p:sp>
    </p:spTree>
    <p:extLst>
      <p:ext uri="{BB962C8B-B14F-4D97-AF65-F5344CB8AC3E}">
        <p14:creationId xmlns:p14="http://schemas.microsoft.com/office/powerpoint/2010/main" val="2072644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4">
            <a:extLst xmlns:a="http://schemas.openxmlformats.org/drawingml/2006/main">
              <a:ext uri="{FF2B5EF4-FFF2-40B4-BE49-F238E27FC236}">
                <a16:creationId xmlns:a16="http://schemas.microsoft.com/office/drawing/2014/main" id="{F21BD448-0880-4EDB-8CF1-5F3F0A39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PLATFORM MAP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6E22E53-4FDE-4555-B281-F5B1772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Portal coordination; scanner workers execute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176D8018-4910-47A0-BD9B-710ED928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0DB138D7-F894-4206-BF40-788DB7CA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CE3F26B-77A3-40CB-8C7A-F24D5158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architecture-copy">
            <a:extLst xmlns:a="http://schemas.openxmlformats.org/drawingml/2006/main">
              <a:ext uri="{FF2B5EF4-FFF2-40B4-BE49-F238E27FC236}">
                <a16:creationId xmlns:a16="http://schemas.microsoft.com/office/drawing/2014/main" id="{2DF8923A-2785-480B-86C0-200D838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00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CloudGuard separates the participant experience from long-running scan jobs. Workers collect findings, evidence is normalized, and governance remains available even when scanners run elsewhere.</a:t>
            </a:r>
          </a:p>
        </p:txBody>
      </p:sp>
      <p:sp>
        <p:nvSpPr>
          <p:cNvPr id="7" name="architecture-bullets-dot-0">
            <a:extLst xmlns:a="http://schemas.openxmlformats.org/drawingml/2006/main">
              <a:ext uri="{FF2B5EF4-FFF2-40B4-BE49-F238E27FC236}">
                <a16:creationId xmlns:a16="http://schemas.microsoft.com/office/drawing/2014/main" id="{04831034-353A-48F7-AFF8-4CE6E3B8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8" name="architecture-bullets-text-0">
            <a:extLst xmlns:a="http://schemas.openxmlformats.org/drawingml/2006/main">
              <a:ext uri="{FF2B5EF4-FFF2-40B4-BE49-F238E27FC236}">
                <a16:creationId xmlns:a16="http://schemas.microsoft.com/office/drawing/2014/main" id="{956C9B05-30ED-4745-BA04-FCA82D7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Portal: target, credential reference, and job status</a:t>
            </a:r>
          </a:p>
        </p:txBody>
      </p:sp>
      <p:sp>
        <p:nvSpPr>
          <p:cNvPr id="9" name="architecture-bullets-dot-1">
            <a:extLst xmlns:a="http://schemas.openxmlformats.org/drawingml/2006/main">
              <a:ext uri="{FF2B5EF4-FFF2-40B4-BE49-F238E27FC236}">
                <a16:creationId xmlns:a16="http://schemas.microsoft.com/office/drawing/2014/main" id="{B7686CFD-1440-49EC-BFE8-B28A07A7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0" name="architecture-bullets-text-1">
            <a:extLst xmlns:a="http://schemas.openxmlformats.org/drawingml/2006/main">
              <a:ext uri="{FF2B5EF4-FFF2-40B4-BE49-F238E27FC236}">
                <a16:creationId xmlns:a16="http://schemas.microsoft.com/office/drawing/2014/main" id="{B4C3482C-1896-4AB4-8046-9A99202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Workers: provider-specific discovery and analysis</a:t>
            </a:r>
          </a:p>
        </p:txBody>
      </p:sp>
      <p:sp>
        <p:nvSpPr>
          <p:cNvPr id="11" name="architecture-bullets-dot-2">
            <a:extLst xmlns:a="http://schemas.openxmlformats.org/drawingml/2006/main">
              <a:ext uri="{FF2B5EF4-FFF2-40B4-BE49-F238E27FC236}">
                <a16:creationId xmlns:a16="http://schemas.microsoft.com/office/drawing/2014/main" id="{03CBA5BB-C37D-462D-A356-FA466104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2" name="architecture-bullets-text-2">
            <a:extLst xmlns:a="http://schemas.openxmlformats.org/drawingml/2006/main">
              <a:ext uri="{FF2B5EF4-FFF2-40B4-BE49-F238E27FC236}">
                <a16:creationId xmlns:a16="http://schemas.microsoft.com/office/drawing/2014/main" id="{82AADB36-59A0-4EAF-84B4-6480F8BA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Evidence: source, asset, proof, checksum, and control</a:t>
            </a:r>
          </a:p>
        </p:txBody>
      </p:sp>
      <p:sp>
        <p:nvSpPr>
          <p:cNvPr id="13" name="architecture-bullets-dot-3">
            <a:extLst xmlns:a="http://schemas.openxmlformats.org/drawingml/2006/main">
              <a:ext uri="{FF2B5EF4-FFF2-40B4-BE49-F238E27FC236}">
                <a16:creationId xmlns:a16="http://schemas.microsoft.com/office/drawing/2014/main" id="{991DD64E-D826-4004-9BE4-850F8C40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4" name="architecture-bullets-text-3">
            <a:extLst xmlns:a="http://schemas.openxmlformats.org/drawingml/2006/main">
              <a:ext uri="{FF2B5EF4-FFF2-40B4-BE49-F238E27FC236}">
                <a16:creationId xmlns:a16="http://schemas.microsoft.com/office/drawing/2014/main" id="{0EC74A1C-7D0F-4D69-A3D6-EF951E1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GRC: priority, owner, action, and audit trail</a:t>
            </a:r>
          </a:p>
        </p:txBody>
      </p:sp>
      <p:sp>
        <p:nvSpPr>
          <p:cNvPr id="15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742D4883-7D36-4BA5-9CB2-B4D50BBA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6705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da1f3326c43d5"/>
          <a:stretch xmlns:a="http://schemas.openxmlformats.org/drawingml/2006/main"/>
        </p:blipFill>
        <p:spPr>
          <a:xfrm xmlns:a="http://schemas.openxmlformats.org/drawingml/2006/main">
            <a:off x="5124450" y="1963341"/>
            <a:ext cx="6362700" cy="3579019"/>
          </a:xfrm>
          <a:prstGeom xmlns:a="http://schemas.openxmlformats.org/drawingml/2006/main" prst="roundRect">
            <a:avLst>
              <a:gd name="adj" fmla="val 1563"/>
            </a:avLst>
          </a:prstGeom>
        </p:spPr>
      </p:pic>
    </p:spTree>
    <p:extLst>
      <p:ext uri="{BB962C8B-B14F-4D97-AF65-F5344CB8AC3E}">
        <p14:creationId xmlns:p14="http://schemas.microsoft.com/office/powerpoint/2010/main" val="172071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5">
            <a:extLst xmlns:a="http://schemas.openxmlformats.org/drawingml/2006/main">
              <a:ext uri="{FF2B5EF4-FFF2-40B4-BE49-F238E27FC236}">
                <a16:creationId xmlns:a16="http://schemas.microsoft.com/office/drawing/2014/main" id="{1B5B1F76-642B-43E4-BE98-C970BC8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SAFE LAB DESIGN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BB2674D-1AF1-4F81-927A-B0177FAF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Host vulnerable resources in isolated sandboxes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F66A074-24C1-4862-B775-6E5CCBD9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BFE22529-F116-46BC-BDE7-3DAB2534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7105DC0-75B0-4037-96C5-07B6884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lab-message">
            <a:extLst xmlns:a="http://schemas.openxmlformats.org/drawingml/2006/main">
              <a:ext uri="{FF2B5EF4-FFF2-40B4-BE49-F238E27FC236}">
                <a16:creationId xmlns:a16="http://schemas.microsoft.com/office/drawing/2014/main" id="{CB159377-0ACF-44B6-9011-2CA54796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Pre-create isolated environments, then give every temporary resource an owner, expiry, and kill switch.</a:t>
            </a:r>
          </a:p>
        </p:txBody>
      </p:sp>
      <p:sp>
        <p:nvSpPr>
          <p:cNvPr id="7" name="lab-rule">
            <a:extLst xmlns:a="http://schemas.openxmlformats.org/drawingml/2006/main">
              <a:ext uri="{FF2B5EF4-FFF2-40B4-BE49-F238E27FC236}">
                <a16:creationId xmlns:a16="http://schemas.microsoft.com/office/drawing/2014/main" id="{6808FE2D-9B6F-41EF-8B98-4108117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907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C5F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C5F4B"/>
                </a:solidFill>
                <a:latin typeface="Helvetica Neue"/>
                <a:ea typeface="Helvetica Neue"/>
                <a:cs typeface="Helvetica Neue"/>
              </a:rPr>
              <a:t>Never use production credentials or real data.</a:t>
            </a:r>
          </a:p>
        </p:txBody>
      </p:sp>
      <p:sp>
        <p:nvSpPr>
          <p:cNvPr id="8" name="lab-timeline">
            <a:extLst xmlns:a="http://schemas.openxmlformats.org/drawingml/2006/main">
              <a:ext uri="{FF2B5EF4-FFF2-40B4-BE49-F238E27FC236}">
                <a16:creationId xmlns:a16="http://schemas.microsoft.com/office/drawing/2014/main" id="{50336662-D615-4B05-8623-C648099F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0"/>
          </a:solidFill>
          <a:ln xmlns:a="http://schemas.openxmlformats.org/drawingml/2006/main" w="0">
            <a:solidFill>
              <a:srgbClr val="0B1110"/>
            </a:solidFill>
            <a:prstDash val="solid"/>
          </a:ln>
        </p:spPr>
      </p:sp>
      <p:sp>
        <p:nvSpPr>
          <p:cNvPr id="9" name="lab-node-0">
            <a:extLst xmlns:a="http://schemas.openxmlformats.org/drawingml/2006/main">
              <a:ext uri="{FF2B5EF4-FFF2-40B4-BE49-F238E27FC236}">
                <a16:creationId xmlns:a16="http://schemas.microsoft.com/office/drawing/2014/main" id="{BFF514EC-B245-42F4-866F-7ACC98F1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9525">
            <a:solidFill>
              <a:srgbClr val="0B1110"/>
            </a:solidFill>
            <a:prstDash val="solid"/>
          </a:ln>
        </p:spPr>
      </p:sp>
      <p:sp>
        <p:nvSpPr>
          <p:cNvPr id="10" name="lab-label-0">
            <a:extLst xmlns:a="http://schemas.openxmlformats.org/drawingml/2006/main">
              <a:ext uri="{FF2B5EF4-FFF2-40B4-BE49-F238E27FC236}">
                <a16:creationId xmlns:a16="http://schemas.microsoft.com/office/drawing/2014/main" id="{A08B7996-4E48-4D93-9F60-9B4A1D54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11" name="lab-title-0">
            <a:extLst xmlns:a="http://schemas.openxmlformats.org/drawingml/2006/main">
              <a:ext uri="{FF2B5EF4-FFF2-40B4-BE49-F238E27FC236}">
                <a16:creationId xmlns:a16="http://schemas.microsoft.com/office/drawing/2014/main" id="{EF35918E-2503-4DA8-A397-BFB1C41A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Isolated targets</a:t>
            </a:r>
          </a:p>
        </p:txBody>
      </p:sp>
      <p:sp>
        <p:nvSpPr>
          <p:cNvPr id="12" name="lab-body-0">
            <a:extLst xmlns:a="http://schemas.openxmlformats.org/drawingml/2006/main">
              <a:ext uri="{FF2B5EF4-FFF2-40B4-BE49-F238E27FC236}">
                <a16:creationId xmlns:a16="http://schemas.microsoft.com/office/drawing/2014/main" id="{009AF8A4-5BEB-4530-886E-DB0D1CBA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AWS sandbox account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GCP sandbox project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Kubernetes lab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IaC file pack</a:t>
            </a:r>
          </a:p>
        </p:txBody>
      </p:sp>
      <p:sp>
        <p:nvSpPr>
          <p:cNvPr id="13" name="lab-node-1">
            <a:extLst xmlns:a="http://schemas.openxmlformats.org/drawingml/2006/main">
              <a:ext uri="{FF2B5EF4-FFF2-40B4-BE49-F238E27FC236}">
                <a16:creationId xmlns:a16="http://schemas.microsoft.com/office/drawing/2014/main" id="{F2D23D9C-EFB9-4BB5-A02B-682B98D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9525">
            <a:solidFill>
              <a:srgbClr val="0B1110"/>
            </a:solidFill>
            <a:prstDash val="solid"/>
          </a:ln>
        </p:spPr>
      </p:sp>
      <p:sp>
        <p:nvSpPr>
          <p:cNvPr id="14" name="lab-label-1">
            <a:extLst xmlns:a="http://schemas.openxmlformats.org/drawingml/2006/main">
              <a:ext uri="{FF2B5EF4-FFF2-40B4-BE49-F238E27FC236}">
                <a16:creationId xmlns:a16="http://schemas.microsoft.com/office/drawing/2014/main" id="{F7938C47-C53A-412B-9817-8393AF75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SCAN</a:t>
            </a:r>
          </a:p>
        </p:txBody>
      </p:sp>
      <p:sp>
        <p:nvSpPr>
          <p:cNvPr id="15" name="lab-title-1">
            <a:extLst xmlns:a="http://schemas.openxmlformats.org/drawingml/2006/main">
              <a:ext uri="{FF2B5EF4-FFF2-40B4-BE49-F238E27FC236}">
                <a16:creationId xmlns:a16="http://schemas.microsoft.com/office/drawing/2014/main" id="{6245BCB7-FDDF-4F33-93B4-5CEED7A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Bounded exposure</a:t>
            </a:r>
          </a:p>
        </p:txBody>
      </p:sp>
      <p:sp>
        <p:nvSpPr>
          <p:cNvPr id="16" name="lab-body-1">
            <a:extLst xmlns:a="http://schemas.openxmlformats.org/drawingml/2006/main">
              <a:ext uri="{FF2B5EF4-FFF2-40B4-BE49-F238E27FC236}">
                <a16:creationId xmlns:a16="http://schemas.microsoft.com/office/drawing/2014/main" id="{E6A7761D-D291-4DF3-AC0F-2363F366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957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Empty data stores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No production trust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Short TTL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Budget alerts</a:t>
            </a:r>
          </a:p>
        </p:txBody>
      </p:sp>
      <p:sp>
        <p:nvSpPr>
          <p:cNvPr id="17" name="lab-node-2">
            <a:extLst xmlns:a="http://schemas.openxmlformats.org/drawingml/2006/main">
              <a:ext uri="{FF2B5EF4-FFF2-40B4-BE49-F238E27FC236}">
                <a16:creationId xmlns:a16="http://schemas.microsoft.com/office/drawing/2014/main" id="{36BEAFD5-0618-4F3C-B460-B5C3F4EB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9525">
            <a:solidFill>
              <a:srgbClr val="0B1110"/>
            </a:solidFill>
            <a:prstDash val="solid"/>
          </a:ln>
        </p:spPr>
      </p:sp>
      <p:sp>
        <p:nvSpPr>
          <p:cNvPr id="18" name="lab-label-2">
            <a:extLst xmlns:a="http://schemas.openxmlformats.org/drawingml/2006/main">
              <a:ext uri="{FF2B5EF4-FFF2-40B4-BE49-F238E27FC236}">
                <a16:creationId xmlns:a16="http://schemas.microsoft.com/office/drawing/2014/main" id="{146AD1B6-5954-40C8-A5F5-3B9C9EE1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DESTROY</a:t>
            </a:r>
          </a:p>
        </p:txBody>
      </p:sp>
      <p:sp>
        <p:nvSpPr>
          <p:cNvPr id="19" name="lab-title-2">
            <a:extLst xmlns:a="http://schemas.openxmlformats.org/drawingml/2006/main">
              <a:ext uri="{FF2B5EF4-FFF2-40B4-BE49-F238E27FC236}">
                <a16:creationId xmlns:a16="http://schemas.microsoft.com/office/drawing/2014/main" id="{33ED3CEC-6EC0-4E63-BDD2-11871DD5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Closure proof</a:t>
            </a:r>
          </a:p>
        </p:txBody>
      </p:sp>
      <p:sp>
        <p:nvSpPr>
          <p:cNvPr id="20" name="lab-body-2">
            <a:extLst xmlns:a="http://schemas.openxmlformats.org/drawingml/2006/main">
              <a:ext uri="{FF2B5EF4-FFF2-40B4-BE49-F238E27FC236}">
                <a16:creationId xmlns:a16="http://schemas.microsoft.com/office/drawing/2014/main" id="{1A014B07-E3F7-41C8-A61A-8FB1D716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Delete resources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Check stale tags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Store cleanup event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Confirm zero leftovers</a:t>
            </a:r>
          </a:p>
        </p:txBody>
      </p:sp>
    </p:spTree>
    <p:extLst>
      <p:ext uri="{BB962C8B-B14F-4D97-AF65-F5344CB8AC3E}">
        <p14:creationId xmlns:p14="http://schemas.microsoft.com/office/powerpoint/2010/main" val="420236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6">
            <a:extLst xmlns:a="http://schemas.openxmlformats.org/drawingml/2006/main">
              <a:ext uri="{FF2B5EF4-FFF2-40B4-BE49-F238E27FC236}">
                <a16:creationId xmlns:a16="http://schemas.microsoft.com/office/drawing/2014/main" id="{DBA18C4F-8DFC-4465-9907-1E11300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DEMO RELIABILITY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98B86B2-4841-4277-A71F-5053027C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 warm-live run keeps cloud latency out of the agenda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AFA2DA3C-6DDF-45EE-A9E5-15BE4947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F2BEA88A-A536-4B28-94C2-F60F7B97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4E6829D-5674-483F-88F6-BCD7ADA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warm-num-0">
            <a:extLst xmlns:a="http://schemas.openxmlformats.org/drawingml/2006/main">
              <a:ext uri="{FF2B5EF4-FFF2-40B4-BE49-F238E27FC236}">
                <a16:creationId xmlns:a16="http://schemas.microsoft.com/office/drawing/2014/main" id="{DFEC3D76-B682-4EEA-A08D-947A6A5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warm-rule-0">
            <a:extLst xmlns:a="http://schemas.openxmlformats.org/drawingml/2006/main">
              <a:ext uri="{FF2B5EF4-FFF2-40B4-BE49-F238E27FC236}">
                <a16:creationId xmlns:a16="http://schemas.microsoft.com/office/drawing/2014/main" id="{B9F89E80-D25F-4F85-A1A3-4BAA81E2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8" name="warm-title-0">
            <a:extLst xmlns:a="http://schemas.openxmlformats.org/drawingml/2006/main">
              <a:ext uri="{FF2B5EF4-FFF2-40B4-BE49-F238E27FC236}">
                <a16:creationId xmlns:a16="http://schemas.microsoft.com/office/drawing/2014/main" id="{131794F4-FBEA-4A15-BF73-91C484CA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Before participants arrive</a:t>
            </a:r>
          </a:p>
        </p:txBody>
      </p:sp>
      <p:sp>
        <p:nvSpPr>
          <p:cNvPr id="9" name="warm-body-0">
            <a:extLst xmlns:a="http://schemas.openxmlformats.org/drawingml/2006/main">
              <a:ext uri="{FF2B5EF4-FFF2-40B4-BE49-F238E27FC236}">
                <a16:creationId xmlns:a16="http://schemas.microsoft.com/office/drawing/2014/main" id="{346C6207-5186-42B2-8377-D9967846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105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Provision targets, run one successful scan per provider, and retain the completed results as the safety net.</a:t>
            </a:r>
          </a:p>
        </p:txBody>
      </p:sp>
      <p:sp>
        <p:nvSpPr>
          <p:cNvPr id="10" name="warm-num-1">
            <a:extLst xmlns:a="http://schemas.openxmlformats.org/drawingml/2006/main">
              <a:ext uri="{FF2B5EF4-FFF2-40B4-BE49-F238E27FC236}">
                <a16:creationId xmlns:a16="http://schemas.microsoft.com/office/drawing/2014/main" id="{93BB9A5F-718F-48F4-B2C7-517F7B58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24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warm-rule-1">
            <a:extLst xmlns:a="http://schemas.openxmlformats.org/drawingml/2006/main">
              <a:ext uri="{FF2B5EF4-FFF2-40B4-BE49-F238E27FC236}">
                <a16:creationId xmlns:a16="http://schemas.microsoft.com/office/drawing/2014/main" id="{DE84415F-8856-46DD-9AC7-A6DC009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146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12" name="warm-title-1">
            <a:extLst xmlns:a="http://schemas.openxmlformats.org/drawingml/2006/main">
              <a:ext uri="{FF2B5EF4-FFF2-40B4-BE49-F238E27FC236}">
                <a16:creationId xmlns:a16="http://schemas.microsoft.com/office/drawing/2014/main" id="{7F9473F9-72D0-4974-B5AE-7EE55F41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During each demo</a:t>
            </a:r>
          </a:p>
        </p:txBody>
      </p:sp>
      <p:sp>
        <p:nvSpPr>
          <p:cNvPr id="13" name="warm-body-1">
            <a:extLst xmlns:a="http://schemas.openxmlformats.org/drawingml/2006/main">
              <a:ext uri="{FF2B5EF4-FFF2-40B4-BE49-F238E27FC236}">
                <a16:creationId xmlns:a16="http://schemas.microsoft.com/office/drawing/2014/main" id="{4A0AACF7-151A-4E76-9E97-981ECD8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3105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Trigger a fresh scan, show queued/running state, then explain the last completed result while the new job runs.</a:t>
            </a:r>
          </a:p>
        </p:txBody>
      </p:sp>
      <p:sp>
        <p:nvSpPr>
          <p:cNvPr id="14" name="warm-num-2">
            <a:extLst xmlns:a="http://schemas.openxmlformats.org/drawingml/2006/main">
              <a:ext uri="{FF2B5EF4-FFF2-40B4-BE49-F238E27FC236}">
                <a16:creationId xmlns:a16="http://schemas.microsoft.com/office/drawing/2014/main" id="{B44947DF-450A-45BF-82B7-60FC26C1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warm-rule-2">
            <a:extLst xmlns:a="http://schemas.openxmlformats.org/drawingml/2006/main">
              <a:ext uri="{FF2B5EF4-FFF2-40B4-BE49-F238E27FC236}">
                <a16:creationId xmlns:a16="http://schemas.microsoft.com/office/drawing/2014/main" id="{0C0E9541-D07B-480A-8D4D-3A82F30D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16" name="warm-title-2">
            <a:extLst xmlns:a="http://schemas.openxmlformats.org/drawingml/2006/main">
              <a:ext uri="{FF2B5EF4-FFF2-40B4-BE49-F238E27FC236}">
                <a16:creationId xmlns:a16="http://schemas.microsoft.com/office/drawing/2014/main" id="{F8301831-97EE-4B33-9CE7-64FBD612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Before closing</a:t>
            </a:r>
          </a:p>
        </p:txBody>
      </p:sp>
      <p:sp>
        <p:nvSpPr>
          <p:cNvPr id="17" name="warm-body-2">
            <a:extLst xmlns:a="http://schemas.openxmlformats.org/drawingml/2006/main">
              <a:ext uri="{FF2B5EF4-FFF2-40B4-BE49-F238E27FC236}">
                <a16:creationId xmlns:a16="http://schemas.microsoft.com/office/drawing/2014/main" id="{A220C331-D2EF-48F2-B7E9-DFA5C166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105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Return to fresh jobs, show evidence, destroy resources, and verify that the cleanup event was recorded.</a:t>
            </a:r>
          </a:p>
        </p:txBody>
      </p:sp>
      <p:sp>
        <p:nvSpPr>
          <p:cNvPr id="18" name="warm-bottom">
            <a:extLst xmlns:a="http://schemas.openxmlformats.org/drawingml/2006/main">
              <a:ext uri="{FF2B5EF4-FFF2-40B4-BE49-F238E27FC236}">
                <a16:creationId xmlns:a16="http://schemas.microsoft.com/office/drawing/2014/main" id="{FBDB56C9-0F8F-49F1-A9E5-27BF4CD5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19" name="warm-bottom-text">
            <a:extLst xmlns:a="http://schemas.openxmlformats.org/drawingml/2006/main">
              <a:ext uri="{FF2B5EF4-FFF2-40B4-BE49-F238E27FC236}">
                <a16:creationId xmlns:a16="http://schemas.microsoft.com/office/drawing/2014/main" id="{9A2E26A2-17CE-46E0-8537-24B0C6AA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Keep screenshots and raw outputs ready, but always show at least the live launch and live queue state.</a:t>
            </a:r>
          </a:p>
        </p:txBody>
      </p:sp>
    </p:spTree>
    <p:extLst>
      <p:ext uri="{BB962C8B-B14F-4D97-AF65-F5344CB8AC3E}">
        <p14:creationId xmlns:p14="http://schemas.microsoft.com/office/powerpoint/2010/main" val="1274263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7">
            <a:extLst xmlns:a="http://schemas.openxmlformats.org/drawingml/2006/main">
              <a:ext uri="{FF2B5EF4-FFF2-40B4-BE49-F238E27FC236}">
                <a16:creationId xmlns:a16="http://schemas.microsoft.com/office/drawing/2014/main" id="{74D195F4-8F92-4ACD-8172-8DC649B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AWS SCANNER DEMO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9BD5690-2F31-4CE0-981A-03DF70BC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AWS connects identity, storage, and network risk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797B008A-4A2C-4F15-8C32-EE936647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A08ADAB6-74CF-475A-A35E-58F203B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A30EF06E-E8AE-4823-9E37-D74A4DB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demo-field-7">
            <a:extLst xmlns:a="http://schemas.openxmlformats.org/drawingml/2006/main">
              <a:ext uri="{FF2B5EF4-FFF2-40B4-BE49-F238E27FC236}">
                <a16:creationId xmlns:a16="http://schemas.microsoft.com/office/drawing/2014/main" id="{1BD47F34-CC3F-4EEF-BE90-87FBD630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36385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demo-provider-7">
            <a:extLst xmlns:a="http://schemas.openxmlformats.org/drawingml/2006/main">
              <a:ext uri="{FF2B5EF4-FFF2-40B4-BE49-F238E27FC236}">
                <a16:creationId xmlns:a16="http://schemas.microsoft.com/office/drawing/2014/main" id="{05CB4DD6-C609-48C1-88FF-B159F7D3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8" name="demo-target-label-7">
            <a:extLst xmlns:a="http://schemas.openxmlformats.org/drawingml/2006/main">
              <a:ext uri="{FF2B5EF4-FFF2-40B4-BE49-F238E27FC236}">
                <a16:creationId xmlns:a16="http://schemas.microsoft.com/office/drawing/2014/main" id="{C2A58C56-336D-4CA3-BDEA-EE37C249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TEMPORARY TARGETS</a:t>
            </a:r>
          </a:p>
        </p:txBody>
      </p:sp>
      <p:sp>
        <p:nvSpPr>
          <p:cNvPr id="9" name="demo-target-7-0">
            <a:extLst xmlns:a="http://schemas.openxmlformats.org/drawingml/2006/main">
              <a:ext uri="{FF2B5EF4-FFF2-40B4-BE49-F238E27FC236}">
                <a16:creationId xmlns:a16="http://schemas.microsoft.com/office/drawing/2014/main" id="{05F436AE-078B-4954-88EA-4107E17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demo-target-text-7-0">
            <a:extLst xmlns:a="http://schemas.openxmlformats.org/drawingml/2006/main">
              <a:ext uri="{FF2B5EF4-FFF2-40B4-BE49-F238E27FC236}">
                <a16:creationId xmlns:a16="http://schemas.microsoft.com/office/drawing/2014/main" id="{BFD6C63A-62A9-4C38-9794-AE564348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Empty S3 bucket with risky public-access configuration</a:t>
            </a:r>
          </a:p>
        </p:txBody>
      </p:sp>
      <p:sp>
        <p:nvSpPr>
          <p:cNvPr id="11" name="demo-target-7-1">
            <a:extLst xmlns:a="http://schemas.openxmlformats.org/drawingml/2006/main">
              <a:ext uri="{FF2B5EF4-FFF2-40B4-BE49-F238E27FC236}">
                <a16:creationId xmlns:a16="http://schemas.microsoft.com/office/drawing/2014/main" id="{17545BD7-F445-4A51-8AEB-BB11AEBF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demo-target-text-7-1">
            <a:extLst xmlns:a="http://schemas.openxmlformats.org/drawingml/2006/main">
              <a:ext uri="{FF2B5EF4-FFF2-40B4-BE49-F238E27FC236}">
                <a16:creationId xmlns:a16="http://schemas.microsoft.com/office/drawing/2014/main" id="{BEB0430F-D5B7-438D-94A1-217FD3C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Unattached security group with broad admin ingress</a:t>
            </a:r>
          </a:p>
        </p:txBody>
      </p:sp>
      <p:sp>
        <p:nvSpPr>
          <p:cNvPr id="13" name="demo-target-7-2">
            <a:extLst xmlns:a="http://schemas.openxmlformats.org/drawingml/2006/main">
              <a:ext uri="{FF2B5EF4-FFF2-40B4-BE49-F238E27FC236}">
                <a16:creationId xmlns:a16="http://schemas.microsoft.com/office/drawing/2014/main" id="{1375BE20-BF1E-437C-929D-6396ACC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demo-target-text-7-2">
            <a:extLst xmlns:a="http://schemas.openxmlformats.org/drawingml/2006/main">
              <a:ext uri="{FF2B5EF4-FFF2-40B4-BE49-F238E27FC236}">
                <a16:creationId xmlns:a16="http://schemas.microsoft.com/office/drawing/2014/main" id="{2FE19C7E-D449-41DA-A316-12502A0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IAM role with an overly broad policy</a:t>
            </a:r>
          </a:p>
        </p:txBody>
      </p:sp>
      <p:sp>
        <p:nvSpPr>
          <p:cNvPr id="15" name="demo-runbook-label-7">
            <a:extLst xmlns:a="http://schemas.openxmlformats.org/drawingml/2006/main">
              <a:ext uri="{FF2B5EF4-FFF2-40B4-BE49-F238E27FC236}">
                <a16:creationId xmlns:a16="http://schemas.microsoft.com/office/drawing/2014/main" id="{E93DF662-6F96-404F-9344-D107503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SHOW THE FULL CHAIN</a:t>
            </a:r>
          </a:p>
        </p:txBody>
      </p:sp>
      <p:sp>
        <p:nvSpPr>
          <p:cNvPr id="16" name="demo-runbook-rule-7-0">
            <a:extLst xmlns:a="http://schemas.openxmlformats.org/drawingml/2006/main">
              <a:ext uri="{FF2B5EF4-FFF2-40B4-BE49-F238E27FC236}">
                <a16:creationId xmlns:a16="http://schemas.microsoft.com/office/drawing/2014/main" id="{30CF1C11-6DF6-4462-89A8-B4B88BC9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demo-runbook-step-7-0">
            <a:extLst xmlns:a="http://schemas.openxmlformats.org/drawingml/2006/main">
              <a:ext uri="{FF2B5EF4-FFF2-40B4-BE49-F238E27FC236}">
                <a16:creationId xmlns:a16="http://schemas.microsoft.com/office/drawing/2014/main" id="{F121EBFE-F06C-442A-9BEB-1B2E8A1C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Show the sandbox account and temporary resource tags</a:t>
            </a:r>
          </a:p>
        </p:txBody>
      </p:sp>
      <p:sp>
        <p:nvSpPr>
          <p:cNvPr id="18" name="demo-runbook-rule-7-1">
            <a:extLst xmlns:a="http://schemas.openxmlformats.org/drawingml/2006/main">
              <a:ext uri="{FF2B5EF4-FFF2-40B4-BE49-F238E27FC236}">
                <a16:creationId xmlns:a16="http://schemas.microsoft.com/office/drawing/2014/main" id="{3C0141E1-A13B-49BA-A13C-85559E3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demo-runbook-step-7-1">
            <a:extLst xmlns:a="http://schemas.openxmlformats.org/drawingml/2006/main">
              <a:ext uri="{FF2B5EF4-FFF2-40B4-BE49-F238E27FC236}">
                <a16:creationId xmlns:a16="http://schemas.microsoft.com/office/drawing/2014/main" id="{7A5A203D-ABE2-4C96-9EE3-BFEB729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Launch the AWS scan and show queued/running state</a:t>
            </a:r>
          </a:p>
        </p:txBody>
      </p:sp>
      <p:sp>
        <p:nvSpPr>
          <p:cNvPr id="20" name="demo-runbook-rule-7-2">
            <a:extLst xmlns:a="http://schemas.openxmlformats.org/drawingml/2006/main">
              <a:ext uri="{FF2B5EF4-FFF2-40B4-BE49-F238E27FC236}">
                <a16:creationId xmlns:a16="http://schemas.microsoft.com/office/drawing/2014/main" id="{89DCEB3A-D351-4C63-B063-01010BDC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demo-runbook-step-7-2">
            <a:extLst xmlns:a="http://schemas.openxmlformats.org/drawingml/2006/main">
              <a:ext uri="{FF2B5EF4-FFF2-40B4-BE49-F238E27FC236}">
                <a16:creationId xmlns:a16="http://schemas.microsoft.com/office/drawing/2014/main" id="{F47FA0AB-4213-47A8-8451-9B49840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Open two findings: one exposure, one identity risk</a:t>
            </a:r>
          </a:p>
        </p:txBody>
      </p:sp>
      <p:sp>
        <p:nvSpPr>
          <p:cNvPr id="22" name="demo-runbook-rule-7-3">
            <a:extLst xmlns:a="http://schemas.openxmlformats.org/drawingml/2006/main">
              <a:ext uri="{FF2B5EF4-FFF2-40B4-BE49-F238E27FC236}">
                <a16:creationId xmlns:a16="http://schemas.microsoft.com/office/drawing/2014/main" id="{8749382B-44A8-4DFA-A825-578C26FF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29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demo-runbook-step-7-3">
            <a:extLst xmlns:a="http://schemas.openxmlformats.org/drawingml/2006/main">
              <a:ext uri="{FF2B5EF4-FFF2-40B4-BE49-F238E27FC236}">
                <a16:creationId xmlns:a16="http://schemas.microsoft.com/office/drawing/2014/main" id="{390880B4-A697-4944-931B-B45B688A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Choose one finding for evidence and closure</a:t>
            </a:r>
          </a:p>
        </p:txBody>
      </p:sp>
      <p:sp>
        <p:nvSpPr>
          <p:cNvPr id="24" name="demo-takeaway-bg-7">
            <a:extLst xmlns:a="http://schemas.openxmlformats.org/drawingml/2006/main">
              <a:ext uri="{FF2B5EF4-FFF2-40B4-BE49-F238E27FC236}">
                <a16:creationId xmlns:a16="http://schemas.microsoft.com/office/drawing/2014/main" id="{E72170C3-2123-4280-970D-BDBBA95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689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0">
            <a:solidFill>
              <a:srgbClr val="EEF2F1"/>
            </a:solidFill>
            <a:prstDash val="solid"/>
          </a:ln>
        </p:spPr>
      </p:sp>
      <p:sp>
        <p:nvSpPr>
          <p:cNvPr id="25" name="demo-takeaway-7">
            <a:extLst xmlns:a="http://schemas.openxmlformats.org/drawingml/2006/main">
              <a:ext uri="{FF2B5EF4-FFF2-40B4-BE49-F238E27FC236}">
                <a16:creationId xmlns:a16="http://schemas.microsoft.com/office/drawing/2014/main" id="{DF324727-24A3-4106-A086-A2F48EA7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244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Takeaway: severity becomes meaningful when the resource, exposure path, and identity impact are visible.</a:t>
            </a:r>
          </a:p>
        </p:txBody>
      </p:sp>
    </p:spTree>
    <p:extLst>
      <p:ext uri="{BB962C8B-B14F-4D97-AF65-F5344CB8AC3E}">
        <p14:creationId xmlns:p14="http://schemas.microsoft.com/office/powerpoint/2010/main" val="2120288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572C6AEF-2C8F-4421-B9CD-902AFCC4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GCP SCANNER DEMO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0917B59-213A-407C-B889-1908540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GCP reveals the same risks through different controls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26AD68E3-F4B6-4145-AA2D-C245B51B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DAE0BDA-A529-453C-8CA4-C45B400E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963A90B9-17B4-48BE-BD14-D8D986E9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demo-field-8">
            <a:extLst xmlns:a="http://schemas.openxmlformats.org/drawingml/2006/main">
              <a:ext uri="{FF2B5EF4-FFF2-40B4-BE49-F238E27FC236}">
                <a16:creationId xmlns:a16="http://schemas.microsoft.com/office/drawing/2014/main" id="{4123232A-6C6E-4565-835E-E8426E82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36385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7" name="demo-provider-8">
            <a:extLst xmlns:a="http://schemas.openxmlformats.org/drawingml/2006/main">
              <a:ext uri="{FF2B5EF4-FFF2-40B4-BE49-F238E27FC236}">
                <a16:creationId xmlns:a16="http://schemas.microsoft.com/office/drawing/2014/main" id="{A9139CF7-3443-45BA-AED3-70A58F3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8" name="demo-target-label-8">
            <a:extLst xmlns:a="http://schemas.openxmlformats.org/drawingml/2006/main">
              <a:ext uri="{FF2B5EF4-FFF2-40B4-BE49-F238E27FC236}">
                <a16:creationId xmlns:a16="http://schemas.microsoft.com/office/drawing/2014/main" id="{321C0B34-31D6-4DAE-8BF5-B474EFA3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TEMPORARY TARGETS</a:t>
            </a:r>
          </a:p>
        </p:txBody>
      </p:sp>
      <p:sp>
        <p:nvSpPr>
          <p:cNvPr id="9" name="demo-target-8-0">
            <a:extLst xmlns:a="http://schemas.openxmlformats.org/drawingml/2006/main">
              <a:ext uri="{FF2B5EF4-FFF2-40B4-BE49-F238E27FC236}">
                <a16:creationId xmlns:a16="http://schemas.microsoft.com/office/drawing/2014/main" id="{E9402C7C-AAE2-4979-9105-063FA31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766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demo-target-text-8-0">
            <a:extLst xmlns:a="http://schemas.openxmlformats.org/drawingml/2006/main">
              <a:ext uri="{FF2B5EF4-FFF2-40B4-BE49-F238E27FC236}">
                <a16:creationId xmlns:a16="http://schemas.microsoft.com/office/drawing/2014/main" id="{66A66806-A3F5-4C7D-9DEE-861C01DE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Empty Cloud Storage bucket with risky IAM binding</a:t>
            </a:r>
          </a:p>
        </p:txBody>
      </p:sp>
      <p:sp>
        <p:nvSpPr>
          <p:cNvPr id="11" name="demo-target-8-1">
            <a:extLst xmlns:a="http://schemas.openxmlformats.org/drawingml/2006/main">
              <a:ext uri="{FF2B5EF4-FFF2-40B4-BE49-F238E27FC236}">
                <a16:creationId xmlns:a16="http://schemas.microsoft.com/office/drawing/2014/main" id="{0B8C0A13-D481-4EF3-A371-9DEFD3A4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67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demo-target-text-8-1">
            <a:extLst xmlns:a="http://schemas.openxmlformats.org/drawingml/2006/main">
              <a:ext uri="{FF2B5EF4-FFF2-40B4-BE49-F238E27FC236}">
                <a16:creationId xmlns:a16="http://schemas.microsoft.com/office/drawing/2014/main" id="{247B36C2-55F0-4441-A89E-7D30084A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Broad firewall rule without a production workload</a:t>
            </a:r>
          </a:p>
        </p:txBody>
      </p:sp>
      <p:sp>
        <p:nvSpPr>
          <p:cNvPr id="13" name="demo-target-8-2">
            <a:extLst xmlns:a="http://schemas.openxmlformats.org/drawingml/2006/main">
              <a:ext uri="{FF2B5EF4-FFF2-40B4-BE49-F238E27FC236}">
                <a16:creationId xmlns:a16="http://schemas.microsoft.com/office/drawing/2014/main" id="{4ED72F0D-F3C7-4994-879D-6B9ABE1F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577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demo-target-text-8-2">
            <a:extLst xmlns:a="http://schemas.openxmlformats.org/drawingml/2006/main">
              <a:ext uri="{FF2B5EF4-FFF2-40B4-BE49-F238E27FC236}">
                <a16:creationId xmlns:a16="http://schemas.microsoft.com/office/drawing/2014/main" id="{7DD84D71-571A-4985-B7B9-F89414CA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service account with excessive permissions</a:t>
            </a:r>
          </a:p>
        </p:txBody>
      </p:sp>
      <p:sp>
        <p:nvSpPr>
          <p:cNvPr id="15" name="demo-runbook-label-8">
            <a:extLst xmlns:a="http://schemas.openxmlformats.org/drawingml/2006/main">
              <a:ext uri="{FF2B5EF4-FFF2-40B4-BE49-F238E27FC236}">
                <a16:creationId xmlns:a16="http://schemas.microsoft.com/office/drawing/2014/main" id="{784DB564-DBBF-4130-AFA0-9C7B982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SHOW THE FULL CHAIN</a:t>
            </a:r>
          </a:p>
        </p:txBody>
      </p:sp>
      <p:sp>
        <p:nvSpPr>
          <p:cNvPr id="16" name="demo-runbook-rule-8-0">
            <a:extLst xmlns:a="http://schemas.openxmlformats.org/drawingml/2006/main">
              <a:ext uri="{FF2B5EF4-FFF2-40B4-BE49-F238E27FC236}">
                <a16:creationId xmlns:a16="http://schemas.microsoft.com/office/drawing/2014/main" id="{7F0B8E35-B577-42C0-96BD-5FBCACFF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7" name="demo-runbook-step-8-0">
            <a:extLst xmlns:a="http://schemas.openxmlformats.org/drawingml/2006/main">
              <a:ext uri="{FF2B5EF4-FFF2-40B4-BE49-F238E27FC236}">
                <a16:creationId xmlns:a16="http://schemas.microsoft.com/office/drawing/2014/main" id="{73FF0500-5629-4059-A7DB-0E906633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Show project boundary, labels, and expiry</a:t>
            </a:r>
          </a:p>
        </p:txBody>
      </p:sp>
      <p:sp>
        <p:nvSpPr>
          <p:cNvPr id="18" name="demo-runbook-rule-8-1">
            <a:extLst xmlns:a="http://schemas.openxmlformats.org/drawingml/2006/main">
              <a:ext uri="{FF2B5EF4-FFF2-40B4-BE49-F238E27FC236}">
                <a16:creationId xmlns:a16="http://schemas.microsoft.com/office/drawing/2014/main" id="{4C2A1316-09F1-4E9A-A830-99F8C670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9" name="demo-runbook-step-8-1">
            <a:extLst xmlns:a="http://schemas.openxmlformats.org/drawingml/2006/main">
              <a:ext uri="{FF2B5EF4-FFF2-40B4-BE49-F238E27FC236}">
                <a16:creationId xmlns:a16="http://schemas.microsoft.com/office/drawing/2014/main" id="{D33E882B-EBED-43A8-B046-0F4E6BF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Launch the GCP scan and show the job lifecycle</a:t>
            </a:r>
          </a:p>
        </p:txBody>
      </p:sp>
      <p:sp>
        <p:nvSpPr>
          <p:cNvPr id="20" name="demo-runbook-rule-8-2">
            <a:extLst xmlns:a="http://schemas.openxmlformats.org/drawingml/2006/main">
              <a:ext uri="{FF2B5EF4-FFF2-40B4-BE49-F238E27FC236}">
                <a16:creationId xmlns:a16="http://schemas.microsoft.com/office/drawing/2014/main" id="{2E391A0F-E30D-4E87-B11D-1AA3BC9F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1" name="demo-runbook-step-8-2">
            <a:extLst xmlns:a="http://schemas.openxmlformats.org/drawingml/2006/main">
              <a:ext uri="{FF2B5EF4-FFF2-40B4-BE49-F238E27FC236}">
                <a16:creationId xmlns:a16="http://schemas.microsoft.com/office/drawing/2014/main" id="{41E0BD08-CA50-4AB1-8D65-6A13E852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Compare storage, firewall, and IAM findings with AWS</a:t>
            </a:r>
          </a:p>
        </p:txBody>
      </p:sp>
      <p:sp>
        <p:nvSpPr>
          <p:cNvPr id="22" name="demo-runbook-rule-8-3">
            <a:extLst xmlns:a="http://schemas.openxmlformats.org/drawingml/2006/main">
              <a:ext uri="{FF2B5EF4-FFF2-40B4-BE49-F238E27FC236}">
                <a16:creationId xmlns:a16="http://schemas.microsoft.com/office/drawing/2014/main" id="{675AA100-330D-459F-B1F7-568D12F7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3" name="demo-runbook-step-8-3">
            <a:extLst xmlns:a="http://schemas.openxmlformats.org/drawingml/2006/main">
              <a:ext uri="{FF2B5EF4-FFF2-40B4-BE49-F238E27FC236}">
                <a16:creationId xmlns:a16="http://schemas.microsoft.com/office/drawing/2014/main" id="{33EFD749-778F-40C4-87BE-0D5952D5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624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Map one result to the same business risk story</a:t>
            </a:r>
          </a:p>
        </p:txBody>
      </p:sp>
      <p:sp>
        <p:nvSpPr>
          <p:cNvPr id="24" name="demo-takeaway-bg-8">
            <a:extLst xmlns:a="http://schemas.openxmlformats.org/drawingml/2006/main">
              <a:ext uri="{FF2B5EF4-FFF2-40B4-BE49-F238E27FC236}">
                <a16:creationId xmlns:a16="http://schemas.microsoft.com/office/drawing/2014/main" id="{6A1B531E-35D5-473D-8ACF-B3905EB6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89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0">
            <a:solidFill>
              <a:srgbClr val="EEF2F1"/>
            </a:solidFill>
            <a:prstDash val="solid"/>
          </a:ln>
        </p:spPr>
      </p:sp>
      <p:sp>
        <p:nvSpPr>
          <p:cNvPr id="25" name="demo-takeaway-8">
            <a:extLst xmlns:a="http://schemas.openxmlformats.org/drawingml/2006/main">
              <a:ext uri="{FF2B5EF4-FFF2-40B4-BE49-F238E27FC236}">
                <a16:creationId xmlns:a16="http://schemas.microsoft.com/office/drawing/2014/main" id="{BCE4F55F-CB47-40EE-BF17-C360F334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Takeaway: normalize the evidence so cross-cloud teams can compare equivalent risks.</a:t>
            </a:r>
          </a:p>
        </p:txBody>
      </p:sp>
    </p:spTree>
    <p:extLst>
      <p:ext uri="{BB962C8B-B14F-4D97-AF65-F5344CB8AC3E}">
        <p14:creationId xmlns:p14="http://schemas.microsoft.com/office/powerpoint/2010/main" val="947232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9">
            <a:extLst xmlns:a="http://schemas.openxmlformats.org/drawingml/2006/main">
              <a:ext uri="{FF2B5EF4-FFF2-40B4-BE49-F238E27FC236}">
                <a16:creationId xmlns:a16="http://schemas.microsoft.com/office/drawing/2014/main" id="{1464AE6C-C636-4DF3-B1DB-36E7569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KUBERNETES SCANNER DEMO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04C9DAF-520D-46F3-8DFE-2D68B979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Kubernetes risk spans workload, identity, and network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40AD3705-8025-4657-89BA-69FB79D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7B32C8B0-8678-4453-A835-44A0B228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B39BD31A-E82E-4145-A403-539D601C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k8s-intro">
            <a:extLst xmlns:a="http://schemas.openxmlformats.org/drawingml/2006/main">
              <a:ext uri="{FF2B5EF4-FFF2-40B4-BE49-F238E27FC236}">
                <a16:creationId xmlns:a16="http://schemas.microsoft.com/office/drawing/2014/main" id="{A5CEA164-47A4-4B2D-B069-57540A1E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Use a disposable kind/k3s cluster or a temporary namespace. Keep the workload benign even when its configuration is intentionally unsafe.</a:t>
            </a:r>
          </a:p>
        </p:txBody>
      </p:sp>
      <p:sp>
        <p:nvSpPr>
          <p:cNvPr id="7" name="k8s-timeline">
            <a:extLst xmlns:a="http://schemas.openxmlformats.org/drawingml/2006/main">
              <a:ext uri="{FF2B5EF4-FFF2-40B4-BE49-F238E27FC236}">
                <a16:creationId xmlns:a16="http://schemas.microsoft.com/office/drawing/2014/main" id="{9814B2BA-5FB7-4477-865E-BA2237B2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E5"/>
          </a:solidFill>
          <a:ln xmlns:a="http://schemas.openxmlformats.org/drawingml/2006/main" w="0">
            <a:solidFill>
              <a:srgbClr val="326CE5"/>
            </a:solidFill>
            <a:prstDash val="solid"/>
          </a:ln>
        </p:spPr>
      </p:sp>
      <p:sp>
        <p:nvSpPr>
          <p:cNvPr id="8" name="k8s-node-0">
            <a:extLst xmlns:a="http://schemas.openxmlformats.org/drawingml/2006/main">
              <a:ext uri="{FF2B5EF4-FFF2-40B4-BE49-F238E27FC236}">
                <a16:creationId xmlns:a16="http://schemas.microsoft.com/office/drawing/2014/main" id="{9C8C7F9D-92FD-4636-8438-E60E9C54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26CE5"/>
            </a:solidFill>
            <a:prstDash val="solid"/>
          </a:ln>
        </p:spPr>
      </p:sp>
      <p:sp>
        <p:nvSpPr>
          <p:cNvPr id="9" name="k8s-label-0">
            <a:extLst xmlns:a="http://schemas.openxmlformats.org/drawingml/2006/main">
              <a:ext uri="{FF2B5EF4-FFF2-40B4-BE49-F238E27FC236}">
                <a16:creationId xmlns:a16="http://schemas.microsoft.com/office/drawing/2014/main" id="{BD56A09F-6E98-4064-9CA3-C6520F70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WORKLOAD</a:t>
            </a:r>
          </a:p>
        </p:txBody>
      </p:sp>
      <p:sp>
        <p:nvSpPr>
          <p:cNvPr id="10" name="k8s-title-0">
            <a:extLst xmlns:a="http://schemas.openxmlformats.org/drawingml/2006/main">
              <a:ext uri="{FF2B5EF4-FFF2-40B4-BE49-F238E27FC236}">
                <a16:creationId xmlns:a16="http://schemas.microsoft.com/office/drawing/2014/main" id="{BA8A9AAE-13A7-4769-8A25-33DA51F4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Privileged pod</a:t>
            </a:r>
          </a:p>
        </p:txBody>
      </p:sp>
      <p:sp>
        <p:nvSpPr>
          <p:cNvPr id="11" name="k8s-body-0">
            <a:extLst xmlns:a="http://schemas.openxmlformats.org/drawingml/2006/main">
              <a:ext uri="{FF2B5EF4-FFF2-40B4-BE49-F238E27FC236}">
                <a16:creationId xmlns:a16="http://schemas.microsoft.com/office/drawing/2014/main" id="{30295C25-8C51-4C02-A07A-CE8638B8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Benign image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No real secret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No host data</a:t>
            </a:r>
          </a:p>
        </p:txBody>
      </p:sp>
      <p:sp>
        <p:nvSpPr>
          <p:cNvPr id="12" name="k8s-node-1">
            <a:extLst xmlns:a="http://schemas.openxmlformats.org/drawingml/2006/main">
              <a:ext uri="{FF2B5EF4-FFF2-40B4-BE49-F238E27FC236}">
                <a16:creationId xmlns:a16="http://schemas.microsoft.com/office/drawing/2014/main" id="{77476E2E-43BB-4020-AC76-871659D6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26CE5"/>
            </a:solidFill>
            <a:prstDash val="solid"/>
          </a:ln>
        </p:spPr>
      </p:sp>
      <p:sp>
        <p:nvSpPr>
          <p:cNvPr id="13" name="k8s-label-1">
            <a:extLst xmlns:a="http://schemas.openxmlformats.org/drawingml/2006/main">
              <a:ext uri="{FF2B5EF4-FFF2-40B4-BE49-F238E27FC236}">
                <a16:creationId xmlns:a16="http://schemas.microsoft.com/office/drawing/2014/main" id="{FC8CA969-8A3E-441B-AC90-A64C37F0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14" name="k8s-title-1">
            <a:extLst xmlns:a="http://schemas.openxmlformats.org/drawingml/2006/main">
              <a:ext uri="{FF2B5EF4-FFF2-40B4-BE49-F238E27FC236}">
                <a16:creationId xmlns:a16="http://schemas.microsoft.com/office/drawing/2014/main" id="{84FCC05B-6414-4338-A73D-266BBF2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Broad RBAC</a:t>
            </a:r>
          </a:p>
        </p:txBody>
      </p:sp>
      <p:sp>
        <p:nvSpPr>
          <p:cNvPr id="15" name="k8s-body-1">
            <a:extLst xmlns:a="http://schemas.openxmlformats.org/drawingml/2006/main">
              <a:ext uri="{FF2B5EF4-FFF2-40B4-BE49-F238E27FC236}">
                <a16:creationId xmlns:a16="http://schemas.microsoft.com/office/drawing/2014/main" id="{364B9219-DE3E-402A-866D-C39FD2AF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Dummy service account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Short-lived binding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Isolated scope</a:t>
            </a:r>
          </a:p>
        </p:txBody>
      </p:sp>
      <p:sp>
        <p:nvSpPr>
          <p:cNvPr id="16" name="k8s-node-2">
            <a:extLst xmlns:a="http://schemas.openxmlformats.org/drawingml/2006/main">
              <a:ext uri="{FF2B5EF4-FFF2-40B4-BE49-F238E27FC236}">
                <a16:creationId xmlns:a16="http://schemas.microsoft.com/office/drawing/2014/main" id="{DF1FD833-DC29-4D3B-82B7-DA18082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26CE5"/>
            </a:solidFill>
            <a:prstDash val="solid"/>
          </a:ln>
        </p:spPr>
      </p:sp>
      <p:sp>
        <p:nvSpPr>
          <p:cNvPr id="17" name="k8s-label-2">
            <a:extLst xmlns:a="http://schemas.openxmlformats.org/drawingml/2006/main">
              <a:ext uri="{FF2B5EF4-FFF2-40B4-BE49-F238E27FC236}">
                <a16:creationId xmlns:a16="http://schemas.microsoft.com/office/drawing/2014/main" id="{C864C176-630A-4572-9808-4CE5B89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NETWORK</a:t>
            </a:r>
          </a:p>
        </p:txBody>
      </p:sp>
      <p:sp>
        <p:nvSpPr>
          <p:cNvPr id="18" name="k8s-title-2">
            <a:extLst xmlns:a="http://schemas.openxmlformats.org/drawingml/2006/main">
              <a:ext uri="{FF2B5EF4-FFF2-40B4-BE49-F238E27FC236}">
                <a16:creationId xmlns:a16="http://schemas.microsoft.com/office/drawing/2014/main" id="{76880280-6612-4740-97D8-C0A9524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Exposed service</a:t>
            </a:r>
          </a:p>
        </p:txBody>
      </p:sp>
      <p:sp>
        <p:nvSpPr>
          <p:cNvPr id="19" name="k8s-body-2">
            <a:extLst xmlns:a="http://schemas.openxmlformats.org/drawingml/2006/main">
              <a:ext uri="{FF2B5EF4-FFF2-40B4-BE49-F238E27FC236}">
                <a16:creationId xmlns:a16="http://schemas.microsoft.com/office/drawing/2014/main" id="{DEEE0F6C-2EF7-436A-9277-4C46FFCC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NodePort or missing policy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No production traffic</a:t>
            </a:r>
          </a:p>
          <a:p xmlns:a="http://schemas.openxmlformats.org/drawingml/2006/main">
            <a:pPr algn="l">
              <a:def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Cleanup verified</a:t>
            </a:r>
          </a:p>
        </p:txBody>
      </p:sp>
      <p:sp>
        <p:nvSpPr>
          <p:cNvPr id="20" name="k8s-runbook">
            <a:extLst xmlns:a="http://schemas.openxmlformats.org/drawingml/2006/main">
              <a:ext uri="{FF2B5EF4-FFF2-40B4-BE49-F238E27FC236}">
                <a16:creationId xmlns:a16="http://schemas.microsoft.com/office/drawing/2014/main" id="{31C10E69-1826-41A8-B9DA-EC1E754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Launch → inspect RBAC/workload/service findings → compare manifest with live state → delete the namespace or cluster</a:t>
            </a:r>
          </a:p>
        </p:txBody>
      </p:sp>
    </p:spTree>
    <p:extLst>
      <p:ext uri="{BB962C8B-B14F-4D97-AF65-F5344CB8AC3E}">
        <p14:creationId xmlns:p14="http://schemas.microsoft.com/office/powerpoint/2010/main" val="1705882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0">
            <a:extLst xmlns:a="http://schemas.openxmlformats.org/drawingml/2006/main">
              <a:ext uri="{FF2B5EF4-FFF2-40B4-BE49-F238E27FC236}">
                <a16:creationId xmlns:a16="http://schemas.microsoft.com/office/drawing/2014/main" id="{11675F4E-D027-4F3C-B2FA-C5EDA45B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IAC SCANNER DEMO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F2BA816-4162-4BDE-AF4C-991EB9D1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IaC finds the weakness before cloud resources exist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DA437A16-DCC5-45DA-89F8-3328829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FED69A9E-9656-48BE-B7E1-AABD61B6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9DD056A7-9123-451A-B087-CC19DC5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iac-code-bg">
            <a:extLst xmlns:a="http://schemas.openxmlformats.org/drawingml/2006/main">
              <a:ext uri="{FF2B5EF4-FFF2-40B4-BE49-F238E27FC236}">
                <a16:creationId xmlns:a16="http://schemas.microsoft.com/office/drawing/2014/main" id="{CD9AF0A1-2DDC-47F0-9790-FC55C373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619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7" name="iac-code-label">
            <a:extLst xmlns:a="http://schemas.openxmlformats.org/drawingml/2006/main">
              <a:ext uri="{FF2B5EF4-FFF2-40B4-BE49-F238E27FC236}">
                <a16:creationId xmlns:a16="http://schemas.microsoft.com/office/drawing/2014/main" id="{0F8F91AC-8509-4779-9A3E-A15202A2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9D6AC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9D6AC"/>
                </a:solidFill>
                <a:latin typeface="Menlo"/>
                <a:ea typeface="Menlo"/>
                <a:cs typeface="Menlo"/>
              </a:rPr>
              <a:t>vulnerable-lab.tf</a:t>
            </a:r>
          </a:p>
        </p:txBody>
      </p:sp>
      <p:sp>
        <p:nvSpPr>
          <p:cNvPr id="8" name="iac-code">
            <a:extLst xmlns:a="http://schemas.openxmlformats.org/drawingml/2006/main">
              <a:ext uri="{FF2B5EF4-FFF2-40B4-BE49-F238E27FC236}">
                <a16:creationId xmlns:a16="http://schemas.microsoft.com/office/drawing/2014/main" id="{26149741-1717-443F-81AA-4E3EF79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resource "cloud_storage" "demo" {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public_access = true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encryption    = false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resource "firewall" "admin" {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 = "0.0.0.0/0"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port   = 22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workshop fixture — no real secret</a:t>
            </a:r>
          </a:p>
        </p:txBody>
      </p:sp>
      <p:sp>
        <p:nvSpPr>
          <p:cNvPr id="9" name="iac-predict">
            <a:extLst xmlns:a="http://schemas.openxmlformats.org/drawingml/2006/main">
              <a:ext uri="{FF2B5EF4-FFF2-40B4-BE49-F238E27FC236}">
                <a16:creationId xmlns:a16="http://schemas.microsoft.com/office/drawing/2014/main" id="{11791648-FA3F-4F0B-847E-324342EF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Predict before you scan</a:t>
            </a:r>
          </a:p>
        </p:txBody>
      </p:sp>
      <p:sp>
        <p:nvSpPr>
          <p:cNvPr id="10" name="iac-steps-dot-0">
            <a:extLst xmlns:a="http://schemas.openxmlformats.org/drawingml/2006/main">
              <a:ext uri="{FF2B5EF4-FFF2-40B4-BE49-F238E27FC236}">
                <a16:creationId xmlns:a16="http://schemas.microsoft.com/office/drawing/2014/main" id="{A430C980-F5B2-4F6C-944D-DB4586D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1" name="iac-steps-text-0">
            <a:extLst xmlns:a="http://schemas.openxmlformats.org/drawingml/2006/main">
              <a:ext uri="{FF2B5EF4-FFF2-40B4-BE49-F238E27FC236}">
                <a16:creationId xmlns:a16="http://schemas.microsoft.com/office/drawing/2014/main" id="{B93E84EC-90D5-41DF-95CB-C7099C3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Ask participants to name the expected findings</a:t>
            </a:r>
          </a:p>
        </p:txBody>
      </p:sp>
      <p:sp>
        <p:nvSpPr>
          <p:cNvPr id="12" name="iac-steps-dot-1">
            <a:extLst xmlns:a="http://schemas.openxmlformats.org/drawingml/2006/main">
              <a:ext uri="{FF2B5EF4-FFF2-40B4-BE49-F238E27FC236}">
                <a16:creationId xmlns:a16="http://schemas.microsoft.com/office/drawing/2014/main" id="{B37EE138-A703-4FB5-87E2-FA6F80D9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3" name="iac-steps-text-1">
            <a:extLst xmlns:a="http://schemas.openxmlformats.org/drawingml/2006/main">
              <a:ext uri="{FF2B5EF4-FFF2-40B4-BE49-F238E27FC236}">
                <a16:creationId xmlns:a16="http://schemas.microsoft.com/office/drawing/2014/main" id="{0DC78780-A833-4ECA-BFF2-8CD81E9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Upload Terraform, CloudFormation, or Kubernetes YAML</a:t>
            </a:r>
          </a:p>
        </p:txBody>
      </p:sp>
      <p:sp>
        <p:nvSpPr>
          <p:cNvPr id="14" name="iac-steps-dot-2">
            <a:extLst xmlns:a="http://schemas.openxmlformats.org/drawingml/2006/main">
              <a:ext uri="{FF2B5EF4-FFF2-40B4-BE49-F238E27FC236}">
                <a16:creationId xmlns:a16="http://schemas.microsoft.com/office/drawing/2014/main" id="{417D1AB9-120F-4BA2-81FB-8E35A72C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5" name="iac-steps-text-2">
            <a:extLst xmlns:a="http://schemas.openxmlformats.org/drawingml/2006/main">
              <a:ext uri="{FF2B5EF4-FFF2-40B4-BE49-F238E27FC236}">
                <a16:creationId xmlns:a16="http://schemas.microsoft.com/office/drawing/2014/main" id="{095BA081-7907-493D-A626-F02D778A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Run the local zero-cost scanner</a:t>
            </a:r>
          </a:p>
        </p:txBody>
      </p:sp>
      <p:sp>
        <p:nvSpPr>
          <p:cNvPr id="16" name="iac-steps-dot-3">
            <a:extLst xmlns:a="http://schemas.openxmlformats.org/drawingml/2006/main">
              <a:ext uri="{FF2B5EF4-FFF2-40B4-BE49-F238E27FC236}">
                <a16:creationId xmlns:a16="http://schemas.microsoft.com/office/drawing/2014/main" id="{E80183B3-9B3C-47FD-9942-399D46F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7" name="iac-steps-text-3">
            <a:extLst xmlns:a="http://schemas.openxmlformats.org/drawingml/2006/main">
              <a:ext uri="{FF2B5EF4-FFF2-40B4-BE49-F238E27FC236}">
                <a16:creationId xmlns:a16="http://schemas.microsoft.com/office/drawing/2014/main" id="{36285EC3-1758-4891-9442-C785E95C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Compare predicted findings with file and line evidence</a:t>
            </a:r>
          </a:p>
        </p:txBody>
      </p:sp>
      <p:sp>
        <p:nvSpPr>
          <p:cNvPr id="18" name="iac-steps-dot-4">
            <a:extLst xmlns:a="http://schemas.openxmlformats.org/drawingml/2006/main">
              <a:ext uri="{FF2B5EF4-FFF2-40B4-BE49-F238E27FC236}">
                <a16:creationId xmlns:a16="http://schemas.microsoft.com/office/drawing/2014/main" id="{738E9F32-7A18-4B73-8454-EFE6475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9" name="iac-steps-text-4">
            <a:extLst xmlns:a="http://schemas.openxmlformats.org/drawingml/2006/main">
              <a:ext uri="{FF2B5EF4-FFF2-40B4-BE49-F238E27FC236}">
                <a16:creationId xmlns:a16="http://schemas.microsoft.com/office/drawing/2014/main" id="{0791A894-DE88-4945-8B5D-D22B260B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Correct the template and rescan</a:t>
            </a:r>
          </a:p>
        </p:txBody>
      </p:sp>
      <p:sp>
        <p:nvSpPr>
          <p:cNvPr id="20" name="iac-takeaway-bg">
            <a:extLst xmlns:a="http://schemas.openxmlformats.org/drawingml/2006/main">
              <a:ext uri="{FF2B5EF4-FFF2-40B4-BE49-F238E27FC236}">
                <a16:creationId xmlns:a16="http://schemas.microsoft.com/office/drawing/2014/main" id="{8A24BC33-FC2A-401F-8435-1AB30324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91150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21" name="iac-takeaway">
            <a:extLst xmlns:a="http://schemas.openxmlformats.org/drawingml/2006/main">
              <a:ext uri="{FF2B5EF4-FFF2-40B4-BE49-F238E27FC236}">
                <a16:creationId xmlns:a16="http://schemas.microsoft.com/office/drawing/2014/main" id="{DC0E05E3-1415-4DBD-8DED-36836C28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435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Best workshop fallback: fast, deterministic, and no cloud bill.</a:t>
            </a:r>
          </a:p>
        </p:txBody>
      </p:sp>
    </p:spTree>
    <p:extLst>
      <p:ext uri="{BB962C8B-B14F-4D97-AF65-F5344CB8AC3E}">
        <p14:creationId xmlns:p14="http://schemas.microsoft.com/office/powerpoint/2010/main" val="1794923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-11">
            <a:extLst xmlns:a="http://schemas.openxmlformats.org/drawingml/2006/main">
              <a:ext uri="{FF2B5EF4-FFF2-40B4-BE49-F238E27FC236}">
                <a16:creationId xmlns:a16="http://schemas.microsoft.com/office/drawing/2014/main" id="{10119C4A-529D-406D-B375-A315CD8D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CROSS-SCANNER DEBRIEF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1FE7950-2DD1-4683-AC94-1BDC69D0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Compare risk stories—not provider vocabulary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D15D1E15-2227-4F2E-9387-3DF27AEA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EE150637-55F6-4D5F-8786-D0E5EAFD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4D7B3AA9-835B-4D73-AC1B-5FBE9DD3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compare-head-bg-0">
            <a:extLst xmlns:a="http://schemas.openxmlformats.org/drawingml/2006/main">
              <a:ext uri="{FF2B5EF4-FFF2-40B4-BE49-F238E27FC236}">
                <a16:creationId xmlns:a16="http://schemas.microsoft.com/office/drawing/2014/main" id="{28CD78BF-0839-488A-8CF9-861DE715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7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C267F843-7C5F-4E4F-8F4A-55DE9C3B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8" name="compare-head-bg-1">
            <a:extLst xmlns:a="http://schemas.openxmlformats.org/drawingml/2006/main">
              <a:ext uri="{FF2B5EF4-FFF2-40B4-BE49-F238E27FC236}">
                <a16:creationId xmlns:a16="http://schemas.microsoft.com/office/drawing/2014/main" id="{6C264107-B0F8-479D-93EB-0C37B15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33550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9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F62C2FD6-3A39-4646-AE72-D397211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EXAMPLE FINDING</a:t>
            </a:r>
          </a:p>
        </p:txBody>
      </p:sp>
      <p:sp>
        <p:nvSpPr>
          <p:cNvPr id="10" name="compare-head-bg-2">
            <a:extLst xmlns:a="http://schemas.openxmlformats.org/drawingml/2006/main">
              <a:ext uri="{FF2B5EF4-FFF2-40B4-BE49-F238E27FC236}">
                <a16:creationId xmlns:a16="http://schemas.microsoft.com/office/drawing/2014/main" id="{04F3D0C4-0519-463D-A49A-5289D0E8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3355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11" name="compare-head-2">
            <a:extLst xmlns:a="http://schemas.openxmlformats.org/drawingml/2006/main">
              <a:ext uri="{FF2B5EF4-FFF2-40B4-BE49-F238E27FC236}">
                <a16:creationId xmlns:a16="http://schemas.microsoft.com/office/drawing/2014/main" id="{A09421B0-BE39-48B4-A58D-483D542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85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PROOF</a:t>
            </a:r>
          </a:p>
        </p:txBody>
      </p:sp>
      <p:sp>
        <p:nvSpPr>
          <p:cNvPr id="12" name="compare-head-bg-3">
            <a:extLst xmlns:a="http://schemas.openxmlformats.org/drawingml/2006/main">
              <a:ext uri="{FF2B5EF4-FFF2-40B4-BE49-F238E27FC236}">
                <a16:creationId xmlns:a16="http://schemas.microsoft.com/office/drawing/2014/main" id="{55D9AA1E-43EE-4051-80C7-FE05A23C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236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13" name="compare-head-3">
            <a:extLst xmlns:a="http://schemas.openxmlformats.org/drawingml/2006/main">
              <a:ext uri="{FF2B5EF4-FFF2-40B4-BE49-F238E27FC236}">
                <a16:creationId xmlns:a16="http://schemas.microsoft.com/office/drawing/2014/main" id="{68B4E3B1-4DC2-47EE-9173-8E55F40C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LIKELY OWNER</a:t>
            </a:r>
          </a:p>
        </p:txBody>
      </p:sp>
      <p:sp>
        <p:nvSpPr>
          <p:cNvPr id="14" name="compare-head-bg-4">
            <a:extLst xmlns:a="http://schemas.openxmlformats.org/drawingml/2006/main">
              <a:ext uri="{FF2B5EF4-FFF2-40B4-BE49-F238E27FC236}">
                <a16:creationId xmlns:a16="http://schemas.microsoft.com/office/drawing/2014/main" id="{7B0F38AF-EAB3-47E4-8FF9-199BD82B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245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sp>
        <p:nvSpPr>
          <p:cNvPr id="15" name="compare-head-4">
            <a:extLst xmlns:a="http://schemas.openxmlformats.org/drawingml/2006/main">
              <a:ext uri="{FF2B5EF4-FFF2-40B4-BE49-F238E27FC236}">
                <a16:creationId xmlns:a16="http://schemas.microsoft.com/office/drawing/2014/main" id="{96E57583-5B02-40DC-A33B-FCA3206E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16" name="compare-cell-bg-0-0">
            <a:extLst xmlns:a="http://schemas.openxmlformats.org/drawingml/2006/main">
              <a:ext uri="{FF2B5EF4-FFF2-40B4-BE49-F238E27FC236}">
                <a16:creationId xmlns:a16="http://schemas.microsoft.com/office/drawing/2014/main" id="{70E898C3-ACE6-4263-B3C0-F258AA72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17" name="compare-cell-0-0">
            <a:extLst xmlns:a="http://schemas.openxmlformats.org/drawingml/2006/main">
              <a:ext uri="{FF2B5EF4-FFF2-40B4-BE49-F238E27FC236}">
                <a16:creationId xmlns:a16="http://schemas.microsoft.com/office/drawing/2014/main" id="{594574B9-8325-47E6-9AC6-513DEF47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18" name="compare-cell-bg-0-1">
            <a:extLst xmlns:a="http://schemas.openxmlformats.org/drawingml/2006/main">
              <a:ext uri="{FF2B5EF4-FFF2-40B4-BE49-F238E27FC236}">
                <a16:creationId xmlns:a16="http://schemas.microsoft.com/office/drawing/2014/main" id="{C781F83D-8E36-4E30-9EA3-E82D25F7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28850"/>
            <a:ext cx="260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19" name="compare-cell-0-1">
            <a:extLst xmlns:a="http://schemas.openxmlformats.org/drawingml/2006/main">
              <a:ext uri="{FF2B5EF4-FFF2-40B4-BE49-F238E27FC236}">
                <a16:creationId xmlns:a16="http://schemas.microsoft.com/office/drawing/2014/main" id="{6832E57B-AF70-4F5B-8694-3DD1639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0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Public storage</a:t>
            </a:r>
          </a:p>
        </p:txBody>
      </p:sp>
      <p:sp>
        <p:nvSpPr>
          <p:cNvPr id="20" name="compare-cell-bg-0-2">
            <a:extLst xmlns:a="http://schemas.openxmlformats.org/drawingml/2006/main">
              <a:ext uri="{FF2B5EF4-FFF2-40B4-BE49-F238E27FC236}">
                <a16:creationId xmlns:a16="http://schemas.microsoft.com/office/drawing/2014/main" id="{3B1ECCAC-DAC3-4CC8-A89B-9CA459D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2152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21" name="compare-cell-0-2">
            <a:extLst xmlns:a="http://schemas.openxmlformats.org/drawingml/2006/main">
              <a:ext uri="{FF2B5EF4-FFF2-40B4-BE49-F238E27FC236}">
                <a16:creationId xmlns:a16="http://schemas.microsoft.com/office/drawing/2014/main" id="{7D0882B6-BD4D-4926-815D-2194034E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003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Bucket policy</a:t>
            </a:r>
          </a:p>
        </p:txBody>
      </p:sp>
      <p:sp>
        <p:nvSpPr>
          <p:cNvPr id="22" name="compare-cell-bg-0-3">
            <a:extLst xmlns:a="http://schemas.openxmlformats.org/drawingml/2006/main">
              <a:ext uri="{FF2B5EF4-FFF2-40B4-BE49-F238E27FC236}">
                <a16:creationId xmlns:a16="http://schemas.microsoft.com/office/drawing/2014/main" id="{BC07E005-C56D-448D-B48C-B8414EBC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28850"/>
            <a:ext cx="236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23" name="compare-cell-0-3">
            <a:extLst xmlns:a="http://schemas.openxmlformats.org/drawingml/2006/main">
              <a:ext uri="{FF2B5EF4-FFF2-40B4-BE49-F238E27FC236}">
                <a16:creationId xmlns:a16="http://schemas.microsoft.com/office/drawing/2014/main" id="{947703DC-BB7C-4853-98D1-77CC7FFF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 team</a:t>
            </a:r>
          </a:p>
        </p:txBody>
      </p:sp>
      <p:sp>
        <p:nvSpPr>
          <p:cNvPr id="24" name="compare-cell-bg-0-4">
            <a:extLst xmlns:a="http://schemas.openxmlformats.org/drawingml/2006/main">
              <a:ext uri="{FF2B5EF4-FFF2-40B4-BE49-F238E27FC236}">
                <a16:creationId xmlns:a16="http://schemas.microsoft.com/office/drawing/2014/main" id="{7A44D5EF-8F65-4C04-8E91-A2B67B0B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288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25" name="compare-cell-0-4">
            <a:extLst xmlns:a="http://schemas.openxmlformats.org/drawingml/2006/main">
              <a:ext uri="{FF2B5EF4-FFF2-40B4-BE49-F238E27FC236}">
                <a16:creationId xmlns:a16="http://schemas.microsoft.com/office/drawing/2014/main" id="{C99EC36C-25BA-4AA9-BB66-DBDF6E84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Policy + rescan</a:t>
            </a:r>
          </a:p>
        </p:txBody>
      </p:sp>
      <p:sp>
        <p:nvSpPr>
          <p:cNvPr id="26" name="compare-cell-bg-1-0">
            <a:extLst xmlns:a="http://schemas.openxmlformats.org/drawingml/2006/main">
              <a:ext uri="{FF2B5EF4-FFF2-40B4-BE49-F238E27FC236}">
                <a16:creationId xmlns:a16="http://schemas.microsoft.com/office/drawing/2014/main" id="{D282F52D-FCD3-4935-A4A9-38EE756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27" name="compare-cell-1-0">
            <a:extLst xmlns:a="http://schemas.openxmlformats.org/drawingml/2006/main">
              <a:ext uri="{FF2B5EF4-FFF2-40B4-BE49-F238E27FC236}">
                <a16:creationId xmlns:a16="http://schemas.microsoft.com/office/drawing/2014/main" id="{316CC1C6-9D84-4802-89CC-556244CF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28" name="compare-cell-bg-1-1">
            <a:extLst xmlns:a="http://schemas.openxmlformats.org/drawingml/2006/main">
              <a:ext uri="{FF2B5EF4-FFF2-40B4-BE49-F238E27FC236}">
                <a16:creationId xmlns:a16="http://schemas.microsoft.com/office/drawing/2014/main" id="{8EDD9CE5-0929-4983-91B7-7175E89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9900"/>
            <a:ext cx="260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29" name="compare-cell-1-1">
            <a:extLst xmlns:a="http://schemas.openxmlformats.org/drawingml/2006/main">
              <a:ext uri="{FF2B5EF4-FFF2-40B4-BE49-F238E27FC236}">
                <a16:creationId xmlns:a16="http://schemas.microsoft.com/office/drawing/2014/main" id="{AA1F6775-9C66-42BA-8876-FF42B1C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81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Public IAM binding</a:t>
            </a:r>
          </a:p>
        </p:txBody>
      </p:sp>
      <p:sp>
        <p:nvSpPr>
          <p:cNvPr id="30" name="compare-cell-bg-1-2">
            <a:extLst xmlns:a="http://schemas.openxmlformats.org/drawingml/2006/main">
              <a:ext uri="{FF2B5EF4-FFF2-40B4-BE49-F238E27FC236}">
                <a16:creationId xmlns:a16="http://schemas.microsoft.com/office/drawing/2014/main" id="{4F2308D5-66D6-4046-904C-0197DB1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2152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31" name="compare-cell-1-2">
            <a:extLst xmlns:a="http://schemas.openxmlformats.org/drawingml/2006/main">
              <a:ext uri="{FF2B5EF4-FFF2-40B4-BE49-F238E27FC236}">
                <a16:creationId xmlns:a16="http://schemas.microsoft.com/office/drawing/2014/main" id="{6AABFCD4-3A64-42D3-AA1A-1ACC468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813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IAM policy</a:t>
            </a:r>
          </a:p>
        </p:txBody>
      </p:sp>
      <p:sp>
        <p:nvSpPr>
          <p:cNvPr id="32" name="compare-cell-bg-1-3">
            <a:extLst xmlns:a="http://schemas.openxmlformats.org/drawingml/2006/main">
              <a:ext uri="{FF2B5EF4-FFF2-40B4-BE49-F238E27FC236}">
                <a16:creationId xmlns:a16="http://schemas.microsoft.com/office/drawing/2014/main" id="{81A64E64-69D5-4415-8CB2-D4EB4F52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236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33" name="compare-cell-1-3">
            <a:extLst xmlns:a="http://schemas.openxmlformats.org/drawingml/2006/main">
              <a:ext uri="{FF2B5EF4-FFF2-40B4-BE49-F238E27FC236}">
                <a16:creationId xmlns:a16="http://schemas.microsoft.com/office/drawing/2014/main" id="{9CB8EEB0-0E3F-4011-ABC5-26DB2F6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 team</a:t>
            </a:r>
          </a:p>
        </p:txBody>
      </p:sp>
      <p:sp>
        <p:nvSpPr>
          <p:cNvPr id="34" name="compare-cell-bg-1-4">
            <a:extLst xmlns:a="http://schemas.openxmlformats.org/drawingml/2006/main">
              <a:ext uri="{FF2B5EF4-FFF2-40B4-BE49-F238E27FC236}">
                <a16:creationId xmlns:a16="http://schemas.microsoft.com/office/drawing/2014/main" id="{1666A782-1B3A-44A6-9603-446016AD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35" name="compare-cell-1-4">
            <a:extLst xmlns:a="http://schemas.openxmlformats.org/drawingml/2006/main">
              <a:ext uri="{FF2B5EF4-FFF2-40B4-BE49-F238E27FC236}">
                <a16:creationId xmlns:a16="http://schemas.microsoft.com/office/drawing/2014/main" id="{4DD28AE1-AB83-44D3-815B-175E3107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813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Binding removed</a:t>
            </a:r>
          </a:p>
        </p:txBody>
      </p:sp>
      <p:sp>
        <p:nvSpPr>
          <p:cNvPr id="36" name="compare-cell-bg-2-0">
            <a:extLst xmlns:a="http://schemas.openxmlformats.org/drawingml/2006/main">
              <a:ext uri="{FF2B5EF4-FFF2-40B4-BE49-F238E27FC236}">
                <a16:creationId xmlns:a16="http://schemas.microsoft.com/office/drawing/2014/main" id="{C9455802-10F9-49F4-A9B5-AFB9A9E1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37" name="compare-cell-2-0">
            <a:extLst xmlns:a="http://schemas.openxmlformats.org/drawingml/2006/main">
              <a:ext uri="{FF2B5EF4-FFF2-40B4-BE49-F238E27FC236}">
                <a16:creationId xmlns:a16="http://schemas.microsoft.com/office/drawing/2014/main" id="{4FB3BAA7-1109-483C-BB58-7F839C02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38" name="compare-cell-bg-2-1">
            <a:extLst xmlns:a="http://schemas.openxmlformats.org/drawingml/2006/main">
              <a:ext uri="{FF2B5EF4-FFF2-40B4-BE49-F238E27FC236}">
                <a16:creationId xmlns:a16="http://schemas.microsoft.com/office/drawing/2014/main" id="{95052395-75F7-46C6-AF32-EA7ECDC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90950"/>
            <a:ext cx="260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39" name="compare-cell-2-1">
            <a:extLst xmlns:a="http://schemas.openxmlformats.org/drawingml/2006/main">
              <a:ext uri="{FF2B5EF4-FFF2-40B4-BE49-F238E27FC236}">
                <a16:creationId xmlns:a16="http://schemas.microsoft.com/office/drawing/2014/main" id="{48E8A49F-8531-4DE9-BBE4-917AD17A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Privileged workload</a:t>
            </a:r>
          </a:p>
        </p:txBody>
      </p:sp>
      <p:sp>
        <p:nvSpPr>
          <p:cNvPr id="40" name="compare-cell-bg-2-2">
            <a:extLst xmlns:a="http://schemas.openxmlformats.org/drawingml/2006/main">
              <a:ext uri="{FF2B5EF4-FFF2-40B4-BE49-F238E27FC236}">
                <a16:creationId xmlns:a16="http://schemas.microsoft.com/office/drawing/2014/main" id="{0A8A67F0-E2C1-4841-83AC-1E8D271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2152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41" name="compare-cell-2-2">
            <a:extLst xmlns:a="http://schemas.openxmlformats.org/drawingml/2006/main">
              <a:ext uri="{FF2B5EF4-FFF2-40B4-BE49-F238E27FC236}">
                <a16:creationId xmlns:a16="http://schemas.microsoft.com/office/drawing/2014/main" id="{30092413-DF62-4B1E-8852-704D454A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Pod spec</a:t>
            </a:r>
          </a:p>
        </p:txBody>
      </p:sp>
      <p:sp>
        <p:nvSpPr>
          <p:cNvPr id="42" name="compare-cell-bg-2-3">
            <a:extLst xmlns:a="http://schemas.openxmlformats.org/drawingml/2006/main">
              <a:ext uri="{FF2B5EF4-FFF2-40B4-BE49-F238E27FC236}">
                <a16:creationId xmlns:a16="http://schemas.microsoft.com/office/drawing/2014/main" id="{15EFFE36-73C9-417B-9129-4CBE14A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236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43" name="compare-cell-2-3">
            <a:extLst xmlns:a="http://schemas.openxmlformats.org/drawingml/2006/main">
              <a:ext uri="{FF2B5EF4-FFF2-40B4-BE49-F238E27FC236}">
                <a16:creationId xmlns:a16="http://schemas.microsoft.com/office/drawing/2014/main" id="{5433442F-3908-40E6-907B-65A873C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Platform team</a:t>
            </a:r>
          </a:p>
        </p:txBody>
      </p:sp>
      <p:sp>
        <p:nvSpPr>
          <p:cNvPr id="44" name="compare-cell-bg-2-4">
            <a:extLst xmlns:a="http://schemas.openxmlformats.org/drawingml/2006/main">
              <a:ext uri="{FF2B5EF4-FFF2-40B4-BE49-F238E27FC236}">
                <a16:creationId xmlns:a16="http://schemas.microsoft.com/office/drawing/2014/main" id="{42EA88EE-24F9-4683-AE47-D97372F7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909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45" name="compare-cell-2-4">
            <a:extLst xmlns:a="http://schemas.openxmlformats.org/drawingml/2006/main">
              <a:ext uri="{FF2B5EF4-FFF2-40B4-BE49-F238E27FC236}">
                <a16:creationId xmlns:a16="http://schemas.microsoft.com/office/drawing/2014/main" id="{47505AC9-6863-4BF5-A7D0-25BAFBB9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624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Manifest + rescan</a:t>
            </a:r>
          </a:p>
        </p:txBody>
      </p:sp>
      <p:sp>
        <p:nvSpPr>
          <p:cNvPr id="46" name="compare-cell-bg-3-0">
            <a:extLst xmlns:a="http://schemas.openxmlformats.org/drawingml/2006/main">
              <a:ext uri="{FF2B5EF4-FFF2-40B4-BE49-F238E27FC236}">
                <a16:creationId xmlns:a16="http://schemas.microsoft.com/office/drawing/2014/main" id="{BD69DB79-48CE-4AC2-A9FC-B35EB121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47" name="compare-cell-3-0">
            <a:extLst xmlns:a="http://schemas.openxmlformats.org/drawingml/2006/main">
              <a:ext uri="{FF2B5EF4-FFF2-40B4-BE49-F238E27FC236}">
                <a16:creationId xmlns:a16="http://schemas.microsoft.com/office/drawing/2014/main" id="{C1704B68-C209-4F68-9C4F-4BB5B7A6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IaC</a:t>
            </a:r>
          </a:p>
        </p:txBody>
      </p:sp>
      <p:sp>
        <p:nvSpPr>
          <p:cNvPr id="48" name="compare-cell-bg-3-1">
            <a:extLst xmlns:a="http://schemas.openxmlformats.org/drawingml/2006/main">
              <a:ext uri="{FF2B5EF4-FFF2-40B4-BE49-F238E27FC236}">
                <a16:creationId xmlns:a16="http://schemas.microsoft.com/office/drawing/2014/main" id="{BE70E28E-039A-42DA-BDA8-8F7C257A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72000"/>
            <a:ext cx="260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49" name="compare-cell-3-1">
            <a:extLst xmlns:a="http://schemas.openxmlformats.org/drawingml/2006/main">
              <a:ext uri="{FF2B5EF4-FFF2-40B4-BE49-F238E27FC236}">
                <a16:creationId xmlns:a16="http://schemas.microsoft.com/office/drawing/2014/main" id="{DA254F20-89C8-437A-8127-9EEE940E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Broad ingress</a:t>
            </a:r>
          </a:p>
        </p:txBody>
      </p:sp>
      <p:sp>
        <p:nvSpPr>
          <p:cNvPr id="50" name="compare-cell-bg-3-2">
            <a:extLst xmlns:a="http://schemas.openxmlformats.org/drawingml/2006/main">
              <a:ext uri="{FF2B5EF4-FFF2-40B4-BE49-F238E27FC236}">
                <a16:creationId xmlns:a16="http://schemas.microsoft.com/office/drawing/2014/main" id="{E2EC7524-4083-4F4A-A5BC-918951F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2152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51" name="compare-cell-3-2">
            <a:extLst xmlns:a="http://schemas.openxmlformats.org/drawingml/2006/main">
              <a:ext uri="{FF2B5EF4-FFF2-40B4-BE49-F238E27FC236}">
                <a16:creationId xmlns:a16="http://schemas.microsoft.com/office/drawing/2014/main" id="{3BC3F822-1F34-4828-AA91-295E5C8E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434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File + line</a:t>
            </a:r>
          </a:p>
        </p:txBody>
      </p:sp>
      <p:sp>
        <p:nvSpPr>
          <p:cNvPr id="52" name="compare-cell-bg-3-3">
            <a:extLst xmlns:a="http://schemas.openxmlformats.org/drawingml/2006/main">
              <a:ext uri="{FF2B5EF4-FFF2-40B4-BE49-F238E27FC236}">
                <a16:creationId xmlns:a16="http://schemas.microsoft.com/office/drawing/2014/main" id="{EC35D422-D526-4C1F-995A-2624101E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72000"/>
            <a:ext cx="236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53" name="compare-cell-3-3">
            <a:extLst xmlns:a="http://schemas.openxmlformats.org/drawingml/2006/main">
              <a:ext uri="{FF2B5EF4-FFF2-40B4-BE49-F238E27FC236}">
                <a16:creationId xmlns:a16="http://schemas.microsoft.com/office/drawing/2014/main" id="{AB8098D8-5979-4CE5-9876-D3799CAB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DevOps</a:t>
            </a:r>
          </a:p>
        </p:txBody>
      </p:sp>
      <p:sp>
        <p:nvSpPr>
          <p:cNvPr id="54" name="compare-cell-bg-3-4">
            <a:extLst xmlns:a="http://schemas.openxmlformats.org/drawingml/2006/main">
              <a:ext uri="{FF2B5EF4-FFF2-40B4-BE49-F238E27FC236}">
                <a16:creationId xmlns:a16="http://schemas.microsoft.com/office/drawing/2014/main" id="{98A2EFE2-677E-46E6-BAC0-05DE303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7200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sp>
        <p:nvSpPr>
          <p:cNvPr id="55" name="compare-cell-3-4">
            <a:extLst xmlns:a="http://schemas.openxmlformats.org/drawingml/2006/main">
              <a:ext uri="{FF2B5EF4-FFF2-40B4-BE49-F238E27FC236}">
                <a16:creationId xmlns:a16="http://schemas.microsoft.com/office/drawing/2014/main" id="{DAF4A54F-4096-494A-ACC8-86039EB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Corrected code</a:t>
            </a:r>
          </a:p>
        </p:txBody>
      </p:sp>
      <p:sp>
        <p:nvSpPr>
          <p:cNvPr id="56" name="compare-prompt">
            <a:extLst xmlns:a="http://schemas.openxmlformats.org/drawingml/2006/main">
              <a:ext uri="{FF2B5EF4-FFF2-40B4-BE49-F238E27FC236}">
                <a16:creationId xmlns:a16="http://schemas.microsoft.com/office/drawing/2014/main" id="{3BE21348-8B6A-4703-BA55-B02E50A6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Audience prompt: Which finding should be fixed first—and what extra context would change your answer?</a:t>
            </a:r>
          </a:p>
        </p:txBody>
      </p:sp>
    </p:spTree>
    <p:extLst>
      <p:ext uri="{BB962C8B-B14F-4D97-AF65-F5344CB8AC3E}">
        <p14:creationId xmlns:p14="http://schemas.microsoft.com/office/powerpoint/2010/main" val="421314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2">
            <a:extLst xmlns:a="http://schemas.openxmlformats.org/drawingml/2006/main">
              <a:ext uri="{FF2B5EF4-FFF2-40B4-BE49-F238E27FC236}">
                <a16:creationId xmlns:a16="http://schemas.microsoft.com/office/drawing/2014/main" id="{1F1E5275-7A1D-42B8-8E4B-3240341F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EVIDENCE PIPELINE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3783BCC-385D-4A83-AC7C-4C1610A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Normalized evidence unifies all four scanners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2197F4B5-9BBA-4583-AE94-51A723DF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5FF07200-AF13-4E5E-A501-8708FF9F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CFD67FFC-8F42-422B-ACDA-5783504D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evidence-image-bg">
            <a:extLst xmlns:a="http://schemas.openxmlformats.org/drawingml/2006/main">
              <a:ext uri="{FF2B5EF4-FFF2-40B4-BE49-F238E27FC236}">
                <a16:creationId xmlns:a16="http://schemas.microsoft.com/office/drawing/2014/main" id="{979BBD3A-20A9-4040-89C1-A7C0119B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74676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1"/>
          </a:solidFill>
          <a:ln xmlns:a="http://schemas.openxmlformats.org/drawingml/2006/main" w="9525">
            <a:solidFill>
              <a:srgbClr val="B9C4C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fca236f104dfd"/>
          <a:stretch xmlns:a="http://schemas.openxmlformats.org/drawingml/2006/main"/>
        </p:blipFill>
        <p:spPr>
          <a:xfrm xmlns:a="http://schemas.openxmlformats.org/drawingml/2006/main">
            <a:off x="931333" y="1866900"/>
            <a:ext cx="6671733" cy="3752850"/>
          </a:xfrm>
          <a:prstGeom xmlns:a="http://schemas.openxmlformats.org/drawingml/2006/main" prst="roundRect">
            <a:avLst>
              <a:gd name="adj" fmla="val 1015"/>
            </a:avLst>
          </a:prstGeom>
        </p:spPr>
      </p:pic>
      <p:sp>
        <p:nvSpPr>
          <p:cNvPr id="8" name="evidence-copy-title">
            <a:extLst xmlns:a="http://schemas.openxmlformats.org/drawingml/2006/main">
              <a:ext uri="{FF2B5EF4-FFF2-40B4-BE49-F238E27FC236}">
                <a16:creationId xmlns:a16="http://schemas.microsoft.com/office/drawing/2014/main" id="{2E65C10E-A87F-41FF-A572-CE0FBBF8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Every useful artifact answers five questions</a:t>
            </a:r>
          </a:p>
        </p:txBody>
      </p:sp>
      <p:sp>
        <p:nvSpPr>
          <p:cNvPr id="9" name="evidence-copy-dot-0">
            <a:extLst xmlns:a="http://schemas.openxmlformats.org/drawingml/2006/main">
              <a:ext uri="{FF2B5EF4-FFF2-40B4-BE49-F238E27FC236}">
                <a16:creationId xmlns:a16="http://schemas.microsoft.com/office/drawing/2014/main" id="{1CF397C6-7F8C-4686-837D-B42D635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0" name="evidence-copy-text-0">
            <a:extLst xmlns:a="http://schemas.openxmlformats.org/drawingml/2006/main">
              <a:ext uri="{FF2B5EF4-FFF2-40B4-BE49-F238E27FC236}">
                <a16:creationId xmlns:a16="http://schemas.microsoft.com/office/drawing/2014/main" id="{B9BA1C74-A6D6-444F-B7F7-B846F4E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Where did it come from?</a:t>
            </a:r>
          </a:p>
        </p:txBody>
      </p:sp>
      <p:sp>
        <p:nvSpPr>
          <p:cNvPr id="11" name="evidence-copy-dot-1">
            <a:extLst xmlns:a="http://schemas.openxmlformats.org/drawingml/2006/main">
              <a:ext uri="{FF2B5EF4-FFF2-40B4-BE49-F238E27FC236}">
                <a16:creationId xmlns:a16="http://schemas.microsoft.com/office/drawing/2014/main" id="{F703E7D0-EEBC-4646-9373-29DC71A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2" name="evidence-copy-text-1">
            <a:extLst xmlns:a="http://schemas.openxmlformats.org/drawingml/2006/main">
              <a:ext uri="{FF2B5EF4-FFF2-40B4-BE49-F238E27FC236}">
                <a16:creationId xmlns:a16="http://schemas.microsoft.com/office/drawing/2014/main" id="{E0AE4C54-F414-47DE-BB16-A4448D09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Which asset does it describe?</a:t>
            </a:r>
          </a:p>
        </p:txBody>
      </p:sp>
      <p:sp>
        <p:nvSpPr>
          <p:cNvPr id="13" name="evidence-copy-dot-2">
            <a:extLst xmlns:a="http://schemas.openxmlformats.org/drawingml/2006/main">
              <a:ext uri="{FF2B5EF4-FFF2-40B4-BE49-F238E27FC236}">
                <a16:creationId xmlns:a16="http://schemas.microsoft.com/office/drawing/2014/main" id="{5327DB43-5C48-41B8-8B80-942AE6FE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4" name="evidence-copy-text-2">
            <a:extLst xmlns:a="http://schemas.openxmlformats.org/drawingml/2006/main">
              <a:ext uri="{FF2B5EF4-FFF2-40B4-BE49-F238E27FC236}">
                <a16:creationId xmlns:a16="http://schemas.microsoft.com/office/drawing/2014/main" id="{1AB285E0-EE3A-45CF-8183-3621C3E0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What proof was retained?</a:t>
            </a:r>
          </a:p>
        </p:txBody>
      </p:sp>
      <p:sp>
        <p:nvSpPr>
          <p:cNvPr id="15" name="evidence-copy-dot-3">
            <a:extLst xmlns:a="http://schemas.openxmlformats.org/drawingml/2006/main">
              <a:ext uri="{FF2B5EF4-FFF2-40B4-BE49-F238E27FC236}">
                <a16:creationId xmlns:a16="http://schemas.microsoft.com/office/drawing/2014/main" id="{C6C1E331-3F37-4586-B2BF-17F81EDA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6" name="evidence-copy-text-3">
            <a:extLst xmlns:a="http://schemas.openxmlformats.org/drawingml/2006/main">
              <a:ext uri="{FF2B5EF4-FFF2-40B4-BE49-F238E27FC236}">
                <a16:creationId xmlns:a16="http://schemas.microsoft.com/office/drawing/2014/main" id="{2CB48312-893F-4F43-B81A-FCA63AD2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Which control or risk does it affect?</a:t>
            </a:r>
          </a:p>
        </p:txBody>
      </p:sp>
      <p:sp>
        <p:nvSpPr>
          <p:cNvPr id="17" name="evidence-copy-dot-4">
            <a:extLst xmlns:a="http://schemas.openxmlformats.org/drawingml/2006/main">
              <a:ext uri="{FF2B5EF4-FFF2-40B4-BE49-F238E27FC236}">
                <a16:creationId xmlns:a16="http://schemas.microsoft.com/office/drawing/2014/main" id="{3C0D26F4-7DB5-42E5-9B07-A173EFBA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8" name="evidence-copy-text-4">
            <a:extLst xmlns:a="http://schemas.openxmlformats.org/drawingml/2006/main">
              <a:ext uri="{FF2B5EF4-FFF2-40B4-BE49-F238E27FC236}">
                <a16:creationId xmlns:a16="http://schemas.microsoft.com/office/drawing/2014/main" id="{19050E62-B5B8-408A-A19A-FC42F957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Who must act next?</a:t>
            </a:r>
          </a:p>
        </p:txBody>
      </p:sp>
    </p:spTree>
    <p:extLst>
      <p:ext uri="{BB962C8B-B14F-4D97-AF65-F5344CB8AC3E}">
        <p14:creationId xmlns:p14="http://schemas.microsoft.com/office/powerpoint/2010/main" val="2087941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3">
            <a:extLst xmlns:a="http://schemas.openxmlformats.org/drawingml/2006/main">
              <a:ext uri="{FF2B5EF4-FFF2-40B4-BE49-F238E27FC236}">
                <a16:creationId xmlns:a16="http://schemas.microsoft.com/office/drawing/2014/main" id="{4D47D3E6-387C-493F-9056-7E3899F5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GOVERNANCE VIEW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756F606-E0ED-4338-9C53-F9E6BBC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GRC turns proof into control status and ownership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435DE7DD-09D5-49C6-93AB-3FBA437F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0E6D0C26-DC0B-4504-A37B-C0B3C52D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D83BE703-DA68-401A-AF91-57E0E8B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grc-copy">
            <a:extLst xmlns:a="http://schemas.openxmlformats.org/drawingml/2006/main">
              <a:ext uri="{FF2B5EF4-FFF2-40B4-BE49-F238E27FC236}">
                <a16:creationId xmlns:a16="http://schemas.microsoft.com/office/drawing/2014/main" id="{75BBE394-33FE-4532-A89C-E4D9D51D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5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Show the selected finding beside its control, evidence count, status, and remediation owner. The governance view should answer what failed, who owns it, and what proves closure.</a:t>
            </a:r>
          </a:p>
        </p:txBody>
      </p:sp>
      <p:sp>
        <p:nvSpPr>
          <p:cNvPr id="7" name="grc-bullets-dot-0">
            <a:extLst xmlns:a="http://schemas.openxmlformats.org/drawingml/2006/main">
              <a:ext uri="{FF2B5EF4-FFF2-40B4-BE49-F238E27FC236}">
                <a16:creationId xmlns:a16="http://schemas.microsoft.com/office/drawing/2014/main" id="{6757BA2A-0AF6-419D-81D0-AE998597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8" name="grc-bullets-text-0">
            <a:extLst xmlns:a="http://schemas.openxmlformats.org/drawingml/2006/main">
              <a:ext uri="{FF2B5EF4-FFF2-40B4-BE49-F238E27FC236}">
                <a16:creationId xmlns:a16="http://schemas.microsoft.com/office/drawing/2014/main" id="{1E7F3091-A024-4C49-8C03-99449701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Control and framework mapping</a:t>
            </a:r>
          </a:p>
        </p:txBody>
      </p:sp>
      <p:sp>
        <p:nvSpPr>
          <p:cNvPr id="9" name="grc-bullets-dot-1">
            <a:extLst xmlns:a="http://schemas.openxmlformats.org/drawingml/2006/main">
              <a:ext uri="{FF2B5EF4-FFF2-40B4-BE49-F238E27FC236}">
                <a16:creationId xmlns:a16="http://schemas.microsoft.com/office/drawing/2014/main" id="{8EDF8AB3-C82B-4D77-B01D-5C1FE67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0" name="grc-bullets-text-1">
            <a:extLst xmlns:a="http://schemas.openxmlformats.org/drawingml/2006/main">
              <a:ext uri="{FF2B5EF4-FFF2-40B4-BE49-F238E27FC236}">
                <a16:creationId xmlns:a16="http://schemas.microsoft.com/office/drawing/2014/main" id="{6549064F-9229-4166-B8A3-532B470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Evidence review and audit history</a:t>
            </a:r>
          </a:p>
        </p:txBody>
      </p:sp>
      <p:sp>
        <p:nvSpPr>
          <p:cNvPr id="11" name="grc-bullets-dot-2">
            <a:extLst xmlns:a="http://schemas.openxmlformats.org/drawingml/2006/main">
              <a:ext uri="{FF2B5EF4-FFF2-40B4-BE49-F238E27FC236}">
                <a16:creationId xmlns:a16="http://schemas.microsoft.com/office/drawing/2014/main" id="{4FDCD2DC-65E8-40A5-9DC4-21C4F318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2" name="grc-bullets-text-2">
            <a:extLst xmlns:a="http://schemas.openxmlformats.org/drawingml/2006/main">
              <a:ext uri="{FF2B5EF4-FFF2-40B4-BE49-F238E27FC236}">
                <a16:creationId xmlns:a16="http://schemas.microsoft.com/office/drawing/2014/main" id="{7E142641-5751-4336-95C1-EB500BA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Risk and remediation tracking</a:t>
            </a:r>
          </a:p>
        </p:txBody>
      </p:sp>
      <p:sp>
        <p:nvSpPr>
          <p:cNvPr id="13" name="grc-bullets-dot-3">
            <a:extLst xmlns:a="http://schemas.openxmlformats.org/drawingml/2006/main">
              <a:ext uri="{FF2B5EF4-FFF2-40B4-BE49-F238E27FC236}">
                <a16:creationId xmlns:a16="http://schemas.microsoft.com/office/drawing/2014/main" id="{DB597F2F-449D-4911-AFDF-78AFF5F9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4" name="grc-bullets-text-3">
            <a:extLst xmlns:a="http://schemas.openxmlformats.org/drawingml/2006/main">
              <a:ext uri="{FF2B5EF4-FFF2-40B4-BE49-F238E27FC236}">
                <a16:creationId xmlns:a16="http://schemas.microsoft.com/office/drawing/2014/main" id="{48CDAA07-8860-4661-BCA6-2BFA733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Leadership and auditor visibility</a:t>
            </a:r>
          </a:p>
        </p:txBody>
      </p:sp>
      <p:sp>
        <p:nvSpPr>
          <p:cNvPr id="15" name="grc-image-bg">
            <a:extLst xmlns:a="http://schemas.openxmlformats.org/drawingml/2006/main">
              <a:ext uri="{FF2B5EF4-FFF2-40B4-BE49-F238E27FC236}">
                <a16:creationId xmlns:a16="http://schemas.microsoft.com/office/drawing/2014/main" id="{810ABCB0-5692-4D15-919E-FDF8B391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33550"/>
            <a:ext cx="7200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11317b54a4c58"/>
          <a:srcRect xmlns:a="http://schemas.openxmlformats.org/drawingml/2006/main" l="0" t="1136" r="0" b="1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0100" y="1885950"/>
            <a:ext cx="6896100" cy="3790950"/>
          </a:xfrm>
          <a:prstGeom xmlns:a="http://schemas.openxmlformats.org/drawingml/2006/main" prst="roundRect">
            <a:avLst>
              <a:gd name="adj" fmla="val 2010"/>
            </a:avLst>
          </a:prstGeom>
        </p:spPr>
      </p:pic>
    </p:spTree>
    <p:extLst>
      <p:ext uri="{BB962C8B-B14F-4D97-AF65-F5344CB8AC3E}">
        <p14:creationId xmlns:p14="http://schemas.microsoft.com/office/powerpoint/2010/main" val="10174570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4">
            <a:extLst xmlns:a="http://schemas.openxmlformats.org/drawingml/2006/main">
              <a:ext uri="{FF2B5EF4-FFF2-40B4-BE49-F238E27FC236}">
                <a16:creationId xmlns:a16="http://schemas.microsoft.com/office/drawing/2014/main" id="{9CBB6552-F194-4FBA-B6B3-EC37E49C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CLOSURE WORKFLOW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8F2C46FE-52F0-4256-B5D4-0C97BF0E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Reason &amp; Act moves findings toward approval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EEC430C7-F984-461A-A22A-B65D71B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1"/>
          </a:solidFill>
          <a:ln xmlns:a="http://schemas.openxmlformats.org/drawingml/2006/main" w="0">
            <a:solidFill>
              <a:srgbClr val="B9C4C1"/>
            </a:solidFill>
            <a:prstDash val="solid"/>
          </a:ln>
        </p:spPr>
      </p:sp>
      <p:sp>
        <p:nvSpPr>
          <p:cNvPr id="4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4CDF34A4-757A-4F60-8101-C720FED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CloudGuard live workshop</a:t>
            </a:r>
          </a:p>
        </p:txBody>
      </p:sp>
      <p:sp>
        <p:nvSpPr>
          <p:cNvPr id="5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96DC5DF4-9C0F-42DC-A498-B814C68B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D6C69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reason-image-bg">
            <a:extLst xmlns:a="http://schemas.openxmlformats.org/drawingml/2006/main">
              <a:ext uri="{FF2B5EF4-FFF2-40B4-BE49-F238E27FC236}">
                <a16:creationId xmlns:a16="http://schemas.microsoft.com/office/drawing/2014/main" id="{59034F1D-474E-4859-8882-14CAF8AF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D"/>
          </a:solidFill>
          <a:ln xmlns:a="http://schemas.openxmlformats.org/drawingml/2006/main" w="0">
            <a:solidFill>
              <a:srgbClr val="10191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d590be76540ec"/>
          <a:srcRect xmlns:a="http://schemas.openxmlformats.org/drawingml/2006/main" l="0" t="1404" r="0" b="1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66900"/>
            <a:ext cx="6934200" cy="3790950"/>
          </a:xfrm>
          <a:prstGeom xmlns:a="http://schemas.openxmlformats.org/drawingml/2006/main" prst="roundRect">
            <a:avLst>
              <a:gd name="adj" fmla="val 2010"/>
            </a:avLst>
          </a:prstGeom>
        </p:spPr>
      </p:pic>
      <p:sp>
        <p:nvSpPr>
          <p:cNvPr id="8" name="reason-step-num-0">
            <a:extLst xmlns:a="http://schemas.openxmlformats.org/drawingml/2006/main">
              <a:ext uri="{FF2B5EF4-FFF2-40B4-BE49-F238E27FC236}">
                <a16:creationId xmlns:a16="http://schemas.microsoft.com/office/drawing/2014/main" id="{543445B0-4811-41B2-AFB9-D11F4853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reason-step-0">
            <a:extLst xmlns:a="http://schemas.openxmlformats.org/drawingml/2006/main">
              <a:ext uri="{FF2B5EF4-FFF2-40B4-BE49-F238E27FC236}">
                <a16:creationId xmlns:a16="http://schemas.microsoft.com/office/drawing/2014/main" id="{29787F2E-3028-41B5-8C41-A07E98FB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0" name="reason-step-num-1">
            <a:extLst xmlns:a="http://schemas.openxmlformats.org/drawingml/2006/main">
              <a:ext uri="{FF2B5EF4-FFF2-40B4-BE49-F238E27FC236}">
                <a16:creationId xmlns:a16="http://schemas.microsoft.com/office/drawing/2014/main" id="{F2DC7485-B536-4750-988F-BA0F8D3A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reason-step-1">
            <a:extLst xmlns:a="http://schemas.openxmlformats.org/drawingml/2006/main">
              <a:ext uri="{FF2B5EF4-FFF2-40B4-BE49-F238E27FC236}">
                <a16:creationId xmlns:a16="http://schemas.microsoft.com/office/drawing/2014/main" id="{D0C408A5-48B9-49B7-A141-B15D411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Prioritize</a:t>
            </a:r>
          </a:p>
        </p:txBody>
      </p:sp>
      <p:sp>
        <p:nvSpPr>
          <p:cNvPr id="12" name="reason-step-num-2">
            <a:extLst xmlns:a="http://schemas.openxmlformats.org/drawingml/2006/main">
              <a:ext uri="{FF2B5EF4-FFF2-40B4-BE49-F238E27FC236}">
                <a16:creationId xmlns:a16="http://schemas.microsoft.com/office/drawing/2014/main" id="{5D4CBD06-050E-4546-A629-4C48CDA6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reason-step-2">
            <a:extLst xmlns:a="http://schemas.openxmlformats.org/drawingml/2006/main">
              <a:ext uri="{FF2B5EF4-FFF2-40B4-BE49-F238E27FC236}">
                <a16:creationId xmlns:a16="http://schemas.microsoft.com/office/drawing/2014/main" id="{93BF6177-33C9-4FD0-B440-5C208177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4" name="reason-step-num-3">
            <a:extLst xmlns:a="http://schemas.openxmlformats.org/drawingml/2006/main">
              <a:ext uri="{FF2B5EF4-FFF2-40B4-BE49-F238E27FC236}">
                <a16:creationId xmlns:a16="http://schemas.microsoft.com/office/drawing/2014/main" id="{DEA2A61E-3EAB-4014-9EB7-D703F9EF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reason-step-3">
            <a:extLst xmlns:a="http://schemas.openxmlformats.org/drawingml/2006/main">
              <a:ext uri="{FF2B5EF4-FFF2-40B4-BE49-F238E27FC236}">
                <a16:creationId xmlns:a16="http://schemas.microsoft.com/office/drawing/2014/main" id="{5D2109B9-89A7-4991-BD8A-E05B358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16" name="reason-step-num-4">
            <a:extLst xmlns:a="http://schemas.openxmlformats.org/drawingml/2006/main">
              <a:ext uri="{FF2B5EF4-FFF2-40B4-BE49-F238E27FC236}">
                <a16:creationId xmlns:a16="http://schemas.microsoft.com/office/drawing/2014/main" id="{F864E53A-A155-4ABB-AE16-1E49DA89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reason-step-4">
            <a:extLst xmlns:a="http://schemas.openxmlformats.org/drawingml/2006/main">
              <a:ext uri="{FF2B5EF4-FFF2-40B4-BE49-F238E27FC236}">
                <a16:creationId xmlns:a16="http://schemas.microsoft.com/office/drawing/2014/main" id="{61365078-926E-4613-B1D5-496F6172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110"/>
                </a:solidFill>
                <a:latin typeface="Helvetica Neue"/>
                <a:ea typeface="Helvetica Neue"/>
                <a:cs typeface="Helvetica Neue"/>
              </a:rPr>
              <a:t>Govern</a:t>
            </a:r>
          </a:p>
        </p:txBody>
      </p:sp>
      <p:sp>
        <p:nvSpPr>
          <p:cNvPr id="18" name="reason-note">
            <a:extLst xmlns:a="http://schemas.openxmlformats.org/drawingml/2006/main">
              <a:ext uri="{FF2B5EF4-FFF2-40B4-BE49-F238E27FC236}">
                <a16:creationId xmlns:a16="http://schemas.microsoft.com/office/drawing/2014/main" id="{25C1D0A8-C95F-4754-960D-ED012ACC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197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5F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C5F4B"/>
                </a:solidFill>
                <a:latin typeface="Helvetica Neue"/>
                <a:ea typeface="Helvetica Neue"/>
                <a:cs typeface="Helvetica Neue"/>
              </a:rPr>
              <a:t>Production-changing automation should remain approval-gated until rollback and guardrails are reviewed.</a:t>
            </a:r>
          </a:p>
        </p:txBody>
      </p:sp>
    </p:spTree>
    <p:extLst>
      <p:ext uri="{BB962C8B-B14F-4D97-AF65-F5344CB8AC3E}">
        <p14:creationId xmlns:p14="http://schemas.microsoft.com/office/powerpoint/2010/main" val="17896873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2B7A9B94-AA79-453F-83F9-4948B390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WORKSHOP COMPLETE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B088CCE-3EA1-48A5-98DF-DDC4A35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57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are done when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proof is complete</a:t>
            </a:r>
          </a:p>
        </p:txBody>
      </p:sp>
      <p:sp>
        <p:nvSpPr>
          <p:cNvPr id="3" name="close-sub">
            <a:extLst xmlns:a="http://schemas.openxmlformats.org/drawingml/2006/main">
              <a:ext uri="{FF2B5EF4-FFF2-40B4-BE49-F238E27FC236}">
                <a16:creationId xmlns:a16="http://schemas.microsoft.com/office/drawing/2014/main" id="{283DF1A5-B551-467E-905A-63181C03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C5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6C5C1"/>
                </a:solidFill>
                <a:latin typeface="Helvetica Neue"/>
                <a:ea typeface="Helvetica Neue"/>
                <a:cs typeface="Helvetica Neue"/>
              </a:rPr>
              <a:t>Before anyone leaves, confirm four things:</a:t>
            </a:r>
          </a:p>
        </p:txBody>
      </p:sp>
      <p:sp>
        <p:nvSpPr>
          <p:cNvPr id="4" name="close-check-0">
            <a:extLst xmlns:a="http://schemas.openxmlformats.org/drawingml/2006/main">
              <a:ext uri="{FF2B5EF4-FFF2-40B4-BE49-F238E27FC236}">
                <a16:creationId xmlns:a16="http://schemas.microsoft.com/office/drawing/2014/main" id="{1C30E267-7C49-4341-9D7E-7051AB91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5" name="close-checkmark-0">
            <a:extLst xmlns:a="http://schemas.openxmlformats.org/drawingml/2006/main">
              <a:ext uri="{FF2B5EF4-FFF2-40B4-BE49-F238E27FC236}">
                <a16:creationId xmlns:a16="http://schemas.microsoft.com/office/drawing/2014/main" id="{D4EE4610-9B94-4658-B5E4-7BF94DF1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6" name="close-text-0">
            <a:extLst xmlns:a="http://schemas.openxmlformats.org/drawingml/2006/main">
              <a:ext uri="{FF2B5EF4-FFF2-40B4-BE49-F238E27FC236}">
                <a16:creationId xmlns:a16="http://schemas.microsoft.com/office/drawing/2014/main" id="{D13243B1-8DA5-4BD6-9A67-531C60B7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four scan jobs have a result or documented fallback</a:t>
            </a:r>
          </a:p>
        </p:txBody>
      </p:sp>
      <p:sp>
        <p:nvSpPr>
          <p:cNvPr id="7" name="close-check-1">
            <a:extLst xmlns:a="http://schemas.openxmlformats.org/drawingml/2006/main">
              <a:ext uri="{FF2B5EF4-FFF2-40B4-BE49-F238E27FC236}">
                <a16:creationId xmlns:a16="http://schemas.microsoft.com/office/drawing/2014/main" id="{3FC80110-D853-4767-827C-708F164E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8" name="close-checkmark-1">
            <a:extLst xmlns:a="http://schemas.openxmlformats.org/drawingml/2006/main">
              <a:ext uri="{FF2B5EF4-FFF2-40B4-BE49-F238E27FC236}">
                <a16:creationId xmlns:a16="http://schemas.microsoft.com/office/drawing/2014/main" id="{BA41003B-971D-4103-97C1-01C0B2E5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close-text-1">
            <a:extLst xmlns:a="http://schemas.openxmlformats.org/drawingml/2006/main">
              <a:ext uri="{FF2B5EF4-FFF2-40B4-BE49-F238E27FC236}">
                <a16:creationId xmlns:a16="http://schemas.microsoft.com/office/drawing/2014/main" id="{D8533E0D-6EE8-45AB-B99A-EBA8B10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finding is mapped to evidence, control, owner, and action</a:t>
            </a:r>
          </a:p>
        </p:txBody>
      </p:sp>
      <p:sp>
        <p:nvSpPr>
          <p:cNvPr id="10" name="close-check-2">
            <a:extLst xmlns:a="http://schemas.openxmlformats.org/drawingml/2006/main">
              <a:ext uri="{FF2B5EF4-FFF2-40B4-BE49-F238E27FC236}">
                <a16:creationId xmlns:a16="http://schemas.microsoft.com/office/drawing/2014/main" id="{72E4829B-0894-4D1C-8A47-66F8A344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1" name="close-checkmark-2">
            <a:extLst xmlns:a="http://schemas.openxmlformats.org/drawingml/2006/main">
              <a:ext uri="{FF2B5EF4-FFF2-40B4-BE49-F238E27FC236}">
                <a16:creationId xmlns:a16="http://schemas.microsoft.com/office/drawing/2014/main" id="{70AEA458-D486-4408-8D03-17F6CCA8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close-text-2">
            <a:extLst xmlns:a="http://schemas.openxmlformats.org/drawingml/2006/main">
              <a:ext uri="{FF2B5EF4-FFF2-40B4-BE49-F238E27FC236}">
                <a16:creationId xmlns:a16="http://schemas.microsoft.com/office/drawing/2014/main" id="{28A94FCA-4B8C-4A49-811E-A8046395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AWS, GCP, and Kubernetes lab resources are destroyed</a:t>
            </a:r>
          </a:p>
        </p:txBody>
      </p:sp>
      <p:sp>
        <p:nvSpPr>
          <p:cNvPr id="13" name="close-check-3">
            <a:extLst xmlns:a="http://schemas.openxmlformats.org/drawingml/2006/main">
              <a:ext uri="{FF2B5EF4-FFF2-40B4-BE49-F238E27FC236}">
                <a16:creationId xmlns:a16="http://schemas.microsoft.com/office/drawing/2014/main" id="{2D33B52D-C2EB-48AC-BEA2-E114C1FA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4" name="close-checkmark-3">
            <a:extLst xmlns:a="http://schemas.openxmlformats.org/drawingml/2006/main">
              <a:ext uri="{FF2B5EF4-FFF2-40B4-BE49-F238E27FC236}">
                <a16:creationId xmlns:a16="http://schemas.microsoft.com/office/drawing/2014/main" id="{3F1F8AF0-7C8F-4554-8264-F7E288D8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339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5" name="close-text-3">
            <a:extLst xmlns:a="http://schemas.openxmlformats.org/drawingml/2006/main">
              <a:ext uri="{FF2B5EF4-FFF2-40B4-BE49-F238E27FC236}">
                <a16:creationId xmlns:a16="http://schemas.microsoft.com/office/drawing/2014/main" id="{E93E3724-6969-4331-B4F7-01B5E874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events and the final rescan or validation proof are retained</a:t>
            </a:r>
          </a:p>
        </p:txBody>
      </p:sp>
      <p:sp>
        <p:nvSpPr>
          <p:cNvPr id="16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FE7C4ECA-FADF-4602-81F0-C8516D8C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4900"/>
            <a:ext cx="3276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6AC"/>
          </a:solidFill>
          <a:ln xmlns:a="http://schemas.openxmlformats.org/drawingml/2006/main" w="0">
            <a:solidFill>
              <a:srgbClr val="49D6AC"/>
            </a:solidFill>
            <a:prstDash val="solid"/>
          </a:ln>
        </p:spPr>
      </p:sp>
      <p:sp>
        <p:nvSpPr>
          <p:cNvPr id="17" name="close-callout-label">
            <a:extLst xmlns:a="http://schemas.openxmlformats.org/drawingml/2006/main">
              <a:ext uri="{FF2B5EF4-FFF2-40B4-BE49-F238E27FC236}">
                <a16:creationId xmlns:a16="http://schemas.microsoft.com/office/drawing/2014/main" id="{6C5CA4C8-3A37-4728-96DD-40675306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THE STORY</a:t>
            </a:r>
          </a:p>
        </p:txBody>
      </p:sp>
      <p:sp>
        <p:nvSpPr>
          <p:cNvPr id="18" name="close-callout-main">
            <a:extLst xmlns:a="http://schemas.openxmlformats.org/drawingml/2006/main">
              <a:ext uri="{FF2B5EF4-FFF2-40B4-BE49-F238E27FC236}">
                <a16:creationId xmlns:a16="http://schemas.microsoft.com/office/drawing/2014/main" id="{E30FA3E5-35E7-49EB-82DC-092B3761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66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Weakness</a:t>
            </a:r>
          </a:p>
          <a:p xmlns:a="http://schemas.openxmlformats.org/drawingml/2006/main">
            <a:pPr algn="l">
              <a:def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→ finding</a:t>
            </a:r>
          </a:p>
          <a:p xmlns:a="http://schemas.openxmlformats.org/drawingml/2006/main">
            <a:pPr algn="l">
              <a:def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→ evidence</a:t>
            </a:r>
          </a:p>
          <a:p xmlns:a="http://schemas.openxmlformats.org/drawingml/2006/main">
            <a:pPr algn="l">
              <a:def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→ owner</a:t>
            </a:r>
          </a:p>
          <a:p xmlns:a="http://schemas.openxmlformats.org/drawingml/2006/main">
            <a:pPr algn="l">
              <a:def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→ fix</a:t>
            </a:r>
          </a:p>
          <a:p xmlns:a="http://schemas.openxmlformats.org/drawingml/2006/main">
            <a:pPr algn="l">
              <a:def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91D"/>
                </a:solidFill>
                <a:latin typeface="Helvetica Neue"/>
                <a:ea typeface="Helvetica Neue"/>
                <a:cs typeface="Helvetica Neue"/>
              </a:rPr>
              <a:t>→ closure</a:t>
            </a:r>
          </a:p>
        </p:txBody>
      </p:sp>
      <p:sp>
        <p:nvSpPr>
          <p:cNvPr id="19" name="close-final">
            <a:extLst xmlns:a="http://schemas.openxmlformats.org/drawingml/2006/main">
              <a:ext uri="{FF2B5EF4-FFF2-40B4-BE49-F238E27FC236}">
                <a16:creationId xmlns:a16="http://schemas.microsoft.com/office/drawing/2014/main" id="{1F823218-92C5-4534-B943-A4465EED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9D6AC"/>
                </a:solidFill>
                <a:latin typeface="Helvetica Neue"/>
                <a:ea typeface="Helvetica Neue"/>
                <a:cs typeface="Helvetica Neue"/>
              </a:rPr>
              <a:t>A dashboard reports risk. A workshop teaches people how to close it.</a:t>
            </a:r>
          </a:p>
        </p:txBody>
      </p:sp>
    </p:spTree>
    <p:extLst>
      <p:ext uri="{BB962C8B-B14F-4D97-AF65-F5344CB8AC3E}">
        <p14:creationId xmlns:p14="http://schemas.microsoft.com/office/powerpoint/2010/main" val="1000873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2026-09-01T02:57:00.0070000Z</dcterms:created>
  <dcterms:modified xsi:type="dcterms:W3CDTF">2026-09-01T02:57:00.0070000Z</dcterms:modified>
</coreProperties>
</file>