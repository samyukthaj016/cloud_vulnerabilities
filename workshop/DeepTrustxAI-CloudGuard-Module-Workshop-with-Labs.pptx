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5ee497837c4c81" /><Relationship Type="http://schemas.openxmlformats.org/officeDocument/2006/relationships/extended-properties" Target="/docProps/app.xml" Id="Rd591c8fe7f664bdd" /><Relationship Type="http://schemas.openxmlformats.org/officeDocument/2006/relationships/officeDocument" Target="/ppt/presentation.xml" Id="Rf72038bdeb0543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c889c4dfd9460b"/>
  </p:sldMasterIdLst>
  <p:notesMasterIdLst>
    <p:notesMasterId xmlns:r="http://schemas.openxmlformats.org/officeDocument/2006/relationships" r:id="Rd85881029b104bb8"/>
  </p:notesMasterIdLst>
  <p:sldIdLst>
    <p:sldId xmlns:r="http://schemas.openxmlformats.org/officeDocument/2006/relationships" id="256" r:id="Rca17e128e6ab4dc5"/>
    <p:sldId xmlns:r="http://schemas.openxmlformats.org/officeDocument/2006/relationships" id="257" r:id="R6c3e49c499d44d0a"/>
    <p:sldId xmlns:r="http://schemas.openxmlformats.org/officeDocument/2006/relationships" id="258" r:id="Rded9b973f1f8440c"/>
    <p:sldId xmlns:r="http://schemas.openxmlformats.org/officeDocument/2006/relationships" id="259" r:id="Re687b05c4e2c4fa7"/>
    <p:sldId xmlns:r="http://schemas.openxmlformats.org/officeDocument/2006/relationships" id="260" r:id="R57489480182a454c"/>
    <p:sldId xmlns:r="http://schemas.openxmlformats.org/officeDocument/2006/relationships" id="261" r:id="Rce01b3d28acf48b1"/>
    <p:sldId xmlns:r="http://schemas.openxmlformats.org/officeDocument/2006/relationships" id="262" r:id="Rc9ad10b6003c4d7d"/>
    <p:sldId xmlns:r="http://schemas.openxmlformats.org/officeDocument/2006/relationships" id="263" r:id="R3f55f38a2b9c4fd3"/>
    <p:sldId xmlns:r="http://schemas.openxmlformats.org/officeDocument/2006/relationships" id="264" r:id="R31a2158e98024fc5"/>
    <p:sldId xmlns:r="http://schemas.openxmlformats.org/officeDocument/2006/relationships" id="265" r:id="R1a2e611173284d47"/>
    <p:sldId xmlns:r="http://schemas.openxmlformats.org/officeDocument/2006/relationships" id="266" r:id="Rc7e25255e74a4228"/>
    <p:sldId xmlns:r="http://schemas.openxmlformats.org/officeDocument/2006/relationships" id="267" r:id="R18f26a88e75e4458"/>
    <p:sldId xmlns:r="http://schemas.openxmlformats.org/officeDocument/2006/relationships" id="268" r:id="Rf9fadf24b6c647c5"/>
    <p:sldId xmlns:r="http://schemas.openxmlformats.org/officeDocument/2006/relationships" id="269" r:id="R19e6615bde7f4df7"/>
    <p:sldId xmlns:r="http://schemas.openxmlformats.org/officeDocument/2006/relationships" id="270" r:id="Ref1b3174b7a1432e"/>
    <p:sldId xmlns:r="http://schemas.openxmlformats.org/officeDocument/2006/relationships" id="271" r:id="R01b83b81a63f42dd"/>
    <p:sldId xmlns:r="http://schemas.openxmlformats.org/officeDocument/2006/relationships" id="272" r:id="Rf496f9456d9a45e9"/>
    <p:sldId xmlns:r="http://schemas.openxmlformats.org/officeDocument/2006/relationships" id="273" r:id="R68edc2bc841742f7"/>
    <p:sldId xmlns:r="http://schemas.openxmlformats.org/officeDocument/2006/relationships" id="274" r:id="R4f3bde84fd9344fb"/>
    <p:sldId xmlns:r="http://schemas.openxmlformats.org/officeDocument/2006/relationships" id="275" r:id="R4d651b3627854778"/>
    <p:sldId xmlns:r="http://schemas.openxmlformats.org/officeDocument/2006/relationships" id="276" r:id="R42ea336b43e540fe"/>
    <p:sldId xmlns:r="http://schemas.openxmlformats.org/officeDocument/2006/relationships" id="277" r:id="R16a7cd5bf4ee47ba"/>
    <p:sldId xmlns:r="http://schemas.openxmlformats.org/officeDocument/2006/relationships" id="278" r:id="Re8c616d3ae9d4185"/>
    <p:sldId xmlns:r="http://schemas.openxmlformats.org/officeDocument/2006/relationships" id="279" r:id="Rdb3636a74cf14481"/>
    <p:sldId xmlns:r="http://schemas.openxmlformats.org/officeDocument/2006/relationships" id="280" r:id="Rcc825167c9324de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155245ef624d89" /><Relationship Type="http://schemas.openxmlformats.org/officeDocument/2006/relationships/slideMaster" Target="/ppt/slideMasters/slideMaster1.xml" Id="R75c889c4dfd9460b" /><Relationship Type="http://schemas.openxmlformats.org/officeDocument/2006/relationships/notesMaster" Target="/ppt/notesMasters/notesMaster1.xml" Id="Rd85881029b104bb8" /><Relationship Type="http://schemas.openxmlformats.org/officeDocument/2006/relationships/presProps" Target="/ppt/presProps.xml" Id="R7327485295694c65" /><Relationship Type="http://schemas.openxmlformats.org/officeDocument/2006/relationships/tableStyles" Target="/ppt/tableStyles.xml" Id="R4848f85f430c4dd9" /><Relationship Type="http://schemas.openxmlformats.org/officeDocument/2006/relationships/slide" Target="/ppt/slides/slide1.xml" Id="Rca17e128e6ab4dc5" /><Relationship Type="http://schemas.openxmlformats.org/officeDocument/2006/relationships/slide" Target="/ppt/slides/slide2.xml" Id="R6c3e49c499d44d0a" /><Relationship Type="http://schemas.openxmlformats.org/officeDocument/2006/relationships/slide" Target="/ppt/slides/slide3.xml" Id="Rded9b973f1f8440c" /><Relationship Type="http://schemas.openxmlformats.org/officeDocument/2006/relationships/slide" Target="/ppt/slides/slide4.xml" Id="Re687b05c4e2c4fa7" /><Relationship Type="http://schemas.openxmlformats.org/officeDocument/2006/relationships/slide" Target="/ppt/slides/slide5.xml" Id="R57489480182a454c" /><Relationship Type="http://schemas.openxmlformats.org/officeDocument/2006/relationships/slide" Target="/ppt/slides/slide6.xml" Id="Rce01b3d28acf48b1" /><Relationship Type="http://schemas.openxmlformats.org/officeDocument/2006/relationships/slide" Target="/ppt/slides/slide7.xml" Id="Rc9ad10b6003c4d7d" /><Relationship Type="http://schemas.openxmlformats.org/officeDocument/2006/relationships/slide" Target="/ppt/slides/slide8.xml" Id="R3f55f38a2b9c4fd3" /><Relationship Type="http://schemas.openxmlformats.org/officeDocument/2006/relationships/slide" Target="/ppt/slides/slide9.xml" Id="R31a2158e98024fc5" /><Relationship Type="http://schemas.openxmlformats.org/officeDocument/2006/relationships/slide" Target="/ppt/slides/slide10.xml" Id="R1a2e611173284d47" /><Relationship Type="http://schemas.openxmlformats.org/officeDocument/2006/relationships/slide" Target="/ppt/slides/slide11.xml" Id="Rc7e25255e74a4228" /><Relationship Type="http://schemas.openxmlformats.org/officeDocument/2006/relationships/slide" Target="/ppt/slides/slide12.xml" Id="R18f26a88e75e4458" /><Relationship Type="http://schemas.openxmlformats.org/officeDocument/2006/relationships/slide" Target="/ppt/slides/slide13.xml" Id="Rf9fadf24b6c647c5" /><Relationship Type="http://schemas.openxmlformats.org/officeDocument/2006/relationships/slide" Target="/ppt/slides/slide14.xml" Id="R19e6615bde7f4df7" /><Relationship Type="http://schemas.openxmlformats.org/officeDocument/2006/relationships/slide" Target="/ppt/slides/slide15.xml" Id="Ref1b3174b7a1432e" /><Relationship Type="http://schemas.openxmlformats.org/officeDocument/2006/relationships/slide" Target="/ppt/slides/slide16.xml" Id="R01b83b81a63f42dd" /><Relationship Type="http://schemas.openxmlformats.org/officeDocument/2006/relationships/slide" Target="/ppt/slides/slide17.xml" Id="Rf496f9456d9a45e9" /><Relationship Type="http://schemas.openxmlformats.org/officeDocument/2006/relationships/slide" Target="/ppt/slides/slide18.xml" Id="R68edc2bc841742f7" /><Relationship Type="http://schemas.openxmlformats.org/officeDocument/2006/relationships/slide" Target="/ppt/slides/slide19.xml" Id="R4f3bde84fd9344fb" /><Relationship Type="http://schemas.openxmlformats.org/officeDocument/2006/relationships/slide" Target="/ppt/slides/slide20.xml" Id="R4d651b3627854778" /><Relationship Type="http://schemas.openxmlformats.org/officeDocument/2006/relationships/slide" Target="/ppt/slides/slide21.xml" Id="R42ea336b43e540fe" /><Relationship Type="http://schemas.openxmlformats.org/officeDocument/2006/relationships/slide" Target="/ppt/slides/slide22.xml" Id="R16a7cd5bf4ee47ba" /><Relationship Type="http://schemas.openxmlformats.org/officeDocument/2006/relationships/slide" Target="/ppt/slides/slide23.xml" Id="Re8c616d3ae9d4185" /><Relationship Type="http://schemas.openxmlformats.org/officeDocument/2006/relationships/slide" Target="/ppt/slides/slide24.xml" Id="Rdb3636a74cf14481" /><Relationship Type="http://schemas.openxmlformats.org/officeDocument/2006/relationships/slide" Target="/ppt/slides/slide25.xml" Id="Rcc825167c9324d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d48848712b4d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06e54dd1e0f45bb" /><Relationship Type="http://schemas.openxmlformats.org/officeDocument/2006/relationships/notesMaster" Target="/ppt/notesMasters/notesMaster1.xml" Id="R48af7f467381437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8f393161cc4620" /><Relationship Type="http://schemas.openxmlformats.org/officeDocument/2006/relationships/notesMaster" Target="/ppt/notesMasters/notesMaster1.xml" Id="R8a7875d64dd1416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1723275011042ce" /><Relationship Type="http://schemas.openxmlformats.org/officeDocument/2006/relationships/notesMaster" Target="/ppt/notesMasters/notesMaster1.xml" Id="R7bd58f8183494b1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74451aa0c8a43ff" /><Relationship Type="http://schemas.openxmlformats.org/officeDocument/2006/relationships/notesMaster" Target="/ppt/notesMasters/notesMaster1.xml" Id="Rf8d2083b3af44a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4d0324cd0c94125" /><Relationship Type="http://schemas.openxmlformats.org/officeDocument/2006/relationships/notesMaster" Target="/ppt/notesMasters/notesMaster1.xml" Id="Ra21fbb07b2a64df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923e8145700426c" /><Relationship Type="http://schemas.openxmlformats.org/officeDocument/2006/relationships/notesMaster" Target="/ppt/notesMasters/notesMaster1.xml" Id="Rad501ac09f474e4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2bad6e763804b1c" /><Relationship Type="http://schemas.openxmlformats.org/officeDocument/2006/relationships/notesMaster" Target="/ppt/notesMasters/notesMaster1.xml" Id="R44c0c114004c43a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6a9135c14cf47c0" /><Relationship Type="http://schemas.openxmlformats.org/officeDocument/2006/relationships/notesMaster" Target="/ppt/notesMasters/notesMaster1.xml" Id="R4b911457ad56453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de6026ca0f74ee0" /><Relationship Type="http://schemas.openxmlformats.org/officeDocument/2006/relationships/notesMaster" Target="/ppt/notesMasters/notesMaster1.xml" Id="R54e7a940a617416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c73c9bd415d448d" /><Relationship Type="http://schemas.openxmlformats.org/officeDocument/2006/relationships/notesMaster" Target="/ppt/notesMasters/notesMaster1.xml" Id="R476b9a5335a9455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75507ee05bb4029" /><Relationship Type="http://schemas.openxmlformats.org/officeDocument/2006/relationships/notesMaster" Target="/ppt/notesMasters/notesMaster1.xml" Id="R2b4934f7e82240a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95fb417888f4d8c" /><Relationship Type="http://schemas.openxmlformats.org/officeDocument/2006/relationships/notesMaster" Target="/ppt/notesMasters/notesMaster1.xml" Id="Re3248bd846c64ea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d19fc31c7fd45d8" /><Relationship Type="http://schemas.openxmlformats.org/officeDocument/2006/relationships/notesMaster" Target="/ppt/notesMasters/notesMaster1.xml" Id="Rfbb4cae2a7ab46b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8075ecc68dd49e4" /><Relationship Type="http://schemas.openxmlformats.org/officeDocument/2006/relationships/notesMaster" Target="/ppt/notesMasters/notesMaster1.xml" Id="R84bb3cd2af6641d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96fb38fccf5492f" /><Relationship Type="http://schemas.openxmlformats.org/officeDocument/2006/relationships/notesMaster" Target="/ppt/notesMasters/notesMaster1.xml" Id="R8f8d87ba07a349f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e3bb908eeed4720" /><Relationship Type="http://schemas.openxmlformats.org/officeDocument/2006/relationships/notesMaster" Target="/ppt/notesMasters/notesMaster1.xml" Id="Rdd92e0a5b9cb40a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41c59cc086d4c03" /><Relationship Type="http://schemas.openxmlformats.org/officeDocument/2006/relationships/notesMaster" Target="/ppt/notesMasters/notesMaster1.xml" Id="Rcd9babd6710c43a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f687ad1ba394243" /><Relationship Type="http://schemas.openxmlformats.org/officeDocument/2006/relationships/notesMaster" Target="/ppt/notesMasters/notesMaster1.xml" Id="R6fdd3762ee40499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f3293bf9b914996" /><Relationship Type="http://schemas.openxmlformats.org/officeDocument/2006/relationships/notesMaster" Target="/ppt/notesMasters/notesMaster1.xml" Id="R456f2068fd00425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21ed22358f94cc9" /><Relationship Type="http://schemas.openxmlformats.org/officeDocument/2006/relationships/notesMaster" Target="/ppt/notesMasters/notesMaster1.xml" Id="Re660b41d35e8406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a82ca53f16b4201" /><Relationship Type="http://schemas.openxmlformats.org/officeDocument/2006/relationships/notesMaster" Target="/ppt/notesMasters/notesMaster1.xml" Id="R49e7bceb95984f3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0fbbc7db3cc4b60" /><Relationship Type="http://schemas.openxmlformats.org/officeDocument/2006/relationships/notesMaster" Target="/ppt/notesMasters/notesMaster1.xml" Id="Rfcee07e92871493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f15e12a353840e6" /><Relationship Type="http://schemas.openxmlformats.org/officeDocument/2006/relationships/notesMaster" Target="/ppt/notesMasters/notesMaster1.xml" Id="R00117895724e42e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e7db62f741f4870" /><Relationship Type="http://schemas.openxmlformats.org/officeDocument/2006/relationships/notesMaster" Target="/ppt/notesMasters/notesMaster1.xml" Id="Rb2f2a883b7ee48e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bfcb7ee41c2408b" /><Relationship Type="http://schemas.openxmlformats.org/officeDocument/2006/relationships/notesMaster" Target="/ppt/notesMasters/notesMaster1.xml" Id="Raadb5f3b8c0048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</a:t>
            </a:r>
          </a:p>
          <a:p xmlns:a="http://schemas.openxmlformats.org/drawingml/2006/main">
            <a:r>
              <a:t>Welcome participants, confirm that all activity stays inside approved lab environments, and introduce the four scanner streams.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/Users/anjali/Cloud_Vulnerabilities/workshop/marp-demo/images/deeptrustxai-logo.png</a:t>
            </a:r>
          </a:p>
          <a:p xmlns:a="http://schemas.openxmlformats.org/drawingml/2006/main">
            <a:r>
              <a:t>- /Users/anjali/Cloud_Vulnerabilities/output/playwright/cloudguard-portal.png</a:t>
            </a:r>
          </a:p>
          <a:p xmlns:a="http://schemas.openxmlformats.org/drawingml/2006/main">
            <a:r>
              <a:t>- /Users/anjali/Cloud_Vulnerabilities/README.md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 minutes</a:t>
            </a:r>
          </a:p>
          <a:p xmlns:a="http://schemas.openxmlformats.org/drawingml/2006/main">
            <a:r>
              <a:t>Set the success criteria before discussing tools. Ask participants to keep one finding throughout the session and use it in the final evidence workflow.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/Users/anjali/Cloud_Vulnerabilities/workshop/deeptrustxai-cloud-security-module-wise-syllabus.md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</a:t>
            </a:r>
          </a:p>
          <a:p xmlns:a="http://schemas.openxmlformats.org/drawingml/2006/main">
            <a:r>
              <a:t>Explain the pace and the warm-live approach. The workshop remains within two and a half hours if each exercise stops at its stated completion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/Users/anjali/Cloud_Vulnerabilities/workshop/deeptrustxai-cloud-security-module-wise-syllabus.md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</a:t>
            </a:r>
          </a:p>
          <a:p xmlns:a="http://schemas.openxmlformats.org/drawingml/2006/main">
            <a:r>
              <a:t>Introduce the first module and state that the workshop uses vulnerable resources inside isolated environments.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/Users/anjali/Cloud_Vulnerabilities/grc-platform/cloudguard-test-labs/README.md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 minutes</a:t>
            </a:r>
          </a:p>
          <a:p xmlns:a="http://schemas.openxmlformats.org/drawingml/2006/main">
            <a:r>
              <a:t>Trace one scan from the portal to a worker, then to evidence storage and the GRC view. Avoid discussing deployment internals that do not affect the workshop.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/Users/anjali/Cloud_Vulnerabilities/handoff/grc-compliance-governance/setup-dokploy-cloudguard-stack.png</a:t>
            </a:r>
          </a:p>
          <a:p xmlns:a="http://schemas.openxmlformats.org/drawingml/2006/main">
            <a:r>
              <a:t>- /Users/anjali/Cloud_Vulnerabilities/docs/sandbox-lab-workflow.md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7 minutes</a:t>
            </a:r>
          </a:p>
          <a:p xmlns:a="http://schemas.openxmlformats.org/drawingml/2006/main">
            <a:r>
              <a:t>Confirm written authorization, stop conditions, and who owns cleanup. Make it explicit that the lab creates insecure resources, not insecure production accounts.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/Users/anjali/Cloud_Vulnerabilities/grc-platform/cloudguard-test-labs/README.md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7 minutes</a:t>
            </a:r>
          </a:p>
          <a:p xmlns:a="http://schemas.openxmlformats.org/drawingml/2006/main">
            <a:r>
              <a:t>Assign one assistant to watch scan jobs and one person to track cleanup. Open all required pages in separate tabs before the workshop begins.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/Users/anjali/Cloud_Vulnerabilities/docs/sandbox-lab-workflow.md</a:t>
            </a:r>
          </a:p>
          <a:p xmlns:a="http://schemas.openxmlformats.org/drawingml/2006/main">
            <a:r>
              <a:t>- /Users/anjali/Cloud_Vulnerabilities/output/playwright/cloudguard-portal.png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</a:t>
            </a:r>
          </a:p>
          <a:p xmlns:a="http://schemas.openxmlformats.org/drawingml/2006/main">
            <a:r>
              <a:t>Tell participants that each demonstration follows the same sequence so they can compare scanner behavior.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/Users/anjali/Cloud_Vulnerabilities/grc-platform/cloudguard-test-labs/README.md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 minutes</a:t>
            </a:r>
          </a:p>
          <a:p xmlns:a="http://schemas.openxmlformats.org/drawingml/2006/main">
            <a:r>
              <a:t>Explain the fallback policy. The audience should still see a live launch even when the completed result supplies the detailed walkthrough.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/Users/anjali/Cloud_Vulnerabilities/docs/sandbox-lab-workflow.md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12 minutes</a:t>
            </a:r>
          </a:p>
          <a:p xmlns:a="http://schemas.openxmlformats.org/drawingml/2006/main">
            <a:r>
              <a:t>Use the pre-provisioned AWS lab. Show the account boundary before launching the scan, then select one finding that can later be mapped to GRC.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/Users/anjali/Cloud_Vulnerabilities/grc-platform/cloudguard-test-labs/aws/main.tf</a:t>
            </a:r>
          </a:p>
          <a:p xmlns:a="http://schemas.openxmlformats.org/drawingml/2006/main">
            <a:r>
              <a:t>- /Users/anjali/Cloud_Vulnerabilities/grc-platform/cloudguard-test-labs/README.md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10 minutes</a:t>
            </a:r>
          </a:p>
          <a:p xmlns:a="http://schemas.openxmlformats.org/drawingml/2006/main">
            <a:r>
              <a:t>If the optional test principal is configured, show the broad editor binding. Otherwise focus on storage, firewall, and VM posture.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/Users/anjali/Cloud_Vulnerabilities/grc-platform/cloudguard-test-labs/gcp/main.tf</a:t>
            </a:r>
          </a:p>
          <a:p xmlns:a="http://schemas.openxmlformats.org/drawingml/2006/main">
            <a:r>
              <a:t>- /Users/anjali/Cloud_Vulnerabilities/grc-platform/cloudguard-test-labs/README.md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12 minutes</a:t>
            </a:r>
          </a:p>
          <a:p xmlns:a="http://schemas.openxmlformats.org/drawingml/2006/main">
            <a:r>
              <a:t>Keep the workload benign even though its configuration is unsafe. Do not place real secrets or data inside the namespace.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/Users/anjali/Cloud_Vulnerabilities/grc-platform/cloudguard-test-labs/kubernetes/vulnerable-k8s.yaml</a:t>
            </a:r>
          </a:p>
          <a:p xmlns:a="http://schemas.openxmlformats.org/drawingml/2006/main">
            <a:r>
              <a:t>- /Users/anjali/Cloud_Vulnerabilities/grc-platform/cloudguard-test-labs/README.md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10 minutes</a:t>
            </a:r>
          </a:p>
          <a:p xmlns:a="http://schemas.openxmlformats.org/drawingml/2006/main">
            <a:r>
              <a:t>Do not apply the IaC fixtures. Show the original file, the scanner finding with line evidence, one corrected setting, and the clean or reduced rescan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/Users/anjali/Cloud_Vulnerabilities/grc-platform/cloudguard-test-labs/iac/terraform/vulnerable-aws.tf</a:t>
            </a:r>
          </a:p>
          <a:p xmlns:a="http://schemas.openxmlformats.org/drawingml/2006/main">
            <a:r>
              <a:t>- /Users/anjali/Cloud_Vulnerabilities/grc-platform/cloudguard-test-labs/README.md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 minutes</a:t>
            </a:r>
          </a:p>
          <a:p xmlns:a="http://schemas.openxmlformats.org/drawingml/2006/main">
            <a:r>
              <a:t>Ask the audience to prioritize one finding. Require them to state the asset value, exposure path, identity impact, and available closure proof.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/Users/anjali/Cloud_Vulnerabilities/workshop/deeptrustxai-cloud-security-module-wise-syllabus.md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</a:t>
            </a:r>
          </a:p>
          <a:p xmlns:a="http://schemas.openxmlformats.org/drawingml/2006/main">
            <a:r>
              <a:t>Split participants into pairs if access is limited. State the completion check for each exercise before the timer starts.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/Users/anjali/Cloud_Vulnerabilities/grc-platform/cloudguard-test-labs/README.md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11 minutes</a:t>
            </a:r>
          </a:p>
          <a:p xmlns:a="http://schemas.openxmlformats.org/drawingml/2006/main">
            <a:r>
              <a:t>The facilitator should pre-provision the AWS lab. Participants scan and analyze it; they should not create new accounts or make destructive changes.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/Users/anjali/Cloud_Vulnerabilities/grc-platform/cloudguard-test-labs/aws/main.tf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11 minutes</a:t>
            </a:r>
          </a:p>
          <a:p xmlns:a="http://schemas.openxmlformats.org/drawingml/2006/main">
            <a:r>
              <a:t>Use only the instructor-provided project. If cloud quota or latency blocks the live job, use the completed scan while keeping the fresh job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/Users/anjali/Cloud_Vulnerabilities/grc-platform/cloudguard-test-labs/gcp/main.tf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12 minutes</a:t>
            </a:r>
          </a:p>
          <a:p xmlns:a="http://schemas.openxmlformats.org/drawingml/2006/main">
            <a:r>
              <a:t>Apply only to a disposable cluster. Keep the payload benign, verify the namespace name before deletion, and capture cleanup output.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/Users/anjali/Cloud_Vulnerabilities/grc-platform/cloudguard-test-labs/kubernetes/vulnerable-k8s.yaml</a:t>
            </a:r>
          </a:p>
          <a:p xmlns:a="http://schemas.openxmlformats.org/drawingml/2006/main">
            <a:r>
              <a:t>- /Users/anjali/Cloud_Vulnerabilities/grc-platform/cloudguard-test-labs/README.md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8 minutes</a:t>
            </a:r>
          </a:p>
          <a:p xmlns:a="http://schemas.openxmlformats.org/drawingml/2006/main">
            <a:r>
              <a:t>This exercise does not need cloud credentials. If time is short, use it as the mandatory participant exercise and treat the live cloud labs as guided demonstrations.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/Users/anjali/Cloud_Vulnerabilities/grc-platform/cloudguard-test-labs/iac</a:t>
            </a:r>
          </a:p>
          <a:p xmlns:a="http://schemas.openxmlformats.org/drawingml/2006/main">
            <a:r>
              <a:t>- /Users/anjali/Cloud_Vulnerabilities/grc-platform/cloudguard-test-labs/README.md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</a:t>
            </a:r>
          </a:p>
          <a:p xmlns:a="http://schemas.openxmlformats.org/drawingml/2006/main">
            <a:r>
              <a:t>Collect one record from each group. Use the selected records in Module 4 to demonstrate GRC mapping and closure.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/Users/anjali/Cloud_Vulnerabilities/workshop/deeptrustxai-cloud-security-module-wise-syllabus.md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</a:t>
            </a:r>
          </a:p>
          <a:p xmlns:a="http://schemas.openxmlformats.org/drawingml/2006/main">
            <a:r>
              <a:t>Use the lab report-out as the input for the governance walkthrough.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/Users/anjali/Cloud_Vulnerabilities/docs/grc-platform-merge.md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 minutes</a:t>
            </a:r>
          </a:p>
          <a:p xmlns:a="http://schemas.openxmlformats.org/drawingml/2006/main">
            <a:r>
              <a:t>Take one lab finding and identify its source, asset, proof, control mapping, and owner. Emphasize checksum and lineage when evidence moves through a connector.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/Users/anjali/Cloud_Vulnerabilities/handoff/grc-compliance-governance/architecture-grc-evidence-flow.png</a:t>
            </a:r>
          </a:p>
          <a:p xmlns:a="http://schemas.openxmlformats.org/drawingml/2006/main">
            <a:r>
              <a:t>- /Users/anjali/Cloud_Vulnerabilities/docs/grc-platform-merge.md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 minutes</a:t>
            </a:r>
          </a:p>
          <a:p xmlns:a="http://schemas.openxmlformats.org/drawingml/2006/main">
            <a:r>
              <a:t>Map the selected lab finding to a control. Assign the owner and identify the evidence or rescan needed to change the control status.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/Users/anjali/Cloud_Vulnerabilities/grc-platform/frontend/e2e/__snapshots__/visual.spec.ts/controls-list.png</a:t>
            </a:r>
          </a:p>
          <a:p xmlns:a="http://schemas.openxmlformats.org/drawingml/2006/main">
            <a:r>
              <a:t>- /Users/anjali/Cloud_Vulnerabilities/docs/grc-platform-merge.md</a:t>
            </a:r>
          </a:p>
          <a:p xmlns:a="http://schemas.openxmlformats.org/drawingml/2006/main">
            <a:r>
              <a:t>- /Users/anjali/Cloud_Vulnerabilities/grc-platform/README.md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 minutes</a:t>
            </a:r>
          </a:p>
          <a:p xmlns:a="http://schemas.openxmlformats.org/drawingml/2006/main">
            <a:r>
              <a:t>Demonstrate validation and approval. Do not execute production-changing automation during the workshop.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/Users/anjali/Cloud_Vulnerabilities/output/playwright/cloudguard-reason-act.png</a:t>
            </a:r>
          </a:p>
          <a:p xmlns:a="http://schemas.openxmlformats.org/drawingml/2006/main">
            <a:r>
              <a:t>- /Users/anjali/Cloud_Vulnerabilities/docs/vendor-neutral-reason-act-architecture.md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 minutes</a:t>
            </a:r>
          </a:p>
          <a:p xmlns:a="http://schemas.openxmlformats.org/drawingml/2006/main">
            <a:r>
              <a:t>Verify cleanup before questions. Assign any unresolved cleanup action to a named owner and keep the session open until the owner confirms completion.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/Users/anjali/Cloud_Vulnerabilities/grc-platform/cloudguard-test-labs/README.md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81996468a8469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b941cd31794126" /><Relationship Type="http://schemas.openxmlformats.org/officeDocument/2006/relationships/slideLayout" Target="/ppt/slideLayouts/slideLayout1.xml" Id="R47ba9881dc2b42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ba9881dc2b42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60aca234074dce" /><Relationship Type="http://schemas.openxmlformats.org/officeDocument/2006/relationships/image" Target="/ppt/media/image.png" Id="Rf744ee3da3e64255" /><Relationship Type="http://schemas.openxmlformats.org/officeDocument/2006/relationships/image" Target="/ppt/media/image2.png" Id="Rd449424d3c7a495e" /><Relationship Type="http://schemas.openxmlformats.org/officeDocument/2006/relationships/notesSlide" Target="/ppt/notesSlides/notesSlide1.xml" Id="Rd1c995bff7ae4e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4e32e745e24193" /><Relationship Type="http://schemas.openxmlformats.org/officeDocument/2006/relationships/image" Target="/ppt/media/image3.png" Id="Rd47ef95b129147d0" /><Relationship Type="http://schemas.openxmlformats.org/officeDocument/2006/relationships/notesSlide" Target="/ppt/notesSlides/notesSlide2.xml" Id="R2836bf92d6b945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e4428a75a34473" /><Relationship Type="http://schemas.openxmlformats.org/officeDocument/2006/relationships/image" Target="/ppt/media/image4.png" Id="R09b84d978c6c4e17" /><Relationship Type="http://schemas.openxmlformats.org/officeDocument/2006/relationships/notesSlide" Target="/ppt/notesSlides/notesSlide3.xml" Id="R0a478acfc89b456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620d6e8c1b4080" /><Relationship Type="http://schemas.openxmlformats.org/officeDocument/2006/relationships/image" Target="/ppt/media/image5.png" Id="Rd187ef2ba72a4ffd" /><Relationship Type="http://schemas.openxmlformats.org/officeDocument/2006/relationships/notesSlide" Target="/ppt/notesSlides/notesSlide4.xml" Id="R94005eb4a4bc4d0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3e39c993c74090" /><Relationship Type="http://schemas.openxmlformats.org/officeDocument/2006/relationships/image" Target="/ppt/media/image6.png" Id="Re3211f7287954750" /><Relationship Type="http://schemas.openxmlformats.org/officeDocument/2006/relationships/image" Target="/ppt/media/image7.png" Id="Ra687ad9973924b67" /><Relationship Type="http://schemas.openxmlformats.org/officeDocument/2006/relationships/notesSlide" Target="/ppt/notesSlides/notesSlide5.xml" Id="Raca14f78af224b4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d9bc5e694b4f64" /><Relationship Type="http://schemas.openxmlformats.org/officeDocument/2006/relationships/image" Target="/ppt/media/image8.png" Id="R9b4bf297fe704845" /><Relationship Type="http://schemas.openxmlformats.org/officeDocument/2006/relationships/notesSlide" Target="/ppt/notesSlides/notesSlide6.xml" Id="Rb6f9f2af1fca47e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92e901d7254a97" /><Relationship Type="http://schemas.openxmlformats.org/officeDocument/2006/relationships/image" Target="/ppt/media/image9.png" Id="R7bb828b35f8d4e36" /><Relationship Type="http://schemas.openxmlformats.org/officeDocument/2006/relationships/notesSlide" Target="/ppt/notesSlides/notesSlide7.xml" Id="R6a4e9704df6b429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0cbb57f9824867" /><Relationship Type="http://schemas.openxmlformats.org/officeDocument/2006/relationships/image" Target="/ppt/media/image10.png" Id="R19ed8ecb47c04f8c" /><Relationship Type="http://schemas.openxmlformats.org/officeDocument/2006/relationships/notesSlide" Target="/ppt/notesSlides/notesSlide8.xml" Id="Rbf9e62cebc964cd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ec3285677a4c26" /><Relationship Type="http://schemas.openxmlformats.org/officeDocument/2006/relationships/image" Target="/ppt/media/image11.png" Id="R5728128503134ba8" /><Relationship Type="http://schemas.openxmlformats.org/officeDocument/2006/relationships/notesSlide" Target="/ppt/notesSlides/notesSlide9.xml" Id="R46212f0b957447d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1059e0e4a04114" /><Relationship Type="http://schemas.openxmlformats.org/officeDocument/2006/relationships/image" Target="/ppt/media/image12.png" Id="R9da6c5605bb74e6b" /><Relationship Type="http://schemas.openxmlformats.org/officeDocument/2006/relationships/notesSlide" Target="/ppt/notesSlides/notesSlide10.xml" Id="R8978954d45f44b6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08724cc63a44e2" /><Relationship Type="http://schemas.openxmlformats.org/officeDocument/2006/relationships/image" Target="/ppt/media/image13.png" Id="R6c2d9ef70fb245b3" /><Relationship Type="http://schemas.openxmlformats.org/officeDocument/2006/relationships/notesSlide" Target="/ppt/notesSlides/notesSlide11.xml" Id="R95e4f5c39ccb45d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e3c13164ea4d1e" /><Relationship Type="http://schemas.openxmlformats.org/officeDocument/2006/relationships/image" Target="/ppt/media/image14.png" Id="Rd2ec53e0d3184314" /><Relationship Type="http://schemas.openxmlformats.org/officeDocument/2006/relationships/notesSlide" Target="/ppt/notesSlides/notesSlide12.xml" Id="Rc0d8c991743c48f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e03a81dc3b49c9" /><Relationship Type="http://schemas.openxmlformats.org/officeDocument/2006/relationships/image" Target="/ppt/media/image15.png" Id="R07df944934db488e" /><Relationship Type="http://schemas.openxmlformats.org/officeDocument/2006/relationships/notesSlide" Target="/ppt/notesSlides/notesSlide13.xml" Id="R33df1d3f09c14f9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a4251c5c0b4369" /><Relationship Type="http://schemas.openxmlformats.org/officeDocument/2006/relationships/image" Target="/ppt/media/image16.png" Id="Rbb322331ee4a4240" /><Relationship Type="http://schemas.openxmlformats.org/officeDocument/2006/relationships/notesSlide" Target="/ppt/notesSlides/notesSlide14.xml" Id="Rd455e7e2d5cd479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5cfb00ec7a4e85" /><Relationship Type="http://schemas.openxmlformats.org/officeDocument/2006/relationships/image" Target="/ppt/media/image17.png" Id="R78c3f9d41ef34b55" /><Relationship Type="http://schemas.openxmlformats.org/officeDocument/2006/relationships/notesSlide" Target="/ppt/notesSlides/notesSlide15.xml" Id="Red22c2e702514db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648ca697e94060" /><Relationship Type="http://schemas.openxmlformats.org/officeDocument/2006/relationships/image" Target="/ppt/media/image18.png" Id="R7feced7b27c945c9" /><Relationship Type="http://schemas.openxmlformats.org/officeDocument/2006/relationships/notesSlide" Target="/ppt/notesSlides/notesSlide16.xml" Id="R624c527cffe4490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2d59dcb0344d67" /><Relationship Type="http://schemas.openxmlformats.org/officeDocument/2006/relationships/image" Target="/ppt/media/image19.png" Id="Rc50ba88e7cd84516" /><Relationship Type="http://schemas.openxmlformats.org/officeDocument/2006/relationships/notesSlide" Target="/ppt/notesSlides/notesSlide17.xml" Id="R132901e308d6485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4c10e621614ebb" /><Relationship Type="http://schemas.openxmlformats.org/officeDocument/2006/relationships/image" Target="/ppt/media/image20.png" Id="R5e3af704e20341f5" /><Relationship Type="http://schemas.openxmlformats.org/officeDocument/2006/relationships/notesSlide" Target="/ppt/notesSlides/notesSlide18.xml" Id="R017c330dde22490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b82502c5ae494c" /><Relationship Type="http://schemas.openxmlformats.org/officeDocument/2006/relationships/image" Target="/ppt/media/image21.png" Id="R1bd7b2dd9f8945f0" /><Relationship Type="http://schemas.openxmlformats.org/officeDocument/2006/relationships/notesSlide" Target="/ppt/notesSlides/notesSlide19.xml" Id="R0583186a980a4c1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f028737c664918" /><Relationship Type="http://schemas.openxmlformats.org/officeDocument/2006/relationships/image" Target="/ppt/media/image22.png" Id="Ra177ed2ad37d414d" /><Relationship Type="http://schemas.openxmlformats.org/officeDocument/2006/relationships/notesSlide" Target="/ppt/notesSlides/notesSlide20.xml" Id="Rfdfba5b193ee4e6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7a1e56d164406b" /><Relationship Type="http://schemas.openxmlformats.org/officeDocument/2006/relationships/image" Target="/ppt/media/image23.png" Id="R9245156862de44e0" /><Relationship Type="http://schemas.openxmlformats.org/officeDocument/2006/relationships/notesSlide" Target="/ppt/notesSlides/notesSlide21.xml" Id="Rf8152edb9f0949e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82b0f57ab44a65" /><Relationship Type="http://schemas.openxmlformats.org/officeDocument/2006/relationships/image" Target="/ppt/media/image24.png" Id="Ra2f8adbf677f4831" /><Relationship Type="http://schemas.openxmlformats.org/officeDocument/2006/relationships/image" Target="/ppt/media/image25.png" Id="R82905c0626084b1b" /><Relationship Type="http://schemas.openxmlformats.org/officeDocument/2006/relationships/notesSlide" Target="/ppt/notesSlides/notesSlide22.xml" Id="R02cd206a206a4fa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2eb98b698f4df3" /><Relationship Type="http://schemas.openxmlformats.org/officeDocument/2006/relationships/image" Target="/ppt/media/image26.png" Id="R037a10ff2c4e4d23" /><Relationship Type="http://schemas.openxmlformats.org/officeDocument/2006/relationships/image" Target="/ppt/media/image27.png" Id="R4e0f830893ae4a7c" /><Relationship Type="http://schemas.openxmlformats.org/officeDocument/2006/relationships/notesSlide" Target="/ppt/notesSlides/notesSlide23.xml" Id="R0fa7f7ddd50e438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3b26495f834f31" /><Relationship Type="http://schemas.openxmlformats.org/officeDocument/2006/relationships/image" Target="/ppt/media/image28.png" Id="R50afae1148814978" /><Relationship Type="http://schemas.openxmlformats.org/officeDocument/2006/relationships/image" Target="/ppt/media/image29.png" Id="Rbe214d8867104047" /><Relationship Type="http://schemas.openxmlformats.org/officeDocument/2006/relationships/notesSlide" Target="/ppt/notesSlides/notesSlide24.xml" Id="R1f28b7c4a0b64ec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304dba714e4921" /><Relationship Type="http://schemas.openxmlformats.org/officeDocument/2006/relationships/image" Target="/ppt/media/image30.png" Id="R44c2338949f64147" /><Relationship Type="http://schemas.openxmlformats.org/officeDocument/2006/relationships/notesSlide" Target="/ppt/notesSlides/notesSlide25.xml" Id="R9665ff557b95462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D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44ee3da3e64255"/>
          <a:stretch xmlns:a="http://schemas.openxmlformats.org/drawingml/2006/main"/>
        </p:blipFill>
        <p:spPr>
          <a:xfrm xmlns:a="http://schemas.openxmlformats.org/drawingml/2006/main">
            <a:off x="647700" y="49530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2" name="cover-brand">
            <a:extLst xmlns:a="http://schemas.openxmlformats.org/drawingml/2006/main">
              <a:ext uri="{FF2B5EF4-FFF2-40B4-BE49-F238E27FC236}">
                <a16:creationId xmlns:a16="http://schemas.microsoft.com/office/drawing/2014/main" id="{D91640AB-EDAB-45A5-A3AF-C6706853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6762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DeepTrustxAI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277EC76-38F0-4A44-BE62-740938DCC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5143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CloudGuard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Security Workshop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48308903-5E5A-4A03-9668-7D01CDF50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485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rPr>
              <a:t>Four scanner demonstrations with separate practical labs</a:t>
            </a:r>
          </a:p>
        </p:txBody>
      </p:sp>
      <p:sp>
        <p:nvSpPr>
          <p:cNvPr id="5" name="cover-meta">
            <a:extLst xmlns:a="http://schemas.openxmlformats.org/drawingml/2006/main">
              <a:ext uri="{FF2B5EF4-FFF2-40B4-BE49-F238E27FC236}">
                <a16:creationId xmlns:a16="http://schemas.microsoft.com/office/drawing/2014/main" id="{15B42D9C-EF86-45D9-B1D6-150DEA67C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958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7CB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B7CBC5"/>
                </a:solidFill>
                <a:latin typeface="Helvetica Neue"/>
                <a:ea typeface="Helvetica Neue"/>
                <a:cs typeface="Helvetica Neue"/>
              </a:rPr>
              <a:t>AWS   GCP   Kubernetes   Infrastructure as Code</a:t>
            </a:r>
          </a:p>
        </p:txBody>
      </p:sp>
      <p:sp>
        <p:nvSpPr>
          <p:cNvPr id="6" name="cover-duration">
            <a:extLst xmlns:a="http://schemas.openxmlformats.org/drawingml/2006/main">
              <a:ext uri="{FF2B5EF4-FFF2-40B4-BE49-F238E27FC236}">
                <a16:creationId xmlns:a16="http://schemas.microsoft.com/office/drawing/2014/main" id="{55718EF9-9C0F-4F79-BA68-6900267A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911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6A3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6A39C"/>
                </a:solidFill>
                <a:latin typeface="Helvetica Neue"/>
                <a:ea typeface="Helvetica Neue"/>
                <a:cs typeface="Helvetica Neue"/>
              </a:rPr>
              <a:t>Facilitator deck  |  150 minutes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49424d3c7a495e"/>
          <a:srcRect xmlns:a="http://schemas.openxmlformats.org/drawingml/2006/main" l="23281" t="0" r="2328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495300"/>
            <a:ext cx="5429250" cy="5715000"/>
          </a:xfrm>
          <a:prstGeom xmlns:a="http://schemas.openxmlformats.org/drawingml/2006/main" prst="roundRect">
            <a:avLst>
              <a:gd name="adj" fmla="val 2456"/>
            </a:avLst>
          </a:prstGeom>
        </p:spPr>
      </p:pic>
    </p:spTree>
    <p:extLst>
      <p:ext uri="{BB962C8B-B14F-4D97-AF65-F5344CB8AC3E}">
        <p14:creationId xmlns:p14="http://schemas.microsoft.com/office/powerpoint/2010/main" val="2656701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ection-2">
            <a:extLst xmlns:a="http://schemas.openxmlformats.org/drawingml/2006/main">
              <a:ext uri="{FF2B5EF4-FFF2-40B4-BE49-F238E27FC236}">
                <a16:creationId xmlns:a16="http://schemas.microsoft.com/office/drawing/2014/main" id="{07292598-67A8-487E-8F80-F571D51F6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rPr>
              <a:t>WORKSHOP OPENING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6FD325CB-61C3-4456-894D-2E7E23689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Learning outcomes</a:t>
            </a:r>
          </a:p>
        </p:txBody>
      </p:sp>
      <p:sp>
        <p:nvSpPr>
          <p:cNvPr id="3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8B32BD89-1CDE-4819-B5C0-8B9A627A1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5"/>
          </a:solidFill>
          <a:ln xmlns:a="http://schemas.openxmlformats.org/drawingml/2006/main" w="0">
            <a:solidFill>
              <a:srgbClr val="B9C9C5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7ef95b129147d0"/>
          <a:stretch xmlns:a="http://schemas.openxmlformats.org/drawingml/2006/main"/>
        </p:blipFill>
        <p:spPr>
          <a:xfrm xmlns:a="http://schemas.openxmlformats.org/drawingml/2006/main">
            <a:off x="10858500" y="2667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brand-name-2">
            <a:extLst xmlns:a="http://schemas.openxmlformats.org/drawingml/2006/main">
              <a:ext uri="{FF2B5EF4-FFF2-40B4-BE49-F238E27FC236}">
                <a16:creationId xmlns:a16="http://schemas.microsoft.com/office/drawing/2014/main" id="{85620A05-7924-43C2-8E5C-BD7FBB73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DeepTrustxAI</a:t>
            </a:r>
          </a:p>
        </p:txBody>
      </p:sp>
      <p:sp>
        <p:nvSpPr>
          <p:cNvPr id="6" name="footer-2">
            <a:extLst xmlns:a="http://schemas.openxmlformats.org/drawingml/2006/main">
              <a:ext uri="{FF2B5EF4-FFF2-40B4-BE49-F238E27FC236}">
                <a16:creationId xmlns:a16="http://schemas.microsoft.com/office/drawing/2014/main" id="{0180FD82-CF53-4692-95FC-57C90EE74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CloudGuard workshop</a:t>
            </a:r>
          </a:p>
        </p:txBody>
      </p:sp>
      <p:sp>
        <p:nvSpPr>
          <p:cNvPr id="7" name="page-2">
            <a:extLst xmlns:a="http://schemas.openxmlformats.org/drawingml/2006/main">
              <a:ext uri="{FF2B5EF4-FFF2-40B4-BE49-F238E27FC236}">
                <a16:creationId xmlns:a16="http://schemas.microsoft.com/office/drawing/2014/main" id="{ECD8407C-B270-4E2D-A1F6-79F0A33D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8" name="outcome-lead">
            <a:extLst xmlns:a="http://schemas.openxmlformats.org/drawingml/2006/main">
              <a:ext uri="{FF2B5EF4-FFF2-40B4-BE49-F238E27FC236}">
                <a16:creationId xmlns:a16="http://schemas.microsoft.com/office/drawing/2014/main" id="{A1A4F70F-BA3C-4904-A055-DD522AF2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Participants finish with a complete finding story, not only a scan report.</a:t>
            </a:r>
          </a:p>
        </p:txBody>
      </p:sp>
      <p:sp>
        <p:nvSpPr>
          <p:cNvPr id="9" name="outcome-left-title">
            <a:extLst xmlns:a="http://schemas.openxmlformats.org/drawingml/2006/main">
              <a:ext uri="{FF2B5EF4-FFF2-40B4-BE49-F238E27FC236}">
                <a16:creationId xmlns:a16="http://schemas.microsoft.com/office/drawing/2014/main" id="{A0C158B3-A0D9-497F-938E-C27B15BB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098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rPr>
              <a:t>Participants will be able to</a:t>
            </a:r>
          </a:p>
        </p:txBody>
      </p:sp>
      <p:sp>
        <p:nvSpPr>
          <p:cNvPr id="10" name="outcome-left">
            <a:extLst xmlns:a="http://schemas.openxmlformats.org/drawingml/2006/main">
              <a:ext uri="{FF2B5EF4-FFF2-40B4-BE49-F238E27FC236}">
                <a16:creationId xmlns:a16="http://schemas.microsoft.com/office/drawing/2014/main" id="{53B240F0-F2A7-4E45-A4CE-8443DC75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67050"/>
            <a:ext cx="4953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Explain what each scanner checks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Identify unsafe identity, storage, network, workload, and IaC settings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Collect evidence without exposing real credentials or data</a:t>
            </a:r>
          </a:p>
        </p:txBody>
      </p:sp>
      <p:sp>
        <p:nvSpPr>
          <p:cNvPr id="11" name="outcome-divider">
            <a:extLst xmlns:a="http://schemas.openxmlformats.org/drawingml/2006/main">
              <a:ext uri="{FF2B5EF4-FFF2-40B4-BE49-F238E27FC236}">
                <a16:creationId xmlns:a16="http://schemas.microsoft.com/office/drawing/2014/main" id="{9D16A6AE-63FC-445A-8E7D-7ABA742DB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28900"/>
            <a:ext cx="9525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5"/>
          </a:solidFill>
          <a:ln xmlns:a="http://schemas.openxmlformats.org/drawingml/2006/main" w="0">
            <a:solidFill>
              <a:srgbClr val="B9C9C5"/>
            </a:solidFill>
            <a:prstDash val="solid"/>
          </a:ln>
        </p:spPr>
      </p:sp>
      <p:sp>
        <p:nvSpPr>
          <p:cNvPr id="12" name="outcome-right-title">
            <a:extLst xmlns:a="http://schemas.openxmlformats.org/drawingml/2006/main">
              <a:ext uri="{FF2B5EF4-FFF2-40B4-BE49-F238E27FC236}">
                <a16:creationId xmlns:a16="http://schemas.microsoft.com/office/drawing/2014/main" id="{4402A408-1181-4236-B456-C1236C18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098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rPr>
              <a:t>Workshop output</a:t>
            </a:r>
          </a:p>
        </p:txBody>
      </p:sp>
      <p:sp>
        <p:nvSpPr>
          <p:cNvPr id="13" name="outcome-right">
            <a:extLst xmlns:a="http://schemas.openxmlformats.org/drawingml/2006/main">
              <a:ext uri="{FF2B5EF4-FFF2-40B4-BE49-F238E27FC236}">
                <a16:creationId xmlns:a16="http://schemas.microsoft.com/office/drawing/2014/main" id="{DBADA734-93C4-4B44-966E-33C8EE43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67050"/>
            <a:ext cx="4572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One finding mapped to an asset and control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A named remediation owner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A cleanup event or rescan that proves closure</a:t>
            </a:r>
          </a:p>
        </p:txBody>
      </p:sp>
    </p:spTree>
    <p:extLst>
      <p:ext uri="{BB962C8B-B14F-4D97-AF65-F5344CB8AC3E}">
        <p14:creationId xmlns:p14="http://schemas.microsoft.com/office/powerpoint/2010/main" val="21117405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3">
            <a:extLst xmlns:a="http://schemas.openxmlformats.org/drawingml/2006/main">
              <a:ext uri="{FF2B5EF4-FFF2-40B4-BE49-F238E27FC236}">
                <a16:creationId xmlns:a16="http://schemas.microsoft.com/office/drawing/2014/main" id="{9F79B4EC-80CD-4F9E-8BFB-659830270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rPr>
              <a:t>WORKSHOP OPENING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3DF09798-DFBD-416D-9CA9-C6768143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150-minute agenda</a:t>
            </a:r>
          </a:p>
        </p:txBody>
      </p:sp>
      <p:sp>
        <p:nvSpPr>
          <p:cNvPr id="3" name="title-rule-3">
            <a:extLst xmlns:a="http://schemas.openxmlformats.org/drawingml/2006/main">
              <a:ext uri="{FF2B5EF4-FFF2-40B4-BE49-F238E27FC236}">
                <a16:creationId xmlns:a16="http://schemas.microsoft.com/office/drawing/2014/main" id="{063DE7B7-4C26-489D-AE9E-69BE9AE2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5"/>
          </a:solidFill>
          <a:ln xmlns:a="http://schemas.openxmlformats.org/drawingml/2006/main" w="0">
            <a:solidFill>
              <a:srgbClr val="B9C9C5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b84d978c6c4e17"/>
          <a:stretch xmlns:a="http://schemas.openxmlformats.org/drawingml/2006/main"/>
        </p:blipFill>
        <p:spPr>
          <a:xfrm xmlns:a="http://schemas.openxmlformats.org/drawingml/2006/main">
            <a:off x="10858500" y="2667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brand-name-3">
            <a:extLst xmlns:a="http://schemas.openxmlformats.org/drawingml/2006/main">
              <a:ext uri="{FF2B5EF4-FFF2-40B4-BE49-F238E27FC236}">
                <a16:creationId xmlns:a16="http://schemas.microsoft.com/office/drawing/2014/main" id="{52812D58-564C-4F32-9AEF-9FEA8851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DeepTrustxAI</a:t>
            </a:r>
          </a:p>
        </p:txBody>
      </p:sp>
      <p:sp>
        <p:nvSpPr>
          <p:cNvPr id="6" name="footer-3">
            <a:extLst xmlns:a="http://schemas.openxmlformats.org/drawingml/2006/main">
              <a:ext uri="{FF2B5EF4-FFF2-40B4-BE49-F238E27FC236}">
                <a16:creationId xmlns:a16="http://schemas.microsoft.com/office/drawing/2014/main" id="{FC6D51CD-9060-49B0-BBEF-D1A63B61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CloudGuard workshop</a:t>
            </a:r>
          </a:p>
        </p:txBody>
      </p:sp>
      <p:sp>
        <p:nvSpPr>
          <p:cNvPr id="7" name="page-3">
            <a:extLst xmlns:a="http://schemas.openxmlformats.org/drawingml/2006/main">
              <a:ext uri="{FF2B5EF4-FFF2-40B4-BE49-F238E27FC236}">
                <a16:creationId xmlns:a16="http://schemas.microsoft.com/office/drawing/2014/main" id="{84F548C8-E5CB-4719-A661-6C18FE94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33400" y="1752600"/>
          <a:ext xmlns:a="http://schemas.openxmlformats.org/drawingml/2006/main" cx="111252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1428750"/>
                <a:gridCol w="7886700"/>
              </a:tblGrid>
              <a:tr h="585107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Block</a:t>
                      </a:r>
                    </a:p>
                  </a:txBody>
                  <a:tcPr marL="91440" marR="91440" marT="45720" marB="45720">
                    <a:solidFill>
                      <a:srgbClr val="0B1D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Time</a:t>
                      </a:r>
                    </a:p>
                  </a:txBody>
                  <a:tcPr marL="91440" marR="91440" marT="45720" marB="45720">
                    <a:solidFill>
                      <a:srgbClr val="0B1D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Focus</a:t>
                      </a:r>
                    </a:p>
                  </a:txBody>
                  <a:tcPr marL="91440" marR="91440" marT="45720" marB="45720">
                    <a:solidFill>
                      <a:srgbClr val="0B1D19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Opening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 min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Outcomes, scope, and lab rules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Module 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 min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Foundations and safe lab design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Module 2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55 min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Live demonstrations of all four scanners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Module 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45 min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Separate practical lab exercises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Module 4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15 min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Evidence, GRC, and approval workflow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Closing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 min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Cleanup proof, questions, and next steps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95890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D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87ef2ba72a4ffd"/>
          <a:stretch xmlns:a="http://schemas.openxmlformats.org/drawingml/2006/main"/>
        </p:blipFill>
        <p:spPr>
          <a:xfrm xmlns:a="http://schemas.openxmlformats.org/drawingml/2006/main">
            <a:off x="10858500" y="2667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2" name="brand-name-4">
            <a:extLst xmlns:a="http://schemas.openxmlformats.org/drawingml/2006/main">
              <a:ext uri="{FF2B5EF4-FFF2-40B4-BE49-F238E27FC236}">
                <a16:creationId xmlns:a16="http://schemas.microsoft.com/office/drawing/2014/main" id="{34888FB2-52F8-41F1-A4CB-532E76AD2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DeepTrustxAI</a:t>
            </a:r>
          </a:p>
        </p:txBody>
      </p:sp>
      <p:sp>
        <p:nvSpPr>
          <p:cNvPr id="3" name="module-label-4">
            <a:extLst xmlns:a="http://schemas.openxmlformats.org/drawingml/2006/main">
              <a:ext uri="{FF2B5EF4-FFF2-40B4-BE49-F238E27FC236}">
                <a16:creationId xmlns:a16="http://schemas.microsoft.com/office/drawing/2014/main" id="{33C615C3-918A-4851-ABC9-869F7D46E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rPr>
              <a:t>MODULE 1</a:t>
            </a:r>
          </a:p>
        </p:txBody>
      </p:sp>
      <p:sp>
        <p:nvSpPr>
          <p:cNvPr id="4" name="module-title-4">
            <a:extLst xmlns:a="http://schemas.openxmlformats.org/drawingml/2006/main">
              <a:ext uri="{FF2B5EF4-FFF2-40B4-BE49-F238E27FC236}">
                <a16:creationId xmlns:a16="http://schemas.microsoft.com/office/drawing/2014/main" id="{22CD1005-D90F-4797-8810-1C6371CEC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838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Foundations and</a:t>
            </a:r>
          </a:p>
          <a:p xmlns:a="http://schemas.openxmlformats.org/drawingml/2006/main">
            <a:pPr algn="l">
              <a:def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safe lab design</a:t>
            </a:r>
          </a:p>
        </p:txBody>
      </p:sp>
      <p:sp>
        <p:nvSpPr>
          <p:cNvPr id="5" name="module-purpose-4">
            <a:extLst xmlns:a="http://schemas.openxmlformats.org/drawingml/2006/main">
              <a:ext uri="{FF2B5EF4-FFF2-40B4-BE49-F238E27FC236}">
                <a16:creationId xmlns:a16="http://schemas.microsoft.com/office/drawing/2014/main" id="{E6030877-F66A-4C08-8694-DD542DA4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95700"/>
            <a:ext cx="723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8CBC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B8CBC6"/>
                </a:solidFill>
                <a:latin typeface="Helvetica Neue"/>
                <a:ea typeface="Helvetica Neue"/>
                <a:cs typeface="Helvetica Neue"/>
              </a:rPr>
              <a:t>Understand the platform, the authorization boundary, and the facilitator setup before any scan begins.</a:t>
            </a:r>
          </a:p>
        </p:txBody>
      </p:sp>
      <p:sp>
        <p:nvSpPr>
          <p:cNvPr id="6" name="module-time-4">
            <a:extLst xmlns:a="http://schemas.openxmlformats.org/drawingml/2006/main">
              <a:ext uri="{FF2B5EF4-FFF2-40B4-BE49-F238E27FC236}">
                <a16:creationId xmlns:a16="http://schemas.microsoft.com/office/drawing/2014/main" id="{1635B303-93D3-4BA3-A34B-7D159C26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6250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rPr>
              <a:t>20 minutes</a:t>
            </a:r>
          </a:p>
        </p:txBody>
      </p:sp>
      <p:sp>
        <p:nvSpPr>
          <p:cNvPr id="7" name="module-rule-4">
            <a:extLst xmlns:a="http://schemas.openxmlformats.org/drawingml/2006/main">
              <a:ext uri="{FF2B5EF4-FFF2-40B4-BE49-F238E27FC236}">
                <a16:creationId xmlns:a16="http://schemas.microsoft.com/office/drawing/2014/main" id="{4632A2D8-B265-45E6-AC4C-58C1AC48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91150"/>
            <a:ext cx="1076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56E"/>
          </a:solidFill>
          <a:ln xmlns:a="http://schemas.openxmlformats.org/drawingml/2006/main" w="0">
            <a:solidFill>
              <a:srgbClr val="11856E"/>
            </a:solidFill>
            <a:prstDash val="solid"/>
          </a:ln>
        </p:spPr>
      </p:sp>
      <p:sp>
        <p:nvSpPr>
          <p:cNvPr id="8" name="module-footer-4">
            <a:extLst xmlns:a="http://schemas.openxmlformats.org/drawingml/2006/main">
              <a:ext uri="{FF2B5EF4-FFF2-40B4-BE49-F238E27FC236}">
                <a16:creationId xmlns:a16="http://schemas.microsoft.com/office/drawing/2014/main" id="{34B59EEC-B430-4D7D-9D43-7EDF10A88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483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6A3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86A39C"/>
                </a:solidFill>
                <a:latin typeface="Helvetica Neue"/>
                <a:ea typeface="Helvetica Neue"/>
                <a:cs typeface="Helvetica Neue"/>
              </a:rPr>
              <a:t>DeepTrustxAI CloudGuard workshop</a:t>
            </a:r>
          </a:p>
        </p:txBody>
      </p:sp>
      <p:sp>
        <p:nvSpPr>
          <p:cNvPr id="9" name="module-page-4">
            <a:extLst xmlns:a="http://schemas.openxmlformats.org/drawingml/2006/main">
              <a:ext uri="{FF2B5EF4-FFF2-40B4-BE49-F238E27FC236}">
                <a16:creationId xmlns:a16="http://schemas.microsoft.com/office/drawing/2014/main" id="{4EE5171A-9501-4BF2-9E5A-193506F96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8483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6A3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86A39C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368496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ection-5">
            <a:extLst xmlns:a="http://schemas.openxmlformats.org/drawingml/2006/main">
              <a:ext uri="{FF2B5EF4-FFF2-40B4-BE49-F238E27FC236}">
                <a16:creationId xmlns:a16="http://schemas.microsoft.com/office/drawing/2014/main" id="{CDA5274D-BD8E-45C5-A2AA-29640422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rPr>
              <a:t>MODULE 1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2861C42A-9C1B-4805-BE51-2498D03E7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CloudGuard platform architecture</a:t>
            </a:r>
          </a:p>
        </p:txBody>
      </p:sp>
      <p:sp>
        <p:nvSpPr>
          <p:cNvPr id="3" name="title-rule-5">
            <a:extLst xmlns:a="http://schemas.openxmlformats.org/drawingml/2006/main">
              <a:ext uri="{FF2B5EF4-FFF2-40B4-BE49-F238E27FC236}">
                <a16:creationId xmlns:a16="http://schemas.microsoft.com/office/drawing/2014/main" id="{19A6EE2C-34A2-4550-B21C-56E972560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5"/>
          </a:solidFill>
          <a:ln xmlns:a="http://schemas.openxmlformats.org/drawingml/2006/main" w="0">
            <a:solidFill>
              <a:srgbClr val="B9C9C5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211f7287954750"/>
          <a:stretch xmlns:a="http://schemas.openxmlformats.org/drawingml/2006/main"/>
        </p:blipFill>
        <p:spPr>
          <a:xfrm xmlns:a="http://schemas.openxmlformats.org/drawingml/2006/main">
            <a:off x="10858500" y="2667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brand-name-5">
            <a:extLst xmlns:a="http://schemas.openxmlformats.org/drawingml/2006/main">
              <a:ext uri="{FF2B5EF4-FFF2-40B4-BE49-F238E27FC236}">
                <a16:creationId xmlns:a16="http://schemas.microsoft.com/office/drawing/2014/main" id="{F16D9D88-424E-4945-9FB8-557290EEF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DeepTrustxAI</a:t>
            </a:r>
          </a:p>
        </p:txBody>
      </p:sp>
      <p:sp>
        <p:nvSpPr>
          <p:cNvPr id="6" name="footer-5">
            <a:extLst xmlns:a="http://schemas.openxmlformats.org/drawingml/2006/main">
              <a:ext uri="{FF2B5EF4-FFF2-40B4-BE49-F238E27FC236}">
                <a16:creationId xmlns:a16="http://schemas.microsoft.com/office/drawing/2014/main" id="{19B6E55B-597B-4F0C-93BA-41C1257CE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CloudGuard workshop</a:t>
            </a:r>
          </a:p>
        </p:txBody>
      </p:sp>
      <p:sp>
        <p:nvSpPr>
          <p:cNvPr id="7" name="page-5">
            <a:extLst xmlns:a="http://schemas.openxmlformats.org/drawingml/2006/main">
              <a:ext uri="{FF2B5EF4-FFF2-40B4-BE49-F238E27FC236}">
                <a16:creationId xmlns:a16="http://schemas.microsoft.com/office/drawing/2014/main" id="{26C53986-3D9C-4317-B14F-C10FEC2A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8" name="arch-copy">
            <a:extLst xmlns:a="http://schemas.openxmlformats.org/drawingml/2006/main">
              <a:ext uri="{FF2B5EF4-FFF2-40B4-BE49-F238E27FC236}">
                <a16:creationId xmlns:a16="http://schemas.microsoft.com/office/drawing/2014/main" id="{7917D6AF-8855-4C60-936C-C91CBF33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3619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The portal records scope and scan status. Separate workers collect provider-specific findings, and the evidence layer keeps the governance view available.</a:t>
            </a:r>
          </a:p>
        </p:txBody>
      </p:sp>
      <p:sp>
        <p:nvSpPr>
          <p:cNvPr id="9" name="arch-bullets">
            <a:extLst xmlns:a="http://schemas.openxmlformats.org/drawingml/2006/main">
              <a:ext uri="{FF2B5EF4-FFF2-40B4-BE49-F238E27FC236}">
                <a16:creationId xmlns:a16="http://schemas.microsoft.com/office/drawing/2014/main" id="{369CF2CD-807D-43D3-BA6F-4078405AB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71850"/>
            <a:ext cx="3905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Portal for targets, credential references, and job state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Workers for AWS, GCP, Kubernetes, and IaC analysis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Evidence records with source, asset, proof, and checksum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GRC records with owner, action, and audit history</a:t>
            </a:r>
          </a:p>
        </p:txBody>
      </p:sp>
      <p:sp>
        <p:nvSpPr>
          <p:cNvPr id="10" name="arch-frame">
            <a:extLst xmlns:a="http://schemas.openxmlformats.org/drawingml/2006/main">
              <a:ext uri="{FF2B5EF4-FFF2-40B4-BE49-F238E27FC236}">
                <a16:creationId xmlns:a16="http://schemas.microsoft.com/office/drawing/2014/main" id="{4C8B1A8B-EA13-4429-A4DF-60707D12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52600"/>
            <a:ext cx="68961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5"/>
          </a:solidFill>
          <a:ln xmlns:a="http://schemas.openxmlformats.org/drawingml/2006/main" w="9525">
            <a:solidFill>
              <a:srgbClr val="B9C9C5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87ad9973924b67"/>
          <a:stretch xmlns:a="http://schemas.openxmlformats.org/drawingml/2006/main"/>
        </p:blipFill>
        <p:spPr>
          <a:xfrm xmlns:a="http://schemas.openxmlformats.org/drawingml/2006/main">
            <a:off x="4914900" y="1946672"/>
            <a:ext cx="6591300" cy="3707606"/>
          </a:xfrm>
          <a:prstGeom xmlns:a="http://schemas.openxmlformats.org/drawingml/2006/main" prst="roundRect">
            <a:avLst>
              <a:gd name="adj" fmla="val 1005"/>
            </a:avLst>
          </a:prstGeom>
        </p:spPr>
      </p:pic>
    </p:spTree>
    <p:extLst>
      <p:ext uri="{BB962C8B-B14F-4D97-AF65-F5344CB8AC3E}">
        <p14:creationId xmlns:p14="http://schemas.microsoft.com/office/powerpoint/2010/main" val="15293057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6">
            <a:extLst xmlns:a="http://schemas.openxmlformats.org/drawingml/2006/main">
              <a:ext uri="{FF2B5EF4-FFF2-40B4-BE49-F238E27FC236}">
                <a16:creationId xmlns:a16="http://schemas.microsoft.com/office/drawing/2014/main" id="{A5ECB31C-E538-48C1-B55C-C326A3CE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rPr>
              <a:t>MODULE 1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369F396E-8B0D-4517-8D54-CE837B37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Authorized lab boundaries</a:t>
            </a:r>
          </a:p>
        </p:txBody>
      </p:sp>
      <p:sp>
        <p:nvSpPr>
          <p:cNvPr id="3" name="title-rule-6">
            <a:extLst xmlns:a="http://schemas.openxmlformats.org/drawingml/2006/main">
              <a:ext uri="{FF2B5EF4-FFF2-40B4-BE49-F238E27FC236}">
                <a16:creationId xmlns:a16="http://schemas.microsoft.com/office/drawing/2014/main" id="{910B046E-5660-4AFE-9AAC-F0F998ABA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5"/>
          </a:solidFill>
          <a:ln xmlns:a="http://schemas.openxmlformats.org/drawingml/2006/main" w="0">
            <a:solidFill>
              <a:srgbClr val="B9C9C5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4bf297fe704845"/>
          <a:stretch xmlns:a="http://schemas.openxmlformats.org/drawingml/2006/main"/>
        </p:blipFill>
        <p:spPr>
          <a:xfrm xmlns:a="http://schemas.openxmlformats.org/drawingml/2006/main">
            <a:off x="10858500" y="2667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brand-name-6">
            <a:extLst xmlns:a="http://schemas.openxmlformats.org/drawingml/2006/main">
              <a:ext uri="{FF2B5EF4-FFF2-40B4-BE49-F238E27FC236}">
                <a16:creationId xmlns:a16="http://schemas.microsoft.com/office/drawing/2014/main" id="{788DD431-5D7B-4B03-9B63-9838C5B4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DeepTrustxAI</a:t>
            </a:r>
          </a:p>
        </p:txBody>
      </p:sp>
      <p:sp>
        <p:nvSpPr>
          <p:cNvPr id="6" name="footer-6">
            <a:extLst xmlns:a="http://schemas.openxmlformats.org/drawingml/2006/main">
              <a:ext uri="{FF2B5EF4-FFF2-40B4-BE49-F238E27FC236}">
                <a16:creationId xmlns:a16="http://schemas.microsoft.com/office/drawing/2014/main" id="{7C979A31-499A-45C1-B5DC-BD610DC04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CloudGuard workshop</a:t>
            </a:r>
          </a:p>
        </p:txBody>
      </p:sp>
      <p:sp>
        <p:nvSpPr>
          <p:cNvPr id="7" name="page-6">
            <a:extLst xmlns:a="http://schemas.openxmlformats.org/drawingml/2006/main">
              <a:ext uri="{FF2B5EF4-FFF2-40B4-BE49-F238E27FC236}">
                <a16:creationId xmlns:a16="http://schemas.microsoft.com/office/drawing/2014/main" id="{E011F590-D65F-4534-9388-595568D1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8" name="safety-callout">
            <a:extLst xmlns:a="http://schemas.openxmlformats.org/drawingml/2006/main">
              <a:ext uri="{FF2B5EF4-FFF2-40B4-BE49-F238E27FC236}">
                <a16:creationId xmlns:a16="http://schemas.microsoft.com/office/drawing/2014/main" id="{E9F62C41-FD29-41AF-B4FD-301A1747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95D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D95D4B"/>
                </a:solidFill>
                <a:latin typeface="Helvetica Neue"/>
                <a:ea typeface="Helvetica Neue"/>
                <a:cs typeface="Helvetica Neue"/>
              </a:rPr>
              <a:t>Use vulnerable resources inside approved sandboxes. Do not weaken production accounts.</a:t>
            </a:r>
          </a:p>
        </p:txBody>
      </p:sp>
      <p:sp>
        <p:nvSpPr>
          <p:cNvPr id="9" name="safety-scope-title">
            <a:extLst xmlns:a="http://schemas.openxmlformats.org/drawingml/2006/main">
              <a:ext uri="{FF2B5EF4-FFF2-40B4-BE49-F238E27FC236}">
                <a16:creationId xmlns:a16="http://schemas.microsoft.com/office/drawing/2014/main" id="{0254EC1C-532E-452E-81E7-D8D9D6CC8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rPr>
              <a:t>Allowed scope</a:t>
            </a:r>
          </a:p>
        </p:txBody>
      </p:sp>
      <p:sp>
        <p:nvSpPr>
          <p:cNvPr id="10" name="safety-scope">
            <a:extLst xmlns:a="http://schemas.openxmlformats.org/drawingml/2006/main">
              <a:ext uri="{FF2B5EF4-FFF2-40B4-BE49-F238E27FC236}">
                <a16:creationId xmlns:a16="http://schemas.microsoft.com/office/drawing/2014/main" id="{9D51EB61-34E4-4EAF-900E-CF7FF3A6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33750"/>
            <a:ext cx="3905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42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Disposable AWS account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42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Disposable GCP project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42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Disposable cluster or namespace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42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Local IaC fixture that will never be applied</a:t>
            </a:r>
          </a:p>
        </p:txBody>
      </p:sp>
      <p:sp>
        <p:nvSpPr>
          <p:cNvPr id="11" name="safety-controls-title">
            <a:extLst xmlns:a="http://schemas.openxmlformats.org/drawingml/2006/main">
              <a:ext uri="{FF2B5EF4-FFF2-40B4-BE49-F238E27FC236}">
                <a16:creationId xmlns:a16="http://schemas.microsoft.com/office/drawing/2014/main" id="{D1829ADA-838B-4CFF-873D-9D4FD66F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527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rPr>
              <a:t>Required controls</a:t>
            </a:r>
          </a:p>
        </p:txBody>
      </p:sp>
      <p:sp>
        <p:nvSpPr>
          <p:cNvPr id="12" name="safety-controls">
            <a:extLst xmlns:a="http://schemas.openxmlformats.org/drawingml/2006/main">
              <a:ext uri="{FF2B5EF4-FFF2-40B4-BE49-F238E27FC236}">
                <a16:creationId xmlns:a16="http://schemas.microsoft.com/office/drawing/2014/main" id="{C2EE2F9C-A030-4A0A-9482-50A52153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333750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42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Dummy data and dummy secrets only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42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cloudguard-test tag or label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42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Budget alert, expiry, and named cleanup owner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42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Destroy command tested before the workshop</a:t>
            </a:r>
          </a:p>
        </p:txBody>
      </p:sp>
    </p:spTree>
    <p:extLst>
      <p:ext uri="{BB962C8B-B14F-4D97-AF65-F5344CB8AC3E}">
        <p14:creationId xmlns:p14="http://schemas.microsoft.com/office/powerpoint/2010/main" val="17189984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-7">
            <a:extLst xmlns:a="http://schemas.openxmlformats.org/drawingml/2006/main">
              <a:ext uri="{FF2B5EF4-FFF2-40B4-BE49-F238E27FC236}">
                <a16:creationId xmlns:a16="http://schemas.microsoft.com/office/drawing/2014/main" id="{AD44C7B3-2068-4905-9BFD-FF01D5FB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rPr>
              <a:t>MODULE 1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044A9F09-01DD-41DF-8E0D-DAB3A949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Facilitator readiness checklist</a:t>
            </a:r>
          </a:p>
        </p:txBody>
      </p:sp>
      <p:sp>
        <p:nvSpPr>
          <p:cNvPr id="3" name="title-rule-7">
            <a:extLst xmlns:a="http://schemas.openxmlformats.org/drawingml/2006/main">
              <a:ext uri="{FF2B5EF4-FFF2-40B4-BE49-F238E27FC236}">
                <a16:creationId xmlns:a16="http://schemas.microsoft.com/office/drawing/2014/main" id="{0E73B668-78DF-47BF-BD8B-4D735AE6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5"/>
          </a:solidFill>
          <a:ln xmlns:a="http://schemas.openxmlformats.org/drawingml/2006/main" w="0">
            <a:solidFill>
              <a:srgbClr val="B9C9C5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b828b35f8d4e36"/>
          <a:stretch xmlns:a="http://schemas.openxmlformats.org/drawingml/2006/main"/>
        </p:blipFill>
        <p:spPr>
          <a:xfrm xmlns:a="http://schemas.openxmlformats.org/drawingml/2006/main">
            <a:off x="10858500" y="2667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brand-name-7">
            <a:extLst xmlns:a="http://schemas.openxmlformats.org/drawingml/2006/main">
              <a:ext uri="{FF2B5EF4-FFF2-40B4-BE49-F238E27FC236}">
                <a16:creationId xmlns:a16="http://schemas.microsoft.com/office/drawing/2014/main" id="{0703A4AF-C06A-41B5-800C-717F2668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DeepTrustxAI</a:t>
            </a:r>
          </a:p>
        </p:txBody>
      </p:sp>
      <p:sp>
        <p:nvSpPr>
          <p:cNvPr id="6" name="footer-7">
            <a:extLst xmlns:a="http://schemas.openxmlformats.org/drawingml/2006/main">
              <a:ext uri="{FF2B5EF4-FFF2-40B4-BE49-F238E27FC236}">
                <a16:creationId xmlns:a16="http://schemas.microsoft.com/office/drawing/2014/main" id="{41455F90-1E44-428B-8025-BE83F347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CloudGuard workshop</a:t>
            </a:r>
          </a:p>
        </p:txBody>
      </p:sp>
      <p:sp>
        <p:nvSpPr>
          <p:cNvPr id="7" name="page-7">
            <a:extLst xmlns:a="http://schemas.openxmlformats.org/drawingml/2006/main">
              <a:ext uri="{FF2B5EF4-FFF2-40B4-BE49-F238E27FC236}">
                <a16:creationId xmlns:a16="http://schemas.microsoft.com/office/drawing/2014/main" id="{DA8120D8-884A-4A44-B726-81444B5B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533400" y="1809750"/>
          <a:ext xmlns:a="http://schemas.openxmlformats.org/drawingml/2006/main" cx="111252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3714750"/>
                <a:gridCol w="3695700"/>
              </a:tblGrid>
              <a:tr h="7429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Before participants arrive</a:t>
                      </a:r>
                    </a:p>
                  </a:txBody>
                  <a:tcPr marL="91440" marR="91440" marT="45720" marB="45720">
                    <a:solidFill>
                      <a:srgbClr val="1185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During every demo</a:t>
                      </a:r>
                    </a:p>
                  </a:txBody>
                  <a:tcPr marL="91440" marR="91440" marT="45720" marB="45720">
                    <a:solidFill>
                      <a:srgbClr val="1185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Before the session ends</a:t>
                      </a:r>
                    </a:p>
                  </a:txBody>
                  <a:tcPr marL="91440" marR="91440" marT="45720" marB="45720">
                    <a:solidFill>
                      <a:srgbClr val="11856E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Confirm portal login and tenants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Show a fresh job entering the queue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Destroy AWS and GCP resources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Run one successful scan per provider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Use the completed result if the live job waits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Delete Kubernetes resources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Capture fallback screenshots and raw output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Keep raw evidence redacted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Retain cleanup events and final proof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Verify budget alerts and destroy commands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Record the selected finding 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Revoke temporary access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adiness-note-bg">
            <a:extLst xmlns:a="http://schemas.openxmlformats.org/drawingml/2006/main">
              <a:ext uri="{FF2B5EF4-FFF2-40B4-BE49-F238E27FC236}">
                <a16:creationId xmlns:a16="http://schemas.microsoft.com/office/drawing/2014/main" id="{F30CC8CE-C597-4D8A-A594-BA490E583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53100"/>
            <a:ext cx="11125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7EF"/>
          </a:solidFill>
          <a:ln xmlns:a="http://schemas.openxmlformats.org/drawingml/2006/main" w="0">
            <a:solidFill>
              <a:srgbClr val="DDF7EF"/>
            </a:solidFill>
            <a:prstDash val="solid"/>
          </a:ln>
        </p:spPr>
      </p:sp>
      <p:sp>
        <p:nvSpPr>
          <p:cNvPr id="10" name="readiness-note">
            <a:extLst xmlns:a="http://schemas.openxmlformats.org/drawingml/2006/main">
              <a:ext uri="{FF2B5EF4-FFF2-40B4-BE49-F238E27FC236}">
                <a16:creationId xmlns:a16="http://schemas.microsoft.com/office/drawing/2014/main" id="{B17C58AD-39A3-4D35-9D92-D1517B99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95975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Keep live launch and queue state visible, with a completed scan ready as the fallback.</a:t>
            </a:r>
          </a:p>
        </p:txBody>
      </p:sp>
    </p:spTree>
    <p:extLst>
      <p:ext uri="{BB962C8B-B14F-4D97-AF65-F5344CB8AC3E}">
        <p14:creationId xmlns:p14="http://schemas.microsoft.com/office/powerpoint/2010/main" val="893164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D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ed8ecb47c04f8c"/>
          <a:stretch xmlns:a="http://schemas.openxmlformats.org/drawingml/2006/main"/>
        </p:blipFill>
        <p:spPr>
          <a:xfrm xmlns:a="http://schemas.openxmlformats.org/drawingml/2006/main">
            <a:off x="10858500" y="2667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2" name="brand-name-8">
            <a:extLst xmlns:a="http://schemas.openxmlformats.org/drawingml/2006/main">
              <a:ext uri="{FF2B5EF4-FFF2-40B4-BE49-F238E27FC236}">
                <a16:creationId xmlns:a16="http://schemas.microsoft.com/office/drawing/2014/main" id="{9DCB0B72-CAE0-45CC-80CD-9D30AEAE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DeepTrustxAI</a:t>
            </a:r>
          </a:p>
        </p:txBody>
      </p:sp>
      <p:sp>
        <p:nvSpPr>
          <p:cNvPr id="3" name="module-label-8">
            <a:extLst xmlns:a="http://schemas.openxmlformats.org/drawingml/2006/main">
              <a:ext uri="{FF2B5EF4-FFF2-40B4-BE49-F238E27FC236}">
                <a16:creationId xmlns:a16="http://schemas.microsoft.com/office/drawing/2014/main" id="{B1F3B4DE-052F-49F5-BEB5-E78FBFDF3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4" name="module-title-8">
            <a:extLst xmlns:a="http://schemas.openxmlformats.org/drawingml/2006/main">
              <a:ext uri="{FF2B5EF4-FFF2-40B4-BE49-F238E27FC236}">
                <a16:creationId xmlns:a16="http://schemas.microsoft.com/office/drawing/2014/main" id="{3DA314DF-B475-46A5-B0B6-23BAE3328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838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Four scanner</a:t>
            </a:r>
          </a:p>
          <a:p xmlns:a="http://schemas.openxmlformats.org/drawingml/2006/main">
            <a:pPr algn="l">
              <a:def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demonstrations</a:t>
            </a:r>
          </a:p>
        </p:txBody>
      </p:sp>
      <p:sp>
        <p:nvSpPr>
          <p:cNvPr id="5" name="module-purpose-8">
            <a:extLst xmlns:a="http://schemas.openxmlformats.org/drawingml/2006/main">
              <a:ext uri="{FF2B5EF4-FFF2-40B4-BE49-F238E27FC236}">
                <a16:creationId xmlns:a16="http://schemas.microsoft.com/office/drawing/2014/main" id="{9634DC33-3B88-4FE9-ADB0-DD7BFBA2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95700"/>
            <a:ext cx="723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8CBC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B8CBC6"/>
                </a:solidFill>
                <a:latin typeface="Helvetica Neue"/>
                <a:ea typeface="Helvetica Neue"/>
                <a:cs typeface="Helvetica Neue"/>
              </a:rPr>
              <a:t>Show the full path from authorized target to finding, evidence, and the next action.</a:t>
            </a:r>
          </a:p>
        </p:txBody>
      </p:sp>
      <p:sp>
        <p:nvSpPr>
          <p:cNvPr id="6" name="module-time-8">
            <a:extLst xmlns:a="http://schemas.openxmlformats.org/drawingml/2006/main">
              <a:ext uri="{FF2B5EF4-FFF2-40B4-BE49-F238E27FC236}">
                <a16:creationId xmlns:a16="http://schemas.microsoft.com/office/drawing/2014/main" id="{8171E93C-1059-4BD2-A2CD-DF2361BEF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6250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rPr>
              <a:t>55 minutes</a:t>
            </a:r>
          </a:p>
        </p:txBody>
      </p:sp>
      <p:sp>
        <p:nvSpPr>
          <p:cNvPr id="7" name="module-rule-8">
            <a:extLst xmlns:a="http://schemas.openxmlformats.org/drawingml/2006/main">
              <a:ext uri="{FF2B5EF4-FFF2-40B4-BE49-F238E27FC236}">
                <a16:creationId xmlns:a16="http://schemas.microsoft.com/office/drawing/2014/main" id="{EB267D8D-99E2-4DF7-82AC-72FA0144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91150"/>
            <a:ext cx="1076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56E"/>
          </a:solidFill>
          <a:ln xmlns:a="http://schemas.openxmlformats.org/drawingml/2006/main" w="0">
            <a:solidFill>
              <a:srgbClr val="11856E"/>
            </a:solidFill>
            <a:prstDash val="solid"/>
          </a:ln>
        </p:spPr>
      </p:sp>
      <p:sp>
        <p:nvSpPr>
          <p:cNvPr id="8" name="module-footer-8">
            <a:extLst xmlns:a="http://schemas.openxmlformats.org/drawingml/2006/main">
              <a:ext uri="{FF2B5EF4-FFF2-40B4-BE49-F238E27FC236}">
                <a16:creationId xmlns:a16="http://schemas.microsoft.com/office/drawing/2014/main" id="{6E3F9FAB-DA6B-4E41-AB90-426CC753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483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6A3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86A39C"/>
                </a:solidFill>
                <a:latin typeface="Helvetica Neue"/>
                <a:ea typeface="Helvetica Neue"/>
                <a:cs typeface="Helvetica Neue"/>
              </a:rPr>
              <a:t>DeepTrustxAI CloudGuard workshop</a:t>
            </a:r>
          </a:p>
        </p:txBody>
      </p:sp>
      <p:sp>
        <p:nvSpPr>
          <p:cNvPr id="9" name="module-page-8">
            <a:extLst xmlns:a="http://schemas.openxmlformats.org/drawingml/2006/main">
              <a:ext uri="{FF2B5EF4-FFF2-40B4-BE49-F238E27FC236}">
                <a16:creationId xmlns:a16="http://schemas.microsoft.com/office/drawing/2014/main" id="{B5E70317-3879-4388-BE26-BFC025798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8483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6A3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86A39C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859443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ection-9">
            <a:extLst xmlns:a="http://schemas.openxmlformats.org/drawingml/2006/main">
              <a:ext uri="{FF2B5EF4-FFF2-40B4-BE49-F238E27FC236}">
                <a16:creationId xmlns:a16="http://schemas.microsoft.com/office/drawing/2014/main" id="{27CDA9FA-FB7C-4F66-9792-7192B0880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32C83563-A72F-4D6E-BB59-47E3A4BD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Warm-live demonstration method</a:t>
            </a:r>
          </a:p>
        </p:txBody>
      </p:sp>
      <p:sp>
        <p:nvSpPr>
          <p:cNvPr id="3" name="title-rule-9">
            <a:extLst xmlns:a="http://schemas.openxmlformats.org/drawingml/2006/main">
              <a:ext uri="{FF2B5EF4-FFF2-40B4-BE49-F238E27FC236}">
                <a16:creationId xmlns:a16="http://schemas.microsoft.com/office/drawing/2014/main" id="{83AEB553-78E6-4200-9064-35A6595E6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5"/>
          </a:solidFill>
          <a:ln xmlns:a="http://schemas.openxmlformats.org/drawingml/2006/main" w="0">
            <a:solidFill>
              <a:srgbClr val="B9C9C5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28128503134ba8"/>
          <a:stretch xmlns:a="http://schemas.openxmlformats.org/drawingml/2006/main"/>
        </p:blipFill>
        <p:spPr>
          <a:xfrm xmlns:a="http://schemas.openxmlformats.org/drawingml/2006/main">
            <a:off x="10858500" y="2667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brand-name-9">
            <a:extLst xmlns:a="http://schemas.openxmlformats.org/drawingml/2006/main">
              <a:ext uri="{FF2B5EF4-FFF2-40B4-BE49-F238E27FC236}">
                <a16:creationId xmlns:a16="http://schemas.microsoft.com/office/drawing/2014/main" id="{07A58F95-46B6-4AA3-BB82-FC6B81AEE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DeepTrustxAI</a:t>
            </a:r>
          </a:p>
        </p:txBody>
      </p:sp>
      <p:sp>
        <p:nvSpPr>
          <p:cNvPr id="6" name="footer-9">
            <a:extLst xmlns:a="http://schemas.openxmlformats.org/drawingml/2006/main">
              <a:ext uri="{FF2B5EF4-FFF2-40B4-BE49-F238E27FC236}">
                <a16:creationId xmlns:a16="http://schemas.microsoft.com/office/drawing/2014/main" id="{C58DE9B4-2E81-46E2-9F2B-830871081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CloudGuard workshop</a:t>
            </a:r>
          </a:p>
        </p:txBody>
      </p:sp>
      <p:sp>
        <p:nvSpPr>
          <p:cNvPr id="7" name="page-9">
            <a:extLst xmlns:a="http://schemas.openxmlformats.org/drawingml/2006/main">
              <a:ext uri="{FF2B5EF4-FFF2-40B4-BE49-F238E27FC236}">
                <a16:creationId xmlns:a16="http://schemas.microsoft.com/office/drawing/2014/main" id="{1A496310-B141-464E-947A-D05932EA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8" name="warm-num-0">
            <a:extLst xmlns:a="http://schemas.openxmlformats.org/drawingml/2006/main">
              <a:ext uri="{FF2B5EF4-FFF2-40B4-BE49-F238E27FC236}">
                <a16:creationId xmlns:a16="http://schemas.microsoft.com/office/drawing/2014/main" id="{6175CCEA-CAA5-436D-AC2D-B75752045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4310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warm-rule-0">
            <a:extLst xmlns:a="http://schemas.openxmlformats.org/drawingml/2006/main">
              <a:ext uri="{FF2B5EF4-FFF2-40B4-BE49-F238E27FC236}">
                <a16:creationId xmlns:a16="http://schemas.microsoft.com/office/drawing/2014/main" id="{9588FF84-5FD0-4AD9-BB86-10CE0118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236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5"/>
          </a:solidFill>
          <a:ln xmlns:a="http://schemas.openxmlformats.org/drawingml/2006/main" w="0">
            <a:solidFill>
              <a:srgbClr val="B9C9C5"/>
            </a:solidFill>
            <a:prstDash val="solid"/>
          </a:ln>
        </p:spPr>
      </p:sp>
      <p:sp>
        <p:nvSpPr>
          <p:cNvPr id="10" name="warm-title-0">
            <a:extLst xmlns:a="http://schemas.openxmlformats.org/drawingml/2006/main">
              <a:ext uri="{FF2B5EF4-FFF2-40B4-BE49-F238E27FC236}">
                <a16:creationId xmlns:a16="http://schemas.microsoft.com/office/drawing/2014/main" id="{2D8225E3-D5E5-4AAE-AA47-449B744A2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Prepare</a:t>
            </a:r>
          </a:p>
        </p:txBody>
      </p:sp>
      <p:sp>
        <p:nvSpPr>
          <p:cNvPr id="11" name="warm-body-0">
            <a:extLst xmlns:a="http://schemas.openxmlformats.org/drawingml/2006/main">
              <a:ext uri="{FF2B5EF4-FFF2-40B4-BE49-F238E27FC236}">
                <a16:creationId xmlns:a16="http://schemas.microsoft.com/office/drawing/2014/main" id="{35102F42-311F-4D2C-B5B1-FE49433C0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52800"/>
            <a:ext cx="23622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Provision targets and retain one completed scan for each provider.</a:t>
            </a:r>
          </a:p>
        </p:txBody>
      </p:sp>
      <p:sp>
        <p:nvSpPr>
          <p:cNvPr id="12" name="warm-num-1">
            <a:extLst xmlns:a="http://schemas.openxmlformats.org/drawingml/2006/main">
              <a:ext uri="{FF2B5EF4-FFF2-40B4-BE49-F238E27FC236}">
                <a16:creationId xmlns:a16="http://schemas.microsoft.com/office/drawing/2014/main" id="{6C151553-A729-4FA6-9B71-2336203B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4310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warm-rule-1">
            <a:extLst xmlns:a="http://schemas.openxmlformats.org/drawingml/2006/main">
              <a:ext uri="{FF2B5EF4-FFF2-40B4-BE49-F238E27FC236}">
                <a16:creationId xmlns:a16="http://schemas.microsoft.com/office/drawing/2014/main" id="{007DFB6D-A017-4962-8558-781C2058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571750"/>
            <a:ext cx="236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5"/>
          </a:solidFill>
          <a:ln xmlns:a="http://schemas.openxmlformats.org/drawingml/2006/main" w="0">
            <a:solidFill>
              <a:srgbClr val="B9C9C5"/>
            </a:solidFill>
            <a:prstDash val="solid"/>
          </a:ln>
        </p:spPr>
      </p:sp>
      <p:sp>
        <p:nvSpPr>
          <p:cNvPr id="14" name="warm-title-1">
            <a:extLst xmlns:a="http://schemas.openxmlformats.org/drawingml/2006/main">
              <a:ext uri="{FF2B5EF4-FFF2-40B4-BE49-F238E27FC236}">
                <a16:creationId xmlns:a16="http://schemas.microsoft.com/office/drawing/2014/main" id="{13B6EF19-6772-4331-87FC-AE2364CD7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75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Launch</a:t>
            </a:r>
          </a:p>
        </p:txBody>
      </p:sp>
      <p:sp>
        <p:nvSpPr>
          <p:cNvPr id="15" name="warm-body-1">
            <a:extLst xmlns:a="http://schemas.openxmlformats.org/drawingml/2006/main">
              <a:ext uri="{FF2B5EF4-FFF2-40B4-BE49-F238E27FC236}">
                <a16:creationId xmlns:a16="http://schemas.microsoft.com/office/drawing/2014/main" id="{AF17AA58-059A-4C4A-8370-E51494A9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352800"/>
            <a:ext cx="23622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Start a fresh scan and show the queued or running state.</a:t>
            </a:r>
          </a:p>
        </p:txBody>
      </p:sp>
      <p:sp>
        <p:nvSpPr>
          <p:cNvPr id="16" name="warm-num-2">
            <a:extLst xmlns:a="http://schemas.openxmlformats.org/drawingml/2006/main">
              <a:ext uri="{FF2B5EF4-FFF2-40B4-BE49-F238E27FC236}">
                <a16:creationId xmlns:a16="http://schemas.microsoft.com/office/drawing/2014/main" id="{333031D3-1BE3-4D81-BDBB-AEA9B7CDC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warm-rule-2">
            <a:extLst xmlns:a="http://schemas.openxmlformats.org/drawingml/2006/main">
              <a:ext uri="{FF2B5EF4-FFF2-40B4-BE49-F238E27FC236}">
                <a16:creationId xmlns:a16="http://schemas.microsoft.com/office/drawing/2014/main" id="{3F68A823-FF8E-4FAA-9BC7-93063260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0"/>
            <a:ext cx="236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5"/>
          </a:solidFill>
          <a:ln xmlns:a="http://schemas.openxmlformats.org/drawingml/2006/main" w="0">
            <a:solidFill>
              <a:srgbClr val="B9C9C5"/>
            </a:solidFill>
            <a:prstDash val="solid"/>
          </a:ln>
        </p:spPr>
      </p:sp>
      <p:sp>
        <p:nvSpPr>
          <p:cNvPr id="18" name="warm-title-2">
            <a:extLst xmlns:a="http://schemas.openxmlformats.org/drawingml/2006/main">
              <a:ext uri="{FF2B5EF4-FFF2-40B4-BE49-F238E27FC236}">
                <a16:creationId xmlns:a16="http://schemas.microsoft.com/office/drawing/2014/main" id="{AB04D626-7349-4642-BBAC-BF85C3B49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575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Explain</a:t>
            </a:r>
          </a:p>
        </p:txBody>
      </p:sp>
      <p:sp>
        <p:nvSpPr>
          <p:cNvPr id="19" name="warm-body-2">
            <a:extLst xmlns:a="http://schemas.openxmlformats.org/drawingml/2006/main">
              <a:ext uri="{FF2B5EF4-FFF2-40B4-BE49-F238E27FC236}">
                <a16:creationId xmlns:a16="http://schemas.microsoft.com/office/drawing/2014/main" id="{E4D1AB32-2EEC-4A9E-BE4E-610B36EF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52800"/>
            <a:ext cx="23622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Use the completed result while the new job runs.</a:t>
            </a:r>
          </a:p>
        </p:txBody>
      </p:sp>
      <p:sp>
        <p:nvSpPr>
          <p:cNvPr id="20" name="warm-num-3">
            <a:extLst xmlns:a="http://schemas.openxmlformats.org/drawingml/2006/main">
              <a:ext uri="{FF2B5EF4-FFF2-40B4-BE49-F238E27FC236}">
                <a16:creationId xmlns:a16="http://schemas.microsoft.com/office/drawing/2014/main" id="{363E96EF-1461-4FFB-97C6-C7B6E0B7B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94310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1" name="warm-rule-3">
            <a:extLst xmlns:a="http://schemas.openxmlformats.org/drawingml/2006/main">
              <a:ext uri="{FF2B5EF4-FFF2-40B4-BE49-F238E27FC236}">
                <a16:creationId xmlns:a16="http://schemas.microsoft.com/office/drawing/2014/main" id="{5F2579DA-A712-4FE2-BB27-81E3E33F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71750"/>
            <a:ext cx="236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5"/>
          </a:solidFill>
          <a:ln xmlns:a="http://schemas.openxmlformats.org/drawingml/2006/main" w="0">
            <a:solidFill>
              <a:srgbClr val="B9C9C5"/>
            </a:solidFill>
            <a:prstDash val="solid"/>
          </a:ln>
        </p:spPr>
      </p:sp>
      <p:sp>
        <p:nvSpPr>
          <p:cNvPr id="22" name="warm-title-3">
            <a:extLst xmlns:a="http://schemas.openxmlformats.org/drawingml/2006/main">
              <a:ext uri="{FF2B5EF4-FFF2-40B4-BE49-F238E27FC236}">
                <a16:creationId xmlns:a16="http://schemas.microsoft.com/office/drawing/2014/main" id="{827B059D-4A98-4C40-B4F3-C253F7CD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575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Return</a:t>
            </a:r>
          </a:p>
        </p:txBody>
      </p:sp>
      <p:sp>
        <p:nvSpPr>
          <p:cNvPr id="23" name="warm-body-3">
            <a:extLst xmlns:a="http://schemas.openxmlformats.org/drawingml/2006/main">
              <a:ext uri="{FF2B5EF4-FFF2-40B4-BE49-F238E27FC236}">
                <a16:creationId xmlns:a16="http://schemas.microsoft.com/office/drawing/2014/main" id="{F67A87BD-3F64-4899-92C1-1C0B9D281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352800"/>
            <a:ext cx="23622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Revisit the live job, capture evidence, and show cleanup.</a:t>
            </a:r>
          </a:p>
        </p:txBody>
      </p:sp>
      <p:sp>
        <p:nvSpPr>
          <p:cNvPr id="24" name="warm-note-bg">
            <a:extLst xmlns:a="http://schemas.openxmlformats.org/drawingml/2006/main">
              <a:ext uri="{FF2B5EF4-FFF2-40B4-BE49-F238E27FC236}">
                <a16:creationId xmlns:a16="http://schemas.microsoft.com/office/drawing/2014/main" id="{4B3A1056-FC0E-4EEC-94E9-C96E5574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07061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7EF"/>
          </a:solidFill>
          <a:ln xmlns:a="http://schemas.openxmlformats.org/drawingml/2006/main" w="0">
            <a:solidFill>
              <a:srgbClr val="DDF7EF"/>
            </a:solidFill>
            <a:prstDash val="solid"/>
          </a:ln>
        </p:spPr>
      </p:sp>
      <p:sp>
        <p:nvSpPr>
          <p:cNvPr id="25" name="warm-note">
            <a:extLst xmlns:a="http://schemas.openxmlformats.org/drawingml/2006/main">
              <a:ext uri="{FF2B5EF4-FFF2-40B4-BE49-F238E27FC236}">
                <a16:creationId xmlns:a16="http://schemas.microsoft.com/office/drawing/2014/main" id="{ED251A2F-3B5D-46A5-83E2-366A011E8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0200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Cloud latency should never consume the lab exercise time.</a:t>
            </a:r>
          </a:p>
        </p:txBody>
      </p:sp>
    </p:spTree>
    <p:extLst>
      <p:ext uri="{BB962C8B-B14F-4D97-AF65-F5344CB8AC3E}">
        <p14:creationId xmlns:p14="http://schemas.microsoft.com/office/powerpoint/2010/main" val="11446022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ection-10">
            <a:extLst xmlns:a="http://schemas.openxmlformats.org/drawingml/2006/main">
              <a:ext uri="{FF2B5EF4-FFF2-40B4-BE49-F238E27FC236}">
                <a16:creationId xmlns:a16="http://schemas.microsoft.com/office/drawing/2014/main" id="{37E9BD7E-AFF1-4FE5-A948-F2461E81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555EC4C0-3ACA-4993-B355-7F7D4CD66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AWS scanner walkthrough</a:t>
            </a:r>
          </a:p>
        </p:txBody>
      </p:sp>
      <p:sp>
        <p:nvSpPr>
          <p:cNvPr id="3" name="title-rule-10">
            <a:extLst xmlns:a="http://schemas.openxmlformats.org/drawingml/2006/main">
              <a:ext uri="{FF2B5EF4-FFF2-40B4-BE49-F238E27FC236}">
                <a16:creationId xmlns:a16="http://schemas.microsoft.com/office/drawing/2014/main" id="{039B32FF-D6EA-4EA4-A811-1F1A20A93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5"/>
          </a:solidFill>
          <a:ln xmlns:a="http://schemas.openxmlformats.org/drawingml/2006/main" w="0">
            <a:solidFill>
              <a:srgbClr val="B9C9C5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a6c5605bb74e6b"/>
          <a:stretch xmlns:a="http://schemas.openxmlformats.org/drawingml/2006/main"/>
        </p:blipFill>
        <p:spPr>
          <a:xfrm xmlns:a="http://schemas.openxmlformats.org/drawingml/2006/main">
            <a:off x="10858500" y="2667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brand-name-10">
            <a:extLst xmlns:a="http://schemas.openxmlformats.org/drawingml/2006/main">
              <a:ext uri="{FF2B5EF4-FFF2-40B4-BE49-F238E27FC236}">
                <a16:creationId xmlns:a16="http://schemas.microsoft.com/office/drawing/2014/main" id="{F7590C58-EC0C-43D1-B70C-F3BC25274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DeepTrustxAI</a:t>
            </a:r>
          </a:p>
        </p:txBody>
      </p:sp>
      <p:sp>
        <p:nvSpPr>
          <p:cNvPr id="6" name="footer-10">
            <a:extLst xmlns:a="http://schemas.openxmlformats.org/drawingml/2006/main">
              <a:ext uri="{FF2B5EF4-FFF2-40B4-BE49-F238E27FC236}">
                <a16:creationId xmlns:a16="http://schemas.microsoft.com/office/drawing/2014/main" id="{BE8D7774-2EC0-4F32-96E1-F59A6D8D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CloudGuard workshop</a:t>
            </a:r>
          </a:p>
        </p:txBody>
      </p:sp>
      <p:sp>
        <p:nvSpPr>
          <p:cNvPr id="7" name="page-10">
            <a:extLst xmlns:a="http://schemas.openxmlformats.org/drawingml/2006/main">
              <a:ext uri="{FF2B5EF4-FFF2-40B4-BE49-F238E27FC236}">
                <a16:creationId xmlns:a16="http://schemas.microsoft.com/office/drawing/2014/main" id="{A69F77FB-AFF8-4BA3-B85F-61878C69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8" name="provider-band-10">
            <a:extLst xmlns:a="http://schemas.openxmlformats.org/drawingml/2006/main">
              <a:ext uri="{FF2B5EF4-FFF2-40B4-BE49-F238E27FC236}">
                <a16:creationId xmlns:a16="http://schemas.microsoft.com/office/drawing/2014/main" id="{8A3950AD-EF0C-4F91-8F6A-8A631CB22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32861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9" name="provider-name-10">
            <a:extLst xmlns:a="http://schemas.openxmlformats.org/drawingml/2006/main">
              <a:ext uri="{FF2B5EF4-FFF2-40B4-BE49-F238E27FC236}">
                <a16:creationId xmlns:a16="http://schemas.microsoft.com/office/drawing/2014/main" id="{3616D580-60A5-45CC-B32F-863F9FF0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193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AWS</a:t>
            </a:r>
          </a:p>
        </p:txBody>
      </p:sp>
      <p:sp>
        <p:nvSpPr>
          <p:cNvPr id="10" name="provider-target-label-10">
            <a:extLst xmlns:a="http://schemas.openxmlformats.org/drawingml/2006/main">
              <a:ext uri="{FF2B5EF4-FFF2-40B4-BE49-F238E27FC236}">
                <a16:creationId xmlns:a16="http://schemas.microsoft.com/office/drawing/2014/main" id="{4F09730F-FB9F-4644-B670-CDB605390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Prepared targets</a:t>
            </a:r>
          </a:p>
        </p:txBody>
      </p:sp>
      <p:sp>
        <p:nvSpPr>
          <p:cNvPr id="11" name="provider-targets-10">
            <a:extLst xmlns:a="http://schemas.openxmlformats.org/drawingml/2006/main">
              <a:ext uri="{FF2B5EF4-FFF2-40B4-BE49-F238E27FC236}">
                <a16:creationId xmlns:a16="http://schemas.microsoft.com/office/drawing/2014/main" id="{873D14D3-805B-4EE7-8E37-31C3AE66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266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Public S3 bucket with dummy content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Internet-facing SSH and RDP rules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IAM user with wildcard permissions</a:t>
            </a:r>
          </a:p>
        </p:txBody>
      </p:sp>
      <p:sp>
        <p:nvSpPr>
          <p:cNvPr id="12" name="provider-run-label-10">
            <a:extLst xmlns:a="http://schemas.openxmlformats.org/drawingml/2006/main">
              <a:ext uri="{FF2B5EF4-FFF2-40B4-BE49-F238E27FC236}">
                <a16:creationId xmlns:a16="http://schemas.microsoft.com/office/drawing/2014/main" id="{B5DA96E7-5C83-4AE7-8319-A2D9BA48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478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rPr>
              <a:t>Demonstration sequence</a:t>
            </a:r>
          </a:p>
        </p:txBody>
      </p:sp>
      <p:sp>
        <p:nvSpPr>
          <p:cNvPr id="13" name="provider-run-num-10-0">
            <a:extLst xmlns:a="http://schemas.openxmlformats.org/drawingml/2006/main">
              <a:ext uri="{FF2B5EF4-FFF2-40B4-BE49-F238E27FC236}">
                <a16:creationId xmlns:a16="http://schemas.microsoft.com/office/drawing/2014/main" id="{6B3F3B15-6E2D-4AD1-8872-5F1BC30C2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00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4" name="provider-run-10-0">
            <a:extLst xmlns:a="http://schemas.openxmlformats.org/drawingml/2006/main">
              <a:ext uri="{FF2B5EF4-FFF2-40B4-BE49-F238E27FC236}">
                <a16:creationId xmlns:a16="http://schemas.microsoft.com/office/drawing/2014/main" id="{0B6DD90B-799D-41C0-B950-C045BDDD3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343150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Confirm the sandbox account and cloudguard-test tags</a:t>
            </a:r>
          </a:p>
        </p:txBody>
      </p:sp>
      <p:sp>
        <p:nvSpPr>
          <p:cNvPr id="15" name="provider-run-num-10-1">
            <a:extLst xmlns:a="http://schemas.openxmlformats.org/drawingml/2006/main">
              <a:ext uri="{FF2B5EF4-FFF2-40B4-BE49-F238E27FC236}">
                <a16:creationId xmlns:a16="http://schemas.microsoft.com/office/drawing/2014/main" id="{F74D0114-D26B-427D-AE47-1696BFC5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289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6" name="provider-run-10-1">
            <a:extLst xmlns:a="http://schemas.openxmlformats.org/drawingml/2006/main">
              <a:ext uri="{FF2B5EF4-FFF2-40B4-BE49-F238E27FC236}">
                <a16:creationId xmlns:a16="http://schemas.microsoft.com/office/drawing/2014/main" id="{9A136050-EE2F-4985-BD5B-82ADA69C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971800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Launch the AWS scan and show job status</a:t>
            </a:r>
          </a:p>
        </p:txBody>
      </p:sp>
      <p:sp>
        <p:nvSpPr>
          <p:cNvPr id="17" name="provider-run-num-10-2">
            <a:extLst xmlns:a="http://schemas.openxmlformats.org/drawingml/2006/main">
              <a:ext uri="{FF2B5EF4-FFF2-40B4-BE49-F238E27FC236}">
                <a16:creationId xmlns:a16="http://schemas.microsoft.com/office/drawing/2014/main" id="{29D661D4-C18C-4FA9-A773-F81289E3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57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8" name="provider-run-10-2">
            <a:extLst xmlns:a="http://schemas.openxmlformats.org/drawingml/2006/main">
              <a:ext uri="{FF2B5EF4-FFF2-40B4-BE49-F238E27FC236}">
                <a16:creationId xmlns:a16="http://schemas.microsoft.com/office/drawing/2014/main" id="{27866475-40A9-483B-BAA3-994AC1FCD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600450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Open one storage finding and one identity finding</a:t>
            </a:r>
          </a:p>
        </p:txBody>
      </p:sp>
      <p:sp>
        <p:nvSpPr>
          <p:cNvPr id="19" name="provider-run-num-10-3">
            <a:extLst xmlns:a="http://schemas.openxmlformats.org/drawingml/2006/main">
              <a:ext uri="{FF2B5EF4-FFF2-40B4-BE49-F238E27FC236}">
                <a16:creationId xmlns:a16="http://schemas.microsoft.com/office/drawing/2014/main" id="{88B3FFA9-D731-483A-8FFE-7FA4DCCB0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862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0" name="provider-run-10-3">
            <a:extLst xmlns:a="http://schemas.openxmlformats.org/drawingml/2006/main">
              <a:ext uri="{FF2B5EF4-FFF2-40B4-BE49-F238E27FC236}">
                <a16:creationId xmlns:a16="http://schemas.microsoft.com/office/drawing/2014/main" id="{7F8FB681-B9F6-405D-8047-5D973D95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229100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Select one finding for the evidence workflow</a:t>
            </a:r>
          </a:p>
        </p:txBody>
      </p:sp>
      <p:sp>
        <p:nvSpPr>
          <p:cNvPr id="21" name="provider-takeaway-bg-10">
            <a:extLst xmlns:a="http://schemas.openxmlformats.org/drawingml/2006/main">
              <a:ext uri="{FF2B5EF4-FFF2-40B4-BE49-F238E27FC236}">
                <a16:creationId xmlns:a16="http://schemas.microsoft.com/office/drawing/2014/main" id="{2606627F-19E7-4FEF-AC34-11BFA916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67300"/>
            <a:ext cx="695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5"/>
          </a:solidFill>
          <a:ln xmlns:a="http://schemas.openxmlformats.org/drawingml/2006/main" w="0">
            <a:solidFill>
              <a:srgbClr val="F2F7F5"/>
            </a:solidFill>
            <a:prstDash val="solid"/>
          </a:ln>
        </p:spPr>
      </p:sp>
      <p:sp>
        <p:nvSpPr>
          <p:cNvPr id="22" name="provider-takeaway-10">
            <a:extLst xmlns:a="http://schemas.openxmlformats.org/drawingml/2006/main">
              <a:ext uri="{FF2B5EF4-FFF2-40B4-BE49-F238E27FC236}">
                <a16:creationId xmlns:a16="http://schemas.microsoft.com/office/drawing/2014/main" id="{D1EB6D52-CDB9-468A-BC4D-782EB5806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267325"/>
            <a:ext cx="647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Explain severity with the affected asset, exposure, and identity impact.</a:t>
            </a:r>
          </a:p>
        </p:txBody>
      </p:sp>
    </p:spTree>
    <p:extLst>
      <p:ext uri="{BB962C8B-B14F-4D97-AF65-F5344CB8AC3E}">
        <p14:creationId xmlns:p14="http://schemas.microsoft.com/office/powerpoint/2010/main" val="157693741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ection-11">
            <a:extLst xmlns:a="http://schemas.openxmlformats.org/drawingml/2006/main">
              <a:ext uri="{FF2B5EF4-FFF2-40B4-BE49-F238E27FC236}">
                <a16:creationId xmlns:a16="http://schemas.microsoft.com/office/drawing/2014/main" id="{34594DFA-113A-40D2-9FC6-1993AFD34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D75FD967-B4B7-4129-BF0E-C8CDD515E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GCP scanner walkthrough</a:t>
            </a:r>
          </a:p>
        </p:txBody>
      </p:sp>
      <p:sp>
        <p:nvSpPr>
          <p:cNvPr id="3" name="title-rule-11">
            <a:extLst xmlns:a="http://schemas.openxmlformats.org/drawingml/2006/main">
              <a:ext uri="{FF2B5EF4-FFF2-40B4-BE49-F238E27FC236}">
                <a16:creationId xmlns:a16="http://schemas.microsoft.com/office/drawing/2014/main" id="{7407EC54-CB72-48CC-A15A-DE727735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5"/>
          </a:solidFill>
          <a:ln xmlns:a="http://schemas.openxmlformats.org/drawingml/2006/main" w="0">
            <a:solidFill>
              <a:srgbClr val="B9C9C5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2d9ef70fb245b3"/>
          <a:stretch xmlns:a="http://schemas.openxmlformats.org/drawingml/2006/main"/>
        </p:blipFill>
        <p:spPr>
          <a:xfrm xmlns:a="http://schemas.openxmlformats.org/drawingml/2006/main">
            <a:off x="10858500" y="2667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brand-name-11">
            <a:extLst xmlns:a="http://schemas.openxmlformats.org/drawingml/2006/main">
              <a:ext uri="{FF2B5EF4-FFF2-40B4-BE49-F238E27FC236}">
                <a16:creationId xmlns:a16="http://schemas.microsoft.com/office/drawing/2014/main" id="{1EC57A3F-01D8-4C82-97F9-71EFDA870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DeepTrustxAI</a:t>
            </a:r>
          </a:p>
        </p:txBody>
      </p:sp>
      <p:sp>
        <p:nvSpPr>
          <p:cNvPr id="6" name="footer-11">
            <a:extLst xmlns:a="http://schemas.openxmlformats.org/drawingml/2006/main">
              <a:ext uri="{FF2B5EF4-FFF2-40B4-BE49-F238E27FC236}">
                <a16:creationId xmlns:a16="http://schemas.microsoft.com/office/drawing/2014/main" id="{9CD59C36-8EB4-4090-8E42-EDAF7834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CloudGuard workshop</a:t>
            </a:r>
          </a:p>
        </p:txBody>
      </p:sp>
      <p:sp>
        <p:nvSpPr>
          <p:cNvPr id="7" name="page-11">
            <a:extLst xmlns:a="http://schemas.openxmlformats.org/drawingml/2006/main">
              <a:ext uri="{FF2B5EF4-FFF2-40B4-BE49-F238E27FC236}">
                <a16:creationId xmlns:a16="http://schemas.microsoft.com/office/drawing/2014/main" id="{49254299-EDEC-42AA-B10C-563CA17B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8" name="provider-band-11">
            <a:extLst xmlns:a="http://schemas.openxmlformats.org/drawingml/2006/main">
              <a:ext uri="{FF2B5EF4-FFF2-40B4-BE49-F238E27FC236}">
                <a16:creationId xmlns:a16="http://schemas.microsoft.com/office/drawing/2014/main" id="{594FDFDB-2723-4A9D-A2F2-99CE6B9D4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32861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solidFill>
              <a:srgbClr val="4285F4"/>
            </a:solidFill>
            <a:prstDash val="solid"/>
          </a:ln>
        </p:spPr>
      </p:sp>
      <p:sp>
        <p:nvSpPr>
          <p:cNvPr id="9" name="provider-name-11">
            <a:extLst xmlns:a="http://schemas.openxmlformats.org/drawingml/2006/main">
              <a:ext uri="{FF2B5EF4-FFF2-40B4-BE49-F238E27FC236}">
                <a16:creationId xmlns:a16="http://schemas.microsoft.com/office/drawing/2014/main" id="{672F5996-0FCE-4944-9588-15B73045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193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GCP</a:t>
            </a:r>
          </a:p>
        </p:txBody>
      </p:sp>
      <p:sp>
        <p:nvSpPr>
          <p:cNvPr id="10" name="provider-target-label-11">
            <a:extLst xmlns:a="http://schemas.openxmlformats.org/drawingml/2006/main">
              <a:ext uri="{FF2B5EF4-FFF2-40B4-BE49-F238E27FC236}">
                <a16:creationId xmlns:a16="http://schemas.microsoft.com/office/drawing/2014/main" id="{24A081C1-16B6-47A5-99EA-ED0FACC1A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Prepared targets</a:t>
            </a:r>
          </a:p>
        </p:txBody>
      </p:sp>
      <p:sp>
        <p:nvSpPr>
          <p:cNvPr id="11" name="provider-targets-11">
            <a:extLst xmlns:a="http://schemas.openxmlformats.org/drawingml/2006/main">
              <a:ext uri="{FF2B5EF4-FFF2-40B4-BE49-F238E27FC236}">
                <a16:creationId xmlns:a16="http://schemas.microsoft.com/office/drawing/2014/main" id="{388859A6-8CA4-43F5-83D4-F1EBA394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266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Public Cloud Storage bucket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Firewall rules open to the internet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Public VM with weak hardening</a:t>
            </a:r>
          </a:p>
        </p:txBody>
      </p:sp>
      <p:sp>
        <p:nvSpPr>
          <p:cNvPr id="12" name="provider-run-label-11">
            <a:extLst xmlns:a="http://schemas.openxmlformats.org/drawingml/2006/main">
              <a:ext uri="{FF2B5EF4-FFF2-40B4-BE49-F238E27FC236}">
                <a16:creationId xmlns:a16="http://schemas.microsoft.com/office/drawing/2014/main" id="{1B669C59-DC4B-4673-8AF9-BD1D1490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478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285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4285F4"/>
                </a:solidFill>
                <a:latin typeface="Helvetica Neue"/>
                <a:ea typeface="Helvetica Neue"/>
                <a:cs typeface="Helvetica Neue"/>
              </a:rPr>
              <a:t>Demonstration sequence</a:t>
            </a:r>
          </a:p>
        </p:txBody>
      </p:sp>
      <p:sp>
        <p:nvSpPr>
          <p:cNvPr id="13" name="provider-run-num-11-0">
            <a:extLst xmlns:a="http://schemas.openxmlformats.org/drawingml/2006/main">
              <a:ext uri="{FF2B5EF4-FFF2-40B4-BE49-F238E27FC236}">
                <a16:creationId xmlns:a16="http://schemas.microsoft.com/office/drawing/2014/main" id="{5AA076C4-46D5-48E6-A756-B59C89BD7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00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285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4285F4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4" name="provider-run-11-0">
            <a:extLst xmlns:a="http://schemas.openxmlformats.org/drawingml/2006/main">
              <a:ext uri="{FF2B5EF4-FFF2-40B4-BE49-F238E27FC236}">
                <a16:creationId xmlns:a16="http://schemas.microsoft.com/office/drawing/2014/main" id="{C9C2C248-8626-4E57-98ED-C5F691AB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343150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Confirm the project, region, and cloudguard-test labels</a:t>
            </a:r>
          </a:p>
        </p:txBody>
      </p:sp>
      <p:sp>
        <p:nvSpPr>
          <p:cNvPr id="15" name="provider-run-num-11-1">
            <a:extLst xmlns:a="http://schemas.openxmlformats.org/drawingml/2006/main">
              <a:ext uri="{FF2B5EF4-FFF2-40B4-BE49-F238E27FC236}">
                <a16:creationId xmlns:a16="http://schemas.microsoft.com/office/drawing/2014/main" id="{5E34518E-E676-485D-8500-4F1389E6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289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285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4285F4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6" name="provider-run-11-1">
            <a:extLst xmlns:a="http://schemas.openxmlformats.org/drawingml/2006/main">
              <a:ext uri="{FF2B5EF4-FFF2-40B4-BE49-F238E27FC236}">
                <a16:creationId xmlns:a16="http://schemas.microsoft.com/office/drawing/2014/main" id="{E3C952F7-CB20-475D-8CA9-0A3E0FFD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971800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Launch the GCP scan and show the job lifecycle</a:t>
            </a:r>
          </a:p>
        </p:txBody>
      </p:sp>
      <p:sp>
        <p:nvSpPr>
          <p:cNvPr id="17" name="provider-run-num-11-2">
            <a:extLst xmlns:a="http://schemas.openxmlformats.org/drawingml/2006/main">
              <a:ext uri="{FF2B5EF4-FFF2-40B4-BE49-F238E27FC236}">
                <a16:creationId xmlns:a16="http://schemas.microsoft.com/office/drawing/2014/main" id="{B05FF59A-F225-4501-BBA5-67105B591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57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285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4285F4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8" name="provider-run-11-2">
            <a:extLst xmlns:a="http://schemas.openxmlformats.org/drawingml/2006/main">
              <a:ext uri="{FF2B5EF4-FFF2-40B4-BE49-F238E27FC236}">
                <a16:creationId xmlns:a16="http://schemas.microsoft.com/office/drawing/2014/main" id="{78B73C21-915E-4D23-9452-491CDC27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600450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Compare storage, network, and identity results with AWS</a:t>
            </a:r>
          </a:p>
        </p:txBody>
      </p:sp>
      <p:sp>
        <p:nvSpPr>
          <p:cNvPr id="19" name="provider-run-num-11-3">
            <a:extLst xmlns:a="http://schemas.openxmlformats.org/drawingml/2006/main">
              <a:ext uri="{FF2B5EF4-FFF2-40B4-BE49-F238E27FC236}">
                <a16:creationId xmlns:a16="http://schemas.microsoft.com/office/drawing/2014/main" id="{77C122CF-EA2E-4631-8618-D9E6B8F0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862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285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4285F4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0" name="provider-run-11-3">
            <a:extLst xmlns:a="http://schemas.openxmlformats.org/drawingml/2006/main">
              <a:ext uri="{FF2B5EF4-FFF2-40B4-BE49-F238E27FC236}">
                <a16:creationId xmlns:a16="http://schemas.microsoft.com/office/drawing/2014/main" id="{2BC7684E-1C70-4163-8474-791C03B37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229100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Map one result to the same business risk category</a:t>
            </a:r>
          </a:p>
        </p:txBody>
      </p:sp>
      <p:sp>
        <p:nvSpPr>
          <p:cNvPr id="21" name="provider-takeaway-bg-11">
            <a:extLst xmlns:a="http://schemas.openxmlformats.org/drawingml/2006/main">
              <a:ext uri="{FF2B5EF4-FFF2-40B4-BE49-F238E27FC236}">
                <a16:creationId xmlns:a16="http://schemas.microsoft.com/office/drawing/2014/main" id="{93E5943F-45A4-40FA-803D-59F1B7EEB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67300"/>
            <a:ext cx="695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5"/>
          </a:solidFill>
          <a:ln xmlns:a="http://schemas.openxmlformats.org/drawingml/2006/main" w="0">
            <a:solidFill>
              <a:srgbClr val="F2F7F5"/>
            </a:solidFill>
            <a:prstDash val="solid"/>
          </a:ln>
        </p:spPr>
      </p:sp>
      <p:sp>
        <p:nvSpPr>
          <p:cNvPr id="22" name="provider-takeaway-11">
            <a:extLst xmlns:a="http://schemas.openxmlformats.org/drawingml/2006/main">
              <a:ext uri="{FF2B5EF4-FFF2-40B4-BE49-F238E27FC236}">
                <a16:creationId xmlns:a16="http://schemas.microsoft.com/office/drawing/2014/main" id="{9A59D6DC-CC0E-453A-B29B-C548C8A1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267325"/>
            <a:ext cx="647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Normalize equivalent risks so teams can compare cloud environments.</a:t>
            </a:r>
          </a:p>
        </p:txBody>
      </p:sp>
    </p:spTree>
    <p:extLst>
      <p:ext uri="{BB962C8B-B14F-4D97-AF65-F5344CB8AC3E}">
        <p14:creationId xmlns:p14="http://schemas.microsoft.com/office/powerpoint/2010/main" val="191877832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ection-12">
            <a:extLst xmlns:a="http://schemas.openxmlformats.org/drawingml/2006/main">
              <a:ext uri="{FF2B5EF4-FFF2-40B4-BE49-F238E27FC236}">
                <a16:creationId xmlns:a16="http://schemas.microsoft.com/office/drawing/2014/main" id="{6ECBDC18-837D-4AD2-AF47-5F6DEEFD5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EBBA3E2D-F0C1-48E2-87DE-EDADCB20A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Kubernetes scanner walkthrough</a:t>
            </a:r>
          </a:p>
        </p:txBody>
      </p:sp>
      <p:sp>
        <p:nvSpPr>
          <p:cNvPr id="3" name="title-rule-12">
            <a:extLst xmlns:a="http://schemas.openxmlformats.org/drawingml/2006/main">
              <a:ext uri="{FF2B5EF4-FFF2-40B4-BE49-F238E27FC236}">
                <a16:creationId xmlns:a16="http://schemas.microsoft.com/office/drawing/2014/main" id="{1ABC7C7B-F82B-4A3D-8623-5C15A8FE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5"/>
          </a:solidFill>
          <a:ln xmlns:a="http://schemas.openxmlformats.org/drawingml/2006/main" w="0">
            <a:solidFill>
              <a:srgbClr val="B9C9C5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ec53e0d3184314"/>
          <a:stretch xmlns:a="http://schemas.openxmlformats.org/drawingml/2006/main"/>
        </p:blipFill>
        <p:spPr>
          <a:xfrm xmlns:a="http://schemas.openxmlformats.org/drawingml/2006/main">
            <a:off x="10858500" y="2667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brand-name-12">
            <a:extLst xmlns:a="http://schemas.openxmlformats.org/drawingml/2006/main">
              <a:ext uri="{FF2B5EF4-FFF2-40B4-BE49-F238E27FC236}">
                <a16:creationId xmlns:a16="http://schemas.microsoft.com/office/drawing/2014/main" id="{03BBC775-70FC-4BAB-9CF1-B09D77409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DeepTrustxAI</a:t>
            </a:r>
          </a:p>
        </p:txBody>
      </p:sp>
      <p:sp>
        <p:nvSpPr>
          <p:cNvPr id="6" name="footer-12">
            <a:extLst xmlns:a="http://schemas.openxmlformats.org/drawingml/2006/main">
              <a:ext uri="{FF2B5EF4-FFF2-40B4-BE49-F238E27FC236}">
                <a16:creationId xmlns:a16="http://schemas.microsoft.com/office/drawing/2014/main" id="{E354C0E0-72CE-4432-87F5-2B63E936E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CloudGuard workshop</a:t>
            </a:r>
          </a:p>
        </p:txBody>
      </p:sp>
      <p:sp>
        <p:nvSpPr>
          <p:cNvPr id="7" name="page-12">
            <a:extLst xmlns:a="http://schemas.openxmlformats.org/drawingml/2006/main">
              <a:ext uri="{FF2B5EF4-FFF2-40B4-BE49-F238E27FC236}">
                <a16:creationId xmlns:a16="http://schemas.microsoft.com/office/drawing/2014/main" id="{322E360C-829B-4C7E-ABE1-544038C0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8" name="provider-band-12">
            <a:extLst xmlns:a="http://schemas.openxmlformats.org/drawingml/2006/main">
              <a:ext uri="{FF2B5EF4-FFF2-40B4-BE49-F238E27FC236}">
                <a16:creationId xmlns:a16="http://schemas.microsoft.com/office/drawing/2014/main" id="{3B66473D-3262-4852-9375-E8B09BFD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32861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6CE5"/>
          </a:solidFill>
          <a:ln xmlns:a="http://schemas.openxmlformats.org/drawingml/2006/main" w="0">
            <a:solidFill>
              <a:srgbClr val="326CE5"/>
            </a:solidFill>
            <a:prstDash val="solid"/>
          </a:ln>
        </p:spPr>
      </p:sp>
      <p:sp>
        <p:nvSpPr>
          <p:cNvPr id="9" name="provider-name-12">
            <a:extLst xmlns:a="http://schemas.openxmlformats.org/drawingml/2006/main">
              <a:ext uri="{FF2B5EF4-FFF2-40B4-BE49-F238E27FC236}">
                <a16:creationId xmlns:a16="http://schemas.microsoft.com/office/drawing/2014/main" id="{E236A984-59F0-4D8A-B5EB-3D37C941C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193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Kubernetes</a:t>
            </a:r>
          </a:p>
        </p:txBody>
      </p:sp>
      <p:sp>
        <p:nvSpPr>
          <p:cNvPr id="10" name="provider-target-label-12">
            <a:extLst xmlns:a="http://schemas.openxmlformats.org/drawingml/2006/main">
              <a:ext uri="{FF2B5EF4-FFF2-40B4-BE49-F238E27FC236}">
                <a16:creationId xmlns:a16="http://schemas.microsoft.com/office/drawing/2014/main" id="{62C2C676-D427-4BFA-9832-B6525B797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Prepared targets</a:t>
            </a:r>
          </a:p>
        </p:txBody>
      </p:sp>
      <p:sp>
        <p:nvSpPr>
          <p:cNvPr id="11" name="provider-targets-12">
            <a:extLst xmlns:a="http://schemas.openxmlformats.org/drawingml/2006/main">
              <a:ext uri="{FF2B5EF4-FFF2-40B4-BE49-F238E27FC236}">
                <a16:creationId xmlns:a16="http://schemas.microsoft.com/office/drawing/2014/main" id="{6986335E-53BA-4C52-930A-FE59228A8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266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Cluster-admin service account binding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Privileged workload with host access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NodePort, LoadBalancer, and broad ingress</a:t>
            </a:r>
          </a:p>
        </p:txBody>
      </p:sp>
      <p:sp>
        <p:nvSpPr>
          <p:cNvPr id="12" name="provider-run-label-12">
            <a:extLst xmlns:a="http://schemas.openxmlformats.org/drawingml/2006/main">
              <a:ext uri="{FF2B5EF4-FFF2-40B4-BE49-F238E27FC236}">
                <a16:creationId xmlns:a16="http://schemas.microsoft.com/office/drawing/2014/main" id="{74E32932-6AD3-4A9F-A769-919A37CF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478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26C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26CE5"/>
                </a:solidFill>
                <a:latin typeface="Helvetica Neue"/>
                <a:ea typeface="Helvetica Neue"/>
                <a:cs typeface="Helvetica Neue"/>
              </a:rPr>
              <a:t>Demonstration sequence</a:t>
            </a:r>
          </a:p>
        </p:txBody>
      </p:sp>
      <p:sp>
        <p:nvSpPr>
          <p:cNvPr id="13" name="provider-run-num-12-0">
            <a:extLst xmlns:a="http://schemas.openxmlformats.org/drawingml/2006/main">
              <a:ext uri="{FF2B5EF4-FFF2-40B4-BE49-F238E27FC236}">
                <a16:creationId xmlns:a16="http://schemas.microsoft.com/office/drawing/2014/main" id="{1BA8CDC1-2D40-4467-B5F6-3F9F75F6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00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C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26CE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4" name="provider-run-12-0">
            <a:extLst xmlns:a="http://schemas.openxmlformats.org/drawingml/2006/main">
              <a:ext uri="{FF2B5EF4-FFF2-40B4-BE49-F238E27FC236}">
                <a16:creationId xmlns:a16="http://schemas.microsoft.com/office/drawing/2014/main" id="{E6F7DA9B-0F9F-49AC-A85D-75F726318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343150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Confirm the disposable cluster and cloudguard-test namespace</a:t>
            </a:r>
          </a:p>
        </p:txBody>
      </p:sp>
      <p:sp>
        <p:nvSpPr>
          <p:cNvPr id="15" name="provider-run-num-12-1">
            <a:extLst xmlns:a="http://schemas.openxmlformats.org/drawingml/2006/main">
              <a:ext uri="{FF2B5EF4-FFF2-40B4-BE49-F238E27FC236}">
                <a16:creationId xmlns:a16="http://schemas.microsoft.com/office/drawing/2014/main" id="{DE2BBC8E-F3DE-4F51-9365-1BE8428B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289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C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26CE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6" name="provider-run-12-1">
            <a:extLst xmlns:a="http://schemas.openxmlformats.org/drawingml/2006/main">
              <a:ext uri="{FF2B5EF4-FFF2-40B4-BE49-F238E27FC236}">
                <a16:creationId xmlns:a16="http://schemas.microsoft.com/office/drawing/2014/main" id="{8515B2F0-E87D-4942-9401-AFB65B00C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971800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Launch the Kubernetes scan with the assigned kubeconfig</a:t>
            </a:r>
          </a:p>
        </p:txBody>
      </p:sp>
      <p:sp>
        <p:nvSpPr>
          <p:cNvPr id="17" name="provider-run-num-12-2">
            <a:extLst xmlns:a="http://schemas.openxmlformats.org/drawingml/2006/main">
              <a:ext uri="{FF2B5EF4-FFF2-40B4-BE49-F238E27FC236}">
                <a16:creationId xmlns:a16="http://schemas.microsoft.com/office/drawing/2014/main" id="{376BF1C4-B560-43E8-9FE1-5FD62325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57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C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26CE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8" name="provider-run-12-2">
            <a:extLst xmlns:a="http://schemas.openxmlformats.org/drawingml/2006/main">
              <a:ext uri="{FF2B5EF4-FFF2-40B4-BE49-F238E27FC236}">
                <a16:creationId xmlns:a16="http://schemas.microsoft.com/office/drawing/2014/main" id="{A4C64094-04AF-4BFC-B0DE-DDC301B5B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600450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Inspect workload, RBAC, service, and network findings</a:t>
            </a:r>
          </a:p>
        </p:txBody>
      </p:sp>
      <p:sp>
        <p:nvSpPr>
          <p:cNvPr id="19" name="provider-run-num-12-3">
            <a:extLst xmlns:a="http://schemas.openxmlformats.org/drawingml/2006/main">
              <a:ext uri="{FF2B5EF4-FFF2-40B4-BE49-F238E27FC236}">
                <a16:creationId xmlns:a16="http://schemas.microsoft.com/office/drawing/2014/main" id="{A1BDD4B1-184C-4133-8D50-E136CD41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862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C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26CE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0" name="provider-run-12-3">
            <a:extLst xmlns:a="http://schemas.openxmlformats.org/drawingml/2006/main">
              <a:ext uri="{FF2B5EF4-FFF2-40B4-BE49-F238E27FC236}">
                <a16:creationId xmlns:a16="http://schemas.microsoft.com/office/drawing/2014/main" id="{0720A434-F128-4AF7-98BB-B0A7F7FE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229100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Compare the manifest with the live cluster state</a:t>
            </a:r>
          </a:p>
        </p:txBody>
      </p:sp>
      <p:sp>
        <p:nvSpPr>
          <p:cNvPr id="21" name="provider-takeaway-bg-12">
            <a:extLst xmlns:a="http://schemas.openxmlformats.org/drawingml/2006/main">
              <a:ext uri="{FF2B5EF4-FFF2-40B4-BE49-F238E27FC236}">
                <a16:creationId xmlns:a16="http://schemas.microsoft.com/office/drawing/2014/main" id="{CF4BC482-DDCB-4E25-BB6B-E0D5B321F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67300"/>
            <a:ext cx="695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5"/>
          </a:solidFill>
          <a:ln xmlns:a="http://schemas.openxmlformats.org/drawingml/2006/main" w="0">
            <a:solidFill>
              <a:srgbClr val="F2F7F5"/>
            </a:solidFill>
            <a:prstDash val="solid"/>
          </a:ln>
        </p:spPr>
      </p:sp>
      <p:sp>
        <p:nvSpPr>
          <p:cNvPr id="22" name="provider-takeaway-12">
            <a:extLst xmlns:a="http://schemas.openxmlformats.org/drawingml/2006/main">
              <a:ext uri="{FF2B5EF4-FFF2-40B4-BE49-F238E27FC236}">
                <a16:creationId xmlns:a16="http://schemas.microsoft.com/office/drawing/2014/main" id="{DB53D8E2-831C-4956-A28C-6E207CF7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267325"/>
            <a:ext cx="647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Prioritize the finding that creates the largest cluster blast radius.</a:t>
            </a:r>
          </a:p>
        </p:txBody>
      </p:sp>
    </p:spTree>
    <p:extLst>
      <p:ext uri="{BB962C8B-B14F-4D97-AF65-F5344CB8AC3E}">
        <p14:creationId xmlns:p14="http://schemas.microsoft.com/office/powerpoint/2010/main" val="199708254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ection-13">
            <a:extLst xmlns:a="http://schemas.openxmlformats.org/drawingml/2006/main">
              <a:ext uri="{FF2B5EF4-FFF2-40B4-BE49-F238E27FC236}">
                <a16:creationId xmlns:a16="http://schemas.microsoft.com/office/drawing/2014/main" id="{8A91D88C-60A8-4FCC-9C9F-614CFF6FF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F6E1BCE7-0AA3-4D6C-9815-94C0D0435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Infrastructure as Code scanner walkthrough</a:t>
            </a:r>
          </a:p>
        </p:txBody>
      </p:sp>
      <p:sp>
        <p:nvSpPr>
          <p:cNvPr id="3" name="title-rule-13">
            <a:extLst xmlns:a="http://schemas.openxmlformats.org/drawingml/2006/main">
              <a:ext uri="{FF2B5EF4-FFF2-40B4-BE49-F238E27FC236}">
                <a16:creationId xmlns:a16="http://schemas.microsoft.com/office/drawing/2014/main" id="{A011E6EE-E300-4845-ABA2-5D0000943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5"/>
          </a:solidFill>
          <a:ln xmlns:a="http://schemas.openxmlformats.org/drawingml/2006/main" w="0">
            <a:solidFill>
              <a:srgbClr val="B9C9C5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df944934db488e"/>
          <a:stretch xmlns:a="http://schemas.openxmlformats.org/drawingml/2006/main"/>
        </p:blipFill>
        <p:spPr>
          <a:xfrm xmlns:a="http://schemas.openxmlformats.org/drawingml/2006/main">
            <a:off x="10858500" y="2667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brand-name-13">
            <a:extLst xmlns:a="http://schemas.openxmlformats.org/drawingml/2006/main">
              <a:ext uri="{FF2B5EF4-FFF2-40B4-BE49-F238E27FC236}">
                <a16:creationId xmlns:a16="http://schemas.microsoft.com/office/drawing/2014/main" id="{C0E4CA5F-719A-47DC-A2FF-38E85E04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DeepTrustxAI</a:t>
            </a:r>
          </a:p>
        </p:txBody>
      </p:sp>
      <p:sp>
        <p:nvSpPr>
          <p:cNvPr id="6" name="footer-13">
            <a:extLst xmlns:a="http://schemas.openxmlformats.org/drawingml/2006/main">
              <a:ext uri="{FF2B5EF4-FFF2-40B4-BE49-F238E27FC236}">
                <a16:creationId xmlns:a16="http://schemas.microsoft.com/office/drawing/2014/main" id="{B3906F64-870C-45CA-8342-B873BB69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CloudGuard workshop</a:t>
            </a:r>
          </a:p>
        </p:txBody>
      </p:sp>
      <p:sp>
        <p:nvSpPr>
          <p:cNvPr id="7" name="page-13">
            <a:extLst xmlns:a="http://schemas.openxmlformats.org/drawingml/2006/main">
              <a:ext uri="{FF2B5EF4-FFF2-40B4-BE49-F238E27FC236}">
                <a16:creationId xmlns:a16="http://schemas.microsoft.com/office/drawing/2014/main" id="{6D4EB93D-715F-481F-96A2-4242DB80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8" name="iac-code-bg">
            <a:extLst xmlns:a="http://schemas.openxmlformats.org/drawingml/2006/main">
              <a:ext uri="{FF2B5EF4-FFF2-40B4-BE49-F238E27FC236}">
                <a16:creationId xmlns:a16="http://schemas.microsoft.com/office/drawing/2014/main" id="{5A1754EA-6274-4304-9FF6-7E812401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19"/>
          </a:solidFill>
          <a:ln xmlns:a="http://schemas.openxmlformats.org/drawingml/2006/main" w="0">
            <a:solidFill>
              <a:srgbClr val="0B1D19"/>
            </a:solidFill>
            <a:prstDash val="solid"/>
          </a:ln>
        </p:spPr>
      </p:sp>
      <p:sp>
        <p:nvSpPr>
          <p:cNvPr id="9" name="iac-code-label">
            <a:extLst xmlns:a="http://schemas.openxmlformats.org/drawingml/2006/main">
              <a:ext uri="{FF2B5EF4-FFF2-40B4-BE49-F238E27FC236}">
                <a16:creationId xmlns:a16="http://schemas.microsoft.com/office/drawing/2014/main" id="{C237678D-6B41-4088-B9B6-EC6F6662A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2D7B0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42D7B0"/>
                </a:solidFill>
                <a:latin typeface="Menlo"/>
                <a:ea typeface="Menlo"/>
                <a:cs typeface="Menlo"/>
              </a:rPr>
              <a:t>vulnerable-aws.tf</a:t>
            </a:r>
          </a:p>
        </p:txBody>
      </p:sp>
      <p:sp>
        <p:nvSpPr>
          <p:cNvPr id="10" name="iac-code">
            <a:extLst xmlns:a="http://schemas.openxmlformats.org/drawingml/2006/main">
              <a:ext uri="{FF2B5EF4-FFF2-40B4-BE49-F238E27FC236}">
                <a16:creationId xmlns:a16="http://schemas.microsoft.com/office/drawing/2014/main" id="{CF7E4BD3-0C0E-4435-A506-32BC5645D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4476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public bucket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open ingress from 0.0.0.0/0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public unencrypted database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wildcard IAM policy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Workshop rule: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scan the files, never apply them</a:t>
            </a:r>
          </a:p>
        </p:txBody>
      </p:sp>
      <p:sp>
        <p:nvSpPr>
          <p:cNvPr id="11" name="iac-predict">
            <a:extLst xmlns:a="http://schemas.openxmlformats.org/drawingml/2006/main">
              <a:ext uri="{FF2B5EF4-FFF2-40B4-BE49-F238E27FC236}">
                <a16:creationId xmlns:a16="http://schemas.microsoft.com/office/drawing/2014/main" id="{6C2AD76A-50B1-4419-88F5-044E6031B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431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rPr>
              <a:t>Predict before scanning</a:t>
            </a:r>
          </a:p>
        </p:txBody>
      </p:sp>
      <p:sp>
        <p:nvSpPr>
          <p:cNvPr id="12" name="iac-steps">
            <a:extLst xmlns:a="http://schemas.openxmlformats.org/drawingml/2006/main">
              <a:ext uri="{FF2B5EF4-FFF2-40B4-BE49-F238E27FC236}">
                <a16:creationId xmlns:a16="http://schemas.microsoft.com/office/drawing/2014/main" id="{B2EB6B2B-23DB-455F-9943-F46C78E7B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717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42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Upload the Terraform, CloudFormation, and Kubernetes fixtures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42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Record the findings participants expect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42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Run the local IaC scan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42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Compare file and line evidence with the predictions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42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Correct one setting and rescan</a:t>
            </a:r>
          </a:p>
        </p:txBody>
      </p:sp>
      <p:sp>
        <p:nvSpPr>
          <p:cNvPr id="13" name="iac-note-bg">
            <a:extLst xmlns:a="http://schemas.openxmlformats.org/drawingml/2006/main">
              <a:ext uri="{FF2B5EF4-FFF2-40B4-BE49-F238E27FC236}">
                <a16:creationId xmlns:a16="http://schemas.microsoft.com/office/drawing/2014/main" id="{83939B21-31D1-415B-BD05-A06CA757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238750"/>
            <a:ext cx="4705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7EF"/>
          </a:solidFill>
          <a:ln xmlns:a="http://schemas.openxmlformats.org/drawingml/2006/main" w="0">
            <a:solidFill>
              <a:srgbClr val="DDF7EF"/>
            </a:solidFill>
            <a:prstDash val="solid"/>
          </a:ln>
        </p:spPr>
      </p:sp>
      <p:sp>
        <p:nvSpPr>
          <p:cNvPr id="14" name="iac-note">
            <a:extLst xmlns:a="http://schemas.openxmlformats.org/drawingml/2006/main">
              <a:ext uri="{FF2B5EF4-FFF2-40B4-BE49-F238E27FC236}">
                <a16:creationId xmlns:a16="http://schemas.microsoft.com/office/drawing/2014/main" id="{620784AD-E1BD-4DDD-9F21-046F4813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410200"/>
            <a:ext cx="430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This scanner is the fastest live fallback because it has no cloud dependency.</a:t>
            </a:r>
          </a:p>
        </p:txBody>
      </p:sp>
    </p:spTree>
    <p:extLst>
      <p:ext uri="{BB962C8B-B14F-4D97-AF65-F5344CB8AC3E}">
        <p14:creationId xmlns:p14="http://schemas.microsoft.com/office/powerpoint/2010/main" val="175878396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-14">
            <a:extLst xmlns:a="http://schemas.openxmlformats.org/drawingml/2006/main">
              <a:ext uri="{FF2B5EF4-FFF2-40B4-BE49-F238E27FC236}">
                <a16:creationId xmlns:a16="http://schemas.microsoft.com/office/drawing/2014/main" id="{A7E07D60-C361-47D4-9249-E2029B49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2" name="title-14">
            <a:extLst xmlns:a="http://schemas.openxmlformats.org/drawingml/2006/main">
              <a:ext uri="{FF2B5EF4-FFF2-40B4-BE49-F238E27FC236}">
                <a16:creationId xmlns:a16="http://schemas.microsoft.com/office/drawing/2014/main" id="{16A0610B-7832-46B7-87DB-E06F5E39D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Cross-scanner comparison</a:t>
            </a:r>
          </a:p>
        </p:txBody>
      </p:sp>
      <p:sp>
        <p:nvSpPr>
          <p:cNvPr id="3" name="title-rule-14">
            <a:extLst xmlns:a="http://schemas.openxmlformats.org/drawingml/2006/main">
              <a:ext uri="{FF2B5EF4-FFF2-40B4-BE49-F238E27FC236}">
                <a16:creationId xmlns:a16="http://schemas.microsoft.com/office/drawing/2014/main" id="{80B0348F-C739-45D6-8387-E680076BA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5"/>
          </a:solidFill>
          <a:ln xmlns:a="http://schemas.openxmlformats.org/drawingml/2006/main" w="0">
            <a:solidFill>
              <a:srgbClr val="B9C9C5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322331ee4a4240"/>
          <a:stretch xmlns:a="http://schemas.openxmlformats.org/drawingml/2006/main"/>
        </p:blipFill>
        <p:spPr>
          <a:xfrm xmlns:a="http://schemas.openxmlformats.org/drawingml/2006/main">
            <a:off x="10858500" y="2667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brand-name-14">
            <a:extLst xmlns:a="http://schemas.openxmlformats.org/drawingml/2006/main">
              <a:ext uri="{FF2B5EF4-FFF2-40B4-BE49-F238E27FC236}">
                <a16:creationId xmlns:a16="http://schemas.microsoft.com/office/drawing/2014/main" id="{70687BBC-1FAE-477D-8017-C4546D6DE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DeepTrustxAI</a:t>
            </a:r>
          </a:p>
        </p:txBody>
      </p:sp>
      <p:sp>
        <p:nvSpPr>
          <p:cNvPr id="6" name="footer-14">
            <a:extLst xmlns:a="http://schemas.openxmlformats.org/drawingml/2006/main">
              <a:ext uri="{FF2B5EF4-FFF2-40B4-BE49-F238E27FC236}">
                <a16:creationId xmlns:a16="http://schemas.microsoft.com/office/drawing/2014/main" id="{5E5B8833-99BA-4708-B5F6-D7E77908A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CloudGuard workshop</a:t>
            </a:r>
          </a:p>
        </p:txBody>
      </p:sp>
      <p:sp>
        <p:nvSpPr>
          <p:cNvPr id="7" name="page-14">
            <a:extLst xmlns:a="http://schemas.openxmlformats.org/drawingml/2006/main">
              <a:ext uri="{FF2B5EF4-FFF2-40B4-BE49-F238E27FC236}">
                <a16:creationId xmlns:a16="http://schemas.microsoft.com/office/drawing/2014/main" id="{0862FD3B-AF7D-4E77-ACD3-27CB1464B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533400" y="1809750"/>
          <a:ext xmlns:a="http://schemas.openxmlformats.org/drawingml/2006/main" cx="11125200" cy="3562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2667000"/>
                <a:gridCol w="2381250"/>
                <a:gridCol w="2000250"/>
                <a:gridCol w="2457450"/>
              </a:tblGrid>
              <a:tr h="71247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Scanner</a:t>
                      </a:r>
                    </a:p>
                  </a:txBody>
                  <a:tcPr marL="91440" marR="91440" marT="45720" marB="45720">
                    <a:solidFill>
                      <a:srgbClr val="0B1D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Example finding</a:t>
                      </a:r>
                    </a:p>
                  </a:txBody>
                  <a:tcPr marL="91440" marR="91440" marT="45720" marB="45720">
                    <a:solidFill>
                      <a:srgbClr val="0B1D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Primary proof</a:t>
                      </a:r>
                    </a:p>
                  </a:txBody>
                  <a:tcPr marL="91440" marR="91440" marT="45720" marB="45720">
                    <a:solidFill>
                      <a:srgbClr val="0B1D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Likely owner</a:t>
                      </a:r>
                    </a:p>
                  </a:txBody>
                  <a:tcPr marL="91440" marR="91440" marT="45720" marB="45720">
                    <a:solidFill>
                      <a:srgbClr val="0B1D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Closure</a:t>
                      </a:r>
                    </a:p>
                  </a:txBody>
                  <a:tcPr marL="91440" marR="91440" marT="45720" marB="45720">
                    <a:solidFill>
                      <a:srgbClr val="0B1D19"/>
                    </a:solidFill>
                  </a:tcPr>
                </a:tc>
              </a:tr>
              <a:tr h="71247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AWS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Public storage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Bucket policy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Cloud team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Policy change and rescan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</a:tr>
              <a:tr h="71247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GCP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Public IAM binding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IAM policy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Cloud team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Binding removed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247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Kubernetes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Privileged workload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Pod and RBAC spec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Platform team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Manifest change and rescan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</a:tr>
              <a:tr h="71247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IaC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Broad ingress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File and line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DevOps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Corrected code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comparison-prompt">
            <a:extLst xmlns:a="http://schemas.openxmlformats.org/drawingml/2006/main">
              <a:ext uri="{FF2B5EF4-FFF2-40B4-BE49-F238E27FC236}">
                <a16:creationId xmlns:a16="http://schemas.microsoft.com/office/drawing/2014/main" id="{885B9FCB-D487-4F05-8AF1-912BB9A8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Discussion: Which finding should be fixed first, and what context would change the answer?</a:t>
            </a:r>
          </a:p>
        </p:txBody>
      </p:sp>
    </p:spTree>
    <p:extLst>
      <p:ext uri="{BB962C8B-B14F-4D97-AF65-F5344CB8AC3E}">
        <p14:creationId xmlns:p14="http://schemas.microsoft.com/office/powerpoint/2010/main" val="71894845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D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c3f9d41ef34b55"/>
          <a:stretch xmlns:a="http://schemas.openxmlformats.org/drawingml/2006/main"/>
        </p:blipFill>
        <p:spPr>
          <a:xfrm xmlns:a="http://schemas.openxmlformats.org/drawingml/2006/main">
            <a:off x="10858500" y="2667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2" name="brand-name-15">
            <a:extLst xmlns:a="http://schemas.openxmlformats.org/drawingml/2006/main">
              <a:ext uri="{FF2B5EF4-FFF2-40B4-BE49-F238E27FC236}">
                <a16:creationId xmlns:a16="http://schemas.microsoft.com/office/drawing/2014/main" id="{617B45C0-4757-4A48-86E9-1FB11D4D0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DeepTrustxAI</a:t>
            </a:r>
          </a:p>
        </p:txBody>
      </p:sp>
      <p:sp>
        <p:nvSpPr>
          <p:cNvPr id="3" name="module-label-15">
            <a:extLst xmlns:a="http://schemas.openxmlformats.org/drawingml/2006/main">
              <a:ext uri="{FF2B5EF4-FFF2-40B4-BE49-F238E27FC236}">
                <a16:creationId xmlns:a16="http://schemas.microsoft.com/office/drawing/2014/main" id="{12FD98E8-5654-4F0A-85E3-B9DDBD5F9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rPr>
              <a:t>MODULE 3</a:t>
            </a:r>
          </a:p>
        </p:txBody>
      </p:sp>
      <p:sp>
        <p:nvSpPr>
          <p:cNvPr id="4" name="module-title-15">
            <a:extLst xmlns:a="http://schemas.openxmlformats.org/drawingml/2006/main">
              <a:ext uri="{FF2B5EF4-FFF2-40B4-BE49-F238E27FC236}">
                <a16:creationId xmlns:a16="http://schemas.microsoft.com/office/drawing/2014/main" id="{78299202-EA23-41A1-9EA5-A5E5BD68F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838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Practical lab</a:t>
            </a:r>
          </a:p>
          <a:p xmlns:a="http://schemas.openxmlformats.org/drawingml/2006/main">
            <a:pPr algn="l">
              <a:def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exercises</a:t>
            </a:r>
          </a:p>
        </p:txBody>
      </p:sp>
      <p:sp>
        <p:nvSpPr>
          <p:cNvPr id="5" name="module-purpose-15">
            <a:extLst xmlns:a="http://schemas.openxmlformats.org/drawingml/2006/main">
              <a:ext uri="{FF2B5EF4-FFF2-40B4-BE49-F238E27FC236}">
                <a16:creationId xmlns:a16="http://schemas.microsoft.com/office/drawing/2014/main" id="{AF4AF3A4-45D7-4DEC-9298-E46AAC454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95700"/>
            <a:ext cx="723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8CBC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B8CBC6"/>
                </a:solidFill>
                <a:latin typeface="Helvetica Neue"/>
                <a:ea typeface="Helvetica Neue"/>
                <a:cs typeface="Helvetica Neue"/>
              </a:rPr>
              <a:t>Participants use the four scanners in separate exercises and submit evidence from each one.</a:t>
            </a:r>
          </a:p>
        </p:txBody>
      </p:sp>
      <p:sp>
        <p:nvSpPr>
          <p:cNvPr id="6" name="module-time-15">
            <a:extLst xmlns:a="http://schemas.openxmlformats.org/drawingml/2006/main">
              <a:ext uri="{FF2B5EF4-FFF2-40B4-BE49-F238E27FC236}">
                <a16:creationId xmlns:a16="http://schemas.microsoft.com/office/drawing/2014/main" id="{DE33CC38-B854-4899-B828-2C753982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6250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rPr>
              <a:t>45 minutes</a:t>
            </a:r>
          </a:p>
        </p:txBody>
      </p:sp>
      <p:sp>
        <p:nvSpPr>
          <p:cNvPr id="7" name="module-rule-15">
            <a:extLst xmlns:a="http://schemas.openxmlformats.org/drawingml/2006/main">
              <a:ext uri="{FF2B5EF4-FFF2-40B4-BE49-F238E27FC236}">
                <a16:creationId xmlns:a16="http://schemas.microsoft.com/office/drawing/2014/main" id="{33999D58-4271-4861-95EC-F6739B72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91150"/>
            <a:ext cx="1076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56E"/>
          </a:solidFill>
          <a:ln xmlns:a="http://schemas.openxmlformats.org/drawingml/2006/main" w="0">
            <a:solidFill>
              <a:srgbClr val="11856E"/>
            </a:solidFill>
            <a:prstDash val="solid"/>
          </a:ln>
        </p:spPr>
      </p:sp>
      <p:sp>
        <p:nvSpPr>
          <p:cNvPr id="8" name="module-footer-15">
            <a:extLst xmlns:a="http://schemas.openxmlformats.org/drawingml/2006/main">
              <a:ext uri="{FF2B5EF4-FFF2-40B4-BE49-F238E27FC236}">
                <a16:creationId xmlns:a16="http://schemas.microsoft.com/office/drawing/2014/main" id="{327A9E9D-4CC5-4C96-8450-139CA33E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483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6A3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86A39C"/>
                </a:solidFill>
                <a:latin typeface="Helvetica Neue"/>
                <a:ea typeface="Helvetica Neue"/>
                <a:cs typeface="Helvetica Neue"/>
              </a:rPr>
              <a:t>DeepTrustxAI CloudGuard workshop</a:t>
            </a:r>
          </a:p>
        </p:txBody>
      </p:sp>
      <p:sp>
        <p:nvSpPr>
          <p:cNvPr id="9" name="module-page-15">
            <a:extLst xmlns:a="http://schemas.openxmlformats.org/drawingml/2006/main">
              <a:ext uri="{FF2B5EF4-FFF2-40B4-BE49-F238E27FC236}">
                <a16:creationId xmlns:a16="http://schemas.microsoft.com/office/drawing/2014/main" id="{2E4318BD-A17F-450E-A4F6-A5989FA75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8483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6A3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86A39C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05977816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ection-16">
            <a:extLst xmlns:a="http://schemas.openxmlformats.org/drawingml/2006/main">
              <a:ext uri="{FF2B5EF4-FFF2-40B4-BE49-F238E27FC236}">
                <a16:creationId xmlns:a16="http://schemas.microsoft.com/office/drawing/2014/main" id="{50A980B3-D762-471B-B236-F881397B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rPr>
              <a:t>MODULE 3</a:t>
            </a:r>
          </a:p>
        </p:txBody>
      </p:sp>
      <p:sp>
        <p:nvSpPr>
          <p:cNvPr id="2" name="title-16">
            <a:extLst xmlns:a="http://schemas.openxmlformats.org/drawingml/2006/main">
              <a:ext uri="{FF2B5EF4-FFF2-40B4-BE49-F238E27FC236}">
                <a16:creationId xmlns:a16="http://schemas.microsoft.com/office/drawing/2014/main" id="{45C74D24-14FE-46B0-98E5-27AEBC64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Lab 1: AWS scanner</a:t>
            </a:r>
          </a:p>
        </p:txBody>
      </p:sp>
      <p:sp>
        <p:nvSpPr>
          <p:cNvPr id="3" name="title-rule-16">
            <a:extLst xmlns:a="http://schemas.openxmlformats.org/drawingml/2006/main">
              <a:ext uri="{FF2B5EF4-FFF2-40B4-BE49-F238E27FC236}">
                <a16:creationId xmlns:a16="http://schemas.microsoft.com/office/drawing/2014/main" id="{782495BF-FBEB-48DB-87F9-F369D3D73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5"/>
          </a:solidFill>
          <a:ln xmlns:a="http://schemas.openxmlformats.org/drawingml/2006/main" w="0">
            <a:solidFill>
              <a:srgbClr val="B9C9C5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eced7b27c945c9"/>
          <a:stretch xmlns:a="http://schemas.openxmlformats.org/drawingml/2006/main"/>
        </p:blipFill>
        <p:spPr>
          <a:xfrm xmlns:a="http://schemas.openxmlformats.org/drawingml/2006/main">
            <a:off x="10858500" y="2667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brand-name-16">
            <a:extLst xmlns:a="http://schemas.openxmlformats.org/drawingml/2006/main">
              <a:ext uri="{FF2B5EF4-FFF2-40B4-BE49-F238E27FC236}">
                <a16:creationId xmlns:a16="http://schemas.microsoft.com/office/drawing/2014/main" id="{8DDFBDDD-2300-44FC-8A6D-9CF7A261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DeepTrustxAI</a:t>
            </a:r>
          </a:p>
        </p:txBody>
      </p:sp>
      <p:sp>
        <p:nvSpPr>
          <p:cNvPr id="6" name="footer-16">
            <a:extLst xmlns:a="http://schemas.openxmlformats.org/drawingml/2006/main">
              <a:ext uri="{FF2B5EF4-FFF2-40B4-BE49-F238E27FC236}">
                <a16:creationId xmlns:a16="http://schemas.microsoft.com/office/drawing/2014/main" id="{EDD8DE2C-A31E-40FA-B84D-4F1E0DF3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CloudGuard workshop</a:t>
            </a:r>
          </a:p>
        </p:txBody>
      </p:sp>
      <p:sp>
        <p:nvSpPr>
          <p:cNvPr id="7" name="page-16">
            <a:extLst xmlns:a="http://schemas.openxmlformats.org/drawingml/2006/main">
              <a:ext uri="{FF2B5EF4-FFF2-40B4-BE49-F238E27FC236}">
                <a16:creationId xmlns:a16="http://schemas.microsoft.com/office/drawing/2014/main" id="{90832311-B5CF-4A36-8E12-E38643B4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8" name="lab-band-16">
            <a:extLst xmlns:a="http://schemas.openxmlformats.org/drawingml/2006/main">
              <a:ext uri="{FF2B5EF4-FFF2-40B4-BE49-F238E27FC236}">
                <a16:creationId xmlns:a16="http://schemas.microsoft.com/office/drawing/2014/main" id="{6F0BF386-E3BC-48FE-B54E-270C6DF9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2381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9" name="lab-number-16">
            <a:extLst xmlns:a="http://schemas.openxmlformats.org/drawingml/2006/main">
              <a:ext uri="{FF2B5EF4-FFF2-40B4-BE49-F238E27FC236}">
                <a16:creationId xmlns:a16="http://schemas.microsoft.com/office/drawing/2014/main" id="{A5E5C686-4883-465E-BF95-A894D0AF0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LAB 1</a:t>
            </a:r>
          </a:p>
        </p:txBody>
      </p:sp>
      <p:sp>
        <p:nvSpPr>
          <p:cNvPr id="10" name="lab-provider-16">
            <a:extLst xmlns:a="http://schemas.openxmlformats.org/drawingml/2006/main">
              <a:ext uri="{FF2B5EF4-FFF2-40B4-BE49-F238E27FC236}">
                <a16:creationId xmlns:a16="http://schemas.microsoft.com/office/drawing/2014/main" id="{1B9118C2-8DF9-49A9-BCB9-4FA527A5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985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AWS</a:t>
            </a:r>
          </a:p>
        </p:txBody>
      </p:sp>
      <p:sp>
        <p:nvSpPr>
          <p:cNvPr id="11" name="lab-time-label-16">
            <a:extLst xmlns:a="http://schemas.openxmlformats.org/drawingml/2006/main">
              <a:ext uri="{FF2B5EF4-FFF2-40B4-BE49-F238E27FC236}">
                <a16:creationId xmlns:a16="http://schemas.microsoft.com/office/drawing/2014/main" id="{8B63F94D-D8E1-46DF-9B6C-6CACFE72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Participant time</a:t>
            </a:r>
          </a:p>
        </p:txBody>
      </p:sp>
      <p:sp>
        <p:nvSpPr>
          <p:cNvPr id="12" name="lab-time-16">
            <a:extLst xmlns:a="http://schemas.openxmlformats.org/drawingml/2006/main">
              <a:ext uri="{FF2B5EF4-FFF2-40B4-BE49-F238E27FC236}">
                <a16:creationId xmlns:a16="http://schemas.microsoft.com/office/drawing/2014/main" id="{CC7B4EEF-24A5-4A44-8A28-B33EA2BF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 minutes</a:t>
            </a:r>
          </a:p>
        </p:txBody>
      </p:sp>
      <p:sp>
        <p:nvSpPr>
          <p:cNvPr id="13" name="lab-setup-label-16">
            <a:extLst xmlns:a="http://schemas.openxmlformats.org/drawingml/2006/main">
              <a:ext uri="{FF2B5EF4-FFF2-40B4-BE49-F238E27FC236}">
                <a16:creationId xmlns:a16="http://schemas.microsoft.com/office/drawing/2014/main" id="{8F5479FD-63AD-4D8B-A389-1A20FC78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47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rPr>
              <a:t>Starting point</a:t>
            </a:r>
          </a:p>
        </p:txBody>
      </p:sp>
      <p:sp>
        <p:nvSpPr>
          <p:cNvPr id="14" name="lab-setup-16">
            <a:extLst xmlns:a="http://schemas.openxmlformats.org/drawingml/2006/main">
              <a:ext uri="{FF2B5EF4-FFF2-40B4-BE49-F238E27FC236}">
                <a16:creationId xmlns:a16="http://schemas.microsoft.com/office/drawing/2014/main" id="{213CA4F9-A4C0-4187-9468-CB9EE77C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71700"/>
            <a:ext cx="752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Use the assigned AWS sandbox with the pre-created CloudGuard test resources.</a:t>
            </a:r>
          </a:p>
        </p:txBody>
      </p:sp>
      <p:sp>
        <p:nvSpPr>
          <p:cNvPr id="15" name="lab-task-label-16">
            <a:extLst xmlns:a="http://schemas.openxmlformats.org/drawingml/2006/main">
              <a:ext uri="{FF2B5EF4-FFF2-40B4-BE49-F238E27FC236}">
                <a16:creationId xmlns:a16="http://schemas.microsoft.com/office/drawing/2014/main" id="{8F244F67-F7AE-4F0F-8732-3A9EF41D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90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rPr>
              <a:t>Participant tasks</a:t>
            </a:r>
          </a:p>
        </p:txBody>
      </p:sp>
      <p:sp>
        <p:nvSpPr>
          <p:cNvPr id="16" name="lab-tasks-16">
            <a:extLst xmlns:a="http://schemas.openxmlformats.org/drawingml/2006/main">
              <a:ext uri="{FF2B5EF4-FFF2-40B4-BE49-F238E27FC236}">
                <a16:creationId xmlns:a16="http://schemas.microsoft.com/office/drawing/2014/main" id="{11CBB708-6FB5-4FF4-8AF4-5A21BAAD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14700"/>
            <a:ext cx="4953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Confirm the account ID and tagged lab resources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Run the AWS scan from the portal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Identify one storage and one IAM or network finding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Choose the higher-risk finding and explain why</a:t>
            </a:r>
          </a:p>
        </p:txBody>
      </p:sp>
      <p:sp>
        <p:nvSpPr>
          <p:cNvPr id="17" name="lab-evidence-label-16">
            <a:extLst xmlns:a="http://schemas.openxmlformats.org/drawingml/2006/main">
              <a:ext uri="{FF2B5EF4-FFF2-40B4-BE49-F238E27FC236}">
                <a16:creationId xmlns:a16="http://schemas.microsoft.com/office/drawing/2014/main" id="{F267C080-D59B-476B-81B0-360A4ECC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908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rPr>
              <a:t>Submit</a:t>
            </a:r>
          </a:p>
        </p:txBody>
      </p:sp>
      <p:sp>
        <p:nvSpPr>
          <p:cNvPr id="18" name="lab-evidence-16">
            <a:extLst xmlns:a="http://schemas.openxmlformats.org/drawingml/2006/main">
              <a:ext uri="{FF2B5EF4-FFF2-40B4-BE49-F238E27FC236}">
                <a16:creationId xmlns:a16="http://schemas.microsoft.com/office/drawing/2014/main" id="{D5F04E22-C160-417F-9D0D-8781B041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14700"/>
            <a:ext cx="266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27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Scan job ID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27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Finding ID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27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One evidence screenshot</a:t>
            </a:r>
          </a:p>
        </p:txBody>
      </p:sp>
      <p:sp>
        <p:nvSpPr>
          <p:cNvPr id="19" name="lab-finish-bg-16">
            <a:extLst xmlns:a="http://schemas.openxmlformats.org/drawingml/2006/main">
              <a:ext uri="{FF2B5EF4-FFF2-40B4-BE49-F238E27FC236}">
                <a16:creationId xmlns:a16="http://schemas.microsoft.com/office/drawing/2014/main" id="{4619622C-839D-479D-A9C1-7A953183C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38750"/>
            <a:ext cx="7848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5"/>
          </a:solidFill>
          <a:ln xmlns:a="http://schemas.openxmlformats.org/drawingml/2006/main" w="0">
            <a:solidFill>
              <a:srgbClr val="F2F7F5"/>
            </a:solidFill>
            <a:prstDash val="solid"/>
          </a:ln>
        </p:spPr>
      </p:sp>
      <p:sp>
        <p:nvSpPr>
          <p:cNvPr id="20" name="lab-finish-16">
            <a:extLst xmlns:a="http://schemas.openxmlformats.org/drawingml/2006/main">
              <a:ext uri="{FF2B5EF4-FFF2-40B4-BE49-F238E27FC236}">
                <a16:creationId xmlns:a16="http://schemas.microsoft.com/office/drawing/2014/main" id="{5908A774-02DF-49B6-A177-57C83741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410200"/>
            <a:ext cx="739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Completion check: the chosen finding includes an asset, proof, severity, and owner</a:t>
            </a:r>
          </a:p>
        </p:txBody>
      </p:sp>
    </p:spTree>
    <p:extLst>
      <p:ext uri="{BB962C8B-B14F-4D97-AF65-F5344CB8AC3E}">
        <p14:creationId xmlns:p14="http://schemas.microsoft.com/office/powerpoint/2010/main" val="93860106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ection-17">
            <a:extLst xmlns:a="http://schemas.openxmlformats.org/drawingml/2006/main">
              <a:ext uri="{FF2B5EF4-FFF2-40B4-BE49-F238E27FC236}">
                <a16:creationId xmlns:a16="http://schemas.microsoft.com/office/drawing/2014/main" id="{BF623CB5-76CC-4879-BBA2-ACD3A31D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rPr>
              <a:t>MODULE 3</a:t>
            </a:r>
          </a:p>
        </p:txBody>
      </p:sp>
      <p:sp>
        <p:nvSpPr>
          <p:cNvPr id="2" name="title-17">
            <a:extLst xmlns:a="http://schemas.openxmlformats.org/drawingml/2006/main">
              <a:ext uri="{FF2B5EF4-FFF2-40B4-BE49-F238E27FC236}">
                <a16:creationId xmlns:a16="http://schemas.microsoft.com/office/drawing/2014/main" id="{A5138B6E-25EE-40CE-A68A-565E846F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Lab 2: GCP scanner</a:t>
            </a:r>
          </a:p>
        </p:txBody>
      </p:sp>
      <p:sp>
        <p:nvSpPr>
          <p:cNvPr id="3" name="title-rule-17">
            <a:extLst xmlns:a="http://schemas.openxmlformats.org/drawingml/2006/main">
              <a:ext uri="{FF2B5EF4-FFF2-40B4-BE49-F238E27FC236}">
                <a16:creationId xmlns:a16="http://schemas.microsoft.com/office/drawing/2014/main" id="{F7029E0C-6CB7-4A78-9DB4-D9B3D763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5"/>
          </a:solidFill>
          <a:ln xmlns:a="http://schemas.openxmlformats.org/drawingml/2006/main" w="0">
            <a:solidFill>
              <a:srgbClr val="B9C9C5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0ba88e7cd84516"/>
          <a:stretch xmlns:a="http://schemas.openxmlformats.org/drawingml/2006/main"/>
        </p:blipFill>
        <p:spPr>
          <a:xfrm xmlns:a="http://schemas.openxmlformats.org/drawingml/2006/main">
            <a:off x="10858500" y="2667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brand-name-17">
            <a:extLst xmlns:a="http://schemas.openxmlformats.org/drawingml/2006/main">
              <a:ext uri="{FF2B5EF4-FFF2-40B4-BE49-F238E27FC236}">
                <a16:creationId xmlns:a16="http://schemas.microsoft.com/office/drawing/2014/main" id="{174F59FB-D43D-47A7-9EB5-388A2057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DeepTrustxAI</a:t>
            </a:r>
          </a:p>
        </p:txBody>
      </p:sp>
      <p:sp>
        <p:nvSpPr>
          <p:cNvPr id="6" name="footer-17">
            <a:extLst xmlns:a="http://schemas.openxmlformats.org/drawingml/2006/main">
              <a:ext uri="{FF2B5EF4-FFF2-40B4-BE49-F238E27FC236}">
                <a16:creationId xmlns:a16="http://schemas.microsoft.com/office/drawing/2014/main" id="{B5499224-504B-43C1-ABEC-D5504EB22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CloudGuard workshop</a:t>
            </a:r>
          </a:p>
        </p:txBody>
      </p:sp>
      <p:sp>
        <p:nvSpPr>
          <p:cNvPr id="7" name="page-17">
            <a:extLst xmlns:a="http://schemas.openxmlformats.org/drawingml/2006/main">
              <a:ext uri="{FF2B5EF4-FFF2-40B4-BE49-F238E27FC236}">
                <a16:creationId xmlns:a16="http://schemas.microsoft.com/office/drawing/2014/main" id="{6535EA79-0D37-40DD-AF6F-5896B089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sp>
        <p:nvSpPr>
          <p:cNvPr id="8" name="lab-band-17">
            <a:extLst xmlns:a="http://schemas.openxmlformats.org/drawingml/2006/main">
              <a:ext uri="{FF2B5EF4-FFF2-40B4-BE49-F238E27FC236}">
                <a16:creationId xmlns:a16="http://schemas.microsoft.com/office/drawing/2014/main" id="{18ACBBCF-3C4E-44B4-A3FE-1CFFB9DA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2381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solidFill>
              <a:srgbClr val="4285F4"/>
            </a:solidFill>
            <a:prstDash val="solid"/>
          </a:ln>
        </p:spPr>
      </p:sp>
      <p:sp>
        <p:nvSpPr>
          <p:cNvPr id="9" name="lab-number-17">
            <a:extLst xmlns:a="http://schemas.openxmlformats.org/drawingml/2006/main">
              <a:ext uri="{FF2B5EF4-FFF2-40B4-BE49-F238E27FC236}">
                <a16:creationId xmlns:a16="http://schemas.microsoft.com/office/drawing/2014/main" id="{2BF8B27A-580C-4BDF-8A05-CF2ADD1B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LAB 2</a:t>
            </a:r>
          </a:p>
        </p:txBody>
      </p:sp>
      <p:sp>
        <p:nvSpPr>
          <p:cNvPr id="10" name="lab-provider-17">
            <a:extLst xmlns:a="http://schemas.openxmlformats.org/drawingml/2006/main">
              <a:ext uri="{FF2B5EF4-FFF2-40B4-BE49-F238E27FC236}">
                <a16:creationId xmlns:a16="http://schemas.microsoft.com/office/drawing/2014/main" id="{EF6A2C33-3F7C-4EAA-9914-FF28C8EA5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985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GCP</a:t>
            </a:r>
          </a:p>
        </p:txBody>
      </p:sp>
      <p:sp>
        <p:nvSpPr>
          <p:cNvPr id="11" name="lab-time-label-17">
            <a:extLst xmlns:a="http://schemas.openxmlformats.org/drawingml/2006/main">
              <a:ext uri="{FF2B5EF4-FFF2-40B4-BE49-F238E27FC236}">
                <a16:creationId xmlns:a16="http://schemas.microsoft.com/office/drawing/2014/main" id="{115DCA96-79EE-4040-AB2F-7B9D720D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Participant time</a:t>
            </a:r>
          </a:p>
        </p:txBody>
      </p:sp>
      <p:sp>
        <p:nvSpPr>
          <p:cNvPr id="12" name="lab-time-17">
            <a:extLst xmlns:a="http://schemas.openxmlformats.org/drawingml/2006/main">
              <a:ext uri="{FF2B5EF4-FFF2-40B4-BE49-F238E27FC236}">
                <a16:creationId xmlns:a16="http://schemas.microsoft.com/office/drawing/2014/main" id="{9EB93D0D-7D0E-48E8-8631-228164651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 minutes</a:t>
            </a:r>
          </a:p>
        </p:txBody>
      </p:sp>
      <p:sp>
        <p:nvSpPr>
          <p:cNvPr id="13" name="lab-setup-label-17">
            <a:extLst xmlns:a="http://schemas.openxmlformats.org/drawingml/2006/main">
              <a:ext uri="{FF2B5EF4-FFF2-40B4-BE49-F238E27FC236}">
                <a16:creationId xmlns:a16="http://schemas.microsoft.com/office/drawing/2014/main" id="{3DE00D89-97C1-4964-8A6D-B7613F06B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47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285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4285F4"/>
                </a:solidFill>
                <a:latin typeface="Helvetica Neue"/>
                <a:ea typeface="Helvetica Neue"/>
                <a:cs typeface="Helvetica Neue"/>
              </a:rPr>
              <a:t>Starting point</a:t>
            </a:r>
          </a:p>
        </p:txBody>
      </p:sp>
      <p:sp>
        <p:nvSpPr>
          <p:cNvPr id="14" name="lab-setup-17">
            <a:extLst xmlns:a="http://schemas.openxmlformats.org/drawingml/2006/main">
              <a:ext uri="{FF2B5EF4-FFF2-40B4-BE49-F238E27FC236}">
                <a16:creationId xmlns:a16="http://schemas.microsoft.com/office/drawing/2014/main" id="{232C8063-3441-4318-A856-CC403BF32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71700"/>
            <a:ext cx="752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Use the assigned disposable project and the pre-created CloudGuard test resources.</a:t>
            </a:r>
          </a:p>
        </p:txBody>
      </p:sp>
      <p:sp>
        <p:nvSpPr>
          <p:cNvPr id="15" name="lab-task-label-17">
            <a:extLst xmlns:a="http://schemas.openxmlformats.org/drawingml/2006/main">
              <a:ext uri="{FF2B5EF4-FFF2-40B4-BE49-F238E27FC236}">
                <a16:creationId xmlns:a16="http://schemas.microsoft.com/office/drawing/2014/main" id="{22892A2E-210B-4395-9FF1-DB1FA4064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90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285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4285F4"/>
                </a:solidFill>
                <a:latin typeface="Helvetica Neue"/>
                <a:ea typeface="Helvetica Neue"/>
                <a:cs typeface="Helvetica Neue"/>
              </a:rPr>
              <a:t>Participant tasks</a:t>
            </a:r>
          </a:p>
        </p:txBody>
      </p:sp>
      <p:sp>
        <p:nvSpPr>
          <p:cNvPr id="16" name="lab-tasks-17">
            <a:extLst xmlns:a="http://schemas.openxmlformats.org/drawingml/2006/main">
              <a:ext uri="{FF2B5EF4-FFF2-40B4-BE49-F238E27FC236}">
                <a16:creationId xmlns:a16="http://schemas.microsoft.com/office/drawing/2014/main" id="{73507208-94A8-4D8B-97F9-82C3A0AFC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14700"/>
            <a:ext cx="4953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Confirm the project ID and resource labels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Run the GCP scan from the portal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Find the public bucket and one network weakness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Compare the result with the equivalent AWS risk</a:t>
            </a:r>
          </a:p>
        </p:txBody>
      </p:sp>
      <p:sp>
        <p:nvSpPr>
          <p:cNvPr id="17" name="lab-evidence-label-17">
            <a:extLst xmlns:a="http://schemas.openxmlformats.org/drawingml/2006/main">
              <a:ext uri="{FF2B5EF4-FFF2-40B4-BE49-F238E27FC236}">
                <a16:creationId xmlns:a16="http://schemas.microsoft.com/office/drawing/2014/main" id="{F6680BD7-467E-4BEC-9BA5-8C4F9773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908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285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4285F4"/>
                </a:solidFill>
                <a:latin typeface="Helvetica Neue"/>
                <a:ea typeface="Helvetica Neue"/>
                <a:cs typeface="Helvetica Neue"/>
              </a:rPr>
              <a:t>Submit</a:t>
            </a:r>
          </a:p>
        </p:txBody>
      </p:sp>
      <p:sp>
        <p:nvSpPr>
          <p:cNvPr id="18" name="lab-evidence-17">
            <a:extLst xmlns:a="http://schemas.openxmlformats.org/drawingml/2006/main">
              <a:ext uri="{FF2B5EF4-FFF2-40B4-BE49-F238E27FC236}">
                <a16:creationId xmlns:a16="http://schemas.microsoft.com/office/drawing/2014/main" id="{2CE2ED30-8733-4B4A-A0A1-AC2D2528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14700"/>
            <a:ext cx="266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27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Scan job ID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27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Finding ID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27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Cross-cloud comparison note</a:t>
            </a:r>
          </a:p>
        </p:txBody>
      </p:sp>
      <p:sp>
        <p:nvSpPr>
          <p:cNvPr id="19" name="lab-finish-bg-17">
            <a:extLst xmlns:a="http://schemas.openxmlformats.org/drawingml/2006/main">
              <a:ext uri="{FF2B5EF4-FFF2-40B4-BE49-F238E27FC236}">
                <a16:creationId xmlns:a16="http://schemas.microsoft.com/office/drawing/2014/main" id="{5DE469A1-2EE1-4A7E-8DF1-06112FD92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38750"/>
            <a:ext cx="7848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5"/>
          </a:solidFill>
          <a:ln xmlns:a="http://schemas.openxmlformats.org/drawingml/2006/main" w="0">
            <a:solidFill>
              <a:srgbClr val="F2F7F5"/>
            </a:solidFill>
            <a:prstDash val="solid"/>
          </a:ln>
        </p:spPr>
      </p:sp>
      <p:sp>
        <p:nvSpPr>
          <p:cNvPr id="20" name="lab-finish-17">
            <a:extLst xmlns:a="http://schemas.openxmlformats.org/drawingml/2006/main">
              <a:ext uri="{FF2B5EF4-FFF2-40B4-BE49-F238E27FC236}">
                <a16:creationId xmlns:a16="http://schemas.microsoft.com/office/drawing/2014/main" id="{8613CE7B-D1D4-4B19-A57C-8EE995EC4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410200"/>
            <a:ext cx="739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Completion check: the finding maps to a provider-neutral risk category</a:t>
            </a:r>
          </a:p>
        </p:txBody>
      </p:sp>
    </p:spTree>
    <p:extLst>
      <p:ext uri="{BB962C8B-B14F-4D97-AF65-F5344CB8AC3E}">
        <p14:creationId xmlns:p14="http://schemas.microsoft.com/office/powerpoint/2010/main" val="159045410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ection-18">
            <a:extLst xmlns:a="http://schemas.openxmlformats.org/drawingml/2006/main">
              <a:ext uri="{FF2B5EF4-FFF2-40B4-BE49-F238E27FC236}">
                <a16:creationId xmlns:a16="http://schemas.microsoft.com/office/drawing/2014/main" id="{0CD39569-95E4-43CF-A07A-47EBE3799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rPr>
              <a:t>MODULE 3</a:t>
            </a:r>
          </a:p>
        </p:txBody>
      </p:sp>
      <p:sp>
        <p:nvSpPr>
          <p:cNvPr id="2" name="title-18">
            <a:extLst xmlns:a="http://schemas.openxmlformats.org/drawingml/2006/main">
              <a:ext uri="{FF2B5EF4-FFF2-40B4-BE49-F238E27FC236}">
                <a16:creationId xmlns:a16="http://schemas.microsoft.com/office/drawing/2014/main" id="{56838E3A-BD85-45ED-9925-07C6F2C10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Lab 3: Kubernetes scanner</a:t>
            </a:r>
          </a:p>
        </p:txBody>
      </p:sp>
      <p:sp>
        <p:nvSpPr>
          <p:cNvPr id="3" name="title-rule-18">
            <a:extLst xmlns:a="http://schemas.openxmlformats.org/drawingml/2006/main">
              <a:ext uri="{FF2B5EF4-FFF2-40B4-BE49-F238E27FC236}">
                <a16:creationId xmlns:a16="http://schemas.microsoft.com/office/drawing/2014/main" id="{6E5CFC1E-0075-40BF-AD52-D09FB601A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5"/>
          </a:solidFill>
          <a:ln xmlns:a="http://schemas.openxmlformats.org/drawingml/2006/main" w="0">
            <a:solidFill>
              <a:srgbClr val="B9C9C5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3af704e20341f5"/>
          <a:stretch xmlns:a="http://schemas.openxmlformats.org/drawingml/2006/main"/>
        </p:blipFill>
        <p:spPr>
          <a:xfrm xmlns:a="http://schemas.openxmlformats.org/drawingml/2006/main">
            <a:off x="10858500" y="2667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brand-name-18">
            <a:extLst xmlns:a="http://schemas.openxmlformats.org/drawingml/2006/main">
              <a:ext uri="{FF2B5EF4-FFF2-40B4-BE49-F238E27FC236}">
                <a16:creationId xmlns:a16="http://schemas.microsoft.com/office/drawing/2014/main" id="{4C0566CA-D202-4AAD-A1D1-EB9F13396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DeepTrustxAI</a:t>
            </a:r>
          </a:p>
        </p:txBody>
      </p:sp>
      <p:sp>
        <p:nvSpPr>
          <p:cNvPr id="6" name="footer-18">
            <a:extLst xmlns:a="http://schemas.openxmlformats.org/drawingml/2006/main">
              <a:ext uri="{FF2B5EF4-FFF2-40B4-BE49-F238E27FC236}">
                <a16:creationId xmlns:a16="http://schemas.microsoft.com/office/drawing/2014/main" id="{44D64880-90B0-4F58-846B-CF9FFEE6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CloudGuard workshop</a:t>
            </a:r>
          </a:p>
        </p:txBody>
      </p:sp>
      <p:sp>
        <p:nvSpPr>
          <p:cNvPr id="7" name="page-18">
            <a:extLst xmlns:a="http://schemas.openxmlformats.org/drawingml/2006/main">
              <a:ext uri="{FF2B5EF4-FFF2-40B4-BE49-F238E27FC236}">
                <a16:creationId xmlns:a16="http://schemas.microsoft.com/office/drawing/2014/main" id="{2A92D9E3-FC23-4E7F-988B-FDE46D9CB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sp>
        <p:nvSpPr>
          <p:cNvPr id="8" name="lab-band-18">
            <a:extLst xmlns:a="http://schemas.openxmlformats.org/drawingml/2006/main">
              <a:ext uri="{FF2B5EF4-FFF2-40B4-BE49-F238E27FC236}">
                <a16:creationId xmlns:a16="http://schemas.microsoft.com/office/drawing/2014/main" id="{717A92C8-961A-4969-918D-B97802651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2381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6CE5"/>
          </a:solidFill>
          <a:ln xmlns:a="http://schemas.openxmlformats.org/drawingml/2006/main" w="0">
            <a:solidFill>
              <a:srgbClr val="326CE5"/>
            </a:solidFill>
            <a:prstDash val="solid"/>
          </a:ln>
        </p:spPr>
      </p:sp>
      <p:sp>
        <p:nvSpPr>
          <p:cNvPr id="9" name="lab-number-18">
            <a:extLst xmlns:a="http://schemas.openxmlformats.org/drawingml/2006/main">
              <a:ext uri="{FF2B5EF4-FFF2-40B4-BE49-F238E27FC236}">
                <a16:creationId xmlns:a16="http://schemas.microsoft.com/office/drawing/2014/main" id="{2BE3C67D-DD32-4FA4-8346-BBB243442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LAB 3</a:t>
            </a:r>
          </a:p>
        </p:txBody>
      </p:sp>
      <p:sp>
        <p:nvSpPr>
          <p:cNvPr id="10" name="lab-provider-18">
            <a:extLst xmlns:a="http://schemas.openxmlformats.org/drawingml/2006/main">
              <a:ext uri="{FF2B5EF4-FFF2-40B4-BE49-F238E27FC236}">
                <a16:creationId xmlns:a16="http://schemas.microsoft.com/office/drawing/2014/main" id="{7A1CE7E3-0BF4-4000-BC89-A54F969E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985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Kubernetes</a:t>
            </a:r>
          </a:p>
        </p:txBody>
      </p:sp>
      <p:sp>
        <p:nvSpPr>
          <p:cNvPr id="11" name="lab-time-label-18">
            <a:extLst xmlns:a="http://schemas.openxmlformats.org/drawingml/2006/main">
              <a:ext uri="{FF2B5EF4-FFF2-40B4-BE49-F238E27FC236}">
                <a16:creationId xmlns:a16="http://schemas.microsoft.com/office/drawing/2014/main" id="{9B411EEC-6969-45B5-BFF9-3B8E5E70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Participant time</a:t>
            </a:r>
          </a:p>
        </p:txBody>
      </p:sp>
      <p:sp>
        <p:nvSpPr>
          <p:cNvPr id="12" name="lab-time-18">
            <a:extLst xmlns:a="http://schemas.openxmlformats.org/drawingml/2006/main">
              <a:ext uri="{FF2B5EF4-FFF2-40B4-BE49-F238E27FC236}">
                <a16:creationId xmlns:a16="http://schemas.microsoft.com/office/drawing/2014/main" id="{2795EE3C-AE96-459F-82DE-502D412B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 minutes</a:t>
            </a:r>
          </a:p>
        </p:txBody>
      </p:sp>
      <p:sp>
        <p:nvSpPr>
          <p:cNvPr id="13" name="lab-setup-label-18">
            <a:extLst xmlns:a="http://schemas.openxmlformats.org/drawingml/2006/main">
              <a:ext uri="{FF2B5EF4-FFF2-40B4-BE49-F238E27FC236}">
                <a16:creationId xmlns:a16="http://schemas.microsoft.com/office/drawing/2014/main" id="{B884A708-6EC3-4E73-8493-5E1575E10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47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C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26CE5"/>
                </a:solidFill>
                <a:latin typeface="Helvetica Neue"/>
                <a:ea typeface="Helvetica Neue"/>
                <a:cs typeface="Helvetica Neue"/>
              </a:rPr>
              <a:t>Starting point</a:t>
            </a:r>
          </a:p>
        </p:txBody>
      </p:sp>
      <p:sp>
        <p:nvSpPr>
          <p:cNvPr id="14" name="lab-setup-18">
            <a:extLst xmlns:a="http://schemas.openxmlformats.org/drawingml/2006/main">
              <a:ext uri="{FF2B5EF4-FFF2-40B4-BE49-F238E27FC236}">
                <a16:creationId xmlns:a16="http://schemas.microsoft.com/office/drawing/2014/main" id="{B41475F7-2478-4FE2-A032-A25134A80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71700"/>
            <a:ext cx="752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Use a disposable kind, k3s, minikube, or instructor-provided cluster.</a:t>
            </a:r>
          </a:p>
        </p:txBody>
      </p:sp>
      <p:sp>
        <p:nvSpPr>
          <p:cNvPr id="15" name="lab-task-label-18">
            <a:extLst xmlns:a="http://schemas.openxmlformats.org/drawingml/2006/main">
              <a:ext uri="{FF2B5EF4-FFF2-40B4-BE49-F238E27FC236}">
                <a16:creationId xmlns:a16="http://schemas.microsoft.com/office/drawing/2014/main" id="{715329B9-5AB2-4C9C-9AC1-BCD008D9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90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C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26CE5"/>
                </a:solidFill>
                <a:latin typeface="Helvetica Neue"/>
                <a:ea typeface="Helvetica Neue"/>
                <a:cs typeface="Helvetica Neue"/>
              </a:rPr>
              <a:t>Participant tasks</a:t>
            </a:r>
          </a:p>
        </p:txBody>
      </p:sp>
      <p:sp>
        <p:nvSpPr>
          <p:cNvPr id="16" name="lab-tasks-18">
            <a:extLst xmlns:a="http://schemas.openxmlformats.org/drawingml/2006/main">
              <a:ext uri="{FF2B5EF4-FFF2-40B4-BE49-F238E27FC236}">
                <a16:creationId xmlns:a16="http://schemas.microsoft.com/office/drawing/2014/main" id="{C49AB7B5-62E6-41A0-9D13-96A701333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14700"/>
            <a:ext cx="4953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Apply vulnerable-k8s.yaml to the cloudguard-test namespace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Run the Kubernetes scan with the assigned kubeconfig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Identify the cluster-admin binding and privileged workload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Delete the manifest after evidence collection</a:t>
            </a:r>
          </a:p>
        </p:txBody>
      </p:sp>
      <p:sp>
        <p:nvSpPr>
          <p:cNvPr id="17" name="lab-evidence-label-18">
            <a:extLst xmlns:a="http://schemas.openxmlformats.org/drawingml/2006/main">
              <a:ext uri="{FF2B5EF4-FFF2-40B4-BE49-F238E27FC236}">
                <a16:creationId xmlns:a16="http://schemas.microsoft.com/office/drawing/2014/main" id="{BDAF925B-B64F-4441-8A57-860F18064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908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C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26CE5"/>
                </a:solidFill>
                <a:latin typeface="Helvetica Neue"/>
                <a:ea typeface="Helvetica Neue"/>
                <a:cs typeface="Helvetica Neue"/>
              </a:rPr>
              <a:t>Submit</a:t>
            </a:r>
          </a:p>
        </p:txBody>
      </p:sp>
      <p:sp>
        <p:nvSpPr>
          <p:cNvPr id="18" name="lab-evidence-18">
            <a:extLst xmlns:a="http://schemas.openxmlformats.org/drawingml/2006/main">
              <a:ext uri="{FF2B5EF4-FFF2-40B4-BE49-F238E27FC236}">
                <a16:creationId xmlns:a16="http://schemas.microsoft.com/office/drawing/2014/main" id="{BADBD268-F815-4A97-917F-46FACE7CE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14700"/>
            <a:ext cx="266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27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Finding ID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27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RBAC or workload proof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27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kubectl delete result</a:t>
            </a:r>
          </a:p>
        </p:txBody>
      </p:sp>
      <p:sp>
        <p:nvSpPr>
          <p:cNvPr id="19" name="lab-finish-bg-18">
            <a:extLst xmlns:a="http://schemas.openxmlformats.org/drawingml/2006/main">
              <a:ext uri="{FF2B5EF4-FFF2-40B4-BE49-F238E27FC236}">
                <a16:creationId xmlns:a16="http://schemas.microsoft.com/office/drawing/2014/main" id="{B6CD9C6B-7B27-49E9-BA47-EE241219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38750"/>
            <a:ext cx="7848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5"/>
          </a:solidFill>
          <a:ln xmlns:a="http://schemas.openxmlformats.org/drawingml/2006/main" w="0">
            <a:solidFill>
              <a:srgbClr val="F2F7F5"/>
            </a:solidFill>
            <a:prstDash val="solid"/>
          </a:ln>
        </p:spPr>
      </p:sp>
      <p:sp>
        <p:nvSpPr>
          <p:cNvPr id="20" name="lab-finish-18">
            <a:extLst xmlns:a="http://schemas.openxmlformats.org/drawingml/2006/main">
              <a:ext uri="{FF2B5EF4-FFF2-40B4-BE49-F238E27FC236}">
                <a16:creationId xmlns:a16="http://schemas.microsoft.com/office/drawing/2014/main" id="{6F8784F6-4BA7-46EF-9435-D6004F254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410200"/>
            <a:ext cx="739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Completion check: the namespace is deleted and the cleanup event is retained</a:t>
            </a:r>
          </a:p>
        </p:txBody>
      </p:sp>
    </p:spTree>
    <p:extLst>
      <p:ext uri="{BB962C8B-B14F-4D97-AF65-F5344CB8AC3E}">
        <p14:creationId xmlns:p14="http://schemas.microsoft.com/office/powerpoint/2010/main" val="213947370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ection-19">
            <a:extLst xmlns:a="http://schemas.openxmlformats.org/drawingml/2006/main">
              <a:ext uri="{FF2B5EF4-FFF2-40B4-BE49-F238E27FC236}">
                <a16:creationId xmlns:a16="http://schemas.microsoft.com/office/drawing/2014/main" id="{B8AB2302-F35C-4C4F-9568-F9B4DD7BB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rPr>
              <a:t>MODULE 3</a:t>
            </a:r>
          </a:p>
        </p:txBody>
      </p:sp>
      <p:sp>
        <p:nvSpPr>
          <p:cNvPr id="2" name="title-19">
            <a:extLst xmlns:a="http://schemas.openxmlformats.org/drawingml/2006/main">
              <a:ext uri="{FF2B5EF4-FFF2-40B4-BE49-F238E27FC236}">
                <a16:creationId xmlns:a16="http://schemas.microsoft.com/office/drawing/2014/main" id="{D977638C-BD2C-4D5B-81AC-FC8F52494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Lab 4: Infrastructure as Code scanner</a:t>
            </a:r>
          </a:p>
        </p:txBody>
      </p:sp>
      <p:sp>
        <p:nvSpPr>
          <p:cNvPr id="3" name="title-rule-19">
            <a:extLst xmlns:a="http://schemas.openxmlformats.org/drawingml/2006/main">
              <a:ext uri="{FF2B5EF4-FFF2-40B4-BE49-F238E27FC236}">
                <a16:creationId xmlns:a16="http://schemas.microsoft.com/office/drawing/2014/main" id="{C35912F8-BB76-414B-8816-67C2E31B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5"/>
          </a:solidFill>
          <a:ln xmlns:a="http://schemas.openxmlformats.org/drawingml/2006/main" w="0">
            <a:solidFill>
              <a:srgbClr val="B9C9C5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d7b2dd9f8945f0"/>
          <a:stretch xmlns:a="http://schemas.openxmlformats.org/drawingml/2006/main"/>
        </p:blipFill>
        <p:spPr>
          <a:xfrm xmlns:a="http://schemas.openxmlformats.org/drawingml/2006/main">
            <a:off x="10858500" y="2667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brand-name-19">
            <a:extLst xmlns:a="http://schemas.openxmlformats.org/drawingml/2006/main">
              <a:ext uri="{FF2B5EF4-FFF2-40B4-BE49-F238E27FC236}">
                <a16:creationId xmlns:a16="http://schemas.microsoft.com/office/drawing/2014/main" id="{47100F35-AC92-48B7-8D3B-D5EE6CE36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DeepTrustxAI</a:t>
            </a:r>
          </a:p>
        </p:txBody>
      </p:sp>
      <p:sp>
        <p:nvSpPr>
          <p:cNvPr id="6" name="footer-19">
            <a:extLst xmlns:a="http://schemas.openxmlformats.org/drawingml/2006/main">
              <a:ext uri="{FF2B5EF4-FFF2-40B4-BE49-F238E27FC236}">
                <a16:creationId xmlns:a16="http://schemas.microsoft.com/office/drawing/2014/main" id="{E0082DB2-D540-4E13-B821-9FC4E524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CloudGuard workshop</a:t>
            </a:r>
          </a:p>
        </p:txBody>
      </p:sp>
      <p:sp>
        <p:nvSpPr>
          <p:cNvPr id="7" name="page-19">
            <a:extLst xmlns:a="http://schemas.openxmlformats.org/drawingml/2006/main">
              <a:ext uri="{FF2B5EF4-FFF2-40B4-BE49-F238E27FC236}">
                <a16:creationId xmlns:a16="http://schemas.microsoft.com/office/drawing/2014/main" id="{934479B3-BCF3-4E88-8AB2-C55FDAB21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  <p:sp>
        <p:nvSpPr>
          <p:cNvPr id="8" name="lab-band-19">
            <a:extLst xmlns:a="http://schemas.openxmlformats.org/drawingml/2006/main">
              <a:ext uri="{FF2B5EF4-FFF2-40B4-BE49-F238E27FC236}">
                <a16:creationId xmlns:a16="http://schemas.microsoft.com/office/drawing/2014/main" id="{56D21FE2-EBB1-4613-A27C-134C33318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2381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9" name="lab-number-19">
            <a:extLst xmlns:a="http://schemas.openxmlformats.org/drawingml/2006/main">
              <a:ext uri="{FF2B5EF4-FFF2-40B4-BE49-F238E27FC236}">
                <a16:creationId xmlns:a16="http://schemas.microsoft.com/office/drawing/2014/main" id="{9AC75C26-B4F9-4FBF-8ACD-E91A196C7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LAB 4</a:t>
            </a:r>
          </a:p>
        </p:txBody>
      </p:sp>
      <p:sp>
        <p:nvSpPr>
          <p:cNvPr id="10" name="lab-provider-19">
            <a:extLst xmlns:a="http://schemas.openxmlformats.org/drawingml/2006/main">
              <a:ext uri="{FF2B5EF4-FFF2-40B4-BE49-F238E27FC236}">
                <a16:creationId xmlns:a16="http://schemas.microsoft.com/office/drawing/2014/main" id="{286B4CDD-6355-489A-984C-651186C8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985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IaC</a:t>
            </a:r>
          </a:p>
        </p:txBody>
      </p:sp>
      <p:sp>
        <p:nvSpPr>
          <p:cNvPr id="11" name="lab-time-label-19">
            <a:extLst xmlns:a="http://schemas.openxmlformats.org/drawingml/2006/main">
              <a:ext uri="{FF2B5EF4-FFF2-40B4-BE49-F238E27FC236}">
                <a16:creationId xmlns:a16="http://schemas.microsoft.com/office/drawing/2014/main" id="{DC8FA400-3035-40F2-A64B-3E2A8F38B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Participant time</a:t>
            </a:r>
          </a:p>
        </p:txBody>
      </p:sp>
      <p:sp>
        <p:nvSpPr>
          <p:cNvPr id="12" name="lab-time-19">
            <a:extLst xmlns:a="http://schemas.openxmlformats.org/drawingml/2006/main">
              <a:ext uri="{FF2B5EF4-FFF2-40B4-BE49-F238E27FC236}">
                <a16:creationId xmlns:a16="http://schemas.microsoft.com/office/drawing/2014/main" id="{DD60ECC5-68C6-47C3-98B5-9CD6AFC9E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 minutes</a:t>
            </a:r>
          </a:p>
        </p:txBody>
      </p:sp>
      <p:sp>
        <p:nvSpPr>
          <p:cNvPr id="13" name="lab-setup-label-19">
            <a:extLst xmlns:a="http://schemas.openxmlformats.org/drawingml/2006/main">
              <a:ext uri="{FF2B5EF4-FFF2-40B4-BE49-F238E27FC236}">
                <a16:creationId xmlns:a16="http://schemas.microsoft.com/office/drawing/2014/main" id="{52A7DCDD-50DF-4B53-AF3A-EBB99FAA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47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rPr>
              <a:t>Starting point</a:t>
            </a:r>
          </a:p>
        </p:txBody>
      </p:sp>
      <p:sp>
        <p:nvSpPr>
          <p:cNvPr id="14" name="lab-setup-19">
            <a:extLst xmlns:a="http://schemas.openxmlformats.org/drawingml/2006/main">
              <a:ext uri="{FF2B5EF4-FFF2-40B4-BE49-F238E27FC236}">
                <a16:creationId xmlns:a16="http://schemas.microsoft.com/office/drawing/2014/main" id="{F8057F07-1C50-4CBB-A2BC-6ED956F5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71700"/>
            <a:ext cx="752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Use the local grc-platform/cloudguard-test-labs/iac folder. Do not apply any file.</a:t>
            </a:r>
          </a:p>
        </p:txBody>
      </p:sp>
      <p:sp>
        <p:nvSpPr>
          <p:cNvPr id="15" name="lab-task-label-19">
            <a:extLst xmlns:a="http://schemas.openxmlformats.org/drawingml/2006/main">
              <a:ext uri="{FF2B5EF4-FFF2-40B4-BE49-F238E27FC236}">
                <a16:creationId xmlns:a16="http://schemas.microsoft.com/office/drawing/2014/main" id="{A7FEE5A8-36BD-4681-8069-2D3167420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90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rPr>
              <a:t>Participant tasks</a:t>
            </a:r>
          </a:p>
        </p:txBody>
      </p:sp>
      <p:sp>
        <p:nvSpPr>
          <p:cNvPr id="16" name="lab-tasks-19">
            <a:extLst xmlns:a="http://schemas.openxmlformats.org/drawingml/2006/main">
              <a:ext uri="{FF2B5EF4-FFF2-40B4-BE49-F238E27FC236}">
                <a16:creationId xmlns:a16="http://schemas.microsoft.com/office/drawing/2014/main" id="{CB294F7B-BB0D-4DF7-B2E5-E4DFBAD3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14700"/>
            <a:ext cx="4953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Predict three findings before the scan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Upload or select the IaC fixture folder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Run the scanner and compare results with the prediction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Correct one setting and run the scan again</a:t>
            </a:r>
          </a:p>
        </p:txBody>
      </p:sp>
      <p:sp>
        <p:nvSpPr>
          <p:cNvPr id="17" name="lab-evidence-label-19">
            <a:extLst xmlns:a="http://schemas.openxmlformats.org/drawingml/2006/main">
              <a:ext uri="{FF2B5EF4-FFF2-40B4-BE49-F238E27FC236}">
                <a16:creationId xmlns:a16="http://schemas.microsoft.com/office/drawing/2014/main" id="{3213ABBE-2976-4987-A539-7D1C62DD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908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rPr>
              <a:t>Submit</a:t>
            </a:r>
          </a:p>
        </p:txBody>
      </p:sp>
      <p:sp>
        <p:nvSpPr>
          <p:cNvPr id="18" name="lab-evidence-19">
            <a:extLst xmlns:a="http://schemas.openxmlformats.org/drawingml/2006/main">
              <a:ext uri="{FF2B5EF4-FFF2-40B4-BE49-F238E27FC236}">
                <a16:creationId xmlns:a16="http://schemas.microsoft.com/office/drawing/2014/main" id="{5752FE50-BA71-4056-9411-A5CE94FAB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14700"/>
            <a:ext cx="266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27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Original finding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27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File and line evidence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27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Corrected scan result</a:t>
            </a:r>
          </a:p>
        </p:txBody>
      </p:sp>
      <p:sp>
        <p:nvSpPr>
          <p:cNvPr id="19" name="lab-finish-bg-19">
            <a:extLst xmlns:a="http://schemas.openxmlformats.org/drawingml/2006/main">
              <a:ext uri="{FF2B5EF4-FFF2-40B4-BE49-F238E27FC236}">
                <a16:creationId xmlns:a16="http://schemas.microsoft.com/office/drawing/2014/main" id="{430FAFC0-6CE4-4A72-9AB6-E2102A6A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38750"/>
            <a:ext cx="7848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5"/>
          </a:solidFill>
          <a:ln xmlns:a="http://schemas.openxmlformats.org/drawingml/2006/main" w="0">
            <a:solidFill>
              <a:srgbClr val="F2F7F5"/>
            </a:solidFill>
            <a:prstDash val="solid"/>
          </a:ln>
        </p:spPr>
      </p:sp>
      <p:sp>
        <p:nvSpPr>
          <p:cNvPr id="20" name="lab-finish-19">
            <a:extLst xmlns:a="http://schemas.openxmlformats.org/drawingml/2006/main">
              <a:ext uri="{FF2B5EF4-FFF2-40B4-BE49-F238E27FC236}">
                <a16:creationId xmlns:a16="http://schemas.microsoft.com/office/drawing/2014/main" id="{8DAA6DBD-8C53-46D5-9D1D-A697C2DE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410200"/>
            <a:ext cx="739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Completion check: one unsafe setting has a documented before and after result</a:t>
            </a:r>
          </a:p>
        </p:txBody>
      </p:sp>
    </p:spTree>
    <p:extLst>
      <p:ext uri="{BB962C8B-B14F-4D97-AF65-F5344CB8AC3E}">
        <p14:creationId xmlns:p14="http://schemas.microsoft.com/office/powerpoint/2010/main" val="89442947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-20">
            <a:extLst xmlns:a="http://schemas.openxmlformats.org/drawingml/2006/main">
              <a:ext uri="{FF2B5EF4-FFF2-40B4-BE49-F238E27FC236}">
                <a16:creationId xmlns:a16="http://schemas.microsoft.com/office/drawing/2014/main" id="{C28D0084-7DB6-4B14-A669-DED1B1591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rPr>
              <a:t>MODULE 3</a:t>
            </a:r>
          </a:p>
        </p:txBody>
      </p:sp>
      <p:sp>
        <p:nvSpPr>
          <p:cNvPr id="2" name="title-20">
            <a:extLst xmlns:a="http://schemas.openxmlformats.org/drawingml/2006/main">
              <a:ext uri="{FF2B5EF4-FFF2-40B4-BE49-F238E27FC236}">
                <a16:creationId xmlns:a16="http://schemas.microsoft.com/office/drawing/2014/main" id="{EC1C8988-B44F-4365-B8F0-CCB0B93A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Lab report-out</a:t>
            </a:r>
          </a:p>
        </p:txBody>
      </p:sp>
      <p:sp>
        <p:nvSpPr>
          <p:cNvPr id="3" name="title-rule-20">
            <a:extLst xmlns:a="http://schemas.openxmlformats.org/drawingml/2006/main">
              <a:ext uri="{FF2B5EF4-FFF2-40B4-BE49-F238E27FC236}">
                <a16:creationId xmlns:a16="http://schemas.microsoft.com/office/drawing/2014/main" id="{B225B71C-05A0-42E7-973B-5CA704D09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5"/>
          </a:solidFill>
          <a:ln xmlns:a="http://schemas.openxmlformats.org/drawingml/2006/main" w="0">
            <a:solidFill>
              <a:srgbClr val="B9C9C5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77ed2ad37d414d"/>
          <a:stretch xmlns:a="http://schemas.openxmlformats.org/drawingml/2006/main"/>
        </p:blipFill>
        <p:spPr>
          <a:xfrm xmlns:a="http://schemas.openxmlformats.org/drawingml/2006/main">
            <a:off x="10858500" y="2667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brand-name-20">
            <a:extLst xmlns:a="http://schemas.openxmlformats.org/drawingml/2006/main">
              <a:ext uri="{FF2B5EF4-FFF2-40B4-BE49-F238E27FC236}">
                <a16:creationId xmlns:a16="http://schemas.microsoft.com/office/drawing/2014/main" id="{64B4CD71-4C40-4D06-81E1-FB2BB71B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DeepTrustxAI</a:t>
            </a:r>
          </a:p>
        </p:txBody>
      </p:sp>
      <p:sp>
        <p:nvSpPr>
          <p:cNvPr id="6" name="footer-20">
            <a:extLst xmlns:a="http://schemas.openxmlformats.org/drawingml/2006/main">
              <a:ext uri="{FF2B5EF4-FFF2-40B4-BE49-F238E27FC236}">
                <a16:creationId xmlns:a16="http://schemas.microsoft.com/office/drawing/2014/main" id="{70670FA4-5550-49A7-B78E-9BD1CE6A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CloudGuard workshop</a:t>
            </a:r>
          </a:p>
        </p:txBody>
      </p:sp>
      <p:sp>
        <p:nvSpPr>
          <p:cNvPr id="7" name="page-20">
            <a:extLst xmlns:a="http://schemas.openxmlformats.org/drawingml/2006/main">
              <a:ext uri="{FF2B5EF4-FFF2-40B4-BE49-F238E27FC236}">
                <a16:creationId xmlns:a16="http://schemas.microsoft.com/office/drawing/2014/main" id="{3185DAC1-9287-4105-BBA2-75A7D609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  <p:sp>
        <p:nvSpPr>
          <p:cNvPr id="8" name="report-instruction">
            <a:extLst xmlns:a="http://schemas.openxmlformats.org/drawingml/2006/main">
              <a:ext uri="{FF2B5EF4-FFF2-40B4-BE49-F238E27FC236}">
                <a16:creationId xmlns:a16="http://schemas.microsoft.com/office/drawing/2014/main" id="{36B743CD-076F-48E9-B1DA-C6FA0AFB6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Each group records one complete finding. Use provider-specific detail only in the evidence field.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533400" y="2476500"/>
          <a:ext xmlns:a="http://schemas.openxmlformats.org/drawingml/2006/main" cx="111252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8743950"/>
              </a:tblGrid>
              <a:tr h="5397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Field</a:t>
                      </a:r>
                    </a:p>
                  </a:txBody>
                  <a:tcPr marL="91440" marR="91440" marT="45720" marB="45720">
                    <a:solidFill>
                      <a:srgbClr val="1185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What the group should record</a:t>
                      </a:r>
                    </a:p>
                  </a:txBody>
                  <a:tcPr marL="91440" marR="91440" marT="45720" marB="45720">
                    <a:solidFill>
                      <a:srgbClr val="11856E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Risk category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Identity, storage, network, workload, or IaC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Affected asset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Exact resource or file reference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Evidence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Policy, configuration, screenshot, file and line, or cleanup output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Owner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Team responsible for the change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Closure proof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Rescan result, corrected code, or deletion event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324517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B1D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45156862de44e0"/>
          <a:stretch xmlns:a="http://schemas.openxmlformats.org/drawingml/2006/main"/>
        </p:blipFill>
        <p:spPr>
          <a:xfrm xmlns:a="http://schemas.openxmlformats.org/drawingml/2006/main">
            <a:off x="10858500" y="2667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2" name="brand-name-21">
            <a:extLst xmlns:a="http://schemas.openxmlformats.org/drawingml/2006/main">
              <a:ext uri="{FF2B5EF4-FFF2-40B4-BE49-F238E27FC236}">
                <a16:creationId xmlns:a16="http://schemas.microsoft.com/office/drawing/2014/main" id="{EDC284F9-3B14-47F9-9182-3E1E7FC9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DeepTrustxAI</a:t>
            </a:r>
          </a:p>
        </p:txBody>
      </p:sp>
      <p:sp>
        <p:nvSpPr>
          <p:cNvPr id="3" name="module-label-21">
            <a:extLst xmlns:a="http://schemas.openxmlformats.org/drawingml/2006/main">
              <a:ext uri="{FF2B5EF4-FFF2-40B4-BE49-F238E27FC236}">
                <a16:creationId xmlns:a16="http://schemas.microsoft.com/office/drawing/2014/main" id="{21CB4D37-7B28-4F88-9BA0-4B194E423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module-title-21">
            <a:extLst xmlns:a="http://schemas.openxmlformats.org/drawingml/2006/main">
              <a:ext uri="{FF2B5EF4-FFF2-40B4-BE49-F238E27FC236}">
                <a16:creationId xmlns:a16="http://schemas.microsoft.com/office/drawing/2014/main" id="{14E5F031-126D-47A2-AC97-44FCA89D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838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Evidence, GRC,</a:t>
            </a:r>
          </a:p>
          <a:p xmlns:a="http://schemas.openxmlformats.org/drawingml/2006/main">
            <a:pPr algn="l">
              <a:def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and closure</a:t>
            </a:r>
          </a:p>
        </p:txBody>
      </p:sp>
      <p:sp>
        <p:nvSpPr>
          <p:cNvPr id="5" name="module-purpose-21">
            <a:extLst xmlns:a="http://schemas.openxmlformats.org/drawingml/2006/main">
              <a:ext uri="{FF2B5EF4-FFF2-40B4-BE49-F238E27FC236}">
                <a16:creationId xmlns:a16="http://schemas.microsoft.com/office/drawing/2014/main" id="{10F925AE-6124-486D-B6DD-5D73CDFF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95700"/>
            <a:ext cx="723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8CBC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B8CBC6"/>
                </a:solidFill>
                <a:latin typeface="Helvetica Neue"/>
                <a:ea typeface="Helvetica Neue"/>
                <a:cs typeface="Helvetica Neue"/>
              </a:rPr>
              <a:t>Convert scanner output into proof, ownership, and an approval-based remediation workflow.</a:t>
            </a:r>
          </a:p>
        </p:txBody>
      </p:sp>
      <p:sp>
        <p:nvSpPr>
          <p:cNvPr id="6" name="module-time-21">
            <a:extLst xmlns:a="http://schemas.openxmlformats.org/drawingml/2006/main">
              <a:ext uri="{FF2B5EF4-FFF2-40B4-BE49-F238E27FC236}">
                <a16:creationId xmlns:a16="http://schemas.microsoft.com/office/drawing/2014/main" id="{CDF96056-806D-45F0-ABF7-10D8FB3B6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6250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rPr>
              <a:t>15 minutes</a:t>
            </a:r>
          </a:p>
        </p:txBody>
      </p:sp>
      <p:sp>
        <p:nvSpPr>
          <p:cNvPr id="7" name="module-rule-21">
            <a:extLst xmlns:a="http://schemas.openxmlformats.org/drawingml/2006/main">
              <a:ext uri="{FF2B5EF4-FFF2-40B4-BE49-F238E27FC236}">
                <a16:creationId xmlns:a16="http://schemas.microsoft.com/office/drawing/2014/main" id="{5040003D-C3FC-4CB6-91FC-F1FDFD86B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91150"/>
            <a:ext cx="1076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56E"/>
          </a:solidFill>
          <a:ln xmlns:a="http://schemas.openxmlformats.org/drawingml/2006/main" w="0">
            <a:solidFill>
              <a:srgbClr val="11856E"/>
            </a:solidFill>
            <a:prstDash val="solid"/>
          </a:ln>
        </p:spPr>
      </p:sp>
      <p:sp>
        <p:nvSpPr>
          <p:cNvPr id="8" name="module-footer-21">
            <a:extLst xmlns:a="http://schemas.openxmlformats.org/drawingml/2006/main">
              <a:ext uri="{FF2B5EF4-FFF2-40B4-BE49-F238E27FC236}">
                <a16:creationId xmlns:a16="http://schemas.microsoft.com/office/drawing/2014/main" id="{59F23466-D5F4-4DD8-A7A7-0E619B54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483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6A3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86A39C"/>
                </a:solidFill>
                <a:latin typeface="Helvetica Neue"/>
                <a:ea typeface="Helvetica Neue"/>
                <a:cs typeface="Helvetica Neue"/>
              </a:rPr>
              <a:t>DeepTrustxAI CloudGuard workshop</a:t>
            </a:r>
          </a:p>
        </p:txBody>
      </p:sp>
      <p:sp>
        <p:nvSpPr>
          <p:cNvPr id="9" name="module-page-21">
            <a:extLst xmlns:a="http://schemas.openxmlformats.org/drawingml/2006/main">
              <a:ext uri="{FF2B5EF4-FFF2-40B4-BE49-F238E27FC236}">
                <a16:creationId xmlns:a16="http://schemas.microsoft.com/office/drawing/2014/main" id="{E87215F3-57BA-49A9-8B5C-0AF6709AB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8483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6A3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86A39C"/>
                </a:solidFill>
                <a:latin typeface="Helvetica Neue"/>
                <a:ea typeface="Helvetica Neue"/>
                <a:cs typeface="Helvetica Neue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61769568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ection-22">
            <a:extLst xmlns:a="http://schemas.openxmlformats.org/drawingml/2006/main">
              <a:ext uri="{FF2B5EF4-FFF2-40B4-BE49-F238E27FC236}">
                <a16:creationId xmlns:a16="http://schemas.microsoft.com/office/drawing/2014/main" id="{AEB6596C-29B6-4FC2-90EF-63E1EAB1E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2" name="title-22">
            <a:extLst xmlns:a="http://schemas.openxmlformats.org/drawingml/2006/main">
              <a:ext uri="{FF2B5EF4-FFF2-40B4-BE49-F238E27FC236}">
                <a16:creationId xmlns:a16="http://schemas.microsoft.com/office/drawing/2014/main" id="{D08035DD-76F8-4ABD-BA46-43A272C92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Evidence pipeline</a:t>
            </a:r>
          </a:p>
        </p:txBody>
      </p:sp>
      <p:sp>
        <p:nvSpPr>
          <p:cNvPr id="3" name="title-rule-22">
            <a:extLst xmlns:a="http://schemas.openxmlformats.org/drawingml/2006/main">
              <a:ext uri="{FF2B5EF4-FFF2-40B4-BE49-F238E27FC236}">
                <a16:creationId xmlns:a16="http://schemas.microsoft.com/office/drawing/2014/main" id="{02482B7E-12A2-4D37-B02A-0A1160F1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5"/>
          </a:solidFill>
          <a:ln xmlns:a="http://schemas.openxmlformats.org/drawingml/2006/main" w="0">
            <a:solidFill>
              <a:srgbClr val="B9C9C5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f8adbf677f4831"/>
          <a:stretch xmlns:a="http://schemas.openxmlformats.org/drawingml/2006/main"/>
        </p:blipFill>
        <p:spPr>
          <a:xfrm xmlns:a="http://schemas.openxmlformats.org/drawingml/2006/main">
            <a:off x="10858500" y="2667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brand-name-22">
            <a:extLst xmlns:a="http://schemas.openxmlformats.org/drawingml/2006/main">
              <a:ext uri="{FF2B5EF4-FFF2-40B4-BE49-F238E27FC236}">
                <a16:creationId xmlns:a16="http://schemas.microsoft.com/office/drawing/2014/main" id="{3788BE70-7300-4483-87D2-FF8886CF7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DeepTrustxAI</a:t>
            </a:r>
          </a:p>
        </p:txBody>
      </p:sp>
      <p:sp>
        <p:nvSpPr>
          <p:cNvPr id="6" name="footer-22">
            <a:extLst xmlns:a="http://schemas.openxmlformats.org/drawingml/2006/main">
              <a:ext uri="{FF2B5EF4-FFF2-40B4-BE49-F238E27FC236}">
                <a16:creationId xmlns:a16="http://schemas.microsoft.com/office/drawing/2014/main" id="{370E0D5D-CB1F-4FD2-B8F0-C8DF59B29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CloudGuard workshop</a:t>
            </a:r>
          </a:p>
        </p:txBody>
      </p:sp>
      <p:sp>
        <p:nvSpPr>
          <p:cNvPr id="7" name="page-22">
            <a:extLst xmlns:a="http://schemas.openxmlformats.org/drawingml/2006/main">
              <a:ext uri="{FF2B5EF4-FFF2-40B4-BE49-F238E27FC236}">
                <a16:creationId xmlns:a16="http://schemas.microsoft.com/office/drawing/2014/main" id="{D15BA8F3-859C-48CA-8E7E-04A606DF9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22</a:t>
            </a:r>
          </a:p>
        </p:txBody>
      </p:sp>
      <p:sp>
        <p:nvSpPr>
          <p:cNvPr id="8" name="evidence-frame">
            <a:extLst xmlns:a="http://schemas.openxmlformats.org/drawingml/2006/main">
              <a:ext uri="{FF2B5EF4-FFF2-40B4-BE49-F238E27FC236}">
                <a16:creationId xmlns:a16="http://schemas.microsoft.com/office/drawing/2014/main" id="{2AA02366-DAF7-455A-8E7A-BC459907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78105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5"/>
          </a:solidFill>
          <a:ln xmlns:a="http://schemas.openxmlformats.org/drawingml/2006/main" w="9525">
            <a:solidFill>
              <a:srgbClr val="B9C9C5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905c0626084b1b"/>
          <a:stretch xmlns:a="http://schemas.openxmlformats.org/drawingml/2006/main"/>
        </p:blipFill>
        <p:spPr>
          <a:xfrm xmlns:a="http://schemas.openxmlformats.org/drawingml/2006/main">
            <a:off x="1068917" y="1905000"/>
            <a:ext cx="6739467" cy="3790950"/>
          </a:xfrm>
          <a:prstGeom xmlns:a="http://schemas.openxmlformats.org/drawingml/2006/main" prst="roundRect">
            <a:avLst>
              <a:gd name="adj" fmla="val 1005"/>
            </a:avLst>
          </a:prstGeom>
        </p:spPr>
      </p:pic>
      <p:sp>
        <p:nvSpPr>
          <p:cNvPr id="10" name="evidence-question-title">
            <a:extLst xmlns:a="http://schemas.openxmlformats.org/drawingml/2006/main">
              <a:ext uri="{FF2B5EF4-FFF2-40B4-BE49-F238E27FC236}">
                <a16:creationId xmlns:a16="http://schemas.microsoft.com/office/drawing/2014/main" id="{D54C8710-B754-4045-9902-412F0DD7F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85950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Every evidence record should answer</a:t>
            </a:r>
          </a:p>
        </p:txBody>
      </p:sp>
      <p:sp>
        <p:nvSpPr>
          <p:cNvPr id="11" name="evidence-questions">
            <a:extLst xmlns:a="http://schemas.openxmlformats.org/drawingml/2006/main">
              <a:ext uri="{FF2B5EF4-FFF2-40B4-BE49-F238E27FC236}">
                <a16:creationId xmlns:a16="http://schemas.microsoft.com/office/drawing/2014/main" id="{F65D278E-19A9-473E-8B0C-E69DBF618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81300"/>
            <a:ext cx="2819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Where did it come from?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Which asset does it describe?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What proof was retained?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Which control does it affect?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Who must act next?</a:t>
            </a:r>
          </a:p>
        </p:txBody>
      </p:sp>
    </p:spTree>
    <p:extLst>
      <p:ext uri="{BB962C8B-B14F-4D97-AF65-F5344CB8AC3E}">
        <p14:creationId xmlns:p14="http://schemas.microsoft.com/office/powerpoint/2010/main" val="148876187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ection-23">
            <a:extLst xmlns:a="http://schemas.openxmlformats.org/drawingml/2006/main">
              <a:ext uri="{FF2B5EF4-FFF2-40B4-BE49-F238E27FC236}">
                <a16:creationId xmlns:a16="http://schemas.microsoft.com/office/drawing/2014/main" id="{86EBA7F5-5E21-44CE-8E8F-35A00D551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2" name="title-23">
            <a:extLst xmlns:a="http://schemas.openxmlformats.org/drawingml/2006/main">
              <a:ext uri="{FF2B5EF4-FFF2-40B4-BE49-F238E27FC236}">
                <a16:creationId xmlns:a16="http://schemas.microsoft.com/office/drawing/2014/main" id="{B5249FF9-D054-4E87-A0F8-C5A6E0DEB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GRC control mapping</a:t>
            </a:r>
          </a:p>
        </p:txBody>
      </p:sp>
      <p:sp>
        <p:nvSpPr>
          <p:cNvPr id="3" name="title-rule-23">
            <a:extLst xmlns:a="http://schemas.openxmlformats.org/drawingml/2006/main">
              <a:ext uri="{FF2B5EF4-FFF2-40B4-BE49-F238E27FC236}">
                <a16:creationId xmlns:a16="http://schemas.microsoft.com/office/drawing/2014/main" id="{4D34B115-F3E1-4095-B716-8A7BE401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5"/>
          </a:solidFill>
          <a:ln xmlns:a="http://schemas.openxmlformats.org/drawingml/2006/main" w="0">
            <a:solidFill>
              <a:srgbClr val="B9C9C5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7a10ff2c4e4d23"/>
          <a:stretch xmlns:a="http://schemas.openxmlformats.org/drawingml/2006/main"/>
        </p:blipFill>
        <p:spPr>
          <a:xfrm xmlns:a="http://schemas.openxmlformats.org/drawingml/2006/main">
            <a:off x="10858500" y="2667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brand-name-23">
            <a:extLst xmlns:a="http://schemas.openxmlformats.org/drawingml/2006/main">
              <a:ext uri="{FF2B5EF4-FFF2-40B4-BE49-F238E27FC236}">
                <a16:creationId xmlns:a16="http://schemas.microsoft.com/office/drawing/2014/main" id="{95DB020F-1F53-4DBF-8ABB-11B0D12F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DeepTrustxAI</a:t>
            </a:r>
          </a:p>
        </p:txBody>
      </p:sp>
      <p:sp>
        <p:nvSpPr>
          <p:cNvPr id="6" name="footer-23">
            <a:extLst xmlns:a="http://schemas.openxmlformats.org/drawingml/2006/main">
              <a:ext uri="{FF2B5EF4-FFF2-40B4-BE49-F238E27FC236}">
                <a16:creationId xmlns:a16="http://schemas.microsoft.com/office/drawing/2014/main" id="{D7BF1ADB-2F6C-4180-AA34-F43146C0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CloudGuard workshop</a:t>
            </a:r>
          </a:p>
        </p:txBody>
      </p:sp>
      <p:sp>
        <p:nvSpPr>
          <p:cNvPr id="7" name="page-23">
            <a:extLst xmlns:a="http://schemas.openxmlformats.org/drawingml/2006/main">
              <a:ext uri="{FF2B5EF4-FFF2-40B4-BE49-F238E27FC236}">
                <a16:creationId xmlns:a16="http://schemas.microsoft.com/office/drawing/2014/main" id="{F88BA1F1-2538-43B5-A8B3-9B09F89D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23</a:t>
            </a:r>
          </a:p>
        </p:txBody>
      </p:sp>
      <p:sp>
        <p:nvSpPr>
          <p:cNvPr id="8" name="grc-copy">
            <a:extLst xmlns:a="http://schemas.openxmlformats.org/drawingml/2006/main">
              <a:ext uri="{FF2B5EF4-FFF2-40B4-BE49-F238E27FC236}">
                <a16:creationId xmlns:a16="http://schemas.microsoft.com/office/drawing/2014/main" id="{2CDEBF60-6A47-4403-9F34-1A1F351D9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47850"/>
            <a:ext cx="3714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The governance view should show what failed, who owns the response, and what will prove closure.</a:t>
            </a:r>
          </a:p>
        </p:txBody>
      </p:sp>
      <p:sp>
        <p:nvSpPr>
          <p:cNvPr id="9" name="grc-bullets">
            <a:extLst xmlns:a="http://schemas.openxmlformats.org/drawingml/2006/main">
              <a:ext uri="{FF2B5EF4-FFF2-40B4-BE49-F238E27FC236}">
                <a16:creationId xmlns:a16="http://schemas.microsoft.com/office/drawing/2014/main" id="{F67E3966-F251-42FA-BFA3-7DC972C4A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52800"/>
            <a:ext cx="3905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Control and framework mapping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Evidence review and audit history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Risk and remediation tracking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Leadership and auditor visibility</a:t>
            </a:r>
          </a:p>
        </p:txBody>
      </p:sp>
      <p:sp>
        <p:nvSpPr>
          <p:cNvPr id="10" name="grc-frame">
            <a:extLst xmlns:a="http://schemas.openxmlformats.org/drawingml/2006/main">
              <a:ext uri="{FF2B5EF4-FFF2-40B4-BE49-F238E27FC236}">
                <a16:creationId xmlns:a16="http://schemas.microsoft.com/office/drawing/2014/main" id="{8783CDA8-754C-415D-BD2E-AE4290A9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52600"/>
            <a:ext cx="68961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19"/>
          </a:solidFill>
          <a:ln xmlns:a="http://schemas.openxmlformats.org/drawingml/2006/main" w="0">
            <a:solidFill>
              <a:srgbClr val="0B1D19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0f830893ae4a7c"/>
          <a:srcRect xmlns:a="http://schemas.openxmlformats.org/drawingml/2006/main" l="1099" t="0" r="10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14900" y="1905000"/>
            <a:ext cx="6591300" cy="3790950"/>
          </a:xfrm>
          <a:prstGeom xmlns:a="http://schemas.openxmlformats.org/drawingml/2006/main" prst="roundRect">
            <a:avLst>
              <a:gd name="adj" fmla="val 1005"/>
            </a:avLst>
          </a:prstGeom>
        </p:spPr>
      </p:pic>
    </p:spTree>
    <p:extLst>
      <p:ext uri="{BB962C8B-B14F-4D97-AF65-F5344CB8AC3E}">
        <p14:creationId xmlns:p14="http://schemas.microsoft.com/office/powerpoint/2010/main" val="134850927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ection-24">
            <a:extLst xmlns:a="http://schemas.openxmlformats.org/drawingml/2006/main">
              <a:ext uri="{FF2B5EF4-FFF2-40B4-BE49-F238E27FC236}">
                <a16:creationId xmlns:a16="http://schemas.microsoft.com/office/drawing/2014/main" id="{BAC85FA6-6D84-432A-9E00-B9014750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2" name="title-24">
            <a:extLst xmlns:a="http://schemas.openxmlformats.org/drawingml/2006/main">
              <a:ext uri="{FF2B5EF4-FFF2-40B4-BE49-F238E27FC236}">
                <a16:creationId xmlns:a16="http://schemas.microsoft.com/office/drawing/2014/main" id="{D025E5CB-C3A4-442A-85FC-65FF95C7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Reason and Act workflow</a:t>
            </a:r>
          </a:p>
        </p:txBody>
      </p:sp>
      <p:sp>
        <p:nvSpPr>
          <p:cNvPr id="3" name="title-rule-24">
            <a:extLst xmlns:a="http://schemas.openxmlformats.org/drawingml/2006/main">
              <a:ext uri="{FF2B5EF4-FFF2-40B4-BE49-F238E27FC236}">
                <a16:creationId xmlns:a16="http://schemas.microsoft.com/office/drawing/2014/main" id="{EBAC31CC-837F-4FC8-9FE9-75CEBAB1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5"/>
          </a:solidFill>
          <a:ln xmlns:a="http://schemas.openxmlformats.org/drawingml/2006/main" w="0">
            <a:solidFill>
              <a:srgbClr val="B9C9C5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afae1148814978"/>
          <a:stretch xmlns:a="http://schemas.openxmlformats.org/drawingml/2006/main"/>
        </p:blipFill>
        <p:spPr>
          <a:xfrm xmlns:a="http://schemas.openxmlformats.org/drawingml/2006/main">
            <a:off x="10858500" y="2667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brand-name-24">
            <a:extLst xmlns:a="http://schemas.openxmlformats.org/drawingml/2006/main">
              <a:ext uri="{FF2B5EF4-FFF2-40B4-BE49-F238E27FC236}">
                <a16:creationId xmlns:a16="http://schemas.microsoft.com/office/drawing/2014/main" id="{29FE9C0B-244F-43AE-A9BA-DF9511F5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DeepTrustxAI</a:t>
            </a:r>
          </a:p>
        </p:txBody>
      </p:sp>
      <p:sp>
        <p:nvSpPr>
          <p:cNvPr id="6" name="footer-24">
            <a:extLst xmlns:a="http://schemas.openxmlformats.org/drawingml/2006/main">
              <a:ext uri="{FF2B5EF4-FFF2-40B4-BE49-F238E27FC236}">
                <a16:creationId xmlns:a16="http://schemas.microsoft.com/office/drawing/2014/main" id="{ADC6987D-A02A-45B5-9DFA-42C19E31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CloudGuard workshop</a:t>
            </a:r>
          </a:p>
        </p:txBody>
      </p:sp>
      <p:sp>
        <p:nvSpPr>
          <p:cNvPr id="7" name="page-24">
            <a:extLst xmlns:a="http://schemas.openxmlformats.org/drawingml/2006/main">
              <a:ext uri="{FF2B5EF4-FFF2-40B4-BE49-F238E27FC236}">
                <a16:creationId xmlns:a16="http://schemas.microsoft.com/office/drawing/2014/main" id="{1D0C1CD1-6E49-4F1A-ABD2-70B5375D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24</a:t>
            </a:r>
          </a:p>
        </p:txBody>
      </p:sp>
      <p:sp>
        <p:nvSpPr>
          <p:cNvPr id="8" name="reason-frame">
            <a:extLst xmlns:a="http://schemas.openxmlformats.org/drawingml/2006/main">
              <a:ext uri="{FF2B5EF4-FFF2-40B4-BE49-F238E27FC236}">
                <a16:creationId xmlns:a16="http://schemas.microsoft.com/office/drawing/2014/main" id="{076546A9-6ECE-459C-83B9-938E759D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19"/>
          </a:solidFill>
          <a:ln xmlns:a="http://schemas.openxmlformats.org/drawingml/2006/main" w="0">
            <a:solidFill>
              <a:srgbClr val="0B1D19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214d8867104047"/>
          <a:srcRect xmlns:a="http://schemas.openxmlformats.org/drawingml/2006/main" l="0" t="1404" r="0" b="14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905000"/>
            <a:ext cx="6934200" cy="3790950"/>
          </a:xfrm>
          <a:prstGeom xmlns:a="http://schemas.openxmlformats.org/drawingml/2006/main" prst="roundRect">
            <a:avLst>
              <a:gd name="adj" fmla="val 1508"/>
            </a:avLst>
          </a:prstGeom>
        </p:spPr>
      </p:pic>
      <p:sp>
        <p:nvSpPr>
          <p:cNvPr id="10" name="reason-num-0">
            <a:extLst xmlns:a="http://schemas.openxmlformats.org/drawingml/2006/main">
              <a:ext uri="{FF2B5EF4-FFF2-40B4-BE49-F238E27FC236}">
                <a16:creationId xmlns:a16="http://schemas.microsoft.com/office/drawing/2014/main" id="{1FEA6FA1-AF58-468D-BEC4-A1B8B78B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812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1" name="reason-step-0">
            <a:extLst xmlns:a="http://schemas.openxmlformats.org/drawingml/2006/main">
              <a:ext uri="{FF2B5EF4-FFF2-40B4-BE49-F238E27FC236}">
                <a16:creationId xmlns:a16="http://schemas.microsoft.com/office/drawing/2014/main" id="{D3E5B481-09F8-4458-A1F4-4FDF71F1C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9431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Discover</a:t>
            </a:r>
          </a:p>
        </p:txBody>
      </p:sp>
      <p:sp>
        <p:nvSpPr>
          <p:cNvPr id="12" name="reason-num-1">
            <a:extLst xmlns:a="http://schemas.openxmlformats.org/drawingml/2006/main">
              <a:ext uri="{FF2B5EF4-FFF2-40B4-BE49-F238E27FC236}">
                <a16:creationId xmlns:a16="http://schemas.microsoft.com/office/drawing/2014/main" id="{E989F808-DABC-4BFA-A59D-D80240B84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908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3" name="reason-step-1">
            <a:extLst xmlns:a="http://schemas.openxmlformats.org/drawingml/2006/main">
              <a:ext uri="{FF2B5EF4-FFF2-40B4-BE49-F238E27FC236}">
                <a16:creationId xmlns:a16="http://schemas.microsoft.com/office/drawing/2014/main" id="{EC65BD3F-BC7E-4E0F-A433-86F4749F1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527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Prioritize</a:t>
            </a:r>
          </a:p>
        </p:txBody>
      </p:sp>
      <p:sp>
        <p:nvSpPr>
          <p:cNvPr id="14" name="reason-num-2">
            <a:extLst xmlns:a="http://schemas.openxmlformats.org/drawingml/2006/main">
              <a:ext uri="{FF2B5EF4-FFF2-40B4-BE49-F238E27FC236}">
                <a16:creationId xmlns:a16="http://schemas.microsoft.com/office/drawing/2014/main" id="{CCD4E066-BFE4-432B-A903-3626BC94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00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5" name="reason-step-2">
            <a:extLst xmlns:a="http://schemas.openxmlformats.org/drawingml/2006/main">
              <a:ext uri="{FF2B5EF4-FFF2-40B4-BE49-F238E27FC236}">
                <a16:creationId xmlns:a16="http://schemas.microsoft.com/office/drawing/2014/main" id="{BF90B176-06C6-4F89-A6E4-9984C37F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623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Validate</a:t>
            </a:r>
          </a:p>
        </p:txBody>
      </p:sp>
      <p:sp>
        <p:nvSpPr>
          <p:cNvPr id="16" name="reason-num-3">
            <a:extLst xmlns:a="http://schemas.openxmlformats.org/drawingml/2006/main">
              <a:ext uri="{FF2B5EF4-FFF2-40B4-BE49-F238E27FC236}">
                <a16:creationId xmlns:a16="http://schemas.microsoft.com/office/drawing/2014/main" id="{49B413D3-BF74-4575-9364-A11E7498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100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7" name="reason-step-3">
            <a:extLst xmlns:a="http://schemas.openxmlformats.org/drawingml/2006/main">
              <a:ext uri="{FF2B5EF4-FFF2-40B4-BE49-F238E27FC236}">
                <a16:creationId xmlns:a16="http://schemas.microsoft.com/office/drawing/2014/main" id="{4F78ED94-B994-4798-A7B1-ADF849138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7719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Approve</a:t>
            </a:r>
          </a:p>
        </p:txBody>
      </p:sp>
      <p:sp>
        <p:nvSpPr>
          <p:cNvPr id="18" name="reason-num-4">
            <a:extLst xmlns:a="http://schemas.openxmlformats.org/drawingml/2006/main">
              <a:ext uri="{FF2B5EF4-FFF2-40B4-BE49-F238E27FC236}">
                <a16:creationId xmlns:a16="http://schemas.microsoft.com/office/drawing/2014/main" id="{27FF4AAF-C90B-4919-B7F2-4274BF6C4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19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19" name="reason-step-4">
            <a:extLst xmlns:a="http://schemas.openxmlformats.org/drawingml/2006/main">
              <a:ext uri="{FF2B5EF4-FFF2-40B4-BE49-F238E27FC236}">
                <a16:creationId xmlns:a16="http://schemas.microsoft.com/office/drawing/2014/main" id="{EA803DA5-D34A-4ADB-84E5-652062AD2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3815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Govern</a:t>
            </a:r>
          </a:p>
        </p:txBody>
      </p:sp>
      <p:sp>
        <p:nvSpPr>
          <p:cNvPr id="20" name="reason-warning">
            <a:extLst xmlns:a="http://schemas.openxmlformats.org/drawingml/2006/main">
              <a:ext uri="{FF2B5EF4-FFF2-40B4-BE49-F238E27FC236}">
                <a16:creationId xmlns:a16="http://schemas.microsoft.com/office/drawing/2014/main" id="{961D6E59-5A34-4F5C-851A-29959CAB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219700"/>
            <a:ext cx="304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5D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D95D4B"/>
                </a:solidFill>
                <a:latin typeface="Helvetica Neue"/>
                <a:ea typeface="Helvetica Neue"/>
                <a:cs typeface="Helvetica Neue"/>
              </a:rPr>
              <a:t>Production changes remain approval-gated until rollback and guardrails have been reviewed.</a:t>
            </a:r>
          </a:p>
        </p:txBody>
      </p:sp>
    </p:spTree>
    <p:extLst>
      <p:ext uri="{BB962C8B-B14F-4D97-AF65-F5344CB8AC3E}">
        <p14:creationId xmlns:p14="http://schemas.microsoft.com/office/powerpoint/2010/main" val="53042871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B1D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c2338949f64147"/>
          <a:stretch xmlns:a="http://schemas.openxmlformats.org/drawingml/2006/main"/>
        </p:blipFill>
        <p:spPr>
          <a:xfrm xmlns:a="http://schemas.openxmlformats.org/drawingml/2006/main">
            <a:off x="10287000" y="590550"/>
            <a:ext cx="1047750" cy="1047750"/>
          </a:xfrm>
          <a:prstGeom xmlns:a="http://schemas.openxmlformats.org/drawingml/2006/main" prst="rect">
            <a:avLst/>
          </a:prstGeom>
        </p:spPr>
      </p:pic>
      <p:sp>
        <p:nvSpPr>
          <p:cNvPr id="2" name="close-brand">
            <a:extLst xmlns:a="http://schemas.openxmlformats.org/drawingml/2006/main">
              <a:ext uri="{FF2B5EF4-FFF2-40B4-BE49-F238E27FC236}">
                <a16:creationId xmlns:a16="http://schemas.microsoft.com/office/drawing/2014/main" id="{014092BF-C6B8-4268-82FD-AE32642C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7526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DeepTrustxAI</a:t>
            </a:r>
          </a:p>
        </p:txBody>
      </p:sp>
      <p:sp>
        <p:nvSpPr>
          <p:cNvPr id="3" name="close-title">
            <a:extLst xmlns:a="http://schemas.openxmlformats.org/drawingml/2006/main">
              <a:ext uri="{FF2B5EF4-FFF2-40B4-BE49-F238E27FC236}">
                <a16:creationId xmlns:a16="http://schemas.microsoft.com/office/drawing/2014/main" id="{E00DBFE3-4E10-45C9-902F-76DD02949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6191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Cleanup and</a:t>
            </a:r>
          </a:p>
          <a:p xmlns:a="http://schemas.openxmlformats.org/drawingml/2006/main">
            <a:pPr algn="l">
              <a:def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workshop close</a:t>
            </a:r>
          </a:p>
        </p:txBody>
      </p:sp>
      <p:sp>
        <p:nvSpPr>
          <p:cNvPr id="4" name="close-sub">
            <a:extLst xmlns:a="http://schemas.openxmlformats.org/drawingml/2006/main">
              <a:ext uri="{FF2B5EF4-FFF2-40B4-BE49-F238E27FC236}">
                <a16:creationId xmlns:a16="http://schemas.microsoft.com/office/drawing/2014/main" id="{8DF09283-D8B8-4465-949F-B3AD15DC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7CB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B7CBC5"/>
                </a:solidFill>
                <a:latin typeface="Helvetica Neue"/>
                <a:ea typeface="Helvetica Neue"/>
                <a:cs typeface="Helvetica Neue"/>
              </a:rPr>
              <a:t>Before anyone leaves, confirm these conditions.</a:t>
            </a:r>
          </a:p>
        </p:txBody>
      </p:sp>
      <p:sp>
        <p:nvSpPr>
          <p:cNvPr id="5" name="close-list">
            <a:extLst xmlns:a="http://schemas.openxmlformats.org/drawingml/2006/main">
              <a:ext uri="{FF2B5EF4-FFF2-40B4-BE49-F238E27FC236}">
                <a16:creationId xmlns:a16="http://schemas.microsoft.com/office/drawing/2014/main" id="{82786D1D-DD81-4A2D-8BC6-4BA0BB59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81350"/>
            <a:ext cx="7905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All four scanner streams produced a result or documented fallback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One finding has evidence, a control, an owner, and a closure action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AWS, GCP, and Kubernetes lab resources have been destroyed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Temporary credentials and access have been revoked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Cleanup events and the final rescan or validation result have been retained</a:t>
            </a:r>
          </a:p>
        </p:txBody>
      </p:sp>
      <p:sp>
        <p:nvSpPr>
          <p:cNvPr id="6" name="close-quote-bg">
            <a:extLst xmlns:a="http://schemas.openxmlformats.org/drawingml/2006/main">
              <a:ext uri="{FF2B5EF4-FFF2-40B4-BE49-F238E27FC236}">
                <a16:creationId xmlns:a16="http://schemas.microsoft.com/office/drawing/2014/main" id="{BEDC8961-6AD9-4CA3-8E67-5DDA7ABAD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43250"/>
            <a:ext cx="2571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7B0"/>
          </a:solidFill>
          <a:ln xmlns:a="http://schemas.openxmlformats.org/drawingml/2006/main" w="0">
            <a:solidFill>
              <a:srgbClr val="42D7B0"/>
            </a:solidFill>
            <a:prstDash val="solid"/>
          </a:ln>
        </p:spPr>
      </p:sp>
      <p:sp>
        <p:nvSpPr>
          <p:cNvPr id="7" name="close-quote-label">
            <a:extLst xmlns:a="http://schemas.openxmlformats.org/drawingml/2006/main">
              <a:ext uri="{FF2B5EF4-FFF2-40B4-BE49-F238E27FC236}">
                <a16:creationId xmlns:a16="http://schemas.microsoft.com/office/drawing/2014/main" id="{4173695F-9919-4FB9-977B-3063E71D6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290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1D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B1D19"/>
                </a:solidFill>
                <a:latin typeface="Helvetica Neue"/>
                <a:ea typeface="Helvetica Neue"/>
                <a:cs typeface="Helvetica Neue"/>
              </a:rPr>
              <a:t>WORKSHOP RESULT</a:t>
            </a:r>
          </a:p>
        </p:txBody>
      </p:sp>
      <p:sp>
        <p:nvSpPr>
          <p:cNvPr id="8" name="close-quote">
            <a:extLst xmlns:a="http://schemas.openxmlformats.org/drawingml/2006/main">
              <a:ext uri="{FF2B5EF4-FFF2-40B4-BE49-F238E27FC236}">
                <a16:creationId xmlns:a16="http://schemas.microsoft.com/office/drawing/2014/main" id="{63187F8B-6643-437A-8DD5-27CB7018B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19550"/>
            <a:ext cx="2000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D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B1D19"/>
                </a:solidFill>
                <a:latin typeface="Helvetica Neue"/>
                <a:ea typeface="Helvetica Neue"/>
                <a:cs typeface="Helvetica Neue"/>
              </a:rPr>
              <a:t>A finding with</a:t>
            </a:r>
          </a:p>
          <a:p xmlns:a="http://schemas.openxmlformats.org/drawingml/2006/main">
            <a:pPr algn="l">
              <a:defRPr sz="2100" b="1">
                <a:solidFill>
                  <a:srgbClr val="0B1D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B1D19"/>
                </a:solidFill>
                <a:latin typeface="Helvetica Neue"/>
                <a:ea typeface="Helvetica Neue"/>
                <a:cs typeface="Helvetica Neue"/>
              </a:rPr>
              <a:t>proof, ownership,</a:t>
            </a:r>
          </a:p>
          <a:p xmlns:a="http://schemas.openxmlformats.org/drawingml/2006/main">
            <a:pPr algn="l">
              <a:defRPr sz="2100" b="1">
                <a:solidFill>
                  <a:srgbClr val="0B1D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B1D19"/>
                </a:solidFill>
                <a:latin typeface="Helvetica Neue"/>
                <a:ea typeface="Helvetica Neue"/>
                <a:cs typeface="Helvetica Neue"/>
              </a:rPr>
              <a:t>and a verified fix</a:t>
            </a:r>
          </a:p>
        </p:txBody>
      </p:sp>
      <p:sp>
        <p:nvSpPr>
          <p:cNvPr id="9" name="close-footer">
            <a:extLst xmlns:a="http://schemas.openxmlformats.org/drawingml/2006/main">
              <a:ext uri="{FF2B5EF4-FFF2-40B4-BE49-F238E27FC236}">
                <a16:creationId xmlns:a16="http://schemas.microsoft.com/office/drawing/2014/main" id="{B65A915E-9E3D-40C2-80EB-23233F86E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rPr>
              <a:t>Questions and next steps</a:t>
            </a:r>
          </a:p>
        </p:txBody>
      </p:sp>
    </p:spTree>
    <p:extLst>
      <p:ext uri="{BB962C8B-B14F-4D97-AF65-F5344CB8AC3E}">
        <p14:creationId xmlns:p14="http://schemas.microsoft.com/office/powerpoint/2010/main" val="5097634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2026-09-05T12:49:09.0950000Z</dcterms:created>
  <dcterms:modified xsi:type="dcterms:W3CDTF">2026-09-05T12:49:09.0950000Z</dcterms:modified>
</coreProperties>
</file>