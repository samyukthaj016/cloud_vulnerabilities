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52fe7ea8814ec0" /><Relationship Type="http://schemas.openxmlformats.org/officeDocument/2006/relationships/extended-properties" Target="/docProps/app.xml" Id="R1dd51f0a28194ea1" /><Relationship Type="http://schemas.openxmlformats.org/officeDocument/2006/relationships/officeDocument" Target="/ppt/presentation.xml" Id="R49208b90f1924864" /></Relationships>
</file>

<file path=ppt/presentation.xml><?xml version="1.0" encoding="utf-8"?>
<p:presentation xmlns:p="http://schemas.openxmlformats.org/presentationml/2006/main">
  <p:sldMasterIdLst>
    <p:sldMasterId xmlns:r="http://schemas.openxmlformats.org/officeDocument/2006/relationships" id="2147483648" r:id="R603572c7177c4105"/>
  </p:sldMasterIdLst>
  <p:notesMasterIdLst>
    <p:notesMasterId xmlns:r="http://schemas.openxmlformats.org/officeDocument/2006/relationships" r:id="R7d87aa4b958b448b"/>
  </p:notesMasterIdLst>
  <p:sldIdLst>
    <p:sldId xmlns:r="http://schemas.openxmlformats.org/officeDocument/2006/relationships" id="256" r:id="R1d07309a2707423a"/>
    <p:sldId xmlns:r="http://schemas.openxmlformats.org/officeDocument/2006/relationships" id="257" r:id="Rc9ffc177ddbc4bd8"/>
    <p:sldId xmlns:r="http://schemas.openxmlformats.org/officeDocument/2006/relationships" id="258" r:id="R514374fff6324cd4"/>
    <p:sldId xmlns:r="http://schemas.openxmlformats.org/officeDocument/2006/relationships" id="259" r:id="R7329194cc8b7481f"/>
    <p:sldId xmlns:r="http://schemas.openxmlformats.org/officeDocument/2006/relationships" id="260" r:id="Rbffa1154384f4491"/>
    <p:sldId xmlns:r="http://schemas.openxmlformats.org/officeDocument/2006/relationships" id="261" r:id="R932e46aebc0f4e93"/>
    <p:sldId xmlns:r="http://schemas.openxmlformats.org/officeDocument/2006/relationships" id="262" r:id="R585489ca08e048b0"/>
    <p:sldId xmlns:r="http://schemas.openxmlformats.org/officeDocument/2006/relationships" id="263" r:id="R6438828c634e4a78"/>
    <p:sldId xmlns:r="http://schemas.openxmlformats.org/officeDocument/2006/relationships" id="264" r:id="R5069d2b860ef47a6"/>
    <p:sldId xmlns:r="http://schemas.openxmlformats.org/officeDocument/2006/relationships" id="265" r:id="R37db34aeba4c4269"/>
    <p:sldId xmlns:r="http://schemas.openxmlformats.org/officeDocument/2006/relationships" id="266" r:id="R387233527a6d4eff"/>
    <p:sldId xmlns:r="http://schemas.openxmlformats.org/officeDocument/2006/relationships" id="267" r:id="Rca51a433eb7e403f"/>
    <p:sldId xmlns:r="http://schemas.openxmlformats.org/officeDocument/2006/relationships" id="268" r:id="Ra63b353ed2c54c76"/>
    <p:sldId xmlns:r="http://schemas.openxmlformats.org/officeDocument/2006/relationships" id="269" r:id="Re26f76ae50634cb9"/>
    <p:sldId xmlns:r="http://schemas.openxmlformats.org/officeDocument/2006/relationships" id="270" r:id="R971949895235408f"/>
    <p:sldId xmlns:r="http://schemas.openxmlformats.org/officeDocument/2006/relationships" id="271" r:id="Reb6478722fd94078"/>
    <p:sldId xmlns:r="http://schemas.openxmlformats.org/officeDocument/2006/relationships" id="272" r:id="R5bd5888f53974115"/>
    <p:sldId xmlns:r="http://schemas.openxmlformats.org/officeDocument/2006/relationships" id="273" r:id="R3136c04c67af4841"/>
    <p:sldId xmlns:r="http://schemas.openxmlformats.org/officeDocument/2006/relationships" id="274" r:id="R6965aec58de44b21"/>
    <p:sldId xmlns:r="http://schemas.openxmlformats.org/officeDocument/2006/relationships" id="275" r:id="R9afd7838c2b04717"/>
    <p:sldId xmlns:r="http://schemas.openxmlformats.org/officeDocument/2006/relationships" id="276" r:id="R75a1280b68164444"/>
    <p:sldId xmlns:r="http://schemas.openxmlformats.org/officeDocument/2006/relationships" id="277" r:id="Rbd6f64904e804cf7"/>
    <p:sldId xmlns:r="http://schemas.openxmlformats.org/officeDocument/2006/relationships" id="278" r:id="R12d7a47836364372"/>
    <p:sldId xmlns:r="http://schemas.openxmlformats.org/officeDocument/2006/relationships" id="279" r:id="R63a9bbb5c1e7404f"/>
    <p:sldId xmlns:r="http://schemas.openxmlformats.org/officeDocument/2006/relationships" id="280" r:id="Rbedbbeb4ccde46a0"/>
    <p:sldId xmlns:r="http://schemas.openxmlformats.org/officeDocument/2006/relationships" id="281" r:id="R9bd65ab37d074066"/>
    <p:sldId xmlns:r="http://schemas.openxmlformats.org/officeDocument/2006/relationships" id="282" r:id="R857a159e94ab49f4"/>
    <p:sldId xmlns:r="http://schemas.openxmlformats.org/officeDocument/2006/relationships" id="283" r:id="R80625e5cc7aa4b37"/>
    <p:sldId xmlns:r="http://schemas.openxmlformats.org/officeDocument/2006/relationships" id="284" r:id="Rdd050fca6e3043ea"/>
    <p:sldId xmlns:r="http://schemas.openxmlformats.org/officeDocument/2006/relationships" id="285" r:id="R0d5fca6b9ad9422c"/>
    <p:sldId xmlns:r="http://schemas.openxmlformats.org/officeDocument/2006/relationships" id="286" r:id="Rba163dd0fcbf4af7"/>
    <p:sldId xmlns:r="http://schemas.openxmlformats.org/officeDocument/2006/relationships" id="287" r:id="Ra6e3bd12635b45c3"/>
    <p:sldId xmlns:r="http://schemas.openxmlformats.org/officeDocument/2006/relationships" id="288" r:id="Rfd02bcf9b27d4490"/>
    <p:sldId xmlns:r="http://schemas.openxmlformats.org/officeDocument/2006/relationships" id="289" r:id="Rd761b8ce052e4187"/>
    <p:sldId xmlns:r="http://schemas.openxmlformats.org/officeDocument/2006/relationships" id="290" r:id="R977f08c375d64c74"/>
    <p:sldId xmlns:r="http://schemas.openxmlformats.org/officeDocument/2006/relationships" id="291" r:id="Raa10ff39880f41fe"/>
    <p:sldId xmlns:r="http://schemas.openxmlformats.org/officeDocument/2006/relationships" id="292" r:id="Raf0560aa0b3e47ad"/>
    <p:sldId xmlns:r="http://schemas.openxmlformats.org/officeDocument/2006/relationships" id="293" r:id="R263a31f67a9b4116"/>
    <p:sldId xmlns:r="http://schemas.openxmlformats.org/officeDocument/2006/relationships" id="294" r:id="R605e2fcda30644a6"/>
    <p:sldId xmlns:r="http://schemas.openxmlformats.org/officeDocument/2006/relationships" id="295" r:id="Rf10dd608a7b048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f93f2a72d64eea" /><Relationship Type="http://schemas.openxmlformats.org/officeDocument/2006/relationships/slideMaster" Target="/ppt/slideMasters/slideMaster1.xml" Id="R603572c7177c4105" /><Relationship Type="http://schemas.openxmlformats.org/officeDocument/2006/relationships/notesMaster" Target="/ppt/notesMasters/notesMaster1.xml" Id="R7d87aa4b958b448b" /><Relationship Type="http://schemas.openxmlformats.org/officeDocument/2006/relationships/presProps" Target="/ppt/presProps.xml" Id="R6974ca2024ff4451" /><Relationship Type="http://schemas.openxmlformats.org/officeDocument/2006/relationships/tableStyles" Target="/ppt/tableStyles.xml" Id="R90ef68b7476f492c" /><Relationship Type="http://schemas.openxmlformats.org/officeDocument/2006/relationships/slide" Target="/ppt/slides/slide1.xml" Id="R1d07309a2707423a" /><Relationship Type="http://schemas.openxmlformats.org/officeDocument/2006/relationships/slide" Target="/ppt/slides/slide2.xml" Id="Rc9ffc177ddbc4bd8" /><Relationship Type="http://schemas.openxmlformats.org/officeDocument/2006/relationships/slide" Target="/ppt/slides/slide3.xml" Id="R514374fff6324cd4" /><Relationship Type="http://schemas.openxmlformats.org/officeDocument/2006/relationships/slide" Target="/ppt/slides/slide4.xml" Id="R7329194cc8b7481f" /><Relationship Type="http://schemas.openxmlformats.org/officeDocument/2006/relationships/slide" Target="/ppt/slides/slide5.xml" Id="Rbffa1154384f4491" /><Relationship Type="http://schemas.openxmlformats.org/officeDocument/2006/relationships/slide" Target="/ppt/slides/slide6.xml" Id="R932e46aebc0f4e93" /><Relationship Type="http://schemas.openxmlformats.org/officeDocument/2006/relationships/slide" Target="/ppt/slides/slide7.xml" Id="R585489ca08e048b0" /><Relationship Type="http://schemas.openxmlformats.org/officeDocument/2006/relationships/slide" Target="/ppt/slides/slide8.xml" Id="R6438828c634e4a78" /><Relationship Type="http://schemas.openxmlformats.org/officeDocument/2006/relationships/slide" Target="/ppt/slides/slide9.xml" Id="R5069d2b860ef47a6" /><Relationship Type="http://schemas.openxmlformats.org/officeDocument/2006/relationships/slide" Target="/ppt/slides/slide10.xml" Id="R37db34aeba4c4269" /><Relationship Type="http://schemas.openxmlformats.org/officeDocument/2006/relationships/slide" Target="/ppt/slides/slide11.xml" Id="R387233527a6d4eff" /><Relationship Type="http://schemas.openxmlformats.org/officeDocument/2006/relationships/slide" Target="/ppt/slides/slide12.xml" Id="Rca51a433eb7e403f" /><Relationship Type="http://schemas.openxmlformats.org/officeDocument/2006/relationships/slide" Target="/ppt/slides/slide13.xml" Id="Ra63b353ed2c54c76" /><Relationship Type="http://schemas.openxmlformats.org/officeDocument/2006/relationships/slide" Target="/ppt/slides/slide14.xml" Id="Re26f76ae50634cb9" /><Relationship Type="http://schemas.openxmlformats.org/officeDocument/2006/relationships/slide" Target="/ppt/slides/slide15.xml" Id="R971949895235408f" /><Relationship Type="http://schemas.openxmlformats.org/officeDocument/2006/relationships/slide" Target="/ppt/slides/slide16.xml" Id="Reb6478722fd94078" /><Relationship Type="http://schemas.openxmlformats.org/officeDocument/2006/relationships/slide" Target="/ppt/slides/slide17.xml" Id="R5bd5888f53974115" /><Relationship Type="http://schemas.openxmlformats.org/officeDocument/2006/relationships/slide" Target="/ppt/slides/slide18.xml" Id="R3136c04c67af4841" /><Relationship Type="http://schemas.openxmlformats.org/officeDocument/2006/relationships/slide" Target="/ppt/slides/slide19.xml" Id="R6965aec58de44b21" /><Relationship Type="http://schemas.openxmlformats.org/officeDocument/2006/relationships/slide" Target="/ppt/slides/slide20.xml" Id="R9afd7838c2b04717" /><Relationship Type="http://schemas.openxmlformats.org/officeDocument/2006/relationships/slide" Target="/ppt/slides/slide21.xml" Id="R75a1280b68164444" /><Relationship Type="http://schemas.openxmlformats.org/officeDocument/2006/relationships/slide" Target="/ppt/slides/slide22.xml" Id="Rbd6f64904e804cf7" /><Relationship Type="http://schemas.openxmlformats.org/officeDocument/2006/relationships/slide" Target="/ppt/slides/slide23.xml" Id="R12d7a47836364372" /><Relationship Type="http://schemas.openxmlformats.org/officeDocument/2006/relationships/slide" Target="/ppt/slides/slide24.xml" Id="R63a9bbb5c1e7404f" /><Relationship Type="http://schemas.openxmlformats.org/officeDocument/2006/relationships/slide" Target="/ppt/slides/slide25.xml" Id="Rbedbbeb4ccde46a0" /><Relationship Type="http://schemas.openxmlformats.org/officeDocument/2006/relationships/slide" Target="/ppt/slides/slide26.xml" Id="R9bd65ab37d074066" /><Relationship Type="http://schemas.openxmlformats.org/officeDocument/2006/relationships/slide" Target="/ppt/slides/slide27.xml" Id="R857a159e94ab49f4" /><Relationship Type="http://schemas.openxmlformats.org/officeDocument/2006/relationships/slide" Target="/ppt/slides/slide28.xml" Id="R80625e5cc7aa4b37" /><Relationship Type="http://schemas.openxmlformats.org/officeDocument/2006/relationships/slide" Target="/ppt/slides/slide29.xml" Id="Rdd050fca6e3043ea" /><Relationship Type="http://schemas.openxmlformats.org/officeDocument/2006/relationships/slide" Target="/ppt/slides/slide30.xml" Id="R0d5fca6b9ad9422c" /><Relationship Type="http://schemas.openxmlformats.org/officeDocument/2006/relationships/slide" Target="/ppt/slides/slide31.xml" Id="Rba163dd0fcbf4af7" /><Relationship Type="http://schemas.openxmlformats.org/officeDocument/2006/relationships/slide" Target="/ppt/slides/slide32.xml" Id="Ra6e3bd12635b45c3" /><Relationship Type="http://schemas.openxmlformats.org/officeDocument/2006/relationships/slide" Target="/ppt/slides/slide33.xml" Id="Rfd02bcf9b27d4490" /><Relationship Type="http://schemas.openxmlformats.org/officeDocument/2006/relationships/slide" Target="/ppt/slides/slide34.xml" Id="Rd761b8ce052e4187" /><Relationship Type="http://schemas.openxmlformats.org/officeDocument/2006/relationships/slide" Target="/ppt/slides/slide35.xml" Id="R977f08c375d64c74" /><Relationship Type="http://schemas.openxmlformats.org/officeDocument/2006/relationships/slide" Target="/ppt/slides/slide36.xml" Id="Raa10ff39880f41fe" /><Relationship Type="http://schemas.openxmlformats.org/officeDocument/2006/relationships/slide" Target="/ppt/slides/slide37.xml" Id="Raf0560aa0b3e47ad" /><Relationship Type="http://schemas.openxmlformats.org/officeDocument/2006/relationships/slide" Target="/ppt/slides/slide38.xml" Id="R263a31f67a9b4116" /><Relationship Type="http://schemas.openxmlformats.org/officeDocument/2006/relationships/slide" Target="/ppt/slides/slide39.xml" Id="R605e2fcda30644a6" /><Relationship Type="http://schemas.openxmlformats.org/officeDocument/2006/relationships/slide" Target="/ppt/slides/slide40.xml" Id="Rf10dd608a7b048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2a14ccad1743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f068c797df4173" /><Relationship Type="http://schemas.openxmlformats.org/officeDocument/2006/relationships/notesMaster" Target="/ppt/notesMasters/notesMaster1.xml" Id="Ra178adddb17f49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d2b93abe3c48a0" /><Relationship Type="http://schemas.openxmlformats.org/officeDocument/2006/relationships/notesMaster" Target="/ppt/notesMasters/notesMaster1.xml" Id="R3484db937fb146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a58bb87f2d4158" /><Relationship Type="http://schemas.openxmlformats.org/officeDocument/2006/relationships/notesMaster" Target="/ppt/notesMasters/notesMaster1.xml" Id="R96f456b2f04844e7"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6aa3e588734e83" /><Relationship Type="http://schemas.openxmlformats.org/officeDocument/2006/relationships/notesMaster" Target="/ppt/notesMasters/notesMaster1.xml" Id="R417bc8477e0c4c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d732c31984e82" /><Relationship Type="http://schemas.openxmlformats.org/officeDocument/2006/relationships/notesMaster" Target="/ppt/notesMasters/notesMaster1.xml" Id="R82653a9af10b4e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9a76aa497f478b" /><Relationship Type="http://schemas.openxmlformats.org/officeDocument/2006/relationships/notesMaster" Target="/ppt/notesMasters/notesMaster1.xml" Id="R090ec0cfdd334d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56bbe630dd4f2a" /><Relationship Type="http://schemas.openxmlformats.org/officeDocument/2006/relationships/notesMaster" Target="/ppt/notesMasters/notesMaster1.xml" Id="R703a5db9fa69470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d5bde1d5c1c4717" /><Relationship Type="http://schemas.openxmlformats.org/officeDocument/2006/relationships/notesMaster" Target="/ppt/notesMasters/notesMaster1.xml" Id="R75416994c54f4c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810260b1b64b6b" /><Relationship Type="http://schemas.openxmlformats.org/officeDocument/2006/relationships/notesMaster" Target="/ppt/notesMasters/notesMaster1.xml" Id="R5fed4ea0f08040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e7e59daed54c3d" /><Relationship Type="http://schemas.openxmlformats.org/officeDocument/2006/relationships/notesMaster" Target="/ppt/notesMasters/notesMaster1.xml" Id="R8a86653cf8d04f9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9d46124648d4d68" /><Relationship Type="http://schemas.openxmlformats.org/officeDocument/2006/relationships/notesMaster" Target="/ppt/notesMasters/notesMaster1.xml" Id="R10f484a219464ef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ef06e3ecc4c47dd" /><Relationship Type="http://schemas.openxmlformats.org/officeDocument/2006/relationships/notesMaster" Target="/ppt/notesMasters/notesMaster1.xml" Id="Rf39cc5ab9bf04d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89365f0a4547df" /><Relationship Type="http://schemas.openxmlformats.org/officeDocument/2006/relationships/notesMaster" Target="/ppt/notesMasters/notesMaster1.xml" Id="R1120677b874f47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a9b02b1cc544ad" /><Relationship Type="http://schemas.openxmlformats.org/officeDocument/2006/relationships/notesMaster" Target="/ppt/notesMasters/notesMaster1.xml" Id="R227a10f35f1149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cf21ba54bb4b03" /><Relationship Type="http://schemas.openxmlformats.org/officeDocument/2006/relationships/notesMaster" Target="/ppt/notesMasters/notesMaster1.xml" Id="R12570848bbc24b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c3461f32d9a43ea" /><Relationship Type="http://schemas.openxmlformats.org/officeDocument/2006/relationships/notesMaster" Target="/ppt/notesMasters/notesMaster1.xml" Id="R220ea05e1a9b42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1df798354648f5" /><Relationship Type="http://schemas.openxmlformats.org/officeDocument/2006/relationships/notesMaster" Target="/ppt/notesMasters/notesMaster1.xml" Id="Re702735fceb64fd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cd39e3f18341dd" /><Relationship Type="http://schemas.openxmlformats.org/officeDocument/2006/relationships/notesMaster" Target="/ppt/notesMasters/notesMaster1.xml" Id="R379fdbde9e85450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25f4ef4fd2b4865" /><Relationship Type="http://schemas.openxmlformats.org/officeDocument/2006/relationships/notesMaster" Target="/ppt/notesMasters/notesMaster1.xml" Id="R0cb8db4f298741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de9356782647fc" /><Relationship Type="http://schemas.openxmlformats.org/officeDocument/2006/relationships/notesMaster" Target="/ppt/notesMasters/notesMaster1.xml" Id="Rc7556ff62d3945b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8184278f03495f" /><Relationship Type="http://schemas.openxmlformats.org/officeDocument/2006/relationships/notesMaster" Target="/ppt/notesMasters/notesMaster1.xml" Id="R6434d4325ec946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b8161d033a4141" /><Relationship Type="http://schemas.openxmlformats.org/officeDocument/2006/relationships/notesMaster" Target="/ppt/notesMasters/notesMaster1.xml" Id="R315a1d26fc91442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08aa5d3a43e4390" /><Relationship Type="http://schemas.openxmlformats.org/officeDocument/2006/relationships/notesMaster" Target="/ppt/notesMasters/notesMaster1.xml" Id="Rc6875f47e44844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20def2b1d354fe5" /><Relationship Type="http://schemas.openxmlformats.org/officeDocument/2006/relationships/notesMaster" Target="/ppt/notesMasters/notesMaster1.xml" Id="R2460f30d95ec4d9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fcab6f17e54bd1" /><Relationship Type="http://schemas.openxmlformats.org/officeDocument/2006/relationships/notesMaster" Target="/ppt/notesMasters/notesMaster1.xml" Id="R5870309d54f442f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c763c2086e24d7c" /><Relationship Type="http://schemas.openxmlformats.org/officeDocument/2006/relationships/notesMaster" Target="/ppt/notesMasters/notesMaster1.xml" Id="R22fb7bce3f24431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ee3b75d620047bf" /><Relationship Type="http://schemas.openxmlformats.org/officeDocument/2006/relationships/notesMaster" Target="/ppt/notesMasters/notesMaster1.xml" Id="R4362889ccb8242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a283bd0eea4849" /><Relationship Type="http://schemas.openxmlformats.org/officeDocument/2006/relationships/notesMaster" Target="/ppt/notesMasters/notesMaster1.xml" Id="R1b6ce88295404e2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412b86fad24c91" /><Relationship Type="http://schemas.openxmlformats.org/officeDocument/2006/relationships/notesMaster" Target="/ppt/notesMasters/notesMaster1.xml" Id="R899c67773d19483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86669573f13479e" /><Relationship Type="http://schemas.openxmlformats.org/officeDocument/2006/relationships/notesMaster" Target="/ppt/notesMasters/notesMaster1.xml" Id="R8cbf380e7dac44c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bc299dfef1946dd" /><Relationship Type="http://schemas.openxmlformats.org/officeDocument/2006/relationships/notesMaster" Target="/ppt/notesMasters/notesMaster1.xml" Id="Raffbc2770605453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0feced8841648f8" /><Relationship Type="http://schemas.openxmlformats.org/officeDocument/2006/relationships/notesMaster" Target="/ppt/notesMasters/notesMaster1.xml" Id="R009b1c75df7949c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954fd2b8235d4ffb" /><Relationship Type="http://schemas.openxmlformats.org/officeDocument/2006/relationships/notesMaster" Target="/ppt/notesMasters/notesMaster1.xml" Id="Rf8fb10b81632444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7310df50a05484c" /><Relationship Type="http://schemas.openxmlformats.org/officeDocument/2006/relationships/notesMaster" Target="/ppt/notesMasters/notesMaster1.xml" Id="R04f78c26c22648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fab73cbd2f84036" /><Relationship Type="http://schemas.openxmlformats.org/officeDocument/2006/relationships/notesMaster" Target="/ppt/notesMasters/notesMaster1.xml" Id="Rd4c43100752c4bd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148a90677e24858" /><Relationship Type="http://schemas.openxmlformats.org/officeDocument/2006/relationships/notesMaster" Target="/ppt/notesMasters/notesMaster1.xml" Id="R856d55d2cc60495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c1edf71df9f45c6" /><Relationship Type="http://schemas.openxmlformats.org/officeDocument/2006/relationships/notesMaster" Target="/ppt/notesMasters/notesMaster1.xml" Id="R68dd0f565c764e8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de7cc990b0a4944" /><Relationship Type="http://schemas.openxmlformats.org/officeDocument/2006/relationships/notesMaster" Target="/ppt/notesMasters/notesMaster1.xml" Id="Re2810f73f986466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4a479441e8643df" /><Relationship Type="http://schemas.openxmlformats.org/officeDocument/2006/relationships/notesMaster" Target="/ppt/notesMasters/notesMaster1.xml" Id="Ra64e8e0b884c4c4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7c5b85bd2614f3c" /><Relationship Type="http://schemas.openxmlformats.org/officeDocument/2006/relationships/notesMaster" Target="/ppt/notesMasters/notesMaster1.xml" Id="R2065782d96d74b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Suggested talk track: Welcome everyone. Today we will examine four scanner types, see how each one collects evidence, and use that evidence to understand and close security findings.</a:t>
            </a:r>
          </a:p>
          <a:p xmlns:a="http://schemas.openxmlformats.org/drawingml/2006/main">
            <a:r>
              <a:t/>
            </a:r>
          </a:p>
          <a:p xmlns:a="http://schemas.openxmlformats.org/drawingml/2006/main">
            <a:r>
              <a:t>[Sources]</a:t>
            </a:r>
          </a:p>
          <a:p xmlns:a="http://schemas.openxmlformats.org/drawingml/2006/main">
            <a:r>
              <a:t>- /Users/anjali/Cloud_Vulnerabilities/workshop/marp-demo/images/deeptrustxai-logo.png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aim is understanding, not memorizing buttons. A useful result connects a configuration to an asset, explains the risk, and records what will prove that the issue has been closed.</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workshop moves from common concepts into four scanner modules. Each scanner module includes explanation, a live example, and a short exercise.</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We begin with the common model shared by all four scanners. The provider changes, but the core questions remain consistent.</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 scanner does more than search for vulnerabilities. It discovers what exists, evaluates configuration, explains why a condition matters, and gives us a way to verify the correction.</a:t>
            </a:r>
          </a:p>
          <a:p xmlns:a="http://schemas.openxmlformats.org/drawingml/2006/main">
            <a:r>
              <a:t/>
            </a:r>
          </a:p>
          <a:p xmlns:a="http://schemas.openxmlformats.org/drawingml/2006/main">
            <a:r>
              <a:t>[Sources]</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portal is the coordination layer. It does not need to run inside the cloud being scanned. Provider workers connect to the target, produce findings, and return normalized evidence to the shared platform.</a:t>
            </a:r>
          </a:p>
          <a:p xmlns:a="http://schemas.openxmlformats.org/drawingml/2006/main">
            <a:r>
              <a:t/>
            </a:r>
          </a:p>
          <a:p xmlns:a="http://schemas.openxmlformats.org/drawingml/2006/main">
            <a:r>
              <a:t>[Sources]</a:t>
            </a:r>
          </a:p>
          <a:p xmlns:a="http://schemas.openxmlformats.org/drawingml/2006/main">
            <a:r>
              <a:t>- /Users/anjali/Cloud_Vulnerabilities/handoff/grc-compliance-governance/setup-dokploy-cloudguard-stack.png</a:t>
            </a:r>
          </a:p>
          <a:p xmlns:a="http://schemas.openxmlformats.org/drawingml/2006/main">
            <a:r>
              <a:t>- /Users/anjali/Cloud_Vulnerabilities/README.md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Every finding needs context. A high severity label matters, but priority becomes clearer when we know the exposed asset, the identity involved, and the proof available for remediation.</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We create insecure resources only inside an approved sandbox. The lab uses dummy data and temporary access, and cleanup proof is part of the exercise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/Users/anjali/Cloud_Vulnerabilities/docs/sandbox-lab-workflow.md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AWS module starts with the scanner's coverage, then follows one account scan from authentication to a normalized finding.</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AWS scanner covers four control areas. S3 represents data exposure, IAM represents identity risk, security groups show reachable services, and account-level checks show whether investigation data will exist.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first AWS call confirms identity through STS. Discovery follows, then each resource type receives its own checks. The result includes findings, any partial errors, and a severity summary.</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lab combines several weaknesses. The most serious results connect public reachability or broad identity privilege to a concrete asset. Missing telemetry increases the difficulty of detecting and investigating misuse.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This finding describes configuration risk. The evidence shows why the policy is broad, the identity identifies who can use it, and the rescan shows whether least privilege has replaced the wildcard statement.</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 minutes</a:t>
            </a:r>
          </a:p>
          <a:p xmlns:a="http://schemas.openxmlformats.org/drawingml/2006/main">
            <a:r>
              <a:t>Suggested talk track: Participants use only the assigned sandbox. Ask each group to explain one finding in plain language before they submit the evidence and cleanup record.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/Users/anjali/Cloud_Vulnerabilities/backend/mcp_servers/aws_server.py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GCP scanner covers risk categories similar to AWS, but it expresses scope and identity through projects, bindings, and service accounts.</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GCP coverage follows the project boundary. The scanner combines storage policy, project IAM, virtual machine configuration, and firewall reachability in one result set.</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The project ID anchors the GCP scan. Instance discovery runs across zones, while IAM and firewall rules remain project-level controls. CloudGuard keeps the project and location with each resource.</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public bucket and open firewall rules create direct exposure. Primitive IAM roles create broad authority. VM posture findings add context about reachability and platform hardening.</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AWS and GCP use different object names, but the risk questions remain similar. Normalizing these questions lets a security team compare findings without erasing provider-specific evidence.</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I will show the project boundary first, then the job state, the public bucket evidence, and the firewall evidence. Notice how CloudGuard retains project and resource context in every finding.</a:t>
            </a:r>
          </a:p>
          <a:p xmlns:a="http://schemas.openxmlformats.org/drawingml/2006/main">
            <a:r>
              <a:t/>
            </a:r>
          </a:p>
          <a:p xmlns:a="http://schemas.openxmlformats.org/drawingml/2006/main">
            <a:r>
              <a:t>[Sources]</a:t>
            </a:r>
          </a:p>
          <a:p xmlns:a="http://schemas.openxmlformats.org/drawingml/2006/main">
            <a:r>
              <a:t>- /Users/anjali/Cloud_Vulnerabilities/backend/mcp_servers/gcp_server.py</a:t>
            </a:r>
          </a:p>
          <a:p xmlns:a="http://schemas.openxmlformats.org/drawingml/2006/main">
            <a:r>
              <a:t>- /Users/anjali/Cloud_Vulnerabilities/grc-platform/cloudguard-test-labs/README.md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 minutes</a:t>
            </a:r>
          </a:p>
          <a:p xmlns:a="http://schemas.openxmlformats.org/drawingml/2006/main">
            <a:r>
              <a:t>Suggested talk track: Each group selects one finding and explains both the GCP-specific configuration and the shared security concept. Use the prepared result if the new job is still running.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/Users/anjali/Cloud_Vulnerabilities/backend/mcp_servers/gcp_server.py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Kubernetes requires more context than a single cloud resource. We need to understand workload settings, identity, exposure, namespace policy, and the difference between declared and live state.</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Live mode uses a kubeconfig to query the API. Manifest mode reads files only. Both paths use the same checks and finding format, while live mode can add managed-cluster context and drift.</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follows the layers of a Kubernetes attack path. It looks at the workload, the identity attached to it, the network path to it, and platform controls that affect the whole cluster.</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critical path in this lab combines a powerful service account with a privileged workload. Network exposure matters because it creates a route to the workload, while RBAC and host access determine the blast radius after compromise.</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A single NodePort may be low severity, but the risk changes when it reaches a privileged pod with cluster-admin. Prioritization connects separate findings to the same workload and identity.</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I will connect to the disposable cluster, show the discovered namespace, open the privileged workload finding, and then show the cluster-admin binding that increases the blast radius.</a:t>
            </a:r>
          </a:p>
          <a:p xmlns:a="http://schemas.openxmlformats.org/drawingml/2006/main">
            <a:r>
              <a:t/>
            </a:r>
          </a:p>
          <a:p xmlns:a="http://schemas.openxmlformats.org/drawingml/2006/main">
            <a:r>
              <a:t>[Sources]</a:t>
            </a:r>
          </a:p>
          <a:p xmlns:a="http://schemas.openxmlformats.org/drawingml/2006/main">
            <a:r>
              <a:t>- /Users/anjali/Cloud_Vulnerabilities/backend/mcp_servers/kubernetes_server.py</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 minutes</a:t>
            </a:r>
          </a:p>
          <a:p xmlns:a="http://schemas.openxmlformats.org/drawingml/2006/main">
            <a:r>
              <a:t>Suggested talk track: Participants must use a disposable cluster. The exercise ends only after the namespace or manifest has been deleted and the cleanup result has been recorded.</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/Users/anjali/Cloud_Vulnerabilities/grc-platform/cloudguard-test-labs/kubernetes/vulnerable-k8s.yaml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IaC scanning changes the timing of security. We can identify risky design decisions in source files before they create a live cloud resource.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IaC scanner classifies each file, applies checks for that template type, and reports the file as the affected resource. No cloud credentials or deployment are required.</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Static analysis starts with file discovery and classification. Each template type has specific checks. The output points back to the file and the matched configuration so the change can happen in source control.</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fixtures contain deliberately unsafe settings. The scanner maps each pattern to a focused finding so developers can change the source before a deployment creates the resource.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Suggested talk track: IaC evidence is strong for design intent and code review. A live scanner answers whether the deployed resource matches that intent and whether other runtime conditions change the exposure.</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/Users/anjali/Cloud_Vulnerabilities/backend/mcp_servers/kubernetes_server.py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I will show the Terraform fixture, predict the public storage and open ingress findings, run the scan, correct one setting, and compare the two results.</a:t>
            </a:r>
          </a:p>
          <a:p xmlns:a="http://schemas.openxmlformats.org/drawingml/2006/main">
            <a:r>
              <a:t/>
            </a:r>
          </a:p>
          <a:p xmlns:a="http://schemas.openxmlformats.org/drawingml/2006/main">
            <a:r>
              <a:t>[Sources]</a:t>
            </a:r>
          </a:p>
          <a:p xmlns:a="http://schemas.openxmlformats.org/drawingml/2006/main">
            <a:r>
              <a:t>- /Users/anjali/Cloud_Vulnerabilities/backend/mcp_servers/iac_server.py</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This exercise uses local files only. Participants must not apply the templates. The output should show the original finding, the code change, and the second scan result.</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/Users/anjali/Cloud_Vulnerabilities/grc-platform/cloudguard-test-labs/iac/terraform/vulnerable-aws.tf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r>
              <a:t>Suggested talk track: The final module connects technical findings to a shared evidence and governance workflow.</a:t>
            </a:r>
          </a:p>
          <a:p xmlns:a="http://schemas.openxmlformats.org/drawingml/2006/main">
            <a:r>
              <a:t/>
            </a:r>
          </a:p>
          <a:p xmlns:a="http://schemas.openxmlformats.org/drawingml/2006/main">
            <a:r>
              <a:t>[Sources]</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Each scanner sees a different layer of truth. Cloud scanners observe deployed configuration, Kubernetes combines cluster and manifest context, and IaC scanning observes design intent in source files.</a:t>
            </a:r>
          </a:p>
          <a:p xmlns:a="http://schemas.openxmlformats.org/drawingml/2006/main">
            <a:r>
              <a:t/>
            </a:r>
          </a:p>
          <a:p xmlns:a="http://schemas.openxmlformats.org/drawingml/2006/main">
            <a:r>
              <a:t>[Sources]</a:t>
            </a:r>
          </a:p>
          <a:p xmlns:a="http://schemas.openxmlformats.org/drawingml/2006/main">
            <a:r>
              <a:t>- /Users/anjali/Cloud_Vulnerabilities/backend/mcp_servers/aws_server.py</a:t>
            </a:r>
          </a:p>
          <a:p xmlns:a="http://schemas.openxmlformats.org/drawingml/2006/main">
            <a:r>
              <a:t>- /Users/anjali/Cloud_Vulnerabilities/backend/mcp_servers/gcp_server.py</a:t>
            </a:r>
          </a:p>
          <a:p xmlns:a="http://schemas.openxmlformats.org/drawingml/2006/main">
            <a:r>
              <a:t>- /Users/anjali/Cloud_Vulnerabilities/backend/mcp_servers/kubernetes_server.py</a:t>
            </a:r>
          </a:p>
          <a:p xmlns:a="http://schemas.openxmlformats.org/drawingml/2006/main">
            <a:r>
              <a:t>- /Users/anjali/Cloud_Vulnerabilities/backend/mcp_servers/iac_server.py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Evidence preserves where the finding came from and what proves it. The GRC layer maps that record to a control, assigns ownership, and retains the history needed for review or audit.</a:t>
            </a:r>
          </a:p>
          <a:p xmlns:a="http://schemas.openxmlformats.org/drawingml/2006/main">
            <a:r>
              <a:t/>
            </a:r>
          </a:p>
          <a:p xmlns:a="http://schemas.openxmlformats.org/drawingml/2006/main">
            <a:r>
              <a:t>[Sources]</a:t>
            </a:r>
          </a:p>
          <a:p xmlns:a="http://schemas.openxmlformats.org/drawingml/2006/main">
            <a:r>
              <a:t>- /Users/anjali/Cloud_Vulnerabilities/handoff/grc-compliance-governance/architecture-grc-evidence-flow.png</a:t>
            </a:r>
          </a:p>
          <a:p xmlns:a="http://schemas.openxmlformats.org/drawingml/2006/main">
            <a:r>
              <a:t>- /Users/anjali/Cloud_Vulnerabilities/docs/vendor-neutral-reason-act-architecture.md</a:t>
            </a:r>
          </a:p>
          <a:p xmlns:a="http://schemas.openxmlformats.org/drawingml/2006/main">
            <a:r>
              <a:t>- /Users/anjali/Cloud_Vulnerabilities/docs/grc-platform-merge.md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Suggested talk track: CloudGuard separates discovery from action. Risk context helps prioritize the finding, validation creates proof, and production-impacting remediation remains approval-gated until a human reviews the change and rollback plan.</a:t>
            </a:r>
          </a:p>
          <a:p xmlns:a="http://schemas.openxmlformats.org/drawingml/2006/main">
            <a:r>
              <a:t/>
            </a:r>
          </a:p>
          <a:p xmlns:a="http://schemas.openxmlformats.org/drawingml/2006/main">
            <a:r>
              <a:t>[Sources]</a:t>
            </a:r>
          </a:p>
          <a:p xmlns:a="http://schemas.openxmlformats.org/drawingml/2006/main">
            <a:r>
              <a:t>- /Users/anjali/Cloud_Vulnerabilities/output/playwright/cloudguard-reason-act.png</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Suggested talk track: The scanner name changes, but the evidence story is consistent. We close by confirming that all lab resources have been removed, temporary access has been revoked, and every group can explain one complete finding.</a:t>
            </a:r>
          </a:p>
          <a:p xmlns:a="http://schemas.openxmlformats.org/drawingml/2006/main">
            <a:r>
              <a:t/>
            </a:r>
          </a:p>
          <a:p xmlns:a="http://schemas.openxmlformats.org/drawingml/2006/main">
            <a:r>
              <a:t>[Sources]</a:t>
            </a:r>
          </a:p>
          <a:p xmlns:a="http://schemas.openxmlformats.org/drawingml/2006/main">
            <a:r>
              <a:t>- /Users/anjali/Cloud_Vulnerabilities/grc-platform/cloudguard-test-labs/README.md</a:t>
            </a:r>
          </a:p>
          <a:p xmlns:a="http://schemas.openxmlformats.org/drawingml/2006/main">
            <a:r>
              <a:t>- /Users/anjali/Cloud_Vulnerabilities/docs/vendor-neutral-reason-act-architecture.md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8aaaf2083642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f2186cd24f476e" /><Relationship Type="http://schemas.openxmlformats.org/officeDocument/2006/relationships/slideLayout" Target="/ppt/slideLayouts/slideLayout1.xml" Id="R82bbab85cc0a43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bbab85cc0a43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7d76d125d14211" /><Relationship Type="http://schemas.openxmlformats.org/officeDocument/2006/relationships/image" Target="/ppt/media/image.png" Id="R2a0a11ab991542ce" /><Relationship Type="http://schemas.openxmlformats.org/officeDocument/2006/relationships/notesSlide" Target="/ppt/notesSlides/notesSlide1.xml" Id="Rc4c3c7ce89ad46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639638632444d1" /><Relationship Type="http://schemas.openxmlformats.org/officeDocument/2006/relationships/image" Target="/ppt/media/image2.png" Id="R0d8a9d0b169548f4" /><Relationship Type="http://schemas.openxmlformats.org/officeDocument/2006/relationships/notesSlide" Target="/ppt/notesSlides/notesSlide2.xml" Id="Rff44cba3611a4d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c24690a4054d9a" /><Relationship Type="http://schemas.openxmlformats.org/officeDocument/2006/relationships/image" Target="/ppt/media/image3.png" Id="Re9436d1976b34f37" /><Relationship Type="http://schemas.openxmlformats.org/officeDocument/2006/relationships/notesSlide" Target="/ppt/notesSlides/notesSlide3.xml" Id="R4da36f1c669540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129d8d1348e45b0" /><Relationship Type="http://schemas.openxmlformats.org/officeDocument/2006/relationships/image" Target="/ppt/media/image4.png" Id="Rb5fd260412554c42" /><Relationship Type="http://schemas.openxmlformats.org/officeDocument/2006/relationships/notesSlide" Target="/ppt/notesSlides/notesSlide4.xml" Id="R45a73ce050304d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e72d6f5d7f04752" /><Relationship Type="http://schemas.openxmlformats.org/officeDocument/2006/relationships/image" Target="/ppt/media/image5.png" Id="R3d9eda5d0fae4825" /><Relationship Type="http://schemas.openxmlformats.org/officeDocument/2006/relationships/notesSlide" Target="/ppt/notesSlides/notesSlide5.xml" Id="R076c8bdee65c4b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6df87d28b24c80" /><Relationship Type="http://schemas.openxmlformats.org/officeDocument/2006/relationships/image" Target="/ppt/media/image6.png" Id="R22d49e368dd545fc" /><Relationship Type="http://schemas.openxmlformats.org/officeDocument/2006/relationships/image" Target="/ppt/media/image7.png" Id="Rec7226c5970241fa" /><Relationship Type="http://schemas.openxmlformats.org/officeDocument/2006/relationships/notesSlide" Target="/ppt/notesSlides/notesSlide6.xml" Id="R426d7ad7b1cd40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0688ae31854f19" /><Relationship Type="http://schemas.openxmlformats.org/officeDocument/2006/relationships/image" Target="/ppt/media/image8.png" Id="R02dc7e62ffe44004" /><Relationship Type="http://schemas.openxmlformats.org/officeDocument/2006/relationships/notesSlide" Target="/ppt/notesSlides/notesSlide7.xml" Id="R5a67c437852149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e5861c9b9244c4" /><Relationship Type="http://schemas.openxmlformats.org/officeDocument/2006/relationships/image" Target="/ppt/media/image9.png" Id="Rd502f2b5acb34e29" /><Relationship Type="http://schemas.openxmlformats.org/officeDocument/2006/relationships/notesSlide" Target="/ppt/notesSlides/notesSlide8.xml" Id="R9f2e4a222dad49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8856f53d1041a0" /><Relationship Type="http://schemas.openxmlformats.org/officeDocument/2006/relationships/image" Target="/ppt/media/image10.png" Id="Rcfc332a683424033" /><Relationship Type="http://schemas.openxmlformats.org/officeDocument/2006/relationships/notesSlide" Target="/ppt/notesSlides/notesSlide9.xml" Id="R26458cb199794c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a94a34d9cbe4d9a" /><Relationship Type="http://schemas.openxmlformats.org/officeDocument/2006/relationships/image" Target="/ppt/media/image11.png" Id="R44ca68a3bf9b498a" /><Relationship Type="http://schemas.openxmlformats.org/officeDocument/2006/relationships/notesSlide" Target="/ppt/notesSlides/notesSlide10.xml" Id="Rffd3b084a8de4b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48e2800b6a4953" /><Relationship Type="http://schemas.openxmlformats.org/officeDocument/2006/relationships/image" Target="/ppt/media/image12.png" Id="R02d1e52a65c44308" /><Relationship Type="http://schemas.openxmlformats.org/officeDocument/2006/relationships/notesSlide" Target="/ppt/notesSlides/notesSlide11.xml" Id="Ra8f3164b761b431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9f946dc5ce04864" /><Relationship Type="http://schemas.openxmlformats.org/officeDocument/2006/relationships/image" Target="/ppt/media/image13.png" Id="R043e4db21ddf4da5" /><Relationship Type="http://schemas.openxmlformats.org/officeDocument/2006/relationships/notesSlide" Target="/ppt/notesSlides/notesSlide12.xml" Id="R99a0e7f7aa1742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6f8a3be323942c3" /><Relationship Type="http://schemas.openxmlformats.org/officeDocument/2006/relationships/image" Target="/ppt/media/image14.png" Id="Ra9fd9e90ebf1400e" /><Relationship Type="http://schemas.openxmlformats.org/officeDocument/2006/relationships/notesSlide" Target="/ppt/notesSlides/notesSlide13.xml" Id="R78fd713ff29e47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d83d5ef86704128" /><Relationship Type="http://schemas.openxmlformats.org/officeDocument/2006/relationships/image" Target="/ppt/media/image15.png" Id="R0b9f9498a89247bb" /><Relationship Type="http://schemas.openxmlformats.org/officeDocument/2006/relationships/notesSlide" Target="/ppt/notesSlides/notesSlide14.xml" Id="R005de11db5244c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df851dae584ca9" /><Relationship Type="http://schemas.openxmlformats.org/officeDocument/2006/relationships/image" Target="/ppt/media/image16.png" Id="Rb5ed5a2c83e54d25" /><Relationship Type="http://schemas.openxmlformats.org/officeDocument/2006/relationships/notesSlide" Target="/ppt/notesSlides/notesSlide15.xml" Id="Rc88385eccee74e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60341d976464d13" /><Relationship Type="http://schemas.openxmlformats.org/officeDocument/2006/relationships/image" Target="/ppt/media/image17.png" Id="Rcefd6f4e3e934395" /><Relationship Type="http://schemas.openxmlformats.org/officeDocument/2006/relationships/notesSlide" Target="/ppt/notesSlides/notesSlide16.xml" Id="R275b824a1c72429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c6419b2005f484e" /><Relationship Type="http://schemas.openxmlformats.org/officeDocument/2006/relationships/image" Target="/ppt/media/image18.png" Id="R7a9378e4198c4675" /><Relationship Type="http://schemas.openxmlformats.org/officeDocument/2006/relationships/notesSlide" Target="/ppt/notesSlides/notesSlide17.xml" Id="Ra2e3c9bcbbc0432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ac1bbc4f6a3437e" /><Relationship Type="http://schemas.openxmlformats.org/officeDocument/2006/relationships/image" Target="/ppt/media/image19.png" Id="R11143e6830df4621" /><Relationship Type="http://schemas.openxmlformats.org/officeDocument/2006/relationships/notesSlide" Target="/ppt/notesSlides/notesSlide18.xml" Id="Rfa7e988316b642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d0b971b0a6749ea" /><Relationship Type="http://schemas.openxmlformats.org/officeDocument/2006/relationships/image" Target="/ppt/media/image20.png" Id="R5bfcdabc26dc4fe6" /><Relationship Type="http://schemas.openxmlformats.org/officeDocument/2006/relationships/notesSlide" Target="/ppt/notesSlides/notesSlide19.xml" Id="R2897ccbb01e349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f4783c76926466d" /><Relationship Type="http://schemas.openxmlformats.org/officeDocument/2006/relationships/image" Target="/ppt/media/image21.png" Id="R0faeb0ab65b44ab4" /><Relationship Type="http://schemas.openxmlformats.org/officeDocument/2006/relationships/notesSlide" Target="/ppt/notesSlides/notesSlide20.xml" Id="R008a2c40d297483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0a2ef9e3832420f" /><Relationship Type="http://schemas.openxmlformats.org/officeDocument/2006/relationships/image" Target="/ppt/media/image22.png" Id="Rbecead97a66b4e5d" /><Relationship Type="http://schemas.openxmlformats.org/officeDocument/2006/relationships/notesSlide" Target="/ppt/notesSlides/notesSlide21.xml" Id="R8b6b86969b4e4860"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0349cee24664f92" /><Relationship Type="http://schemas.openxmlformats.org/officeDocument/2006/relationships/image" Target="/ppt/media/image23.png" Id="Ra4e5c80d47e744ce" /><Relationship Type="http://schemas.openxmlformats.org/officeDocument/2006/relationships/notesSlide" Target="/ppt/notesSlides/notesSlide22.xml" Id="Rbb3ee944715948d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e32b01e603d4913" /><Relationship Type="http://schemas.openxmlformats.org/officeDocument/2006/relationships/image" Target="/ppt/media/image24.png" Id="Rd134f9b8fd4c4dfa" /><Relationship Type="http://schemas.openxmlformats.org/officeDocument/2006/relationships/notesSlide" Target="/ppt/notesSlides/notesSlide23.xml" Id="R23a1261ab03d43d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6575064c3da4973" /><Relationship Type="http://schemas.openxmlformats.org/officeDocument/2006/relationships/image" Target="/ppt/media/image25.png" Id="R86006ce512d9474d" /><Relationship Type="http://schemas.openxmlformats.org/officeDocument/2006/relationships/notesSlide" Target="/ppt/notesSlides/notesSlide24.xml" Id="R3cbcce1b074049a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5b37c441a2949e9" /><Relationship Type="http://schemas.openxmlformats.org/officeDocument/2006/relationships/image" Target="/ppt/media/image26.png" Id="R8cb1a7351bb04be5" /><Relationship Type="http://schemas.openxmlformats.org/officeDocument/2006/relationships/notesSlide" Target="/ppt/notesSlides/notesSlide25.xml" Id="R50cf17e335fb43d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e31fcf761cc47b5" /><Relationship Type="http://schemas.openxmlformats.org/officeDocument/2006/relationships/image" Target="/ppt/media/image27.png" Id="R1b3b0052895943bc" /><Relationship Type="http://schemas.openxmlformats.org/officeDocument/2006/relationships/notesSlide" Target="/ppt/notesSlides/notesSlide26.xml" Id="R90f2bd93318243e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29776427c66b4e7b" /><Relationship Type="http://schemas.openxmlformats.org/officeDocument/2006/relationships/image" Target="/ppt/media/image28.png" Id="R5a3e43fb0d084620" /><Relationship Type="http://schemas.openxmlformats.org/officeDocument/2006/relationships/notesSlide" Target="/ppt/notesSlides/notesSlide27.xml" Id="R4ccffff2dd6349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71d49e1b2454746" /><Relationship Type="http://schemas.openxmlformats.org/officeDocument/2006/relationships/image" Target="/ppt/media/image29.png" Id="R2ec31198663047c3" /><Relationship Type="http://schemas.openxmlformats.org/officeDocument/2006/relationships/notesSlide" Target="/ppt/notesSlides/notesSlide28.xml" Id="R0550f37b4c1c45b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54363ad8aa1499b" /><Relationship Type="http://schemas.openxmlformats.org/officeDocument/2006/relationships/image" Target="/ppt/media/image30.png" Id="R648f0eb752cd4189" /><Relationship Type="http://schemas.openxmlformats.org/officeDocument/2006/relationships/notesSlide" Target="/ppt/notesSlides/notesSlide29.xml" Id="R3accf30db348457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8850ecce2c54860" /><Relationship Type="http://schemas.openxmlformats.org/officeDocument/2006/relationships/image" Target="/ppt/media/image31.png" Id="Re510b536c13f4002" /><Relationship Type="http://schemas.openxmlformats.org/officeDocument/2006/relationships/notesSlide" Target="/ppt/notesSlides/notesSlide30.xml" Id="Ree62fe01e8d94cc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65462175c674ad5" /><Relationship Type="http://schemas.openxmlformats.org/officeDocument/2006/relationships/image" Target="/ppt/media/image32.png" Id="Re7f5ae1fb1794eb8" /><Relationship Type="http://schemas.openxmlformats.org/officeDocument/2006/relationships/notesSlide" Target="/ppt/notesSlides/notesSlide31.xml" Id="Rd0f4101e07d9427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7b0a95501234faf" /><Relationship Type="http://schemas.openxmlformats.org/officeDocument/2006/relationships/image" Target="/ppt/media/image33.png" Id="R216bed0d5d1c4922" /><Relationship Type="http://schemas.openxmlformats.org/officeDocument/2006/relationships/notesSlide" Target="/ppt/notesSlides/notesSlide32.xml" Id="Rc074a7d0b4cf4df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30b816edc6a4141" /><Relationship Type="http://schemas.openxmlformats.org/officeDocument/2006/relationships/image" Target="/ppt/media/image34.png" Id="R23ffcd764c534836" /><Relationship Type="http://schemas.openxmlformats.org/officeDocument/2006/relationships/notesSlide" Target="/ppt/notesSlides/notesSlide33.xml" Id="Rcc15d64f6b344a0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da4d612c06d4b0f" /><Relationship Type="http://schemas.openxmlformats.org/officeDocument/2006/relationships/image" Target="/ppt/media/image35.png" Id="Rb80348a5e5574838" /><Relationship Type="http://schemas.openxmlformats.org/officeDocument/2006/relationships/notesSlide" Target="/ppt/notesSlides/notesSlide34.xml" Id="R7778c119ef064d4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0d94cf559be46fb" /><Relationship Type="http://schemas.openxmlformats.org/officeDocument/2006/relationships/image" Target="/ppt/media/image36.png" Id="Rab8af3912f6c4154" /><Relationship Type="http://schemas.openxmlformats.org/officeDocument/2006/relationships/notesSlide" Target="/ppt/notesSlides/notesSlide35.xml" Id="R445dfe6bb6e4409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97a143baf8443c8" /><Relationship Type="http://schemas.openxmlformats.org/officeDocument/2006/relationships/image" Target="/ppt/media/image37.png" Id="Rdee853b19e00492d" /><Relationship Type="http://schemas.openxmlformats.org/officeDocument/2006/relationships/notesSlide" Target="/ppt/notesSlides/notesSlide36.xml" Id="R4593463ad97248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7f123336d4214dc2" /><Relationship Type="http://schemas.openxmlformats.org/officeDocument/2006/relationships/image" Target="/ppt/media/image38.png" Id="R375aa00ed96249aa" /><Relationship Type="http://schemas.openxmlformats.org/officeDocument/2006/relationships/notesSlide" Target="/ppt/notesSlides/notesSlide37.xml" Id="R4ba66b53ec8b4a7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0b98846ab2f4964" /><Relationship Type="http://schemas.openxmlformats.org/officeDocument/2006/relationships/image" Target="/ppt/media/image39.png" Id="R14cb41723e284d86" /><Relationship Type="http://schemas.openxmlformats.org/officeDocument/2006/relationships/image" Target="/ppt/media/image40.png" Id="R5e00154704344938" /><Relationship Type="http://schemas.openxmlformats.org/officeDocument/2006/relationships/notesSlide" Target="/ppt/notesSlides/notesSlide38.xml" Id="Rdad47402faba4ed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8eea7e6b92d442f" /><Relationship Type="http://schemas.openxmlformats.org/officeDocument/2006/relationships/image" Target="/ppt/media/image41.png" Id="R958ef74f33ef495d" /><Relationship Type="http://schemas.openxmlformats.org/officeDocument/2006/relationships/image" Target="/ppt/media/image42.png" Id="Rdb72bec1f87b4e93" /><Relationship Type="http://schemas.openxmlformats.org/officeDocument/2006/relationships/notesSlide" Target="/ppt/notesSlides/notesSlide39.xml" Id="R58b8e75d40a745c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f4c68ce5d8e49c0" /><Relationship Type="http://schemas.openxmlformats.org/officeDocument/2006/relationships/image" Target="/ppt/media/image43.png" Id="Rc226665571744ca9" /><Relationship Type="http://schemas.openxmlformats.org/officeDocument/2006/relationships/notesSlide" Target="/ppt/notesSlides/notesSlide40.xml" Id="Rca143a64b69d487d" /></Relationships>
</file>

<file path=ppt/slides/slide1.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a0a11ab991542ce"/>
          <a:stretch xmlns:a="http://schemas.openxmlformats.org/drawingml/2006/main"/>
        </p:blipFill>
        <p:spPr>
          <a:xfrm xmlns:a="http://schemas.openxmlformats.org/drawingml/2006/main">
            <a:off x="647700" y="495300"/>
            <a:ext cx="685800" cy="685800"/>
          </a:xfrm>
          <a:prstGeom xmlns:a="http://schemas.openxmlformats.org/drawingml/2006/main" prst="rect">
            <a:avLst/>
          </a:prstGeom>
        </p:spPr>
      </p:pic>
      <p:sp>
        <p:nvSpPr>
          <p:cNvPr id="2" name="cover-brand">
            <a:extLst xmlns:a="http://schemas.openxmlformats.org/drawingml/2006/main">
              <a:ext uri="{FF2B5EF4-FFF2-40B4-BE49-F238E27FC236}">
                <a16:creationId xmlns:a16="http://schemas.microsoft.com/office/drawing/2014/main" id="{EF188031-D9AD-47B1-AF31-2E2141EF7049}"/>
              </a:ext>
            </a:extLst>
          </p:cNvPr>
          <p:cNvSpPr>
            <a:spLocks xmlns:a="http://schemas.openxmlformats.org/drawingml/2006/main" noGrp="1"/>
          </p:cNvSpPr>
          <p:nvPr/>
        </p:nvSpPr>
        <p:spPr>
          <a:xfrm xmlns:a="http://schemas.openxmlformats.org/drawingml/2006/main">
            <a:off x="1466850" y="6762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DeepTrustxAI</a:t>
            </a:r>
          </a:p>
        </p:txBody>
      </p:sp>
      <p:sp>
        <p:nvSpPr>
          <p:cNvPr id="3" name="cover-title">
            <a:extLst xmlns:a="http://schemas.openxmlformats.org/drawingml/2006/main">
              <a:ext uri="{FF2B5EF4-FFF2-40B4-BE49-F238E27FC236}">
                <a16:creationId xmlns:a16="http://schemas.microsoft.com/office/drawing/2014/main" id="{328E0469-5D41-46F5-9F19-D58CF0E849E6}"/>
              </a:ext>
            </a:extLst>
          </p:cNvPr>
          <p:cNvSpPr>
            <a:spLocks xmlns:a="http://schemas.openxmlformats.org/drawingml/2006/main" noGrp="1"/>
          </p:cNvSpPr>
          <p:nvPr/>
        </p:nvSpPr>
        <p:spPr>
          <a:xfrm xmlns:a="http://schemas.openxmlformats.org/drawingml/2006/main">
            <a:off x="647700" y="1714500"/>
            <a:ext cx="10287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CloudGuard</a:t>
            </a:r>
          </a:p>
          <a:p xmlns:a="http://schemas.openxmlformats.org/drawingml/2006/main">
            <a:pPr algn="l">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Security Workshop</a:t>
            </a:r>
          </a:p>
        </p:txBody>
      </p:sp>
      <p:sp>
        <p:nvSpPr>
          <p:cNvPr id="4" name="cover-subtitle">
            <a:extLst xmlns:a="http://schemas.openxmlformats.org/drawingml/2006/main">
              <a:ext uri="{FF2B5EF4-FFF2-40B4-BE49-F238E27FC236}">
                <a16:creationId xmlns:a16="http://schemas.microsoft.com/office/drawing/2014/main" id="{769E1BFE-54B9-422C-B3B2-88F21A809249}"/>
              </a:ext>
            </a:extLst>
          </p:cNvPr>
          <p:cNvSpPr>
            <a:spLocks xmlns:a="http://schemas.openxmlformats.org/drawingml/2006/main" noGrp="1"/>
          </p:cNvSpPr>
          <p:nvPr/>
        </p:nvSpPr>
        <p:spPr>
          <a:xfrm xmlns:a="http://schemas.openxmlformats.org/drawingml/2006/main">
            <a:off x="666750" y="35242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42D7B0"/>
                </a:solidFill>
                <a:latin typeface="Helvetica Neue"/>
                <a:ea typeface="Helvetica Neue"/>
                <a:cs typeface="Helvetica Neue"/>
              </a:defRPr>
            </a:pPr>
            <a:r>
              <a:rPr sz="2025" b="1">
                <a:solidFill>
                  <a:srgbClr val="42D7B0"/>
                </a:solidFill>
                <a:latin typeface="Helvetica Neue"/>
                <a:ea typeface="Helvetica Neue"/>
                <a:cs typeface="Helvetica Neue"/>
              </a:rPr>
              <a:t>Understanding AWS, GCP, Kubernetes, and IaC security scanners</a:t>
            </a:r>
          </a:p>
        </p:txBody>
      </p:sp>
      <p:sp>
        <p:nvSpPr>
          <p:cNvPr id="5" name="cover-rule">
            <a:extLst xmlns:a="http://schemas.openxmlformats.org/drawingml/2006/main">
              <a:ext uri="{FF2B5EF4-FFF2-40B4-BE49-F238E27FC236}">
                <a16:creationId xmlns:a16="http://schemas.microsoft.com/office/drawing/2014/main" id="{3D186229-D482-4B59-A8DB-B0DF8C308A38}"/>
              </a:ext>
            </a:extLst>
          </p:cNvPr>
          <p:cNvSpPr>
            <a:spLocks xmlns:a="http://schemas.openxmlformats.org/drawingml/2006/main" noGrp="1"/>
          </p:cNvSpPr>
          <p:nvPr/>
        </p:nvSpPr>
        <p:spPr>
          <a:xfrm xmlns:a="http://schemas.openxmlformats.org/drawingml/2006/main">
            <a:off x="666750" y="476250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6" name="cover-meta">
            <a:extLst xmlns:a="http://schemas.openxmlformats.org/drawingml/2006/main">
              <a:ext uri="{FF2B5EF4-FFF2-40B4-BE49-F238E27FC236}">
                <a16:creationId xmlns:a16="http://schemas.microsoft.com/office/drawing/2014/main" id="{F7917CC6-0345-417B-A5DD-D67CAF902A68}"/>
              </a:ext>
            </a:extLst>
          </p:cNvPr>
          <p:cNvSpPr>
            <a:spLocks xmlns:a="http://schemas.openxmlformats.org/drawingml/2006/main" noGrp="1"/>
          </p:cNvSpPr>
          <p:nvPr/>
        </p:nvSpPr>
        <p:spPr>
          <a:xfrm xmlns:a="http://schemas.openxmlformats.org/drawingml/2006/main">
            <a:off x="666750" y="5067300"/>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B7CBC5"/>
                </a:solidFill>
                <a:latin typeface="Helvetica Neue"/>
                <a:ea typeface="Helvetica Neue"/>
                <a:cs typeface="Helvetica Neue"/>
              </a:defRPr>
            </a:pPr>
            <a:r>
              <a:rPr sz="1425" b="1">
                <a:solidFill>
                  <a:srgbClr val="B7CBC5"/>
                </a:solidFill>
                <a:latin typeface="Helvetica Neue"/>
                <a:ea typeface="Helvetica Neue"/>
                <a:cs typeface="Helvetica Neue"/>
              </a:rPr>
              <a:t>Concepts, live demonstrations, findings, and practical labs</a:t>
            </a:r>
          </a:p>
        </p:txBody>
      </p:sp>
      <p:sp>
        <p:nvSpPr>
          <p:cNvPr id="7" name="cover-duration">
            <a:extLst xmlns:a="http://schemas.openxmlformats.org/drawingml/2006/main">
              <a:ext uri="{FF2B5EF4-FFF2-40B4-BE49-F238E27FC236}">
                <a16:creationId xmlns:a16="http://schemas.microsoft.com/office/drawing/2014/main" id="{BF755967-8560-4C89-BDFB-84250C1EFB5B}"/>
              </a:ext>
            </a:extLst>
          </p:cNvPr>
          <p:cNvSpPr>
            <a:spLocks xmlns:a="http://schemas.openxmlformats.org/drawingml/2006/main" noGrp="1"/>
          </p:cNvSpPr>
          <p:nvPr/>
        </p:nvSpPr>
        <p:spPr>
          <a:xfrm xmlns:a="http://schemas.openxmlformats.org/drawingml/2006/main">
            <a:off x="666750" y="56197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0">
                <a:solidFill>
                  <a:srgbClr val="86A39C"/>
                </a:solidFill>
                <a:latin typeface="Helvetica Neue"/>
                <a:ea typeface="Helvetica Neue"/>
                <a:cs typeface="Helvetica Neue"/>
              </a:defRPr>
            </a:pPr>
            <a:r>
              <a:rPr sz="1275" b="0">
                <a:solidFill>
                  <a:srgbClr val="86A39C"/>
                </a:solidFill>
                <a:latin typeface="Helvetica Neue"/>
                <a:ea typeface="Helvetica Neue"/>
                <a:cs typeface="Helvetica Neue"/>
              </a:rPr>
              <a:t>150-minute workshop</a:t>
            </a:r>
          </a:p>
        </p:txBody>
      </p:sp>
    </p:spTree>
    <p:extLst>
      <p:ext uri="{BB962C8B-B14F-4D97-AF65-F5344CB8AC3E}">
        <p14:creationId xmlns:p14="http://schemas.microsoft.com/office/powerpoint/2010/main" val="20997930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2">
            <a:extLst xmlns:a="http://schemas.openxmlformats.org/drawingml/2006/main">
              <a:ext uri="{FF2B5EF4-FFF2-40B4-BE49-F238E27FC236}">
                <a16:creationId xmlns:a16="http://schemas.microsoft.com/office/drawing/2014/main" id="{30694745-7540-453F-AD8F-6D9C79FD8C0B}"/>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2">
            <a:extLst xmlns:a="http://schemas.openxmlformats.org/drawingml/2006/main">
              <a:ext uri="{FF2B5EF4-FFF2-40B4-BE49-F238E27FC236}">
                <a16:creationId xmlns:a16="http://schemas.microsoft.com/office/drawing/2014/main" id="{2B87EF8B-3084-42A4-A2AA-41F2678A563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Learning outcomes</a:t>
            </a:r>
          </a:p>
        </p:txBody>
      </p:sp>
      <p:sp>
        <p:nvSpPr>
          <p:cNvPr id="3" name="title-rule-2">
            <a:extLst xmlns:a="http://schemas.openxmlformats.org/drawingml/2006/main">
              <a:ext uri="{FF2B5EF4-FFF2-40B4-BE49-F238E27FC236}">
                <a16:creationId xmlns:a16="http://schemas.microsoft.com/office/drawing/2014/main" id="{49D9F29E-621A-46D7-8907-BD8019CDF531}"/>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d8a9d0b169548f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
            <a:extLst xmlns:a="http://schemas.openxmlformats.org/drawingml/2006/main">
              <a:ext uri="{FF2B5EF4-FFF2-40B4-BE49-F238E27FC236}">
                <a16:creationId xmlns:a16="http://schemas.microsoft.com/office/drawing/2014/main" id="{DDA1CFDE-C561-4EF9-8E2C-398E29D7B92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
            <a:extLst xmlns:a="http://schemas.openxmlformats.org/drawingml/2006/main">
              <a:ext uri="{FF2B5EF4-FFF2-40B4-BE49-F238E27FC236}">
                <a16:creationId xmlns:a16="http://schemas.microsoft.com/office/drawing/2014/main" id="{F519CD33-5403-4711-9D33-B073FF66A911}"/>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
            <a:extLst xmlns:a="http://schemas.openxmlformats.org/drawingml/2006/main">
              <a:ext uri="{FF2B5EF4-FFF2-40B4-BE49-F238E27FC236}">
                <a16:creationId xmlns:a16="http://schemas.microsoft.com/office/drawing/2014/main" id="{4469FCFA-1C10-43FF-AA7C-9D4936BD5BF1}"/>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02</a:t>
            </a:r>
          </a:p>
        </p:txBody>
      </p:sp>
      <p:sp>
        <p:nvSpPr>
          <p:cNvPr id="8" name="outcome-lead">
            <a:extLst xmlns:a="http://schemas.openxmlformats.org/drawingml/2006/main">
              <a:ext uri="{FF2B5EF4-FFF2-40B4-BE49-F238E27FC236}">
                <a16:creationId xmlns:a16="http://schemas.microsoft.com/office/drawing/2014/main" id="{2E2204B1-8B2D-42A4-9DFE-B79AB51A2FA3}"/>
              </a:ext>
            </a:extLst>
          </p:cNvPr>
          <p:cNvSpPr>
            <a:spLocks xmlns:a="http://schemas.openxmlformats.org/drawingml/2006/main" noGrp="1"/>
          </p:cNvSpPr>
          <p:nvPr/>
        </p:nvSpPr>
        <p:spPr>
          <a:xfrm xmlns:a="http://schemas.openxmlformats.org/drawingml/2006/main">
            <a:off x="533400" y="1790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0C1715"/>
                </a:solidFill>
                <a:latin typeface="Helvetica Neue"/>
                <a:ea typeface="Helvetica Neue"/>
                <a:cs typeface="Helvetica Neue"/>
              </a:defRPr>
            </a:pPr>
            <a:r>
              <a:rPr sz="2025" b="1">
                <a:solidFill>
                  <a:srgbClr val="0C1715"/>
                </a:solidFill>
                <a:latin typeface="Helvetica Neue"/>
                <a:ea typeface="Helvetica Neue"/>
                <a:cs typeface="Helvetica Neue"/>
              </a:rPr>
              <a:t>By the end of the workshop, every participant can explain the full life of a scanner finding.</a:t>
            </a:r>
          </a:p>
        </p:txBody>
      </p:sp>
      <p:sp>
        <p:nvSpPr>
          <p:cNvPr id="9" name="pair-left-title-2">
            <a:extLst xmlns:a="http://schemas.openxmlformats.org/drawingml/2006/main">
              <a:ext uri="{FF2B5EF4-FFF2-40B4-BE49-F238E27FC236}">
                <a16:creationId xmlns:a16="http://schemas.microsoft.com/office/drawing/2014/main" id="{F6373BC9-AA18-42F9-ADEB-6331CAE7E013}"/>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Scanner understanding</a:t>
            </a:r>
          </a:p>
        </p:txBody>
      </p:sp>
      <p:sp>
        <p:nvSpPr>
          <p:cNvPr id="10" name="pair-left-2">
            <a:extLst xmlns:a="http://schemas.openxmlformats.org/drawingml/2006/main">
              <a:ext uri="{FF2B5EF4-FFF2-40B4-BE49-F238E27FC236}">
                <a16:creationId xmlns:a16="http://schemas.microsoft.com/office/drawing/2014/main" id="{B41114C5-DB64-4E94-B179-B0D50A950514}"/>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Describe the target and access needed by each scanner</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Explain the resources and configurations each scanner inspects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Distinguish live cloud scans from static file analysis</a:t>
            </a:r>
          </a:p>
        </p:txBody>
      </p:sp>
      <p:sp>
        <p:nvSpPr>
          <p:cNvPr id="11" name="pair-divider-2">
            <a:extLst xmlns:a="http://schemas.openxmlformats.org/drawingml/2006/main">
              <a:ext uri="{FF2B5EF4-FFF2-40B4-BE49-F238E27FC236}">
                <a16:creationId xmlns:a16="http://schemas.microsoft.com/office/drawing/2014/main" id="{E032821B-761F-4C80-B040-78EC6679E618}"/>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2">
            <a:extLst xmlns:a="http://schemas.openxmlformats.org/drawingml/2006/main">
              <a:ext uri="{FF2B5EF4-FFF2-40B4-BE49-F238E27FC236}">
                <a16:creationId xmlns:a16="http://schemas.microsoft.com/office/drawing/2014/main" id="{6F910393-B394-4DF7-B98F-D16E339EDEFC}"/>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Finding interpretation</a:t>
            </a:r>
          </a:p>
        </p:txBody>
      </p:sp>
      <p:sp>
        <p:nvSpPr>
          <p:cNvPr id="13" name="pair-right-2">
            <a:extLst xmlns:a="http://schemas.openxmlformats.org/drawingml/2006/main">
              <a:ext uri="{FF2B5EF4-FFF2-40B4-BE49-F238E27FC236}">
                <a16:creationId xmlns:a16="http://schemas.microsoft.com/office/drawing/2014/main" id="{9099C45B-8FF1-49AF-8330-D8B53AE5621B}"/>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Connect severity to exposure and blast radius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Read the asset, evidence, recommendation, and ownership fields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Use a rescan or cleanup record to prove closure</a:t>
            </a:r>
          </a:p>
        </p:txBody>
      </p:sp>
    </p:spTree>
    <p:extLst>
      <p:ext uri="{BB962C8B-B14F-4D97-AF65-F5344CB8AC3E}">
        <p14:creationId xmlns:p14="http://schemas.microsoft.com/office/powerpoint/2010/main" val="8938553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
            <a:extLst xmlns:a="http://schemas.openxmlformats.org/drawingml/2006/main">
              <a:ext uri="{FF2B5EF4-FFF2-40B4-BE49-F238E27FC236}">
                <a16:creationId xmlns:a16="http://schemas.microsoft.com/office/drawing/2014/main" id="{00A81F3F-AF0B-42E1-863F-ED53B43146B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WORKSHOP OPENING</a:t>
            </a:r>
          </a:p>
        </p:txBody>
      </p:sp>
      <p:sp>
        <p:nvSpPr>
          <p:cNvPr id="2" name="title-3">
            <a:extLst xmlns:a="http://schemas.openxmlformats.org/drawingml/2006/main">
              <a:ext uri="{FF2B5EF4-FFF2-40B4-BE49-F238E27FC236}">
                <a16:creationId xmlns:a16="http://schemas.microsoft.com/office/drawing/2014/main" id="{5E43728F-251A-4C0A-B344-88ADA6164B2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150-minute agenda</a:t>
            </a:r>
          </a:p>
        </p:txBody>
      </p:sp>
      <p:sp>
        <p:nvSpPr>
          <p:cNvPr id="3" name="title-rule-3">
            <a:extLst xmlns:a="http://schemas.openxmlformats.org/drawingml/2006/main">
              <a:ext uri="{FF2B5EF4-FFF2-40B4-BE49-F238E27FC236}">
                <a16:creationId xmlns:a16="http://schemas.microsoft.com/office/drawing/2014/main" id="{D21ADBB0-21A5-4CCF-8D3C-78D5113422AF}"/>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9436d1976b34f37"/>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
            <a:extLst xmlns:a="http://schemas.openxmlformats.org/drawingml/2006/main">
              <a:ext uri="{FF2B5EF4-FFF2-40B4-BE49-F238E27FC236}">
                <a16:creationId xmlns:a16="http://schemas.microsoft.com/office/drawing/2014/main" id="{872D1A6D-4B20-419A-80BA-8D5AD74A2AA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
            <a:extLst xmlns:a="http://schemas.openxmlformats.org/drawingml/2006/main">
              <a:ext uri="{FF2B5EF4-FFF2-40B4-BE49-F238E27FC236}">
                <a16:creationId xmlns:a16="http://schemas.microsoft.com/office/drawing/2014/main" id="{BE5B33CA-EA20-4727-BF4B-DE9CF0F4DDA6}"/>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
            <a:extLst xmlns:a="http://schemas.openxmlformats.org/drawingml/2006/main">
              <a:ext uri="{FF2B5EF4-FFF2-40B4-BE49-F238E27FC236}">
                <a16:creationId xmlns:a16="http://schemas.microsoft.com/office/drawing/2014/main" id="{D98BA4DF-FA33-4822-B22D-2BC5EA643311}"/>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03</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667000"/>
                <a:gridCol w="1524000"/>
                <a:gridCol w="6934200"/>
              </a:tblGrid>
              <a:tr h="585107">
                <a:tc>
                  <a:txBody>
                    <a:bodyPr/>
                    <a:lstStyle/>
                    <a:p>
                      <a:r>
                        <a:rPr sz="1125" b="1">
                          <a:solidFill>
                            <a:srgbClr val="FFFFFF"/>
                          </a:solidFill>
                          <a:latin typeface="Helvetica Neue"/>
                          <a:ea typeface="Helvetica Neue"/>
                          <a:cs typeface="Helvetica Neue"/>
                        </a:rPr>
                        <a:t>Module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Time</a:t>
                      </a:r>
                    </a:p>
                  </a:txBody>
                  <a:tcPr marL="91440" marR="91440" marT="45720" marB="45720">
                    <a:solidFill>
                      <a:srgbClr val="0B1D19"/>
                    </a:solidFill>
                  </a:tcPr>
                </a:tc>
                <a:tc>
                  <a:txBody>
                    <a:bodyPr/>
                    <a:lstStyle/>
                    <a:p>
                      <a:r>
                        <a:rPr sz="1125" b="1">
                          <a:solidFill>
                            <a:srgbClr val="FFFFFF"/>
                          </a:solidFill>
                          <a:latin typeface="Helvetica Neue"/>
                          <a:ea typeface="Helvetica Neue"/>
                          <a:cs typeface="Helvetica Neue"/>
                        </a:rPr>
                        <a:t>Focus</a:t>
                      </a:r>
                    </a:p>
                  </a:txBody>
                  <a:tcPr marL="91440" marR="91440" marT="45720" marB="45720">
                    <a:solidFill>
                      <a:srgbClr val="0B1D19"/>
                    </a:solidFill>
                  </a:tcPr>
                </a:tc>
              </a:tr>
              <a:tr h="585107">
                <a:tc>
                  <a:txBody>
                    <a:bodyPr/>
                    <a:lstStyle/>
                    <a:p>
                      <a:r>
                        <a:rPr sz="1200" b="1">
                          <a:solidFill>
                            <a:srgbClr val="0C1715"/>
                          </a:solidFill>
                          <a:latin typeface="Helvetica Neue"/>
                          <a:ea typeface="Helvetica Neue"/>
                          <a:cs typeface="Helvetica Neue"/>
                        </a:rPr>
                        <a:t>Opening and foundations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Scanner purpose, architecture, findings, and lab safety</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AWS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Coverage, scan lifecycle, findings, demonstration,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GCP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Coverage, scan lifecycle, findings, demonstration,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Kubernetes scanner</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30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Live and manifest modes, checks, demonstration, and lab</a:t>
                      </a:r>
                    </a:p>
                  </a:txBody>
                  <a:tcPr marL="91440" marR="91440" marT="45720" marB="45720">
                    <a:solidFill>
                      <a:srgbClr val="FFFFFF"/>
                    </a:solidFill>
                  </a:tcPr>
                </a:tc>
              </a:tr>
              <a:tr h="585107">
                <a:tc>
                  <a:txBody>
                    <a:bodyPr/>
                    <a:lstStyle/>
                    <a:p>
                      <a:r>
                        <a:rPr sz="1200" b="1">
                          <a:solidFill>
                            <a:srgbClr val="0C1715"/>
                          </a:solidFill>
                          <a:latin typeface="Helvetica Neue"/>
                          <a:ea typeface="Helvetica Neue"/>
                          <a:cs typeface="Helvetica Neue"/>
                        </a:rPr>
                        <a:t>Infrastructure as Code scanner</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25 min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Template discovery, static analysis, demonstration, and lab</a:t>
                      </a:r>
                    </a:p>
                  </a:txBody>
                  <a:tcPr marL="91440" marR="91440" marT="45720" marB="45720">
                    <a:solidFill>
                      <a:srgbClr val="F2F7F5"/>
                    </a:solidFill>
                  </a:tcPr>
                </a:tc>
              </a:tr>
              <a:tr h="585107">
                <a:tc>
                  <a:txBody>
                    <a:bodyPr/>
                    <a:lstStyle/>
                    <a:p>
                      <a:r>
                        <a:rPr sz="1200" b="1">
                          <a:solidFill>
                            <a:srgbClr val="0C1715"/>
                          </a:solidFill>
                          <a:latin typeface="Helvetica Neue"/>
                          <a:ea typeface="Helvetica Neue"/>
                          <a:cs typeface="Helvetica Neue"/>
                        </a:rPr>
                        <a:t>Evidence, GRC, and close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20 min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Cross-scanner comparison, governance, and cleanup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85147841"/>
      </p:ext>
    </p:extLst>
  </p:cSld>
</p:sld>
</file>

<file path=ppt/slides/slide4.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fd260412554c4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4">
            <a:extLst xmlns:a="http://schemas.openxmlformats.org/drawingml/2006/main">
              <a:ext uri="{FF2B5EF4-FFF2-40B4-BE49-F238E27FC236}">
                <a16:creationId xmlns:a16="http://schemas.microsoft.com/office/drawing/2014/main" id="{693934B1-270C-44E2-BAEE-A75DC08CB16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4">
            <a:extLst xmlns:a="http://schemas.openxmlformats.org/drawingml/2006/main">
              <a:ext uri="{FF2B5EF4-FFF2-40B4-BE49-F238E27FC236}">
                <a16:creationId xmlns:a16="http://schemas.microsoft.com/office/drawing/2014/main" id="{AEE8F626-E50A-4467-AAB3-4EE6A170E854}"/>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1</a:t>
            </a:r>
          </a:p>
        </p:txBody>
      </p:sp>
      <p:sp>
        <p:nvSpPr>
          <p:cNvPr id="4" name="module-title-4">
            <a:extLst xmlns:a="http://schemas.openxmlformats.org/drawingml/2006/main">
              <a:ext uri="{FF2B5EF4-FFF2-40B4-BE49-F238E27FC236}">
                <a16:creationId xmlns:a16="http://schemas.microsoft.com/office/drawing/2014/main" id="{4884ED06-7F28-47F7-91E4-77CF2ACED38D}"/>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Cloud security</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scanner foundations</a:t>
            </a:r>
          </a:p>
        </p:txBody>
      </p:sp>
      <p:sp>
        <p:nvSpPr>
          <p:cNvPr id="5" name="module-purpose-4">
            <a:extLst xmlns:a="http://schemas.openxmlformats.org/drawingml/2006/main">
              <a:ext uri="{FF2B5EF4-FFF2-40B4-BE49-F238E27FC236}">
                <a16:creationId xmlns:a16="http://schemas.microsoft.com/office/drawing/2014/main" id="{19428290-07C8-4704-94DE-8FE1BE84FA77}"/>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A scanner turns cloud and configuration data into findings that people can investigate and close.</a:t>
            </a:r>
          </a:p>
        </p:txBody>
      </p:sp>
      <p:sp>
        <p:nvSpPr>
          <p:cNvPr id="6" name="module-time-4">
            <a:extLst xmlns:a="http://schemas.openxmlformats.org/drawingml/2006/main">
              <a:ext uri="{FF2B5EF4-FFF2-40B4-BE49-F238E27FC236}">
                <a16:creationId xmlns:a16="http://schemas.microsoft.com/office/drawing/2014/main" id="{F3BB4572-44DB-40CE-A5AE-2D7D1B5F1F14}"/>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15 minutes</a:t>
            </a:r>
          </a:p>
        </p:txBody>
      </p:sp>
      <p:sp>
        <p:nvSpPr>
          <p:cNvPr id="7" name="module-rule-4">
            <a:extLst xmlns:a="http://schemas.openxmlformats.org/drawingml/2006/main">
              <a:ext uri="{FF2B5EF4-FFF2-40B4-BE49-F238E27FC236}">
                <a16:creationId xmlns:a16="http://schemas.microsoft.com/office/drawing/2014/main" id="{70E07726-8256-455E-82F6-AB91AE2A49F4}"/>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4">
            <a:extLst xmlns:a="http://schemas.openxmlformats.org/drawingml/2006/main">
              <a:ext uri="{FF2B5EF4-FFF2-40B4-BE49-F238E27FC236}">
                <a16:creationId xmlns:a16="http://schemas.microsoft.com/office/drawing/2014/main" id="{43192826-AA5F-4B93-8CF3-0204D5DEF052}"/>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4">
            <a:extLst xmlns:a="http://schemas.openxmlformats.org/drawingml/2006/main">
              <a:ext uri="{FF2B5EF4-FFF2-40B4-BE49-F238E27FC236}">
                <a16:creationId xmlns:a16="http://schemas.microsoft.com/office/drawing/2014/main" id="{454101C0-EE3A-439B-9F79-B411E0BE1AE8}"/>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04</a:t>
            </a:r>
          </a:p>
        </p:txBody>
      </p:sp>
    </p:spTree>
    <p:extLst>
      <p:ext uri="{BB962C8B-B14F-4D97-AF65-F5344CB8AC3E}">
        <p14:creationId xmlns:p14="http://schemas.microsoft.com/office/powerpoint/2010/main" val="10775057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5">
            <a:extLst xmlns:a="http://schemas.openxmlformats.org/drawingml/2006/main">
              <a:ext uri="{FF2B5EF4-FFF2-40B4-BE49-F238E27FC236}">
                <a16:creationId xmlns:a16="http://schemas.microsoft.com/office/drawing/2014/main" id="{93EE6D6B-C773-46AC-85FB-D86268A6211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5">
            <a:extLst xmlns:a="http://schemas.openxmlformats.org/drawingml/2006/main">
              <a:ext uri="{FF2B5EF4-FFF2-40B4-BE49-F238E27FC236}">
                <a16:creationId xmlns:a16="http://schemas.microsoft.com/office/drawing/2014/main" id="{D5BB59DA-889E-4F7E-8303-A2FC2A0C2BC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a cloud security scanner answers</a:t>
            </a:r>
          </a:p>
        </p:txBody>
      </p:sp>
      <p:sp>
        <p:nvSpPr>
          <p:cNvPr id="3" name="title-rule-5">
            <a:extLst xmlns:a="http://schemas.openxmlformats.org/drawingml/2006/main">
              <a:ext uri="{FF2B5EF4-FFF2-40B4-BE49-F238E27FC236}">
                <a16:creationId xmlns:a16="http://schemas.microsoft.com/office/drawing/2014/main" id="{55776E1B-8CD6-494E-9839-83F7864EDC9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d9eda5d0fae482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5">
            <a:extLst xmlns:a="http://schemas.openxmlformats.org/drawingml/2006/main">
              <a:ext uri="{FF2B5EF4-FFF2-40B4-BE49-F238E27FC236}">
                <a16:creationId xmlns:a16="http://schemas.microsoft.com/office/drawing/2014/main" id="{7280D711-1301-45A1-812B-DF8088F6FC8C}"/>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5">
            <a:extLst xmlns:a="http://schemas.openxmlformats.org/drawingml/2006/main">
              <a:ext uri="{FF2B5EF4-FFF2-40B4-BE49-F238E27FC236}">
                <a16:creationId xmlns:a16="http://schemas.microsoft.com/office/drawing/2014/main" id="{15D6FB96-DBC2-4636-9499-601E2F0B339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5">
            <a:extLst xmlns:a="http://schemas.openxmlformats.org/drawingml/2006/main">
              <a:ext uri="{FF2B5EF4-FFF2-40B4-BE49-F238E27FC236}">
                <a16:creationId xmlns:a16="http://schemas.microsoft.com/office/drawing/2014/main" id="{43E32371-AC6D-4464-BE33-7C7DF837239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05</a:t>
            </a:r>
          </a:p>
        </p:txBody>
      </p:sp>
      <p:sp>
        <p:nvSpPr>
          <p:cNvPr id="8" name="part-num-5-0">
            <a:extLst xmlns:a="http://schemas.openxmlformats.org/drawingml/2006/main">
              <a:ext uri="{FF2B5EF4-FFF2-40B4-BE49-F238E27FC236}">
                <a16:creationId xmlns:a16="http://schemas.microsoft.com/office/drawing/2014/main" id="{59BC1892-750D-445D-9B09-A9205CCE8E10}"/>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01</a:t>
            </a:r>
          </a:p>
        </p:txBody>
      </p:sp>
      <p:sp>
        <p:nvSpPr>
          <p:cNvPr id="9" name="part-rule-5-0">
            <a:extLst xmlns:a="http://schemas.openxmlformats.org/drawingml/2006/main">
              <a:ext uri="{FF2B5EF4-FFF2-40B4-BE49-F238E27FC236}">
                <a16:creationId xmlns:a16="http://schemas.microsoft.com/office/drawing/2014/main" id="{C202E447-7BB3-4C61-9C24-243D4BF47D4D}"/>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5-0">
            <a:extLst xmlns:a="http://schemas.openxmlformats.org/drawingml/2006/main">
              <a:ext uri="{FF2B5EF4-FFF2-40B4-BE49-F238E27FC236}">
                <a16:creationId xmlns:a16="http://schemas.microsoft.com/office/drawing/2014/main" id="{E48D0644-2AF6-4E3E-AB76-31194DC53461}"/>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1" name="part-body-5-0">
            <a:extLst xmlns:a="http://schemas.openxmlformats.org/drawingml/2006/main">
              <a:ext uri="{FF2B5EF4-FFF2-40B4-BE49-F238E27FC236}">
                <a16:creationId xmlns:a16="http://schemas.microsoft.com/office/drawing/2014/main" id="{17F12531-ACD1-4FBF-BA70-75A3AA20BF71}"/>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builds an inventory of accounts, projects, clusters, workloads, or files inside the selected scope.</a:t>
            </a:r>
          </a:p>
        </p:txBody>
      </p:sp>
      <p:sp>
        <p:nvSpPr>
          <p:cNvPr id="12" name="part-num-5-1">
            <a:extLst xmlns:a="http://schemas.openxmlformats.org/drawingml/2006/main">
              <a:ext uri="{FF2B5EF4-FFF2-40B4-BE49-F238E27FC236}">
                <a16:creationId xmlns:a16="http://schemas.microsoft.com/office/drawing/2014/main" id="{1B6167B3-F2B5-402C-9CD6-1198200C15EC}"/>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02</a:t>
            </a:r>
          </a:p>
        </p:txBody>
      </p:sp>
      <p:sp>
        <p:nvSpPr>
          <p:cNvPr id="13" name="part-rule-5-1">
            <a:extLst xmlns:a="http://schemas.openxmlformats.org/drawingml/2006/main">
              <a:ext uri="{FF2B5EF4-FFF2-40B4-BE49-F238E27FC236}">
                <a16:creationId xmlns:a16="http://schemas.microsoft.com/office/drawing/2014/main" id="{C603A81E-8F0B-47D5-ADCA-3FA63F6123CA}"/>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5-1">
            <a:extLst xmlns:a="http://schemas.openxmlformats.org/drawingml/2006/main">
              <a:ext uri="{FF2B5EF4-FFF2-40B4-BE49-F238E27FC236}">
                <a16:creationId xmlns:a16="http://schemas.microsoft.com/office/drawing/2014/main" id="{B5FA806D-032B-4D59-BA59-120EDDA10853}"/>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Assess</a:t>
            </a:r>
          </a:p>
        </p:txBody>
      </p:sp>
      <p:sp>
        <p:nvSpPr>
          <p:cNvPr id="15" name="part-body-5-1">
            <a:extLst xmlns:a="http://schemas.openxmlformats.org/drawingml/2006/main">
              <a:ext uri="{FF2B5EF4-FFF2-40B4-BE49-F238E27FC236}">
                <a16:creationId xmlns:a16="http://schemas.microsoft.com/office/drawing/2014/main" id="{8FFEABF5-6E17-4882-9614-A10F16C1DCAC}"/>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It compares observed configuration with security rules for identity, storage, networks, workloads, and logging.</a:t>
            </a:r>
          </a:p>
        </p:txBody>
      </p:sp>
      <p:sp>
        <p:nvSpPr>
          <p:cNvPr id="16" name="part-num-5-2">
            <a:extLst xmlns:a="http://schemas.openxmlformats.org/drawingml/2006/main">
              <a:ext uri="{FF2B5EF4-FFF2-40B4-BE49-F238E27FC236}">
                <a16:creationId xmlns:a16="http://schemas.microsoft.com/office/drawing/2014/main" id="{13084BAC-959B-4208-8B0D-142F897B4397}"/>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03</a:t>
            </a:r>
          </a:p>
        </p:txBody>
      </p:sp>
      <p:sp>
        <p:nvSpPr>
          <p:cNvPr id="17" name="part-rule-5-2">
            <a:extLst xmlns:a="http://schemas.openxmlformats.org/drawingml/2006/main">
              <a:ext uri="{FF2B5EF4-FFF2-40B4-BE49-F238E27FC236}">
                <a16:creationId xmlns:a16="http://schemas.microsoft.com/office/drawing/2014/main" id="{B7585CA6-531F-451A-BA30-42ACED8D75CD}"/>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5-2">
            <a:extLst xmlns:a="http://schemas.openxmlformats.org/drawingml/2006/main">
              <a:ext uri="{FF2B5EF4-FFF2-40B4-BE49-F238E27FC236}">
                <a16:creationId xmlns:a16="http://schemas.microsoft.com/office/drawing/2014/main" id="{521FA56B-01D8-4943-967F-09C6BBF6421E}"/>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Explain</a:t>
            </a:r>
          </a:p>
        </p:txBody>
      </p:sp>
      <p:sp>
        <p:nvSpPr>
          <p:cNvPr id="19" name="part-body-5-2">
            <a:extLst xmlns:a="http://schemas.openxmlformats.org/drawingml/2006/main">
              <a:ext uri="{FF2B5EF4-FFF2-40B4-BE49-F238E27FC236}">
                <a16:creationId xmlns:a16="http://schemas.microsoft.com/office/drawing/2014/main" id="{040836AD-8F6D-4FFC-B7E2-5AB74AD7D4F4}"/>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finding names the affected asset, the risky condition, its severity, and a recommended correction.</a:t>
            </a:r>
          </a:p>
        </p:txBody>
      </p:sp>
      <p:sp>
        <p:nvSpPr>
          <p:cNvPr id="20" name="part-num-5-3">
            <a:extLst xmlns:a="http://schemas.openxmlformats.org/drawingml/2006/main">
              <a:ext uri="{FF2B5EF4-FFF2-40B4-BE49-F238E27FC236}">
                <a16:creationId xmlns:a16="http://schemas.microsoft.com/office/drawing/2014/main" id="{B8EDEB82-728F-452B-947C-249FCA350807}"/>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11856E"/>
                </a:solidFill>
                <a:latin typeface="Helvetica Neue"/>
                <a:ea typeface="Helvetica Neue"/>
                <a:cs typeface="Helvetica Neue"/>
              </a:defRPr>
            </a:pPr>
            <a:r>
              <a:rPr sz="2100" b="1">
                <a:solidFill>
                  <a:srgbClr val="11856E"/>
                </a:solidFill>
                <a:latin typeface="Helvetica Neue"/>
                <a:ea typeface="Helvetica Neue"/>
                <a:cs typeface="Helvetica Neue"/>
              </a:rPr>
              <a:t>04</a:t>
            </a:r>
          </a:p>
        </p:txBody>
      </p:sp>
      <p:sp>
        <p:nvSpPr>
          <p:cNvPr id="21" name="part-rule-5-3">
            <a:extLst xmlns:a="http://schemas.openxmlformats.org/drawingml/2006/main">
              <a:ext uri="{FF2B5EF4-FFF2-40B4-BE49-F238E27FC236}">
                <a16:creationId xmlns:a16="http://schemas.microsoft.com/office/drawing/2014/main" id="{2C1AE81F-E66A-4E2D-AA98-3F87BEAACBA2}"/>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5-3">
            <a:extLst xmlns:a="http://schemas.openxmlformats.org/drawingml/2006/main">
              <a:ext uri="{FF2B5EF4-FFF2-40B4-BE49-F238E27FC236}">
                <a16:creationId xmlns:a16="http://schemas.microsoft.com/office/drawing/2014/main" id="{03BF4300-5731-4CE6-9E2D-C1CEECF5EEC8}"/>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Verify</a:t>
            </a:r>
          </a:p>
        </p:txBody>
      </p:sp>
      <p:sp>
        <p:nvSpPr>
          <p:cNvPr id="23" name="part-body-5-3">
            <a:extLst xmlns:a="http://schemas.openxmlformats.org/drawingml/2006/main">
              <a:ext uri="{FF2B5EF4-FFF2-40B4-BE49-F238E27FC236}">
                <a16:creationId xmlns:a16="http://schemas.microsoft.com/office/drawing/2014/main" id="{2DF3D9CF-6A76-42E5-994F-3BBEF6B1AB0F}"/>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A later scan or cleanup event records whether the risky condition still exists.</a:t>
            </a:r>
          </a:p>
        </p:txBody>
      </p:sp>
    </p:spTree>
    <p:extLst>
      <p:ext uri="{BB962C8B-B14F-4D97-AF65-F5344CB8AC3E}">
        <p14:creationId xmlns:p14="http://schemas.microsoft.com/office/powerpoint/2010/main" val="5535658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6">
            <a:extLst xmlns:a="http://schemas.openxmlformats.org/drawingml/2006/main">
              <a:ext uri="{FF2B5EF4-FFF2-40B4-BE49-F238E27FC236}">
                <a16:creationId xmlns:a16="http://schemas.microsoft.com/office/drawing/2014/main" id="{494643E6-9B01-41D9-859B-BC1E7EDA4446}"/>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6">
            <a:extLst xmlns:a="http://schemas.openxmlformats.org/drawingml/2006/main">
              <a:ext uri="{FF2B5EF4-FFF2-40B4-BE49-F238E27FC236}">
                <a16:creationId xmlns:a16="http://schemas.microsoft.com/office/drawing/2014/main" id="{73940D37-961F-4C5C-8011-CA879DD7D8E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CloudGuard scanner architecture</a:t>
            </a:r>
          </a:p>
        </p:txBody>
      </p:sp>
      <p:sp>
        <p:nvSpPr>
          <p:cNvPr id="3" name="title-rule-6">
            <a:extLst xmlns:a="http://schemas.openxmlformats.org/drawingml/2006/main">
              <a:ext uri="{FF2B5EF4-FFF2-40B4-BE49-F238E27FC236}">
                <a16:creationId xmlns:a16="http://schemas.microsoft.com/office/drawing/2014/main" id="{4512A2D6-5FD4-46A2-AA8B-0B4BD017F6B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2d49e368dd545fc"/>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6">
            <a:extLst xmlns:a="http://schemas.openxmlformats.org/drawingml/2006/main">
              <a:ext uri="{FF2B5EF4-FFF2-40B4-BE49-F238E27FC236}">
                <a16:creationId xmlns:a16="http://schemas.microsoft.com/office/drawing/2014/main" id="{835394FB-02B8-4E79-A358-D0B188DCD24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6">
            <a:extLst xmlns:a="http://schemas.openxmlformats.org/drawingml/2006/main">
              <a:ext uri="{FF2B5EF4-FFF2-40B4-BE49-F238E27FC236}">
                <a16:creationId xmlns:a16="http://schemas.microsoft.com/office/drawing/2014/main" id="{09C92B88-CA56-4333-BD99-63EA94234CE1}"/>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6">
            <a:extLst xmlns:a="http://schemas.openxmlformats.org/drawingml/2006/main">
              <a:ext uri="{FF2B5EF4-FFF2-40B4-BE49-F238E27FC236}">
                <a16:creationId xmlns:a16="http://schemas.microsoft.com/office/drawing/2014/main" id="{9E23193A-0655-40FD-86DA-E5A03B21934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06</a:t>
            </a:r>
          </a:p>
        </p:txBody>
      </p:sp>
      <p:sp>
        <p:nvSpPr>
          <p:cNvPr id="8" name="arch-copy">
            <a:extLst xmlns:a="http://schemas.openxmlformats.org/drawingml/2006/main">
              <a:ext uri="{FF2B5EF4-FFF2-40B4-BE49-F238E27FC236}">
                <a16:creationId xmlns:a16="http://schemas.microsoft.com/office/drawing/2014/main" id="{23D79556-882A-4E07-9697-96E9A9DD5F13}"/>
              </a:ext>
            </a:extLst>
          </p:cNvPr>
          <p:cNvSpPr>
            <a:spLocks xmlns:a="http://schemas.openxmlformats.org/drawingml/2006/main" noGrp="1"/>
          </p:cNvSpPr>
          <p:nvPr/>
        </p:nvSpPr>
        <p:spPr>
          <a:xfrm xmlns:a="http://schemas.openxmlformats.org/drawingml/2006/main">
            <a:off x="533400" y="1809750"/>
            <a:ext cx="3714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0">
                <a:solidFill>
                  <a:srgbClr val="0C1715"/>
                </a:solidFill>
                <a:latin typeface="Helvetica Neue"/>
                <a:ea typeface="Helvetica Neue"/>
                <a:cs typeface="Helvetica Neue"/>
              </a:defRPr>
            </a:pPr>
            <a:r>
              <a:rPr sz="1575" b="0">
                <a:solidFill>
                  <a:srgbClr val="0C1715"/>
                </a:solidFill>
                <a:latin typeface="Helvetica Neue"/>
                <a:ea typeface="Helvetica Neue"/>
                <a:cs typeface="Helvetica Neue"/>
              </a:rPr>
              <a:t>The portal defines the target and records job state. A provider worker performs discovery and checks. CloudGuard then stores normalized findings and evidence for later governance.</a:t>
            </a:r>
          </a:p>
        </p:txBody>
      </p:sp>
      <p:sp>
        <p:nvSpPr>
          <p:cNvPr id="9" name="arch-bullets">
            <a:extLst xmlns:a="http://schemas.openxmlformats.org/drawingml/2006/main">
              <a:ext uri="{FF2B5EF4-FFF2-40B4-BE49-F238E27FC236}">
                <a16:creationId xmlns:a16="http://schemas.microsoft.com/office/drawing/2014/main" id="{38C14926-A86C-477C-A3D6-F6C7988DFEC7}"/>
              </a:ext>
            </a:extLst>
          </p:cNvPr>
          <p:cNvSpPr>
            <a:spLocks xmlns:a="http://schemas.openxmlformats.org/drawingml/2006/main" noGrp="1"/>
          </p:cNvSpPr>
          <p:nvPr/>
        </p:nvSpPr>
        <p:spPr>
          <a:xfrm xmlns:a="http://schemas.openxmlformats.org/drawingml/2006/main">
            <a:off x="476250" y="3352800"/>
            <a:ext cx="3905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Credentials remain associated with the selected tenant and target</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AWS, GCP, Kubernetes, and IaC workers keep provider logic separate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Findings share a common structure across scanner types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Evidence moves into risk, remediation, and compliance workflows</a:t>
            </a:r>
          </a:p>
        </p:txBody>
      </p:sp>
      <p:sp>
        <p:nvSpPr>
          <p:cNvPr id="10" name="arch-frame">
            <a:extLst xmlns:a="http://schemas.openxmlformats.org/drawingml/2006/main">
              <a:ext uri="{FF2B5EF4-FFF2-40B4-BE49-F238E27FC236}">
                <a16:creationId xmlns:a16="http://schemas.microsoft.com/office/drawing/2014/main" id="{C2D8EDFD-4EF4-4739-B6EA-DE05697090E6}"/>
              </a:ext>
            </a:extLst>
          </p:cNvPr>
          <p:cNvSpPr>
            <a:spLocks xmlns:a="http://schemas.openxmlformats.org/drawingml/2006/main" noGrp="1"/>
          </p:cNvSpPr>
          <p:nvPr/>
        </p:nvSpPr>
        <p:spPr>
          <a:xfrm xmlns:a="http://schemas.openxmlformats.org/drawingml/2006/main">
            <a:off x="4762500" y="1752600"/>
            <a:ext cx="68961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c7226c5970241fa"/>
          <a:stretch xmlns:a="http://schemas.openxmlformats.org/drawingml/2006/main"/>
        </p:blipFill>
        <p:spPr>
          <a:xfrm xmlns:a="http://schemas.openxmlformats.org/drawingml/2006/main">
            <a:off x="4914900" y="1946672"/>
            <a:ext cx="6591300" cy="3707606"/>
          </a:xfrm>
          <a:prstGeom xmlns:a="http://schemas.openxmlformats.org/drawingml/2006/main" prst="roundRect">
            <a:avLst>
              <a:gd name="adj" fmla="val 1005"/>
            </a:avLst>
          </a:prstGeom>
        </p:spPr>
      </p:pic>
    </p:spTree>
    <p:extLst>
      <p:ext uri="{BB962C8B-B14F-4D97-AF65-F5344CB8AC3E}">
        <p14:creationId xmlns:p14="http://schemas.microsoft.com/office/powerpoint/2010/main" val="1776532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7">
            <a:extLst xmlns:a="http://schemas.openxmlformats.org/drawingml/2006/main">
              <a:ext uri="{FF2B5EF4-FFF2-40B4-BE49-F238E27FC236}">
                <a16:creationId xmlns:a16="http://schemas.microsoft.com/office/drawing/2014/main" id="{7B5BB752-1537-4DAD-8D8B-A2ABD62DDBC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7">
            <a:extLst xmlns:a="http://schemas.openxmlformats.org/drawingml/2006/main">
              <a:ext uri="{FF2B5EF4-FFF2-40B4-BE49-F238E27FC236}">
                <a16:creationId xmlns:a16="http://schemas.microsoft.com/office/drawing/2014/main" id="{326F7D5A-9E81-4F21-A083-241D62213EB5}"/>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Anatomy of a scanner finding</a:t>
            </a:r>
          </a:p>
        </p:txBody>
      </p:sp>
      <p:sp>
        <p:nvSpPr>
          <p:cNvPr id="3" name="title-rule-7">
            <a:extLst xmlns:a="http://schemas.openxmlformats.org/drawingml/2006/main">
              <a:ext uri="{FF2B5EF4-FFF2-40B4-BE49-F238E27FC236}">
                <a16:creationId xmlns:a16="http://schemas.microsoft.com/office/drawing/2014/main" id="{19B0940E-C6B1-4859-BAC8-0E7DC6AD397C}"/>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2dc7e62ffe4400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7">
            <a:extLst xmlns:a="http://schemas.openxmlformats.org/drawingml/2006/main">
              <a:ext uri="{FF2B5EF4-FFF2-40B4-BE49-F238E27FC236}">
                <a16:creationId xmlns:a16="http://schemas.microsoft.com/office/drawing/2014/main" id="{B5D5AC94-BED3-492B-B3E0-BC80AA212D8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7">
            <a:extLst xmlns:a="http://schemas.openxmlformats.org/drawingml/2006/main">
              <a:ext uri="{FF2B5EF4-FFF2-40B4-BE49-F238E27FC236}">
                <a16:creationId xmlns:a16="http://schemas.microsoft.com/office/drawing/2014/main" id="{658618BE-79AD-42CC-9468-EF7683DBC7E0}"/>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7">
            <a:extLst xmlns:a="http://schemas.openxmlformats.org/drawingml/2006/main">
              <a:ext uri="{FF2B5EF4-FFF2-40B4-BE49-F238E27FC236}">
                <a16:creationId xmlns:a16="http://schemas.microsoft.com/office/drawing/2014/main" id="{5CC7D06B-F337-4E57-A288-02AC2BB1EE9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07</a:t>
            </a:r>
          </a:p>
        </p:txBody>
      </p:sp>
      <p:graphicFrame>
        <p:nvGraphicFramePr>
          <p:cNvPr id="17" name=""/>
          <p:cNvGraphicFramePr/>
          <p:nvPr/>
        </p:nvGraphicFramePr>
        <p:xfrm>
          <a:off xmlns:a="http://schemas.openxmlformats.org/drawingml/2006/main" x="533400" y="1752600"/>
          <a:ext xmlns:a="http://schemas.openxmlformats.org/drawingml/2006/main" cx="11125200" cy="3848100"/>
        </p:xfrm>
        <a:graphic xmlns:a="http://schemas.openxmlformats.org/drawingml/2006/main">
          <a:graphicData uri="http://schemas.openxmlformats.org/drawingml/2006/table">
            <a:tbl>
              <a:tblPr/>
              <a:tblGrid>
                <a:gridCol w="1714500"/>
                <a:gridCol w="4095750"/>
                <a:gridCol w="5314950"/>
              </a:tblGrid>
              <a:tr h="641350">
                <a:tc>
                  <a:txBody>
                    <a:bodyPr/>
                    <a:lstStyle/>
                    <a:p>
                      <a:r>
                        <a:rPr sz="1125" b="1">
                          <a:solidFill>
                            <a:srgbClr val="FFFFFF"/>
                          </a:solidFill>
                          <a:latin typeface="Helvetica Neue"/>
                          <a:ea typeface="Helvetica Neue"/>
                          <a:cs typeface="Helvetica Neue"/>
                        </a:rPr>
                        <a:t>Field</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What it tells us</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Example from a workshop target</a:t>
                      </a:r>
                    </a:p>
                  </a:txBody>
                  <a:tcPr marL="91440" marR="91440" marT="45720" marB="45720">
                    <a:solidFill>
                      <a:srgbClr val="11856E"/>
                    </a:solidFill>
                  </a:tcPr>
                </a:tc>
              </a:tr>
              <a:tr h="641350">
                <a:tc>
                  <a:txBody>
                    <a:bodyPr/>
                    <a:lstStyle/>
                    <a:p>
                      <a:r>
                        <a:rPr sz="1200" b="1">
                          <a:solidFill>
                            <a:srgbClr val="0C1715"/>
                          </a:solidFill>
                          <a:latin typeface="Helvetica Neue"/>
                          <a:ea typeface="Helvetica Neue"/>
                          <a:cs typeface="Helvetica Neue"/>
                        </a:rPr>
                        <a:t>Asset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resource or file connected to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 firewall rule, Deployment, or Terraform file</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Issue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configuration rule that failed</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access block disabled</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Severity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scanner's estimate of technical impact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Critical, High, Medium, Low, or Info</a:t>
                      </a:r>
                    </a:p>
                  </a:txBody>
                  <a:tcPr marL="91440" marR="91440" marT="45720" marB="45720">
                    <a:solidFill>
                      <a:srgbClr val="F2F7F5"/>
                    </a:solidFill>
                  </a:tcPr>
                </a:tc>
              </a:tr>
              <a:tr h="641350">
                <a:tc>
                  <a:txBody>
                    <a:bodyPr/>
                    <a:lstStyle/>
                    <a:p>
                      <a:r>
                        <a:rPr sz="1200" b="1">
                          <a:solidFill>
                            <a:srgbClr val="0C1715"/>
                          </a:solidFill>
                          <a:latin typeface="Helvetica Neue"/>
                          <a:ea typeface="Helvetica Neue"/>
                          <a:cs typeface="Helvetica Neue"/>
                        </a:rPr>
                        <a:t>Evidence</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The observed policy, property, or manifest setting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ACL, open CIDR, privileged: true</a:t>
                      </a:r>
                    </a:p>
                  </a:txBody>
                  <a:tcPr marL="91440" marR="91440" marT="45720" marB="45720">
                    <a:solidFill>
                      <a:srgbClr val="FFFFFF"/>
                    </a:solidFill>
                  </a:tcPr>
                </a:tc>
              </a:tr>
              <a:tr h="641350">
                <a:tc>
                  <a:txBody>
                    <a:bodyPr/>
                    <a:lstStyle/>
                    <a:p>
                      <a:r>
                        <a:rPr sz="1200" b="1">
                          <a:solidFill>
                            <a:srgbClr val="0C1715"/>
                          </a:solidFill>
                          <a:latin typeface="Helvetica Neue"/>
                          <a:ea typeface="Helvetica Neue"/>
                          <a:cs typeface="Helvetica Neue"/>
                        </a:rPr>
                        <a:t>Recommendation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The configuration change that removes the condition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Restrict access and run another scan</a:t>
                      </a:r>
                    </a:p>
                  </a:txBody>
                  <a:tcPr marL="91440" marR="91440" marT="45720" marB="45720">
                    <a:solidFill>
                      <a:srgbClr val="F2F7F5"/>
                    </a:solidFill>
                  </a:tcPr>
                </a:tc>
              </a:tr>
            </a:tbl>
          </a:graphicData>
        </a:graphic>
      </p:graphicFrame>
      <p:sp>
        <p:nvSpPr>
          <p:cNvPr id="9" name="finding-note">
            <a:extLst xmlns:a="http://schemas.openxmlformats.org/drawingml/2006/main">
              <a:ext uri="{FF2B5EF4-FFF2-40B4-BE49-F238E27FC236}">
                <a16:creationId xmlns:a16="http://schemas.microsoft.com/office/drawing/2014/main" id="{D23ABB8E-2180-4C86-B90C-41F136D99005}"/>
              </a:ext>
            </a:extLst>
          </p:cNvPr>
          <p:cNvSpPr>
            <a:spLocks xmlns:a="http://schemas.openxmlformats.org/drawingml/2006/main" noGrp="1"/>
          </p:cNvSpPr>
          <p:nvPr/>
        </p:nvSpPr>
        <p:spPr>
          <a:xfrm xmlns:a="http://schemas.openxmlformats.org/drawingml/2006/main">
            <a:off x="533400" y="5829300"/>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Severity starts the conversation. Exposure, identity privilege, asset value, and available evidence determine priority.</a:t>
            </a:r>
          </a:p>
        </p:txBody>
      </p:sp>
    </p:spTree>
    <p:extLst>
      <p:ext uri="{BB962C8B-B14F-4D97-AF65-F5344CB8AC3E}">
        <p14:creationId xmlns:p14="http://schemas.microsoft.com/office/powerpoint/2010/main" val="97355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8">
            <a:extLst xmlns:a="http://schemas.openxmlformats.org/drawingml/2006/main">
              <a:ext uri="{FF2B5EF4-FFF2-40B4-BE49-F238E27FC236}">
                <a16:creationId xmlns:a16="http://schemas.microsoft.com/office/drawing/2014/main" id="{BC0513EE-C86C-40FD-830B-CE8E16E30BC3}"/>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1</a:t>
            </a:r>
          </a:p>
        </p:txBody>
      </p:sp>
      <p:sp>
        <p:nvSpPr>
          <p:cNvPr id="2" name="title-8">
            <a:extLst xmlns:a="http://schemas.openxmlformats.org/drawingml/2006/main">
              <a:ext uri="{FF2B5EF4-FFF2-40B4-BE49-F238E27FC236}">
                <a16:creationId xmlns:a16="http://schemas.microsoft.com/office/drawing/2014/main" id="{15651831-F290-4B64-A43D-E5D6B4C5FFE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Safe vulnerable lab model</a:t>
            </a:r>
          </a:p>
        </p:txBody>
      </p:sp>
      <p:sp>
        <p:nvSpPr>
          <p:cNvPr id="3" name="title-rule-8">
            <a:extLst xmlns:a="http://schemas.openxmlformats.org/drawingml/2006/main">
              <a:ext uri="{FF2B5EF4-FFF2-40B4-BE49-F238E27FC236}">
                <a16:creationId xmlns:a16="http://schemas.microsoft.com/office/drawing/2014/main" id="{C4EFF39E-CFC0-459C-AF29-38006C9038E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502f2b5acb34e2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8">
            <a:extLst xmlns:a="http://schemas.openxmlformats.org/drawingml/2006/main">
              <a:ext uri="{FF2B5EF4-FFF2-40B4-BE49-F238E27FC236}">
                <a16:creationId xmlns:a16="http://schemas.microsoft.com/office/drawing/2014/main" id="{1633F8A3-6019-41CC-B7F2-DE06BF1C274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8">
            <a:extLst xmlns:a="http://schemas.openxmlformats.org/drawingml/2006/main">
              <a:ext uri="{FF2B5EF4-FFF2-40B4-BE49-F238E27FC236}">
                <a16:creationId xmlns:a16="http://schemas.microsoft.com/office/drawing/2014/main" id="{3C6FFA31-E77F-4368-A725-53BD84D78A3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8">
            <a:extLst xmlns:a="http://schemas.openxmlformats.org/drawingml/2006/main">
              <a:ext uri="{FF2B5EF4-FFF2-40B4-BE49-F238E27FC236}">
                <a16:creationId xmlns:a16="http://schemas.microsoft.com/office/drawing/2014/main" id="{0A2218CF-75DD-48B9-8AEE-6FE71638068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08</a:t>
            </a:r>
          </a:p>
        </p:txBody>
      </p:sp>
      <p:sp>
        <p:nvSpPr>
          <p:cNvPr id="8" name="safe-lead">
            <a:extLst xmlns:a="http://schemas.openxmlformats.org/drawingml/2006/main">
              <a:ext uri="{FF2B5EF4-FFF2-40B4-BE49-F238E27FC236}">
                <a16:creationId xmlns:a16="http://schemas.microsoft.com/office/drawing/2014/main" id="{D8FC0276-6208-41FF-ABA0-795CE6F53F5E}"/>
              </a:ext>
            </a:extLst>
          </p:cNvPr>
          <p:cNvSpPr>
            <a:spLocks xmlns:a="http://schemas.openxmlformats.org/drawingml/2006/main" noGrp="1"/>
          </p:cNvSpPr>
          <p:nvPr/>
        </p:nvSpPr>
        <p:spPr>
          <a:xfrm xmlns:a="http://schemas.openxmlformats.org/drawingml/2006/main">
            <a:off x="533400" y="18097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D95D4B"/>
                </a:solidFill>
                <a:latin typeface="Helvetica Neue"/>
                <a:ea typeface="Helvetica Neue"/>
                <a:cs typeface="Helvetica Neue"/>
              </a:defRPr>
            </a:pPr>
            <a:r>
              <a:rPr sz="2100" b="1">
                <a:solidFill>
                  <a:srgbClr val="D95D4B"/>
                </a:solidFill>
                <a:latin typeface="Helvetica Neue"/>
                <a:ea typeface="Helvetica Neue"/>
                <a:cs typeface="Helvetica Neue"/>
              </a:rPr>
              <a:t>The workshop uses intentionally weak resources inside isolated, short-lived environments.</a:t>
            </a:r>
          </a:p>
        </p:txBody>
      </p:sp>
      <p:sp>
        <p:nvSpPr>
          <p:cNvPr id="9" name="pair-left-title-8">
            <a:extLst xmlns:a="http://schemas.openxmlformats.org/drawingml/2006/main">
              <a:ext uri="{FF2B5EF4-FFF2-40B4-BE49-F238E27FC236}">
                <a16:creationId xmlns:a16="http://schemas.microsoft.com/office/drawing/2014/main" id="{9882C7C4-C847-43F9-A0BD-4ABDA7292199}"/>
              </a:ext>
            </a:extLst>
          </p:cNvPr>
          <p:cNvSpPr>
            <a:spLocks xmlns:a="http://schemas.openxmlformats.org/drawingml/2006/main" noGrp="1"/>
          </p:cNvSpPr>
          <p:nvPr/>
        </p:nvSpPr>
        <p:spPr>
          <a:xfrm xmlns:a="http://schemas.openxmlformats.org/drawingml/2006/main">
            <a:off x="533400" y="262890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exists in the lab</a:t>
            </a:r>
          </a:p>
        </p:txBody>
      </p:sp>
      <p:sp>
        <p:nvSpPr>
          <p:cNvPr id="10" name="pair-left-8">
            <a:extLst xmlns:a="http://schemas.openxmlformats.org/drawingml/2006/main">
              <a:ext uri="{FF2B5EF4-FFF2-40B4-BE49-F238E27FC236}">
                <a16:creationId xmlns:a16="http://schemas.microsoft.com/office/drawing/2014/main" id="{BC2BCE1C-1888-4462-B974-6A3F1097ADE9}"/>
              </a:ext>
            </a:extLst>
          </p:cNvPr>
          <p:cNvSpPr>
            <a:spLocks xmlns:a="http://schemas.openxmlformats.org/drawingml/2006/main" noGrp="1"/>
          </p:cNvSpPr>
          <p:nvPr/>
        </p:nvSpPr>
        <p:spPr>
          <a:xfrm xmlns:a="http://schemas.openxmlformats.org/drawingml/2006/main">
            <a:off x="47625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empty public storage resource with dummy content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 over-permissive identity or network rule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vulnerable Kubernetes namespace and local IaC fixtures</a:t>
            </a:r>
          </a:p>
        </p:txBody>
      </p:sp>
      <p:sp>
        <p:nvSpPr>
          <p:cNvPr id="11" name="pair-divider-8">
            <a:extLst xmlns:a="http://schemas.openxmlformats.org/drawingml/2006/main">
              <a:ext uri="{FF2B5EF4-FFF2-40B4-BE49-F238E27FC236}">
                <a16:creationId xmlns:a16="http://schemas.microsoft.com/office/drawing/2014/main" id="{B063E59D-B4F1-4AE2-9956-EC1BAFC9F329}"/>
              </a:ext>
            </a:extLst>
          </p:cNvPr>
          <p:cNvSpPr>
            <a:spLocks xmlns:a="http://schemas.openxmlformats.org/drawingml/2006/main" noGrp="1"/>
          </p:cNvSpPr>
          <p:nvPr/>
        </p:nvSpPr>
        <p:spPr>
          <a:xfrm xmlns:a="http://schemas.openxmlformats.org/drawingml/2006/main">
            <a:off x="6000750" y="259080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2" name="pair-right-title-8">
            <a:extLst xmlns:a="http://schemas.openxmlformats.org/drawingml/2006/main">
              <a:ext uri="{FF2B5EF4-FFF2-40B4-BE49-F238E27FC236}">
                <a16:creationId xmlns:a16="http://schemas.microsoft.com/office/drawing/2014/main" id="{CE0F3E1E-6325-4BBD-9633-951868E89E5D}"/>
              </a:ext>
            </a:extLst>
          </p:cNvPr>
          <p:cNvSpPr>
            <a:spLocks xmlns:a="http://schemas.openxmlformats.org/drawingml/2006/main" noGrp="1"/>
          </p:cNvSpPr>
          <p:nvPr/>
        </p:nvSpPr>
        <p:spPr>
          <a:xfrm xmlns:a="http://schemas.openxmlformats.org/drawingml/2006/main">
            <a:off x="6572250" y="262890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D95D4B"/>
                </a:solidFill>
                <a:latin typeface="Helvetica Neue"/>
                <a:ea typeface="Helvetica Neue"/>
                <a:cs typeface="Helvetica Neue"/>
              </a:defRPr>
            </a:pPr>
            <a:r>
              <a:rPr sz="1800" b="1">
                <a:solidFill>
                  <a:srgbClr val="D95D4B"/>
                </a:solidFill>
                <a:latin typeface="Helvetica Neue"/>
                <a:ea typeface="Helvetica Neue"/>
                <a:cs typeface="Helvetica Neue"/>
              </a:rPr>
              <a:t>What remains outside the lab</a:t>
            </a:r>
          </a:p>
        </p:txBody>
      </p:sp>
      <p:sp>
        <p:nvSpPr>
          <p:cNvPr id="13" name="pair-right-8">
            <a:extLst xmlns:a="http://schemas.openxmlformats.org/drawingml/2006/main">
              <a:ext uri="{FF2B5EF4-FFF2-40B4-BE49-F238E27FC236}">
                <a16:creationId xmlns:a16="http://schemas.microsoft.com/office/drawing/2014/main" id="{D3002428-63F3-4743-9BE9-53328836C357}"/>
              </a:ext>
            </a:extLst>
          </p:cNvPr>
          <p:cNvSpPr>
            <a:spLocks xmlns:a="http://schemas.openxmlformats.org/drawingml/2006/main" noGrp="1"/>
          </p:cNvSpPr>
          <p:nvPr/>
        </p:nvSpPr>
        <p:spPr>
          <a:xfrm xmlns:a="http://schemas.openxmlformats.org/drawingml/2006/main">
            <a:off x="6515100" y="318135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Production accounts, projects, clusters, and customer data</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Real secrets or long-lived access keys</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Any resource that lacks a tested cleanup path</a:t>
            </a:r>
          </a:p>
        </p:txBody>
      </p:sp>
    </p:spTree>
    <p:extLst>
      <p:ext uri="{BB962C8B-B14F-4D97-AF65-F5344CB8AC3E}">
        <p14:creationId xmlns:p14="http://schemas.microsoft.com/office/powerpoint/2010/main" val="1300667022"/>
      </p:ext>
    </p:extLst>
  </p:cSld>
</p:sld>
</file>

<file path=ppt/slides/slide9.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fc332a683424033"/>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9">
            <a:extLst xmlns:a="http://schemas.openxmlformats.org/drawingml/2006/main">
              <a:ext uri="{FF2B5EF4-FFF2-40B4-BE49-F238E27FC236}">
                <a16:creationId xmlns:a16="http://schemas.microsoft.com/office/drawing/2014/main" id="{0C1C8C6E-089D-4EDE-B6ED-021CCD98987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9">
            <a:extLst xmlns:a="http://schemas.openxmlformats.org/drawingml/2006/main">
              <a:ext uri="{FF2B5EF4-FFF2-40B4-BE49-F238E27FC236}">
                <a16:creationId xmlns:a16="http://schemas.microsoft.com/office/drawing/2014/main" id="{8DA9B27D-06A8-49F8-A583-5B3E942B1F4A}"/>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2</a:t>
            </a:r>
          </a:p>
        </p:txBody>
      </p:sp>
      <p:sp>
        <p:nvSpPr>
          <p:cNvPr id="4" name="module-title-9">
            <a:extLst xmlns:a="http://schemas.openxmlformats.org/drawingml/2006/main">
              <a:ext uri="{FF2B5EF4-FFF2-40B4-BE49-F238E27FC236}">
                <a16:creationId xmlns:a16="http://schemas.microsoft.com/office/drawing/2014/main" id="{26FA8606-A747-4718-ABDE-6E9121E2C871}"/>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AWS scanner</a:t>
            </a:r>
          </a:p>
        </p:txBody>
      </p:sp>
      <p:sp>
        <p:nvSpPr>
          <p:cNvPr id="5" name="module-purpose-9">
            <a:extLst xmlns:a="http://schemas.openxmlformats.org/drawingml/2006/main">
              <a:ext uri="{FF2B5EF4-FFF2-40B4-BE49-F238E27FC236}">
                <a16:creationId xmlns:a16="http://schemas.microsoft.com/office/drawing/2014/main" id="{DBC6F60B-79F8-4082-A00C-7358D9D2449B}"/>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AWS scanner evaluates storage, identity, network exposure, and account-level detection controls.</a:t>
            </a:r>
          </a:p>
        </p:txBody>
      </p:sp>
      <p:sp>
        <p:nvSpPr>
          <p:cNvPr id="6" name="module-time-9">
            <a:extLst xmlns:a="http://schemas.openxmlformats.org/drawingml/2006/main">
              <a:ext uri="{FF2B5EF4-FFF2-40B4-BE49-F238E27FC236}">
                <a16:creationId xmlns:a16="http://schemas.microsoft.com/office/drawing/2014/main" id="{1E69E687-C793-47BB-81C3-22E639410C46}"/>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9">
            <a:extLst xmlns:a="http://schemas.openxmlformats.org/drawingml/2006/main">
              <a:ext uri="{FF2B5EF4-FFF2-40B4-BE49-F238E27FC236}">
                <a16:creationId xmlns:a16="http://schemas.microsoft.com/office/drawing/2014/main" id="{B5962784-47CA-4BEB-A96B-EF663DF493E9}"/>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9">
            <a:extLst xmlns:a="http://schemas.openxmlformats.org/drawingml/2006/main">
              <a:ext uri="{FF2B5EF4-FFF2-40B4-BE49-F238E27FC236}">
                <a16:creationId xmlns:a16="http://schemas.microsoft.com/office/drawing/2014/main" id="{B8638B01-6339-4947-AD46-8CFE072809AC}"/>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9">
            <a:extLst xmlns:a="http://schemas.openxmlformats.org/drawingml/2006/main">
              <a:ext uri="{FF2B5EF4-FFF2-40B4-BE49-F238E27FC236}">
                <a16:creationId xmlns:a16="http://schemas.microsoft.com/office/drawing/2014/main" id="{36DDEE73-F88D-4932-B018-44A57F1D62F9}"/>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09</a:t>
            </a:r>
          </a:p>
        </p:txBody>
      </p:sp>
    </p:spTree>
    <p:extLst>
      <p:ext uri="{BB962C8B-B14F-4D97-AF65-F5344CB8AC3E}">
        <p14:creationId xmlns:p14="http://schemas.microsoft.com/office/powerpoint/2010/main" val="108781724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0">
            <a:extLst xmlns:a="http://schemas.openxmlformats.org/drawingml/2006/main">
              <a:ext uri="{FF2B5EF4-FFF2-40B4-BE49-F238E27FC236}">
                <a16:creationId xmlns:a16="http://schemas.microsoft.com/office/drawing/2014/main" id="{5DE89587-E04B-455C-B6B6-90CEDA2E1F9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0">
            <a:extLst xmlns:a="http://schemas.openxmlformats.org/drawingml/2006/main">
              <a:ext uri="{FF2B5EF4-FFF2-40B4-BE49-F238E27FC236}">
                <a16:creationId xmlns:a16="http://schemas.microsoft.com/office/drawing/2014/main" id="{C4E62003-D574-461B-8DF4-1EE25ED2362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scanner coverage</a:t>
            </a:r>
          </a:p>
        </p:txBody>
      </p:sp>
      <p:sp>
        <p:nvSpPr>
          <p:cNvPr id="3" name="title-rule-10">
            <a:extLst xmlns:a="http://schemas.openxmlformats.org/drawingml/2006/main">
              <a:ext uri="{FF2B5EF4-FFF2-40B4-BE49-F238E27FC236}">
                <a16:creationId xmlns:a16="http://schemas.microsoft.com/office/drawing/2014/main" id="{C66FC3BA-FF13-484B-9EFB-D0292CCB1FF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4ca68a3bf9b498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0">
            <a:extLst xmlns:a="http://schemas.openxmlformats.org/drawingml/2006/main">
              <a:ext uri="{FF2B5EF4-FFF2-40B4-BE49-F238E27FC236}">
                <a16:creationId xmlns:a16="http://schemas.microsoft.com/office/drawing/2014/main" id="{5FB93352-EBC7-451E-95A5-844502B5C3D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0">
            <a:extLst xmlns:a="http://schemas.openxmlformats.org/drawingml/2006/main">
              <a:ext uri="{FF2B5EF4-FFF2-40B4-BE49-F238E27FC236}">
                <a16:creationId xmlns:a16="http://schemas.microsoft.com/office/drawing/2014/main" id="{94A7FE7A-CB24-429D-9A8D-D5BBF689946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0">
            <a:extLst xmlns:a="http://schemas.openxmlformats.org/drawingml/2006/main">
              <a:ext uri="{FF2B5EF4-FFF2-40B4-BE49-F238E27FC236}">
                <a16:creationId xmlns:a16="http://schemas.microsoft.com/office/drawing/2014/main" id="{C24B222D-AED0-497C-A76C-64D52BE9BE4C}"/>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10</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F59E0B"/>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S3 buckets, ACLs, encryption, versioning, public access block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access, missing encryption, versioning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IAM users, MFA devices, inline policies, access keys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No MFA, wildcard administration, access key older than 90 days</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EC2 security groups and VPCs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All traffic or administrative ports exposed to the internet</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Detection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CloudTrail, GuardDuty, and VPC Flow Logs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Missing or disabled logging and threat detection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335704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B45675B3-9350-4987-8806-C105F9C65FB7}"/>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1">
            <a:extLst xmlns:a="http://schemas.openxmlformats.org/drawingml/2006/main">
              <a:ext uri="{FF2B5EF4-FFF2-40B4-BE49-F238E27FC236}">
                <a16:creationId xmlns:a16="http://schemas.microsoft.com/office/drawing/2014/main" id="{DA83B848-4BD8-488C-8FC2-4E257F2D8AD2}"/>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scan lifecycle</a:t>
            </a:r>
          </a:p>
        </p:txBody>
      </p:sp>
      <p:sp>
        <p:nvSpPr>
          <p:cNvPr id="3" name="title-rule-11">
            <a:extLst xmlns:a="http://schemas.openxmlformats.org/drawingml/2006/main">
              <a:ext uri="{FF2B5EF4-FFF2-40B4-BE49-F238E27FC236}">
                <a16:creationId xmlns:a16="http://schemas.microsoft.com/office/drawing/2014/main" id="{623FCA04-2D28-4AAC-8838-93915BAE1003}"/>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2d1e52a65c4430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1">
            <a:extLst xmlns:a="http://schemas.openxmlformats.org/drawingml/2006/main">
              <a:ext uri="{FF2B5EF4-FFF2-40B4-BE49-F238E27FC236}">
                <a16:creationId xmlns:a16="http://schemas.microsoft.com/office/drawing/2014/main" id="{C1447B4B-8AB3-4010-A332-A9F82549999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1">
            <a:extLst xmlns:a="http://schemas.openxmlformats.org/drawingml/2006/main">
              <a:ext uri="{FF2B5EF4-FFF2-40B4-BE49-F238E27FC236}">
                <a16:creationId xmlns:a16="http://schemas.microsoft.com/office/drawing/2014/main" id="{64F9B065-2764-4910-8015-B9D65CF64E1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1">
            <a:extLst xmlns:a="http://schemas.openxmlformats.org/drawingml/2006/main">
              <a:ext uri="{FF2B5EF4-FFF2-40B4-BE49-F238E27FC236}">
                <a16:creationId xmlns:a16="http://schemas.microsoft.com/office/drawing/2014/main" id="{536D40F9-6224-40C7-8549-3AB6E4612880}"/>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11</a:t>
            </a:r>
          </a:p>
        </p:txBody>
      </p:sp>
      <p:sp>
        <p:nvSpPr>
          <p:cNvPr id="8" name="part-num-11-0">
            <a:extLst xmlns:a="http://schemas.openxmlformats.org/drawingml/2006/main">
              <a:ext uri="{FF2B5EF4-FFF2-40B4-BE49-F238E27FC236}">
                <a16:creationId xmlns:a16="http://schemas.microsoft.com/office/drawing/2014/main" id="{88EECC7E-D0DF-4D14-8CF4-9299C5B49AD5}"/>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01</a:t>
            </a:r>
          </a:p>
        </p:txBody>
      </p:sp>
      <p:sp>
        <p:nvSpPr>
          <p:cNvPr id="9" name="part-rule-11-0">
            <a:extLst xmlns:a="http://schemas.openxmlformats.org/drawingml/2006/main">
              <a:ext uri="{FF2B5EF4-FFF2-40B4-BE49-F238E27FC236}">
                <a16:creationId xmlns:a16="http://schemas.microsoft.com/office/drawing/2014/main" id="{FC0D6F48-55CC-4B68-8E55-A4D7AAB99BF9}"/>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1-0">
            <a:extLst xmlns:a="http://schemas.openxmlformats.org/drawingml/2006/main">
              <a:ext uri="{FF2B5EF4-FFF2-40B4-BE49-F238E27FC236}">
                <a16:creationId xmlns:a16="http://schemas.microsoft.com/office/drawing/2014/main" id="{3A0C82A5-EC29-426F-BD40-A655E8B51FB6}"/>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Authenticate</a:t>
            </a:r>
          </a:p>
        </p:txBody>
      </p:sp>
      <p:sp>
        <p:nvSpPr>
          <p:cNvPr id="11" name="part-body-11-0">
            <a:extLst xmlns:a="http://schemas.openxmlformats.org/drawingml/2006/main">
              <a:ext uri="{FF2B5EF4-FFF2-40B4-BE49-F238E27FC236}">
                <a16:creationId xmlns:a16="http://schemas.microsoft.com/office/drawing/2014/main" id="{2F91BFB9-98CF-49A7-B262-796B2448F6BE}"/>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creates an AWS session, then calls STS to confirm the account identity and selected region.</a:t>
            </a:r>
          </a:p>
        </p:txBody>
      </p:sp>
      <p:sp>
        <p:nvSpPr>
          <p:cNvPr id="12" name="part-num-11-1">
            <a:extLst xmlns:a="http://schemas.openxmlformats.org/drawingml/2006/main">
              <a:ext uri="{FF2B5EF4-FFF2-40B4-BE49-F238E27FC236}">
                <a16:creationId xmlns:a16="http://schemas.microsoft.com/office/drawing/2014/main" id="{9A458343-9F66-497E-9FAF-88B913BB20DE}"/>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02</a:t>
            </a:r>
          </a:p>
        </p:txBody>
      </p:sp>
      <p:sp>
        <p:nvSpPr>
          <p:cNvPr id="13" name="part-rule-11-1">
            <a:extLst xmlns:a="http://schemas.openxmlformats.org/drawingml/2006/main">
              <a:ext uri="{FF2B5EF4-FFF2-40B4-BE49-F238E27FC236}">
                <a16:creationId xmlns:a16="http://schemas.microsoft.com/office/drawing/2014/main" id="{EF0D88C7-98BE-486E-AA1D-3AC5B2E85622}"/>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1-1">
            <a:extLst xmlns:a="http://schemas.openxmlformats.org/drawingml/2006/main">
              <a:ext uri="{FF2B5EF4-FFF2-40B4-BE49-F238E27FC236}">
                <a16:creationId xmlns:a16="http://schemas.microsoft.com/office/drawing/2014/main" id="{2067B181-32F3-44FA-B78F-3989A9A44219}"/>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1-1">
            <a:extLst xmlns:a="http://schemas.openxmlformats.org/drawingml/2006/main">
              <a:ext uri="{FF2B5EF4-FFF2-40B4-BE49-F238E27FC236}">
                <a16:creationId xmlns:a16="http://schemas.microsoft.com/office/drawing/2014/main" id="{A8768E0F-A262-46C7-8E2E-9A77D43899FF}"/>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IAM users, security groups, VPCs, trails, detectors, and flow-log coverage.</a:t>
            </a:r>
          </a:p>
        </p:txBody>
      </p:sp>
      <p:sp>
        <p:nvSpPr>
          <p:cNvPr id="16" name="part-num-11-2">
            <a:extLst xmlns:a="http://schemas.openxmlformats.org/drawingml/2006/main">
              <a:ext uri="{FF2B5EF4-FFF2-40B4-BE49-F238E27FC236}">
                <a16:creationId xmlns:a16="http://schemas.microsoft.com/office/drawing/2014/main" id="{102FF0A6-B636-42BC-8A29-E01693A30745}"/>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03</a:t>
            </a:r>
          </a:p>
        </p:txBody>
      </p:sp>
      <p:sp>
        <p:nvSpPr>
          <p:cNvPr id="17" name="part-rule-11-2">
            <a:extLst xmlns:a="http://schemas.openxmlformats.org/drawingml/2006/main">
              <a:ext uri="{FF2B5EF4-FFF2-40B4-BE49-F238E27FC236}">
                <a16:creationId xmlns:a16="http://schemas.microsoft.com/office/drawing/2014/main" id="{74370440-EC3F-48E1-A6B6-D3222E5C6F20}"/>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1-2">
            <a:extLst xmlns:a="http://schemas.openxmlformats.org/drawingml/2006/main">
              <a:ext uri="{FF2B5EF4-FFF2-40B4-BE49-F238E27FC236}">
                <a16:creationId xmlns:a16="http://schemas.microsoft.com/office/drawing/2014/main" id="{7F526A5F-44C4-4AB1-8B14-5DEB427A8A90}"/>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1-2">
            <a:extLst xmlns:a="http://schemas.openxmlformats.org/drawingml/2006/main">
              <a:ext uri="{FF2B5EF4-FFF2-40B4-BE49-F238E27FC236}">
                <a16:creationId xmlns:a16="http://schemas.microsoft.com/office/drawing/2014/main" id="{A571077A-46E3-4A27-B9EE-9588396EFC0D}"/>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resource receives focused checks such as public access, wildcard permissions, or internet-facing ports.</a:t>
            </a:r>
          </a:p>
        </p:txBody>
      </p:sp>
      <p:sp>
        <p:nvSpPr>
          <p:cNvPr id="20" name="part-num-11-3">
            <a:extLst xmlns:a="http://schemas.openxmlformats.org/drawingml/2006/main">
              <a:ext uri="{FF2B5EF4-FFF2-40B4-BE49-F238E27FC236}">
                <a16:creationId xmlns:a16="http://schemas.microsoft.com/office/drawing/2014/main" id="{601FA65B-35F4-43A3-A356-25285ED5BBAD}"/>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59E0B"/>
                </a:solidFill>
                <a:latin typeface="Helvetica Neue"/>
                <a:ea typeface="Helvetica Neue"/>
                <a:cs typeface="Helvetica Neue"/>
              </a:defRPr>
            </a:pPr>
            <a:r>
              <a:rPr sz="2100" b="1">
                <a:solidFill>
                  <a:srgbClr val="F59E0B"/>
                </a:solidFill>
                <a:latin typeface="Helvetica Neue"/>
                <a:ea typeface="Helvetica Neue"/>
                <a:cs typeface="Helvetica Neue"/>
              </a:rPr>
              <a:t>04</a:t>
            </a:r>
          </a:p>
        </p:txBody>
      </p:sp>
      <p:sp>
        <p:nvSpPr>
          <p:cNvPr id="21" name="part-rule-11-3">
            <a:extLst xmlns:a="http://schemas.openxmlformats.org/drawingml/2006/main">
              <a:ext uri="{FF2B5EF4-FFF2-40B4-BE49-F238E27FC236}">
                <a16:creationId xmlns:a16="http://schemas.microsoft.com/office/drawing/2014/main" id="{79B45972-C57A-4375-953B-AAB4926618D1}"/>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1-3">
            <a:extLst xmlns:a="http://schemas.openxmlformats.org/drawingml/2006/main">
              <a:ext uri="{FF2B5EF4-FFF2-40B4-BE49-F238E27FC236}">
                <a16:creationId xmlns:a16="http://schemas.microsoft.com/office/drawing/2014/main" id="{9BFB89E6-CD0D-4E79-9C99-62A6B5A1C16F}"/>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Summarize</a:t>
            </a:r>
          </a:p>
        </p:txBody>
      </p:sp>
      <p:sp>
        <p:nvSpPr>
          <p:cNvPr id="23" name="part-body-11-3">
            <a:extLst xmlns:a="http://schemas.openxmlformats.org/drawingml/2006/main">
              <a:ext uri="{FF2B5EF4-FFF2-40B4-BE49-F238E27FC236}">
                <a16:creationId xmlns:a16="http://schemas.microsoft.com/office/drawing/2014/main" id="{B2E62828-E077-4415-A315-313DB0B5ED90}"/>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 returns resources, findings, errors, and counts by severity. CloudFox can add an optional offensive pass.</a:t>
            </a:r>
          </a:p>
        </p:txBody>
      </p:sp>
    </p:spTree>
    <p:extLst>
      <p:ext uri="{BB962C8B-B14F-4D97-AF65-F5344CB8AC3E}">
        <p14:creationId xmlns:p14="http://schemas.microsoft.com/office/powerpoint/2010/main" val="12432411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2">
            <a:extLst xmlns:a="http://schemas.openxmlformats.org/drawingml/2006/main">
              <a:ext uri="{FF2B5EF4-FFF2-40B4-BE49-F238E27FC236}">
                <a16:creationId xmlns:a16="http://schemas.microsoft.com/office/drawing/2014/main" id="{65129E46-6C6E-454D-8C33-D14C3159FC7B}"/>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2">
            <a:extLst xmlns:a="http://schemas.openxmlformats.org/drawingml/2006/main">
              <a:ext uri="{FF2B5EF4-FFF2-40B4-BE49-F238E27FC236}">
                <a16:creationId xmlns:a16="http://schemas.microsoft.com/office/drawing/2014/main" id="{18A07DC1-8BEB-4171-B278-BD1DA404A93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AWS findings in the workshop account</a:t>
            </a:r>
          </a:p>
        </p:txBody>
      </p:sp>
      <p:sp>
        <p:nvSpPr>
          <p:cNvPr id="3" name="title-rule-12">
            <a:extLst xmlns:a="http://schemas.openxmlformats.org/drawingml/2006/main">
              <a:ext uri="{FF2B5EF4-FFF2-40B4-BE49-F238E27FC236}">
                <a16:creationId xmlns:a16="http://schemas.microsoft.com/office/drawing/2014/main" id="{F7964F1E-1DC2-4A72-844B-407C33867DD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3e4db21ddf4da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2">
            <a:extLst xmlns:a="http://schemas.openxmlformats.org/drawingml/2006/main">
              <a:ext uri="{FF2B5EF4-FFF2-40B4-BE49-F238E27FC236}">
                <a16:creationId xmlns:a16="http://schemas.microsoft.com/office/drawing/2014/main" id="{DFA41AB7-5D12-4A9A-B833-4E662A1C649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2">
            <a:extLst xmlns:a="http://schemas.openxmlformats.org/drawingml/2006/main">
              <a:ext uri="{FF2B5EF4-FFF2-40B4-BE49-F238E27FC236}">
                <a16:creationId xmlns:a16="http://schemas.microsoft.com/office/drawing/2014/main" id="{24744671-A833-4360-9A7D-4475CF202C8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2">
            <a:extLst xmlns:a="http://schemas.openxmlformats.org/drawingml/2006/main">
              <a:ext uri="{FF2B5EF4-FFF2-40B4-BE49-F238E27FC236}">
                <a16:creationId xmlns:a16="http://schemas.microsoft.com/office/drawing/2014/main" id="{86BF2B0B-98D9-4EC1-84E6-B610E5AA28D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F59E0B"/>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F59E0B"/>
                    </a:solidFill>
                  </a:tcPr>
                </a:tc>
              </a:tr>
              <a:tr h="819150">
                <a:tc>
                  <a:txBody>
                    <a:bodyPr/>
                    <a:lstStyle/>
                    <a:p>
                      <a:r>
                        <a:rPr sz="1125" b="1">
                          <a:solidFill>
                            <a:srgbClr val="0C1715"/>
                          </a:solidFill>
                          <a:latin typeface="Helvetica Neue"/>
                          <a:ea typeface="Helvetica Neue"/>
                          <a:cs typeface="Helvetica Neue"/>
                        </a:rPr>
                        <a:t>Public S3 access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ACL grants AllUsers or public protections are incomplete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Bucket content can become reachable outside the account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Wildcard IAM 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Allow with Action '*' and Resource '*'</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A compromised user can act across the account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Administrative port exposed</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SSH or RDP allowed from 0.0.0.0/0 or ::/0</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Remote systems can reach a sensitive management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Detection control missing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 active CloudTrail, GuardDuty, or VPC Flow Logs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Incident investigation and detection lose important telemetry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to Critical</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330625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13">
            <a:extLst xmlns:a="http://schemas.openxmlformats.org/drawingml/2006/main">
              <a:ext uri="{FF2B5EF4-FFF2-40B4-BE49-F238E27FC236}">
                <a16:creationId xmlns:a16="http://schemas.microsoft.com/office/drawing/2014/main" id="{A9431AF2-9B14-412C-A4FB-FAF51F7C805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3">
            <a:extLst xmlns:a="http://schemas.openxmlformats.org/drawingml/2006/main">
              <a:ext uri="{FF2B5EF4-FFF2-40B4-BE49-F238E27FC236}">
                <a16:creationId xmlns:a16="http://schemas.microsoft.com/office/drawing/2014/main" id="{26DEC2DB-C2EF-4E8A-BAA7-B1FE93FB4D7A}"/>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Interpreting an AWS result</a:t>
            </a:r>
          </a:p>
        </p:txBody>
      </p:sp>
      <p:sp>
        <p:nvSpPr>
          <p:cNvPr id="3" name="title-rule-13">
            <a:extLst xmlns:a="http://schemas.openxmlformats.org/drawingml/2006/main">
              <a:ext uri="{FF2B5EF4-FFF2-40B4-BE49-F238E27FC236}">
                <a16:creationId xmlns:a16="http://schemas.microsoft.com/office/drawing/2014/main" id="{E5D0485E-2DE0-448C-9B4F-803C836A5344}"/>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9fd9e90ebf1400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3">
            <a:extLst xmlns:a="http://schemas.openxmlformats.org/drawingml/2006/main">
              <a:ext uri="{FF2B5EF4-FFF2-40B4-BE49-F238E27FC236}">
                <a16:creationId xmlns:a16="http://schemas.microsoft.com/office/drawing/2014/main" id="{2AD4CE78-C460-4423-A52A-0F20DE7D34FF}"/>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3">
            <a:extLst xmlns:a="http://schemas.openxmlformats.org/drawingml/2006/main">
              <a:ext uri="{FF2B5EF4-FFF2-40B4-BE49-F238E27FC236}">
                <a16:creationId xmlns:a16="http://schemas.microsoft.com/office/drawing/2014/main" id="{FFE4E80B-08FA-47D3-B84A-A1FF3AC271FB}"/>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3">
            <a:extLst xmlns:a="http://schemas.openxmlformats.org/drawingml/2006/main">
              <a:ext uri="{FF2B5EF4-FFF2-40B4-BE49-F238E27FC236}">
                <a16:creationId xmlns:a16="http://schemas.microsoft.com/office/drawing/2014/main" id="{E00BA597-86F4-4639-96F5-1111759723FC}"/>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13</a:t>
            </a:r>
          </a:p>
        </p:txBody>
      </p:sp>
      <p:sp>
        <p:nvSpPr>
          <p:cNvPr id="8" name="aws-example-bg">
            <a:extLst xmlns:a="http://schemas.openxmlformats.org/drawingml/2006/main">
              <a:ext uri="{FF2B5EF4-FFF2-40B4-BE49-F238E27FC236}">
                <a16:creationId xmlns:a16="http://schemas.microsoft.com/office/drawing/2014/main" id="{19CC14C6-9644-4F1E-B512-328FB1350545}"/>
              </a:ext>
            </a:extLst>
          </p:cNvPr>
          <p:cNvSpPr>
            <a:spLocks xmlns:a="http://schemas.openxmlformats.org/drawingml/2006/main" noGrp="1"/>
          </p:cNvSpPr>
          <p:nvPr/>
        </p:nvSpPr>
        <p:spPr>
          <a:xfrm xmlns:a="http://schemas.openxmlformats.org/drawingml/2006/main">
            <a:off x="533400" y="1752600"/>
            <a:ext cx="51435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sp>
        <p:nvSpPr>
          <p:cNvPr id="9" name="aws-example-label">
            <a:extLst xmlns:a="http://schemas.openxmlformats.org/drawingml/2006/main">
              <a:ext uri="{FF2B5EF4-FFF2-40B4-BE49-F238E27FC236}">
                <a16:creationId xmlns:a16="http://schemas.microsoft.com/office/drawing/2014/main" id="{153CE2E7-B0FA-44B9-B6F4-E40921B36186}"/>
              </a:ext>
            </a:extLst>
          </p:cNvPr>
          <p:cNvSpPr>
            <a:spLocks xmlns:a="http://schemas.openxmlformats.org/drawingml/2006/main" noGrp="1"/>
          </p:cNvSpPr>
          <p:nvPr/>
        </p:nvSpPr>
        <p:spPr>
          <a:xfrm xmlns:a="http://schemas.openxmlformats.org/drawingml/2006/main">
            <a:off x="800100" y="201930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59E0B"/>
                </a:solidFill>
                <a:latin typeface="Menlo"/>
                <a:ea typeface="Menlo"/>
                <a:cs typeface="Menlo"/>
              </a:defRPr>
            </a:pPr>
            <a:r>
              <a:rPr sz="1125" b="1">
                <a:solidFill>
                  <a:srgbClr val="F59E0B"/>
                </a:solidFill>
                <a:latin typeface="Menlo"/>
                <a:ea typeface="Menlo"/>
                <a:cs typeface="Menlo"/>
              </a:rPr>
              <a:t>EXAMPLE FINDING</a:t>
            </a:r>
          </a:p>
        </p:txBody>
      </p:sp>
      <p:sp>
        <p:nvSpPr>
          <p:cNvPr id="10" name="aws-example">
            <a:extLst xmlns:a="http://schemas.openxmlformats.org/drawingml/2006/main">
              <a:ext uri="{FF2B5EF4-FFF2-40B4-BE49-F238E27FC236}">
                <a16:creationId xmlns:a16="http://schemas.microsoft.com/office/drawing/2014/main" id="{A2636FB7-0A18-4CD5-B8FA-4C7C32B17AD4}"/>
              </a:ext>
            </a:extLst>
          </p:cNvPr>
          <p:cNvSpPr>
            <a:spLocks xmlns:a="http://schemas.openxmlformats.org/drawingml/2006/main" noGrp="1"/>
          </p:cNvSpPr>
          <p:nvPr/>
        </p:nvSpPr>
        <p:spPr>
          <a:xfrm xmlns:a="http://schemas.openxmlformats.org/drawingml/2006/main">
            <a:off x="800100" y="2457450"/>
            <a:ext cx="4286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Issue</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IAM User Has Wildcard Administrative Policy</a:t>
            </a:r>
          </a:p>
          <a:p xmlns:a="http://schemas.openxmlformats.org/drawingml/2006/main">
            <a:r>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Evidence</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Effect: Allow</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Action: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Resource: *</a:t>
            </a:r>
          </a:p>
          <a:p xmlns:a="http://schemas.openxmlformats.org/drawingml/2006/main">
            <a:r>
              <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Severity</a:t>
            </a:r>
          </a:p>
          <a:p xmlns:a="http://schemas.openxmlformats.org/drawingml/2006/main">
            <a:pPr algn="l">
              <a:defRPr sz="1500" b="0">
                <a:solidFill>
                  <a:srgbClr val="FFFFFF"/>
                </a:solidFill>
                <a:latin typeface="Menlo"/>
                <a:ea typeface="Menlo"/>
                <a:cs typeface="Menlo"/>
              </a:defRPr>
            </a:pPr>
            <a:r>
              <a:rPr sz="1500" b="0">
                <a:solidFill>
                  <a:srgbClr val="FFFFFF"/>
                </a:solidFill>
                <a:latin typeface="Menlo"/>
                <a:ea typeface="Menlo"/>
                <a:cs typeface="Menlo"/>
              </a:rPr>
              <a:t>CRITICAL</a:t>
            </a:r>
          </a:p>
        </p:txBody>
      </p:sp>
      <p:sp>
        <p:nvSpPr>
          <p:cNvPr id="11" name="aws-meaning-title">
            <a:extLst xmlns:a="http://schemas.openxmlformats.org/drawingml/2006/main">
              <a:ext uri="{FF2B5EF4-FFF2-40B4-BE49-F238E27FC236}">
                <a16:creationId xmlns:a16="http://schemas.microsoft.com/office/drawing/2014/main" id="{35869800-CEE4-4BF3-A6D8-A0765A0E4A25}"/>
              </a:ext>
            </a:extLst>
          </p:cNvPr>
          <p:cNvSpPr>
            <a:spLocks xmlns:a="http://schemas.openxmlformats.org/drawingml/2006/main" noGrp="1"/>
          </p:cNvSpPr>
          <p:nvPr/>
        </p:nvSpPr>
        <p:spPr>
          <a:xfrm xmlns:a="http://schemas.openxmlformats.org/drawingml/2006/main">
            <a:off x="6229350" y="18859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F59E0B"/>
                </a:solidFill>
                <a:latin typeface="Helvetica Neue"/>
                <a:ea typeface="Helvetica Neue"/>
                <a:cs typeface="Helvetica Neue"/>
              </a:defRPr>
            </a:pPr>
            <a:r>
              <a:rPr sz="1950" b="1">
                <a:solidFill>
                  <a:srgbClr val="F59E0B"/>
                </a:solidFill>
                <a:latin typeface="Helvetica Neue"/>
                <a:ea typeface="Helvetica Neue"/>
                <a:cs typeface="Helvetica Neue"/>
              </a:rPr>
              <a:t>What this result means</a:t>
            </a:r>
          </a:p>
        </p:txBody>
      </p:sp>
      <p:sp>
        <p:nvSpPr>
          <p:cNvPr id="12" name="aws-meaning">
            <a:extLst xmlns:a="http://schemas.openxmlformats.org/drawingml/2006/main">
              <a:ext uri="{FF2B5EF4-FFF2-40B4-BE49-F238E27FC236}">
                <a16:creationId xmlns:a16="http://schemas.microsoft.com/office/drawing/2014/main" id="{565A536B-BA0D-4D11-9C2E-70177DFCCE73}"/>
              </a:ext>
            </a:extLst>
          </p:cNvPr>
          <p:cNvSpPr>
            <a:spLocks xmlns:a="http://schemas.openxmlformats.org/drawingml/2006/main" noGrp="1"/>
          </p:cNvSpPr>
          <p:nvPr/>
        </p:nvSpPr>
        <p:spPr>
          <a:xfrm xmlns:a="http://schemas.openxmlformats.org/drawingml/2006/main">
            <a:off x="6172200" y="2457450"/>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scanner found an identity control failure, not a software vulnerability</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Wildcard action and resource fields create account-wide potential impact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affected username and policy name provide the remediation target</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corrected policy plus a clean rescan provides closure evidence</a:t>
            </a:r>
          </a:p>
        </p:txBody>
      </p:sp>
    </p:spTree>
    <p:extLst>
      <p:ext uri="{BB962C8B-B14F-4D97-AF65-F5344CB8AC3E}">
        <p14:creationId xmlns:p14="http://schemas.microsoft.com/office/powerpoint/2010/main" val="189771871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14">
            <a:extLst xmlns:a="http://schemas.openxmlformats.org/drawingml/2006/main">
              <a:ext uri="{FF2B5EF4-FFF2-40B4-BE49-F238E27FC236}">
                <a16:creationId xmlns:a16="http://schemas.microsoft.com/office/drawing/2014/main" id="{753FF60F-6411-4894-A9DB-4EEC581D6F6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2</a:t>
            </a:r>
          </a:p>
        </p:txBody>
      </p:sp>
      <p:sp>
        <p:nvSpPr>
          <p:cNvPr id="2" name="title-14">
            <a:extLst xmlns:a="http://schemas.openxmlformats.org/drawingml/2006/main">
              <a:ext uri="{FF2B5EF4-FFF2-40B4-BE49-F238E27FC236}">
                <a16:creationId xmlns:a16="http://schemas.microsoft.com/office/drawing/2014/main" id="{62A29939-CEC6-4BEC-B13B-9C9BFE109B9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1: AWS scanner</a:t>
            </a:r>
          </a:p>
        </p:txBody>
      </p:sp>
      <p:sp>
        <p:nvSpPr>
          <p:cNvPr id="3" name="title-rule-14">
            <a:extLst xmlns:a="http://schemas.openxmlformats.org/drawingml/2006/main">
              <a:ext uri="{FF2B5EF4-FFF2-40B4-BE49-F238E27FC236}">
                <a16:creationId xmlns:a16="http://schemas.microsoft.com/office/drawing/2014/main" id="{73530576-35B6-48CA-894E-F10BD4CF5B3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9f9498a89247bb"/>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4">
            <a:extLst xmlns:a="http://schemas.openxmlformats.org/drawingml/2006/main">
              <a:ext uri="{FF2B5EF4-FFF2-40B4-BE49-F238E27FC236}">
                <a16:creationId xmlns:a16="http://schemas.microsoft.com/office/drawing/2014/main" id="{279C0F75-9E19-41E2-B973-E352076A641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4">
            <a:extLst xmlns:a="http://schemas.openxmlformats.org/drawingml/2006/main">
              <a:ext uri="{FF2B5EF4-FFF2-40B4-BE49-F238E27FC236}">
                <a16:creationId xmlns:a16="http://schemas.microsoft.com/office/drawing/2014/main" id="{F450C650-E0E8-4FF0-865A-8A0192C8F0D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4">
            <a:extLst xmlns:a="http://schemas.openxmlformats.org/drawingml/2006/main">
              <a:ext uri="{FF2B5EF4-FFF2-40B4-BE49-F238E27FC236}">
                <a16:creationId xmlns:a16="http://schemas.microsoft.com/office/drawing/2014/main" id="{895A0848-8433-4248-AB38-886FEBB74F3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14</a:t>
            </a:r>
          </a:p>
        </p:txBody>
      </p:sp>
      <p:sp>
        <p:nvSpPr>
          <p:cNvPr id="8" name="lab-band-14">
            <a:extLst xmlns:a="http://schemas.openxmlformats.org/drawingml/2006/main">
              <a:ext uri="{FF2B5EF4-FFF2-40B4-BE49-F238E27FC236}">
                <a16:creationId xmlns:a16="http://schemas.microsoft.com/office/drawing/2014/main" id="{F291C879-9DFA-49B7-BDD2-C2695AA8B592}"/>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9" name="lab-number-14">
            <a:extLst xmlns:a="http://schemas.openxmlformats.org/drawingml/2006/main">
              <a:ext uri="{FF2B5EF4-FFF2-40B4-BE49-F238E27FC236}">
                <a16:creationId xmlns:a16="http://schemas.microsoft.com/office/drawing/2014/main" id="{E5B7B6FD-840A-4B2B-9B06-DD29B117D508}"/>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1</a:t>
            </a:r>
          </a:p>
        </p:txBody>
      </p:sp>
      <p:sp>
        <p:nvSpPr>
          <p:cNvPr id="10" name="lab-provider-14">
            <a:extLst xmlns:a="http://schemas.openxmlformats.org/drawingml/2006/main">
              <a:ext uri="{FF2B5EF4-FFF2-40B4-BE49-F238E27FC236}">
                <a16:creationId xmlns:a16="http://schemas.microsoft.com/office/drawing/2014/main" id="{3F6233F2-E0DA-4FC7-9D25-E0757434EFD8}"/>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AWS</a:t>
            </a:r>
          </a:p>
        </p:txBody>
      </p:sp>
      <p:sp>
        <p:nvSpPr>
          <p:cNvPr id="11" name="lab-time-label-14">
            <a:extLst xmlns:a="http://schemas.openxmlformats.org/drawingml/2006/main">
              <a:ext uri="{FF2B5EF4-FFF2-40B4-BE49-F238E27FC236}">
                <a16:creationId xmlns:a16="http://schemas.microsoft.com/office/drawing/2014/main" id="{11102C79-62F4-4CC8-B871-A3E7C74A88EB}"/>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14">
            <a:extLst xmlns:a="http://schemas.openxmlformats.org/drawingml/2006/main">
              <a:ext uri="{FF2B5EF4-FFF2-40B4-BE49-F238E27FC236}">
                <a16:creationId xmlns:a16="http://schemas.microsoft.com/office/drawing/2014/main" id="{BF3B309D-C0F5-4FEF-88DA-689595D59490}"/>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7 minutes</a:t>
            </a:r>
          </a:p>
        </p:txBody>
      </p:sp>
      <p:sp>
        <p:nvSpPr>
          <p:cNvPr id="13" name="lab-goal-label-14">
            <a:extLst xmlns:a="http://schemas.openxmlformats.org/drawingml/2006/main">
              <a:ext uri="{FF2B5EF4-FFF2-40B4-BE49-F238E27FC236}">
                <a16:creationId xmlns:a16="http://schemas.microsoft.com/office/drawing/2014/main" id="{1BE65400-80CE-4F26-9AA6-2D3CC416562B}"/>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Goal</a:t>
            </a:r>
          </a:p>
        </p:txBody>
      </p:sp>
      <p:sp>
        <p:nvSpPr>
          <p:cNvPr id="14" name="lab-goal-14">
            <a:extLst xmlns:a="http://schemas.openxmlformats.org/drawingml/2006/main">
              <a:ext uri="{FF2B5EF4-FFF2-40B4-BE49-F238E27FC236}">
                <a16:creationId xmlns:a16="http://schemas.microsoft.com/office/drawing/2014/main" id="{66CCF3C9-78D6-45F9-AC65-39F97A2D1D88}"/>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a scanner result to the affected AWS asset and its evidence.</a:t>
            </a:r>
          </a:p>
        </p:txBody>
      </p:sp>
      <p:sp>
        <p:nvSpPr>
          <p:cNvPr id="15" name="lab-task-label-14">
            <a:extLst xmlns:a="http://schemas.openxmlformats.org/drawingml/2006/main">
              <a:ext uri="{FF2B5EF4-FFF2-40B4-BE49-F238E27FC236}">
                <a16:creationId xmlns:a16="http://schemas.microsoft.com/office/drawing/2014/main" id="{A6C7C3CB-EBC9-46AE-9A97-FC1E2BA3A5D6}"/>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Exercise</a:t>
            </a:r>
          </a:p>
        </p:txBody>
      </p:sp>
      <p:sp>
        <p:nvSpPr>
          <p:cNvPr id="16" name="lab-tasks-14">
            <a:extLst xmlns:a="http://schemas.openxmlformats.org/drawingml/2006/main">
              <a:ext uri="{FF2B5EF4-FFF2-40B4-BE49-F238E27FC236}">
                <a16:creationId xmlns:a16="http://schemas.microsoft.com/office/drawing/2014/main" id="{1BC65EF1-7307-41B7-AF1D-8FFD845825DA}"/>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sandbox account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AWS scan and open one S3, IAM, or network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Explain the evidence and choose the appropriate remediation owner</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Record the final cleanup or rescan result</a:t>
            </a:r>
          </a:p>
        </p:txBody>
      </p:sp>
      <p:sp>
        <p:nvSpPr>
          <p:cNvPr id="17" name="lab-submit-label-14">
            <a:extLst xmlns:a="http://schemas.openxmlformats.org/drawingml/2006/main">
              <a:ext uri="{FF2B5EF4-FFF2-40B4-BE49-F238E27FC236}">
                <a16:creationId xmlns:a16="http://schemas.microsoft.com/office/drawing/2014/main" id="{0A70015E-D5B5-489B-92C6-37C1E533D6BD}"/>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F59E0B"/>
                </a:solidFill>
                <a:latin typeface="Helvetica Neue"/>
                <a:ea typeface="Helvetica Neue"/>
                <a:cs typeface="Helvetica Neue"/>
              </a:defRPr>
            </a:pPr>
            <a:r>
              <a:rPr sz="1275" b="1">
                <a:solidFill>
                  <a:srgbClr val="F59E0B"/>
                </a:solidFill>
                <a:latin typeface="Helvetica Neue"/>
                <a:ea typeface="Helvetica Neue"/>
                <a:cs typeface="Helvetica Neue"/>
              </a:rPr>
              <a:t>Evidence to submit</a:t>
            </a:r>
          </a:p>
        </p:txBody>
      </p:sp>
      <p:sp>
        <p:nvSpPr>
          <p:cNvPr id="18" name="lab-submit-14">
            <a:extLst xmlns:a="http://schemas.openxmlformats.org/drawingml/2006/main">
              <a:ext uri="{FF2B5EF4-FFF2-40B4-BE49-F238E27FC236}">
                <a16:creationId xmlns:a16="http://schemas.microsoft.com/office/drawing/2014/main" id="{62D98AE7-473E-47FC-83C2-AD6A27A7BC45}"/>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Asset and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Closure proof</a:t>
            </a:r>
          </a:p>
        </p:txBody>
      </p:sp>
      <p:sp>
        <p:nvSpPr>
          <p:cNvPr id="19" name="lab-check-bg-14">
            <a:extLst xmlns:a="http://schemas.openxmlformats.org/drawingml/2006/main">
              <a:ext uri="{FF2B5EF4-FFF2-40B4-BE49-F238E27FC236}">
                <a16:creationId xmlns:a16="http://schemas.microsoft.com/office/drawing/2014/main" id="{68A4F793-29C2-4C8F-9218-5A533AD4EB9E}"/>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14">
            <a:extLst xmlns:a="http://schemas.openxmlformats.org/drawingml/2006/main">
              <a:ext uri="{FF2B5EF4-FFF2-40B4-BE49-F238E27FC236}">
                <a16:creationId xmlns:a16="http://schemas.microsoft.com/office/drawing/2014/main" id="{DBDA4F3A-FB44-41BE-A9A3-FE982E8B8483}"/>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finding has an asset, severity, explanation, owner, and proof of closure</a:t>
            </a:r>
          </a:p>
        </p:txBody>
      </p:sp>
    </p:spTree>
    <p:extLst>
      <p:ext uri="{BB962C8B-B14F-4D97-AF65-F5344CB8AC3E}">
        <p14:creationId xmlns:p14="http://schemas.microsoft.com/office/powerpoint/2010/main" val="1258344642"/>
      </p:ext>
    </p:extLst>
  </p:cSld>
</p:sld>
</file>

<file path=ppt/slides/slide15.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5ed5a2c83e54d2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15">
            <a:extLst xmlns:a="http://schemas.openxmlformats.org/drawingml/2006/main">
              <a:ext uri="{FF2B5EF4-FFF2-40B4-BE49-F238E27FC236}">
                <a16:creationId xmlns:a16="http://schemas.microsoft.com/office/drawing/2014/main" id="{C0E0C3A1-A49B-45D5-9D98-87414A17C261}"/>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15">
            <a:extLst xmlns:a="http://schemas.openxmlformats.org/drawingml/2006/main">
              <a:ext uri="{FF2B5EF4-FFF2-40B4-BE49-F238E27FC236}">
                <a16:creationId xmlns:a16="http://schemas.microsoft.com/office/drawing/2014/main" id="{D7ACFC6B-1AB5-4491-B95F-4BD5FFE3AE5A}"/>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3</a:t>
            </a:r>
          </a:p>
        </p:txBody>
      </p:sp>
      <p:sp>
        <p:nvSpPr>
          <p:cNvPr id="4" name="module-title-15">
            <a:extLst xmlns:a="http://schemas.openxmlformats.org/drawingml/2006/main">
              <a:ext uri="{FF2B5EF4-FFF2-40B4-BE49-F238E27FC236}">
                <a16:creationId xmlns:a16="http://schemas.microsoft.com/office/drawing/2014/main" id="{3D75AF2C-A04D-4D98-B61D-13DCDE4D0B0A}"/>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GCP scanner</a:t>
            </a:r>
          </a:p>
        </p:txBody>
      </p:sp>
      <p:sp>
        <p:nvSpPr>
          <p:cNvPr id="5" name="module-purpose-15">
            <a:extLst xmlns:a="http://schemas.openxmlformats.org/drawingml/2006/main">
              <a:ext uri="{FF2B5EF4-FFF2-40B4-BE49-F238E27FC236}">
                <a16:creationId xmlns:a16="http://schemas.microsoft.com/office/drawing/2014/main" id="{52C8D6D1-4083-4161-B1CD-DB51DDCD1332}"/>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GCP scanner examines project IAM, Cloud Storage, Compute Engine, and VPC firewall configuration.</a:t>
            </a:r>
          </a:p>
        </p:txBody>
      </p:sp>
      <p:sp>
        <p:nvSpPr>
          <p:cNvPr id="6" name="module-time-15">
            <a:extLst xmlns:a="http://schemas.openxmlformats.org/drawingml/2006/main">
              <a:ext uri="{FF2B5EF4-FFF2-40B4-BE49-F238E27FC236}">
                <a16:creationId xmlns:a16="http://schemas.microsoft.com/office/drawing/2014/main" id="{B37FBB62-90BC-4306-AE48-7458410A7C67}"/>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15">
            <a:extLst xmlns:a="http://schemas.openxmlformats.org/drawingml/2006/main">
              <a:ext uri="{FF2B5EF4-FFF2-40B4-BE49-F238E27FC236}">
                <a16:creationId xmlns:a16="http://schemas.microsoft.com/office/drawing/2014/main" id="{6207CB93-906D-489F-B3CB-4C9B4D1D3159}"/>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15">
            <a:extLst xmlns:a="http://schemas.openxmlformats.org/drawingml/2006/main">
              <a:ext uri="{FF2B5EF4-FFF2-40B4-BE49-F238E27FC236}">
                <a16:creationId xmlns:a16="http://schemas.microsoft.com/office/drawing/2014/main" id="{4A64F3F6-0E17-4B4D-8243-A82D175D12F4}"/>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15">
            <a:extLst xmlns:a="http://schemas.openxmlformats.org/drawingml/2006/main">
              <a:ext uri="{FF2B5EF4-FFF2-40B4-BE49-F238E27FC236}">
                <a16:creationId xmlns:a16="http://schemas.microsoft.com/office/drawing/2014/main" id="{56BD56E8-21C9-4818-8D51-DF4426046ACB}"/>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15</a:t>
            </a:r>
          </a:p>
        </p:txBody>
      </p:sp>
    </p:spTree>
    <p:extLst>
      <p:ext uri="{BB962C8B-B14F-4D97-AF65-F5344CB8AC3E}">
        <p14:creationId xmlns:p14="http://schemas.microsoft.com/office/powerpoint/2010/main" val="16399677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6">
            <a:extLst xmlns:a="http://schemas.openxmlformats.org/drawingml/2006/main">
              <a:ext uri="{FF2B5EF4-FFF2-40B4-BE49-F238E27FC236}">
                <a16:creationId xmlns:a16="http://schemas.microsoft.com/office/drawing/2014/main" id="{460ADD1F-E4AD-4C3E-993D-C27B204FD68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6">
            <a:extLst xmlns:a="http://schemas.openxmlformats.org/drawingml/2006/main">
              <a:ext uri="{FF2B5EF4-FFF2-40B4-BE49-F238E27FC236}">
                <a16:creationId xmlns:a16="http://schemas.microsoft.com/office/drawing/2014/main" id="{45F22D6C-3A2B-4DBD-AE5F-D3C2A289A70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scanner coverage</a:t>
            </a:r>
          </a:p>
        </p:txBody>
      </p:sp>
      <p:sp>
        <p:nvSpPr>
          <p:cNvPr id="3" name="title-rule-16">
            <a:extLst xmlns:a="http://schemas.openxmlformats.org/drawingml/2006/main">
              <a:ext uri="{FF2B5EF4-FFF2-40B4-BE49-F238E27FC236}">
                <a16:creationId xmlns:a16="http://schemas.microsoft.com/office/drawing/2014/main" id="{DDB018AE-83E1-4B60-8014-03EBF09A2DCB}"/>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efd6f4e3e93439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6">
            <a:extLst xmlns:a="http://schemas.openxmlformats.org/drawingml/2006/main">
              <a:ext uri="{FF2B5EF4-FFF2-40B4-BE49-F238E27FC236}">
                <a16:creationId xmlns:a16="http://schemas.microsoft.com/office/drawing/2014/main" id="{6E3AEEAD-71C8-47CB-885C-F2C06A6262A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6">
            <a:extLst xmlns:a="http://schemas.openxmlformats.org/drawingml/2006/main">
              <a:ext uri="{FF2B5EF4-FFF2-40B4-BE49-F238E27FC236}">
                <a16:creationId xmlns:a16="http://schemas.microsoft.com/office/drawing/2014/main" id="{310BB8BF-9D51-43EF-A2DE-7066EE0CFCC1}"/>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6">
            <a:extLst xmlns:a="http://schemas.openxmlformats.org/drawingml/2006/main">
              <a:ext uri="{FF2B5EF4-FFF2-40B4-BE49-F238E27FC236}">
                <a16:creationId xmlns:a16="http://schemas.microsoft.com/office/drawing/2014/main" id="{F2E7727B-D10B-406F-9541-525AAD2BDB7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16</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4762500"/>
                <a:gridCol w="4648200"/>
              </a:tblGrid>
              <a:tr h="819150">
                <a:tc>
                  <a:txBody>
                    <a:bodyPr/>
                    <a:lstStyle/>
                    <a:p>
                      <a:r>
                        <a:rPr sz="1125" b="1">
                          <a:solidFill>
                            <a:srgbClr val="FFFFFF"/>
                          </a:solidFill>
                          <a:latin typeface="Helvetica Neue"/>
                          <a:ea typeface="Helvetica Neue"/>
                          <a:cs typeface="Helvetica Neue"/>
                        </a:rPr>
                        <a:t>Security area</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Resources and controls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Examples of risky conditions</a:t>
                      </a:r>
                    </a:p>
                  </a:txBody>
                  <a:tcPr marL="91440" marR="91440" marT="45720" marB="45720">
                    <a:solidFill>
                      <a:srgbClr val="4285F4"/>
                    </a:solidFill>
                  </a:tcPr>
                </a:tc>
              </a:tr>
              <a:tr h="819150">
                <a:tc>
                  <a:txBody>
                    <a:bodyPr/>
                    <a:lstStyle/>
                    <a:p>
                      <a:r>
                        <a:rPr sz="1200" b="1">
                          <a:solidFill>
                            <a:srgbClr val="0C1715"/>
                          </a:solidFill>
                          <a:latin typeface="Helvetica Neue"/>
                          <a:ea typeface="Helvetica Neue"/>
                          <a:cs typeface="Helvetica Neue"/>
                        </a:rPr>
                        <a:t>Storage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Cloud Storage IAM, customer-managed keys, versioning, logging</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members, no CMEK, versioning or logging disabled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Project IAM bindings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Primitive Owner or Editor role, external personal account</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Compute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VM network interfaces and Shielded VM settings</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IP, Secure Boot disabled, IP forwarding enabled</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Network</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VPC firewall ingress rules</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All traffic or sensitive ports allowed from 0.0.0.0/0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246194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7">
            <a:extLst xmlns:a="http://schemas.openxmlformats.org/drawingml/2006/main">
              <a:ext uri="{FF2B5EF4-FFF2-40B4-BE49-F238E27FC236}">
                <a16:creationId xmlns:a16="http://schemas.microsoft.com/office/drawing/2014/main" id="{DB3D8FFD-9BC7-4B7B-93FD-2ECDC82DAEE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7">
            <a:extLst xmlns:a="http://schemas.openxmlformats.org/drawingml/2006/main">
              <a:ext uri="{FF2B5EF4-FFF2-40B4-BE49-F238E27FC236}">
                <a16:creationId xmlns:a16="http://schemas.microsoft.com/office/drawing/2014/main" id="{FBC2243F-96F6-47EB-96DE-75E245B46A4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lifecycle</a:t>
            </a:r>
          </a:p>
        </p:txBody>
      </p:sp>
      <p:sp>
        <p:nvSpPr>
          <p:cNvPr id="3" name="title-rule-17">
            <a:extLst xmlns:a="http://schemas.openxmlformats.org/drawingml/2006/main">
              <a:ext uri="{FF2B5EF4-FFF2-40B4-BE49-F238E27FC236}">
                <a16:creationId xmlns:a16="http://schemas.microsoft.com/office/drawing/2014/main" id="{FBBAC47D-3317-4093-93F4-F70C0EC3004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a9378e4198c467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7">
            <a:extLst xmlns:a="http://schemas.openxmlformats.org/drawingml/2006/main">
              <a:ext uri="{FF2B5EF4-FFF2-40B4-BE49-F238E27FC236}">
                <a16:creationId xmlns:a16="http://schemas.microsoft.com/office/drawing/2014/main" id="{042F60A8-7DE5-41F4-897C-6716E9A2FAD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7">
            <a:extLst xmlns:a="http://schemas.openxmlformats.org/drawingml/2006/main">
              <a:ext uri="{FF2B5EF4-FFF2-40B4-BE49-F238E27FC236}">
                <a16:creationId xmlns:a16="http://schemas.microsoft.com/office/drawing/2014/main" id="{72A6DEEC-E480-4545-A8A1-137A8301CD1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7">
            <a:extLst xmlns:a="http://schemas.openxmlformats.org/drawingml/2006/main">
              <a:ext uri="{FF2B5EF4-FFF2-40B4-BE49-F238E27FC236}">
                <a16:creationId xmlns:a16="http://schemas.microsoft.com/office/drawing/2014/main" id="{FF1CC2C7-091B-466E-B615-1D8232B9418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17</a:t>
            </a:r>
          </a:p>
        </p:txBody>
      </p:sp>
      <p:sp>
        <p:nvSpPr>
          <p:cNvPr id="8" name="part-num-17-0">
            <a:extLst xmlns:a="http://schemas.openxmlformats.org/drawingml/2006/main">
              <a:ext uri="{FF2B5EF4-FFF2-40B4-BE49-F238E27FC236}">
                <a16:creationId xmlns:a16="http://schemas.microsoft.com/office/drawing/2014/main" id="{E452323B-1306-4ED9-9E1D-C36B420881B3}"/>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01</a:t>
            </a:r>
          </a:p>
        </p:txBody>
      </p:sp>
      <p:sp>
        <p:nvSpPr>
          <p:cNvPr id="9" name="part-rule-17-0">
            <a:extLst xmlns:a="http://schemas.openxmlformats.org/drawingml/2006/main">
              <a:ext uri="{FF2B5EF4-FFF2-40B4-BE49-F238E27FC236}">
                <a16:creationId xmlns:a16="http://schemas.microsoft.com/office/drawing/2014/main" id="{6F1462EB-A135-40DC-B77D-FDFD12B4E523}"/>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17-0">
            <a:extLst xmlns:a="http://schemas.openxmlformats.org/drawingml/2006/main">
              <a:ext uri="{FF2B5EF4-FFF2-40B4-BE49-F238E27FC236}">
                <a16:creationId xmlns:a16="http://schemas.microsoft.com/office/drawing/2014/main" id="{3533E4A5-5D80-40A6-9F3F-82526CF3E10C}"/>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Select project</a:t>
            </a:r>
          </a:p>
        </p:txBody>
      </p:sp>
      <p:sp>
        <p:nvSpPr>
          <p:cNvPr id="11" name="part-body-17-0">
            <a:extLst xmlns:a="http://schemas.openxmlformats.org/drawingml/2006/main">
              <a:ext uri="{FF2B5EF4-FFF2-40B4-BE49-F238E27FC236}">
                <a16:creationId xmlns:a16="http://schemas.microsoft.com/office/drawing/2014/main" id="{9C3317B2-E0DD-49E3-94C4-6B6133B4EBCD}"/>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CloudGuard loads the service account and identifies the project that defines the scan boundary.</a:t>
            </a:r>
          </a:p>
        </p:txBody>
      </p:sp>
      <p:sp>
        <p:nvSpPr>
          <p:cNvPr id="12" name="part-num-17-1">
            <a:extLst xmlns:a="http://schemas.openxmlformats.org/drawingml/2006/main">
              <a:ext uri="{FF2B5EF4-FFF2-40B4-BE49-F238E27FC236}">
                <a16:creationId xmlns:a16="http://schemas.microsoft.com/office/drawing/2014/main" id="{AFA3EABC-23AF-4698-B50B-36FA72FC6F25}"/>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02</a:t>
            </a:r>
          </a:p>
        </p:txBody>
      </p:sp>
      <p:sp>
        <p:nvSpPr>
          <p:cNvPr id="13" name="part-rule-17-1">
            <a:extLst xmlns:a="http://schemas.openxmlformats.org/drawingml/2006/main">
              <a:ext uri="{FF2B5EF4-FFF2-40B4-BE49-F238E27FC236}">
                <a16:creationId xmlns:a16="http://schemas.microsoft.com/office/drawing/2014/main" id="{AF153F2D-2BB4-42BD-8526-6B21F2E6216C}"/>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17-1">
            <a:extLst xmlns:a="http://schemas.openxmlformats.org/drawingml/2006/main">
              <a:ext uri="{FF2B5EF4-FFF2-40B4-BE49-F238E27FC236}">
                <a16:creationId xmlns:a16="http://schemas.microsoft.com/office/drawing/2014/main" id="{D769E382-0B91-48B5-A252-884E8845FBF3}"/>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a:t>
            </a:r>
          </a:p>
        </p:txBody>
      </p:sp>
      <p:sp>
        <p:nvSpPr>
          <p:cNvPr id="15" name="part-body-17-1">
            <a:extLst xmlns:a="http://schemas.openxmlformats.org/drawingml/2006/main">
              <a:ext uri="{FF2B5EF4-FFF2-40B4-BE49-F238E27FC236}">
                <a16:creationId xmlns:a16="http://schemas.microsoft.com/office/drawing/2014/main" id="{429391AB-C877-4B3C-B004-9F4744C27290}"/>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worker lists buckets and instances across zones, then loads project IAM and firewall configuration.</a:t>
            </a:r>
          </a:p>
        </p:txBody>
      </p:sp>
      <p:sp>
        <p:nvSpPr>
          <p:cNvPr id="16" name="part-num-17-2">
            <a:extLst xmlns:a="http://schemas.openxmlformats.org/drawingml/2006/main">
              <a:ext uri="{FF2B5EF4-FFF2-40B4-BE49-F238E27FC236}">
                <a16:creationId xmlns:a16="http://schemas.microsoft.com/office/drawing/2014/main" id="{F3E2F6A5-85E4-4DBA-ABDE-A85A0A8217C8}"/>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03</a:t>
            </a:r>
          </a:p>
        </p:txBody>
      </p:sp>
      <p:sp>
        <p:nvSpPr>
          <p:cNvPr id="17" name="part-rule-17-2">
            <a:extLst xmlns:a="http://schemas.openxmlformats.org/drawingml/2006/main">
              <a:ext uri="{FF2B5EF4-FFF2-40B4-BE49-F238E27FC236}">
                <a16:creationId xmlns:a16="http://schemas.microsoft.com/office/drawing/2014/main" id="{170EA39A-4505-46C4-B940-59D63513F662}"/>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17-2">
            <a:extLst xmlns:a="http://schemas.openxmlformats.org/drawingml/2006/main">
              <a:ext uri="{FF2B5EF4-FFF2-40B4-BE49-F238E27FC236}">
                <a16:creationId xmlns:a16="http://schemas.microsoft.com/office/drawing/2014/main" id="{B6375298-4B34-4F8F-AAE1-3D919441EEC4}"/>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Evaluate</a:t>
            </a:r>
          </a:p>
        </p:txBody>
      </p:sp>
      <p:sp>
        <p:nvSpPr>
          <p:cNvPr id="19" name="part-body-17-2">
            <a:extLst xmlns:a="http://schemas.openxmlformats.org/drawingml/2006/main">
              <a:ext uri="{FF2B5EF4-FFF2-40B4-BE49-F238E27FC236}">
                <a16:creationId xmlns:a16="http://schemas.microsoft.com/office/drawing/2014/main" id="{D9CDB341-8F5C-4809-8E7F-410CC00D279A}"/>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Storage, compute, identity, and network checks produce provider-specific evidence.</a:t>
            </a:r>
          </a:p>
        </p:txBody>
      </p:sp>
      <p:sp>
        <p:nvSpPr>
          <p:cNvPr id="20" name="part-num-17-3">
            <a:extLst xmlns:a="http://schemas.openxmlformats.org/drawingml/2006/main">
              <a:ext uri="{FF2B5EF4-FFF2-40B4-BE49-F238E27FC236}">
                <a16:creationId xmlns:a16="http://schemas.microsoft.com/office/drawing/2014/main" id="{0AA1291C-6E8F-4FF7-B7F3-505C8CAE4E41}"/>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4285F4"/>
                </a:solidFill>
                <a:latin typeface="Helvetica Neue"/>
                <a:ea typeface="Helvetica Neue"/>
                <a:cs typeface="Helvetica Neue"/>
              </a:defRPr>
            </a:pPr>
            <a:r>
              <a:rPr sz="2100" b="1">
                <a:solidFill>
                  <a:srgbClr val="4285F4"/>
                </a:solidFill>
                <a:latin typeface="Helvetica Neue"/>
                <a:ea typeface="Helvetica Neue"/>
                <a:cs typeface="Helvetica Neue"/>
              </a:rPr>
              <a:t>04</a:t>
            </a:r>
          </a:p>
        </p:txBody>
      </p:sp>
      <p:sp>
        <p:nvSpPr>
          <p:cNvPr id="21" name="part-rule-17-3">
            <a:extLst xmlns:a="http://schemas.openxmlformats.org/drawingml/2006/main">
              <a:ext uri="{FF2B5EF4-FFF2-40B4-BE49-F238E27FC236}">
                <a16:creationId xmlns:a16="http://schemas.microsoft.com/office/drawing/2014/main" id="{F068F7E0-6C1E-48F7-99CF-696438B14805}"/>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17-3">
            <a:extLst xmlns:a="http://schemas.openxmlformats.org/drawingml/2006/main">
              <a:ext uri="{FF2B5EF4-FFF2-40B4-BE49-F238E27FC236}">
                <a16:creationId xmlns:a16="http://schemas.microsoft.com/office/drawing/2014/main" id="{BAC760C0-64A8-459F-B049-AC9016715C25}"/>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Normalize</a:t>
            </a:r>
          </a:p>
        </p:txBody>
      </p:sp>
      <p:sp>
        <p:nvSpPr>
          <p:cNvPr id="23" name="part-body-17-3">
            <a:extLst xmlns:a="http://schemas.openxmlformats.org/drawingml/2006/main">
              <a:ext uri="{FF2B5EF4-FFF2-40B4-BE49-F238E27FC236}">
                <a16:creationId xmlns:a16="http://schemas.microsoft.com/office/drawing/2014/main" id="{E9334EF2-0EC7-4036-992D-5B0BC9D8E9D7}"/>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Each result carries the project resource, region or zone, severity, recommendation, and detection tool.</a:t>
            </a:r>
          </a:p>
        </p:txBody>
      </p:sp>
    </p:spTree>
    <p:extLst>
      <p:ext uri="{BB962C8B-B14F-4D97-AF65-F5344CB8AC3E}">
        <p14:creationId xmlns:p14="http://schemas.microsoft.com/office/powerpoint/2010/main" val="16064231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8">
            <a:extLst xmlns:a="http://schemas.openxmlformats.org/drawingml/2006/main">
              <a:ext uri="{FF2B5EF4-FFF2-40B4-BE49-F238E27FC236}">
                <a16:creationId xmlns:a16="http://schemas.microsoft.com/office/drawing/2014/main" id="{E52DA150-753A-44D8-8603-D8F67B67F2E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8">
            <a:extLst xmlns:a="http://schemas.openxmlformats.org/drawingml/2006/main">
              <a:ext uri="{FF2B5EF4-FFF2-40B4-BE49-F238E27FC236}">
                <a16:creationId xmlns:a16="http://schemas.microsoft.com/office/drawing/2014/main" id="{9B18C91A-CDC1-4A1D-A40B-4F3B3D0CC51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findings in the workshop project</a:t>
            </a:r>
          </a:p>
        </p:txBody>
      </p:sp>
      <p:sp>
        <p:nvSpPr>
          <p:cNvPr id="3" name="title-rule-18">
            <a:extLst xmlns:a="http://schemas.openxmlformats.org/drawingml/2006/main">
              <a:ext uri="{FF2B5EF4-FFF2-40B4-BE49-F238E27FC236}">
                <a16:creationId xmlns:a16="http://schemas.microsoft.com/office/drawing/2014/main" id="{171B2297-E1BC-48B6-9B36-9A9511CF446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1143e6830df4621"/>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8">
            <a:extLst xmlns:a="http://schemas.openxmlformats.org/drawingml/2006/main">
              <a:ext uri="{FF2B5EF4-FFF2-40B4-BE49-F238E27FC236}">
                <a16:creationId xmlns:a16="http://schemas.microsoft.com/office/drawing/2014/main" id="{3CFB82D4-4C4D-4679-B3E5-81B09920C0E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8">
            <a:extLst xmlns:a="http://schemas.openxmlformats.org/drawingml/2006/main">
              <a:ext uri="{FF2B5EF4-FFF2-40B4-BE49-F238E27FC236}">
                <a16:creationId xmlns:a16="http://schemas.microsoft.com/office/drawing/2014/main" id="{E550043C-1279-4A43-98AE-B8E9B607624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8">
            <a:extLst xmlns:a="http://schemas.openxmlformats.org/drawingml/2006/main">
              <a:ext uri="{FF2B5EF4-FFF2-40B4-BE49-F238E27FC236}">
                <a16:creationId xmlns:a16="http://schemas.microsoft.com/office/drawing/2014/main" id="{505F20B6-20FF-4574-9019-0215A3154AA4}"/>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18</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Evidence the scanner reads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Why it matters</a:t>
                      </a:r>
                    </a:p>
                  </a:txBody>
                  <a:tcPr marL="91440" marR="91440" marT="45720" marB="45720">
                    <a:solidFill>
                      <a:srgbClr val="4285F4"/>
                    </a:solidFill>
                  </a:tcPr>
                </a:tc>
                <a:tc>
                  <a:txBody>
                    <a:bodyPr/>
                    <a:lstStyle/>
                    <a:p>
                      <a:r>
                        <a:rPr sz="1125" b="1">
                          <a:solidFill>
                            <a:srgbClr val="FFFFFF"/>
                          </a:solidFill>
                          <a:latin typeface="Helvetica Neue"/>
                          <a:ea typeface="Helvetica Neue"/>
                          <a:cs typeface="Helvetica Neue"/>
                        </a:rPr>
                        <a:t>Typical severity</a:t>
                      </a:r>
                    </a:p>
                  </a:txBody>
                  <a:tcPr marL="91440" marR="91440" marT="45720" marB="45720">
                    <a:solidFill>
                      <a:srgbClr val="4285F4"/>
                    </a:solidFill>
                  </a:tcPr>
                </a:tc>
              </a:tr>
              <a:tr h="819150">
                <a:tc>
                  <a:txBody>
                    <a:bodyPr/>
                    <a:lstStyle/>
                    <a:p>
                      <a:r>
                        <a:rPr sz="1125" b="1">
                          <a:solidFill>
                            <a:srgbClr val="0C1715"/>
                          </a:solidFill>
                          <a:latin typeface="Helvetica Neue"/>
                          <a:ea typeface="Helvetica Neue"/>
                          <a:cs typeface="Helvetica Neue"/>
                        </a:rPr>
                        <a:t>Public Cloud Storage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IAM member allUsers or allAuthenticatedUsers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Objects can become available outside the project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Primitive project role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roles/owner or roles/editor binding</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member receives broad project permissions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Open firewall rule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0.0.0.0/0 with all traffic or a sensitive port</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Internet systems can reach the allowed service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High or 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Weak VM posture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Public IP, Secure Boot off, or IP forwarding 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VM has a larger attack surface or weaker integrity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507223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19">
            <a:extLst xmlns:a="http://schemas.openxmlformats.org/drawingml/2006/main">
              <a:ext uri="{FF2B5EF4-FFF2-40B4-BE49-F238E27FC236}">
                <a16:creationId xmlns:a16="http://schemas.microsoft.com/office/drawing/2014/main" id="{0AB54321-9081-4301-BF72-1A5701D113A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19">
            <a:extLst xmlns:a="http://schemas.openxmlformats.org/drawingml/2006/main">
              <a:ext uri="{FF2B5EF4-FFF2-40B4-BE49-F238E27FC236}">
                <a16:creationId xmlns:a16="http://schemas.microsoft.com/office/drawing/2014/main" id="{BD570856-B2B7-48BD-BF9F-E28B0B4EB827}"/>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Equivalent risks across AWS and GCP</a:t>
            </a:r>
          </a:p>
        </p:txBody>
      </p:sp>
      <p:sp>
        <p:nvSpPr>
          <p:cNvPr id="3" name="title-rule-19">
            <a:extLst xmlns:a="http://schemas.openxmlformats.org/drawingml/2006/main">
              <a:ext uri="{FF2B5EF4-FFF2-40B4-BE49-F238E27FC236}">
                <a16:creationId xmlns:a16="http://schemas.microsoft.com/office/drawing/2014/main" id="{3440520D-2D77-492B-911F-DA1FC1EBFF6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bfcdabc26dc4fe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19">
            <a:extLst xmlns:a="http://schemas.openxmlformats.org/drawingml/2006/main">
              <a:ext uri="{FF2B5EF4-FFF2-40B4-BE49-F238E27FC236}">
                <a16:creationId xmlns:a16="http://schemas.microsoft.com/office/drawing/2014/main" id="{33D62C49-A595-44CC-BD1A-63BC1FD1C00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19">
            <a:extLst xmlns:a="http://schemas.openxmlformats.org/drawingml/2006/main">
              <a:ext uri="{FF2B5EF4-FFF2-40B4-BE49-F238E27FC236}">
                <a16:creationId xmlns:a16="http://schemas.microsoft.com/office/drawing/2014/main" id="{D58F5FDC-B26C-4ECF-9FA7-C8D3F31916A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19">
            <a:extLst xmlns:a="http://schemas.openxmlformats.org/drawingml/2006/main">
              <a:ext uri="{FF2B5EF4-FFF2-40B4-BE49-F238E27FC236}">
                <a16:creationId xmlns:a16="http://schemas.microsoft.com/office/drawing/2014/main" id="{5CFC0925-DC7D-4AEE-854B-A684CD26DFA2}"/>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19</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00250"/>
                <a:gridCol w="2857500"/>
                <a:gridCol w="2571750"/>
                <a:gridCol w="3695700"/>
              </a:tblGrid>
              <a:tr h="819150">
                <a:tc>
                  <a:txBody>
                    <a:bodyPr/>
                    <a:lstStyle/>
                    <a:p>
                      <a:r>
                        <a:rPr sz="1125" b="1">
                          <a:solidFill>
                            <a:srgbClr val="FFFFFF"/>
                          </a:solidFill>
                          <a:latin typeface="Helvetica Neue"/>
                          <a:ea typeface="Helvetica Neue"/>
                          <a:cs typeface="Helvetica Neue"/>
                        </a:rPr>
                        <a:t>Risk concept</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AWS expression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GCP expression</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Shared security question</a:t>
                      </a:r>
                    </a:p>
                  </a:txBody>
                  <a:tcPr marL="91440" marR="91440" marT="45720" marB="45720">
                    <a:solidFill>
                      <a:srgbClr val="11856E"/>
                    </a:solidFill>
                  </a:tcPr>
                </a:tc>
              </a:tr>
              <a:tr h="819150">
                <a:tc>
                  <a:txBody>
                    <a:bodyPr/>
                    <a:lstStyle/>
                    <a:p>
                      <a:r>
                        <a:rPr sz="1125" b="1">
                          <a:solidFill>
                            <a:srgbClr val="0C1715"/>
                          </a:solidFill>
                          <a:latin typeface="Helvetica Neue"/>
                          <a:ea typeface="Helvetica Neue"/>
                          <a:cs typeface="Helvetica Neue"/>
                        </a:rPr>
                        <a:t>Public object storage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S3 ACL, bucket policy, public access block</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Cloud Storage IAM binding</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Can an identity outside the boundary read the data?</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Broad identity access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IAM policy with wildcard action and resource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Owner or Editor project role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Can this identity change more than its job requires?</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Internet ingress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EC2 security group</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VPC firewall rule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Which source ranges can reach sensitive ports?</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Workload exposure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Public IP or internet-facing service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VM public NAT IP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Does the asset need direct public reachability?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043050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20">
            <a:extLst xmlns:a="http://schemas.openxmlformats.org/drawingml/2006/main">
              <a:ext uri="{FF2B5EF4-FFF2-40B4-BE49-F238E27FC236}">
                <a16:creationId xmlns:a16="http://schemas.microsoft.com/office/drawing/2014/main" id="{30282F53-DC1D-4803-85E4-23DD59C3BE7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20">
            <a:extLst xmlns:a="http://schemas.openxmlformats.org/drawingml/2006/main">
              <a:ext uri="{FF2B5EF4-FFF2-40B4-BE49-F238E27FC236}">
                <a16:creationId xmlns:a16="http://schemas.microsoft.com/office/drawing/2014/main" id="{822B4113-8228-47EB-9E2A-5A73E8F8D73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GCP scan demonstration</a:t>
            </a:r>
          </a:p>
        </p:txBody>
      </p:sp>
      <p:sp>
        <p:nvSpPr>
          <p:cNvPr id="3" name="title-rule-20">
            <a:extLst xmlns:a="http://schemas.openxmlformats.org/drawingml/2006/main">
              <a:ext uri="{FF2B5EF4-FFF2-40B4-BE49-F238E27FC236}">
                <a16:creationId xmlns:a16="http://schemas.microsoft.com/office/drawing/2014/main" id="{88F16DF8-235E-483C-A9D0-1789C9D12A2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0faeb0ab65b44ab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0">
            <a:extLst xmlns:a="http://schemas.openxmlformats.org/drawingml/2006/main">
              <a:ext uri="{FF2B5EF4-FFF2-40B4-BE49-F238E27FC236}">
                <a16:creationId xmlns:a16="http://schemas.microsoft.com/office/drawing/2014/main" id="{0D5D7970-5606-4D88-8148-ECD53B1E1AB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0">
            <a:extLst xmlns:a="http://schemas.openxmlformats.org/drawingml/2006/main">
              <a:ext uri="{FF2B5EF4-FFF2-40B4-BE49-F238E27FC236}">
                <a16:creationId xmlns:a16="http://schemas.microsoft.com/office/drawing/2014/main" id="{FE78085D-3DD3-4BE8-96DA-E24CF1096F8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0">
            <a:extLst xmlns:a="http://schemas.openxmlformats.org/drawingml/2006/main">
              <a:ext uri="{FF2B5EF4-FFF2-40B4-BE49-F238E27FC236}">
                <a16:creationId xmlns:a16="http://schemas.microsoft.com/office/drawing/2014/main" id="{75443529-9420-40B4-AF10-9BEE14C756D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20</a:t>
            </a:r>
          </a:p>
        </p:txBody>
      </p:sp>
      <p:sp>
        <p:nvSpPr>
          <p:cNvPr id="8" name="demo-band-20">
            <a:extLst xmlns:a="http://schemas.openxmlformats.org/drawingml/2006/main">
              <a:ext uri="{FF2B5EF4-FFF2-40B4-BE49-F238E27FC236}">
                <a16:creationId xmlns:a16="http://schemas.microsoft.com/office/drawing/2014/main" id="{61287010-1501-4D77-830E-A1B84D14D5DF}"/>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demo-provider-20">
            <a:extLst xmlns:a="http://schemas.openxmlformats.org/drawingml/2006/main">
              <a:ext uri="{FF2B5EF4-FFF2-40B4-BE49-F238E27FC236}">
                <a16:creationId xmlns:a16="http://schemas.microsoft.com/office/drawing/2014/main" id="{5C1E7E19-3D14-4BBE-B5C3-ABE2C351024E}"/>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0" name="demo-label-20">
            <a:extLst xmlns:a="http://schemas.openxmlformats.org/drawingml/2006/main">
              <a:ext uri="{FF2B5EF4-FFF2-40B4-BE49-F238E27FC236}">
                <a16:creationId xmlns:a16="http://schemas.microsoft.com/office/drawing/2014/main" id="{0952DCE1-7FF5-4E3B-80E6-EC4F37F14DDA}"/>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20">
            <a:extLst xmlns:a="http://schemas.openxmlformats.org/drawingml/2006/main">
              <a:ext uri="{FF2B5EF4-FFF2-40B4-BE49-F238E27FC236}">
                <a16:creationId xmlns:a16="http://schemas.microsoft.com/office/drawing/2014/main" id="{4C259725-40EB-4B39-AFF9-60E91A5A05CA}"/>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One project shows how storage exposure, project IAM, and firewall reachability appear in a single scan.</a:t>
            </a:r>
          </a:p>
        </p:txBody>
      </p:sp>
      <p:sp>
        <p:nvSpPr>
          <p:cNvPr id="12" name="demo-sequence-title-20">
            <a:extLst xmlns:a="http://schemas.openxmlformats.org/drawingml/2006/main">
              <a:ext uri="{FF2B5EF4-FFF2-40B4-BE49-F238E27FC236}">
                <a16:creationId xmlns:a16="http://schemas.microsoft.com/office/drawing/2014/main" id="{FBD752F4-244F-4AF5-A11A-F148F1ABFB77}"/>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4285F4"/>
                </a:solidFill>
                <a:latin typeface="Helvetica Neue"/>
                <a:ea typeface="Helvetica Neue"/>
                <a:cs typeface="Helvetica Neue"/>
              </a:defRPr>
            </a:pPr>
            <a:r>
              <a:rPr sz="1650" b="1">
                <a:solidFill>
                  <a:srgbClr val="4285F4"/>
                </a:solidFill>
                <a:latin typeface="Helvetica Neue"/>
                <a:ea typeface="Helvetica Neue"/>
                <a:cs typeface="Helvetica Neue"/>
              </a:rPr>
              <a:t>What happens in the scan</a:t>
            </a:r>
          </a:p>
        </p:txBody>
      </p:sp>
      <p:sp>
        <p:nvSpPr>
          <p:cNvPr id="13" name="demo-num-20-0">
            <a:extLst xmlns:a="http://schemas.openxmlformats.org/drawingml/2006/main">
              <a:ext uri="{FF2B5EF4-FFF2-40B4-BE49-F238E27FC236}">
                <a16:creationId xmlns:a16="http://schemas.microsoft.com/office/drawing/2014/main" id="{05B567DC-2AAF-4CA8-9293-98EBB3058D70}"/>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01</a:t>
            </a:r>
          </a:p>
        </p:txBody>
      </p:sp>
      <p:sp>
        <p:nvSpPr>
          <p:cNvPr id="14" name="demo-text-20-0">
            <a:extLst xmlns:a="http://schemas.openxmlformats.org/drawingml/2006/main">
              <a:ext uri="{FF2B5EF4-FFF2-40B4-BE49-F238E27FC236}">
                <a16:creationId xmlns:a16="http://schemas.microsoft.com/office/drawing/2014/main" id="{2F7A4085-D701-4E61-8534-730C51937A8D}"/>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selected project and saved service account define the scan boundary</a:t>
            </a:r>
          </a:p>
        </p:txBody>
      </p:sp>
      <p:sp>
        <p:nvSpPr>
          <p:cNvPr id="15" name="demo-num-20-1">
            <a:extLst xmlns:a="http://schemas.openxmlformats.org/drawingml/2006/main">
              <a:ext uri="{FF2B5EF4-FFF2-40B4-BE49-F238E27FC236}">
                <a16:creationId xmlns:a16="http://schemas.microsoft.com/office/drawing/2014/main" id="{E1F4FFDE-EA05-4261-A229-494CEA53708D}"/>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02</a:t>
            </a:r>
          </a:p>
        </p:txBody>
      </p:sp>
      <p:sp>
        <p:nvSpPr>
          <p:cNvPr id="16" name="demo-text-20-1">
            <a:extLst xmlns:a="http://schemas.openxmlformats.org/drawingml/2006/main">
              <a:ext uri="{FF2B5EF4-FFF2-40B4-BE49-F238E27FC236}">
                <a16:creationId xmlns:a16="http://schemas.microsoft.com/office/drawing/2014/main" id="{7F1190D7-C5DA-4449-BD5F-193444E183D3}"/>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A new job records resource discovery across storage, compute, IAM, and firewalls</a:t>
            </a:r>
          </a:p>
        </p:txBody>
      </p:sp>
      <p:sp>
        <p:nvSpPr>
          <p:cNvPr id="17" name="demo-num-20-2">
            <a:extLst xmlns:a="http://schemas.openxmlformats.org/drawingml/2006/main">
              <a:ext uri="{FF2B5EF4-FFF2-40B4-BE49-F238E27FC236}">
                <a16:creationId xmlns:a16="http://schemas.microsoft.com/office/drawing/2014/main" id="{57D06497-2AB4-4B2C-A8AD-2B7E3B8EBF69}"/>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03</a:t>
            </a:r>
          </a:p>
        </p:txBody>
      </p:sp>
      <p:sp>
        <p:nvSpPr>
          <p:cNvPr id="18" name="demo-text-20-2">
            <a:extLst xmlns:a="http://schemas.openxmlformats.org/drawingml/2006/main">
              <a:ext uri="{FF2B5EF4-FFF2-40B4-BE49-F238E27FC236}">
                <a16:creationId xmlns:a16="http://schemas.microsoft.com/office/drawing/2014/main" id="{9738394A-243A-47D6-8972-06B4FCC7C688}"/>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public bucket finding shows the IAM members that create public access</a:t>
            </a:r>
          </a:p>
        </p:txBody>
      </p:sp>
      <p:sp>
        <p:nvSpPr>
          <p:cNvPr id="19" name="demo-num-20-3">
            <a:extLst xmlns:a="http://schemas.openxmlformats.org/drawingml/2006/main">
              <a:ext uri="{FF2B5EF4-FFF2-40B4-BE49-F238E27FC236}">
                <a16:creationId xmlns:a16="http://schemas.microsoft.com/office/drawing/2014/main" id="{546DD72C-5AB4-4CD2-8A18-773B40C42E9A}"/>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04</a:t>
            </a:r>
          </a:p>
        </p:txBody>
      </p:sp>
      <p:sp>
        <p:nvSpPr>
          <p:cNvPr id="20" name="demo-text-20-3">
            <a:extLst xmlns:a="http://schemas.openxmlformats.org/drawingml/2006/main">
              <a:ext uri="{FF2B5EF4-FFF2-40B4-BE49-F238E27FC236}">
                <a16:creationId xmlns:a16="http://schemas.microsoft.com/office/drawing/2014/main" id="{48208FF6-632A-4F19-ABF2-DD5398780C44}"/>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firewall finding connects an open source range to the exposed protocol or port</a:t>
            </a:r>
          </a:p>
        </p:txBody>
      </p:sp>
      <p:sp>
        <p:nvSpPr>
          <p:cNvPr id="21" name="demo-result-bg-20">
            <a:extLst xmlns:a="http://schemas.openxmlformats.org/drawingml/2006/main">
              <a:ext uri="{FF2B5EF4-FFF2-40B4-BE49-F238E27FC236}">
                <a16:creationId xmlns:a16="http://schemas.microsoft.com/office/drawing/2014/main" id="{9036C48D-CB34-4BCE-9E9B-C08049408E48}"/>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20">
            <a:extLst xmlns:a="http://schemas.openxmlformats.org/drawingml/2006/main">
              <a:ext uri="{FF2B5EF4-FFF2-40B4-BE49-F238E27FC236}">
                <a16:creationId xmlns:a16="http://schemas.microsoft.com/office/drawing/2014/main" id="{954D8628-C1AB-434E-9D55-F4078101661E}"/>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result keeps GCP terms in the evidence while using shared risk categories for comparison.</a:t>
            </a:r>
          </a:p>
        </p:txBody>
      </p:sp>
    </p:spTree>
    <p:extLst>
      <p:ext uri="{BB962C8B-B14F-4D97-AF65-F5344CB8AC3E}">
        <p14:creationId xmlns:p14="http://schemas.microsoft.com/office/powerpoint/2010/main" val="15433911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1">
            <a:extLst xmlns:a="http://schemas.openxmlformats.org/drawingml/2006/main">
              <a:ext uri="{FF2B5EF4-FFF2-40B4-BE49-F238E27FC236}">
                <a16:creationId xmlns:a16="http://schemas.microsoft.com/office/drawing/2014/main" id="{8A992C77-22FC-44DD-82E4-FA2C6C17C29E}"/>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3</a:t>
            </a:r>
          </a:p>
        </p:txBody>
      </p:sp>
      <p:sp>
        <p:nvSpPr>
          <p:cNvPr id="2" name="title-21">
            <a:extLst xmlns:a="http://schemas.openxmlformats.org/drawingml/2006/main">
              <a:ext uri="{FF2B5EF4-FFF2-40B4-BE49-F238E27FC236}">
                <a16:creationId xmlns:a16="http://schemas.microsoft.com/office/drawing/2014/main" id="{6448EFA9-8F0D-4CF9-9A9D-816D891B502E}"/>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2: GCP scanner</a:t>
            </a:r>
          </a:p>
        </p:txBody>
      </p:sp>
      <p:sp>
        <p:nvSpPr>
          <p:cNvPr id="3" name="title-rule-21">
            <a:extLst xmlns:a="http://schemas.openxmlformats.org/drawingml/2006/main">
              <a:ext uri="{FF2B5EF4-FFF2-40B4-BE49-F238E27FC236}">
                <a16:creationId xmlns:a16="http://schemas.microsoft.com/office/drawing/2014/main" id="{86597468-0297-48D4-AAE1-D2BB9DF228A4}"/>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ecead97a66b4e5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1">
            <a:extLst xmlns:a="http://schemas.openxmlformats.org/drawingml/2006/main">
              <a:ext uri="{FF2B5EF4-FFF2-40B4-BE49-F238E27FC236}">
                <a16:creationId xmlns:a16="http://schemas.microsoft.com/office/drawing/2014/main" id="{3A5FE6A2-EDDD-456B-8863-F4C46AD30A3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1">
            <a:extLst xmlns:a="http://schemas.openxmlformats.org/drawingml/2006/main">
              <a:ext uri="{FF2B5EF4-FFF2-40B4-BE49-F238E27FC236}">
                <a16:creationId xmlns:a16="http://schemas.microsoft.com/office/drawing/2014/main" id="{3F2A52BB-6E84-45F2-9128-909C0ED91FBE}"/>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1">
            <a:extLst xmlns:a="http://schemas.openxmlformats.org/drawingml/2006/main">
              <a:ext uri="{FF2B5EF4-FFF2-40B4-BE49-F238E27FC236}">
                <a16:creationId xmlns:a16="http://schemas.microsoft.com/office/drawing/2014/main" id="{F19AD610-A985-4D45-B950-63371060055A}"/>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21</a:t>
            </a:r>
          </a:p>
        </p:txBody>
      </p:sp>
      <p:sp>
        <p:nvSpPr>
          <p:cNvPr id="8" name="lab-band-21">
            <a:extLst xmlns:a="http://schemas.openxmlformats.org/drawingml/2006/main">
              <a:ext uri="{FF2B5EF4-FFF2-40B4-BE49-F238E27FC236}">
                <a16:creationId xmlns:a16="http://schemas.microsoft.com/office/drawing/2014/main" id="{EE31D90D-C404-48F4-92B3-E74AB9D5003D}"/>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4285F4"/>
          </a:solidFill>
          <a:ln xmlns:a="http://schemas.openxmlformats.org/drawingml/2006/main" w="0">
            <a:solidFill>
              <a:srgbClr val="4285F4"/>
            </a:solidFill>
            <a:prstDash val="solid"/>
          </a:ln>
        </p:spPr>
      </p:sp>
      <p:sp>
        <p:nvSpPr>
          <p:cNvPr id="9" name="lab-number-21">
            <a:extLst xmlns:a="http://schemas.openxmlformats.org/drawingml/2006/main">
              <a:ext uri="{FF2B5EF4-FFF2-40B4-BE49-F238E27FC236}">
                <a16:creationId xmlns:a16="http://schemas.microsoft.com/office/drawing/2014/main" id="{C15DF7AB-BA4A-4E02-ADF4-3C05093FFFA5}"/>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2</a:t>
            </a:r>
          </a:p>
        </p:txBody>
      </p:sp>
      <p:sp>
        <p:nvSpPr>
          <p:cNvPr id="10" name="lab-provider-21">
            <a:extLst xmlns:a="http://schemas.openxmlformats.org/drawingml/2006/main">
              <a:ext uri="{FF2B5EF4-FFF2-40B4-BE49-F238E27FC236}">
                <a16:creationId xmlns:a16="http://schemas.microsoft.com/office/drawing/2014/main" id="{8F3512E0-E625-4DFA-8884-165D4190A75B}"/>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GCP</a:t>
            </a:r>
          </a:p>
        </p:txBody>
      </p:sp>
      <p:sp>
        <p:nvSpPr>
          <p:cNvPr id="11" name="lab-time-label-21">
            <a:extLst xmlns:a="http://schemas.openxmlformats.org/drawingml/2006/main">
              <a:ext uri="{FF2B5EF4-FFF2-40B4-BE49-F238E27FC236}">
                <a16:creationId xmlns:a16="http://schemas.microsoft.com/office/drawing/2014/main" id="{00147A91-EE81-4028-B4E9-FC195C70BBA0}"/>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1">
            <a:extLst xmlns:a="http://schemas.openxmlformats.org/drawingml/2006/main">
              <a:ext uri="{FF2B5EF4-FFF2-40B4-BE49-F238E27FC236}">
                <a16:creationId xmlns:a16="http://schemas.microsoft.com/office/drawing/2014/main" id="{7AB7D1D8-A096-4AEC-94B1-4178774A8F9C}"/>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6 minutes</a:t>
            </a:r>
          </a:p>
        </p:txBody>
      </p:sp>
      <p:sp>
        <p:nvSpPr>
          <p:cNvPr id="13" name="lab-goal-label-21">
            <a:extLst xmlns:a="http://schemas.openxmlformats.org/drawingml/2006/main">
              <a:ext uri="{FF2B5EF4-FFF2-40B4-BE49-F238E27FC236}">
                <a16:creationId xmlns:a16="http://schemas.microsoft.com/office/drawing/2014/main" id="{AC264CB2-9E90-4F6C-AB62-0622C2E0D725}"/>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Goal</a:t>
            </a:r>
          </a:p>
        </p:txBody>
      </p:sp>
      <p:sp>
        <p:nvSpPr>
          <p:cNvPr id="14" name="lab-goal-21">
            <a:extLst xmlns:a="http://schemas.openxmlformats.org/drawingml/2006/main">
              <a:ext uri="{FF2B5EF4-FFF2-40B4-BE49-F238E27FC236}">
                <a16:creationId xmlns:a16="http://schemas.microsoft.com/office/drawing/2014/main" id="{C83F4C71-7F83-4CDC-A9D0-44FB76BCAC83}"/>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Explain one GCP finding and connect it to the equivalent cloud risk category.</a:t>
            </a:r>
          </a:p>
        </p:txBody>
      </p:sp>
      <p:sp>
        <p:nvSpPr>
          <p:cNvPr id="15" name="lab-task-label-21">
            <a:extLst xmlns:a="http://schemas.openxmlformats.org/drawingml/2006/main">
              <a:ext uri="{FF2B5EF4-FFF2-40B4-BE49-F238E27FC236}">
                <a16:creationId xmlns:a16="http://schemas.microsoft.com/office/drawing/2014/main" id="{C8DF383E-8D38-4B20-82E0-39DA686B35FC}"/>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Exercise</a:t>
            </a:r>
          </a:p>
        </p:txBody>
      </p:sp>
      <p:sp>
        <p:nvSpPr>
          <p:cNvPr id="16" name="lab-tasks-21">
            <a:extLst xmlns:a="http://schemas.openxmlformats.org/drawingml/2006/main">
              <a:ext uri="{FF2B5EF4-FFF2-40B4-BE49-F238E27FC236}">
                <a16:creationId xmlns:a16="http://schemas.microsoft.com/office/drawing/2014/main" id="{7E5ACD71-0FB6-4F14-AD09-260DB7666C30}"/>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assigned disposable project in CloudGuard</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GCP scan and inspect a storage or firewall finding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Identify the project, resource, evidence, and recommended correction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Match the finding to the equivalent AWS risk concept</a:t>
            </a:r>
          </a:p>
        </p:txBody>
      </p:sp>
      <p:sp>
        <p:nvSpPr>
          <p:cNvPr id="17" name="lab-submit-label-21">
            <a:extLst xmlns:a="http://schemas.openxmlformats.org/drawingml/2006/main">
              <a:ext uri="{FF2B5EF4-FFF2-40B4-BE49-F238E27FC236}">
                <a16:creationId xmlns:a16="http://schemas.microsoft.com/office/drawing/2014/main" id="{1712742A-65A9-41E0-88DC-C7BAC3396AAA}"/>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85F4"/>
                </a:solidFill>
                <a:latin typeface="Helvetica Neue"/>
                <a:ea typeface="Helvetica Neue"/>
                <a:cs typeface="Helvetica Neue"/>
              </a:defRPr>
            </a:pPr>
            <a:r>
              <a:rPr sz="1275" b="1">
                <a:solidFill>
                  <a:srgbClr val="4285F4"/>
                </a:solidFill>
                <a:latin typeface="Helvetica Neue"/>
                <a:ea typeface="Helvetica Neue"/>
                <a:cs typeface="Helvetica Neue"/>
              </a:rPr>
              <a:t>Evidence to submit</a:t>
            </a:r>
          </a:p>
        </p:txBody>
      </p:sp>
      <p:sp>
        <p:nvSpPr>
          <p:cNvPr id="18" name="lab-submit-21">
            <a:extLst xmlns:a="http://schemas.openxmlformats.org/drawingml/2006/main">
              <a:ext uri="{FF2B5EF4-FFF2-40B4-BE49-F238E27FC236}">
                <a16:creationId xmlns:a16="http://schemas.microsoft.com/office/drawing/2014/main" id="{BD7CBF1D-6854-4B14-A62D-2192DA6988A2}"/>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Scan job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Project and resource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Cross-cloud mapping</a:t>
            </a:r>
          </a:p>
        </p:txBody>
      </p:sp>
      <p:sp>
        <p:nvSpPr>
          <p:cNvPr id="19" name="lab-check-bg-21">
            <a:extLst xmlns:a="http://schemas.openxmlformats.org/drawingml/2006/main">
              <a:ext uri="{FF2B5EF4-FFF2-40B4-BE49-F238E27FC236}">
                <a16:creationId xmlns:a16="http://schemas.microsoft.com/office/drawing/2014/main" id="{241AD710-9F6D-4A75-B9E2-8DDDCF0EA55D}"/>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1">
            <a:extLst xmlns:a="http://schemas.openxmlformats.org/drawingml/2006/main">
              <a:ext uri="{FF2B5EF4-FFF2-40B4-BE49-F238E27FC236}">
                <a16:creationId xmlns:a16="http://schemas.microsoft.com/office/drawing/2014/main" id="{1A964737-938C-4FAE-A34C-7E639C1D9685}"/>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result includes provider evidence and a provider-neutral risk explanation</a:t>
            </a:r>
          </a:p>
        </p:txBody>
      </p:sp>
    </p:spTree>
    <p:extLst>
      <p:ext uri="{BB962C8B-B14F-4D97-AF65-F5344CB8AC3E}">
        <p14:creationId xmlns:p14="http://schemas.microsoft.com/office/powerpoint/2010/main" val="1506605577"/>
      </p:ext>
    </p:extLst>
  </p:cSld>
</p:sld>
</file>

<file path=ppt/slides/slide22.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e5c80d47e744ce"/>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2">
            <a:extLst xmlns:a="http://schemas.openxmlformats.org/drawingml/2006/main">
              <a:ext uri="{FF2B5EF4-FFF2-40B4-BE49-F238E27FC236}">
                <a16:creationId xmlns:a16="http://schemas.microsoft.com/office/drawing/2014/main" id="{E2E5122F-8274-4029-9F4D-813C9914E2CB}"/>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2">
            <a:extLst xmlns:a="http://schemas.openxmlformats.org/drawingml/2006/main">
              <a:ext uri="{FF2B5EF4-FFF2-40B4-BE49-F238E27FC236}">
                <a16:creationId xmlns:a16="http://schemas.microsoft.com/office/drawing/2014/main" id="{9D9CE467-EFCD-4A3B-B05D-793ECADA7E8A}"/>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4</a:t>
            </a:r>
          </a:p>
        </p:txBody>
      </p:sp>
      <p:sp>
        <p:nvSpPr>
          <p:cNvPr id="4" name="module-title-22">
            <a:extLst xmlns:a="http://schemas.openxmlformats.org/drawingml/2006/main">
              <a:ext uri="{FF2B5EF4-FFF2-40B4-BE49-F238E27FC236}">
                <a16:creationId xmlns:a16="http://schemas.microsoft.com/office/drawing/2014/main" id="{1335E4E5-044C-4D8B-AA50-8AAA894046F0}"/>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Kubernetes scanner</a:t>
            </a:r>
          </a:p>
        </p:txBody>
      </p:sp>
      <p:sp>
        <p:nvSpPr>
          <p:cNvPr id="5" name="module-purpose-22">
            <a:extLst xmlns:a="http://schemas.openxmlformats.org/drawingml/2006/main">
              <a:ext uri="{FF2B5EF4-FFF2-40B4-BE49-F238E27FC236}">
                <a16:creationId xmlns:a16="http://schemas.microsoft.com/office/drawing/2014/main" id="{C8DF49CA-B2D3-4149-8467-4DA063F5016B}"/>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Kubernetes scanner combines live cluster inspection, manifest analysis, managed-cluster context, and drift detection.</a:t>
            </a:r>
          </a:p>
        </p:txBody>
      </p:sp>
      <p:sp>
        <p:nvSpPr>
          <p:cNvPr id="6" name="module-time-22">
            <a:extLst xmlns:a="http://schemas.openxmlformats.org/drawingml/2006/main">
              <a:ext uri="{FF2B5EF4-FFF2-40B4-BE49-F238E27FC236}">
                <a16:creationId xmlns:a16="http://schemas.microsoft.com/office/drawing/2014/main" id="{13F9DB72-0CC5-491E-9DCC-B0114E15C49E}"/>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30 minutes</a:t>
            </a:r>
          </a:p>
        </p:txBody>
      </p:sp>
      <p:sp>
        <p:nvSpPr>
          <p:cNvPr id="7" name="module-rule-22">
            <a:extLst xmlns:a="http://schemas.openxmlformats.org/drawingml/2006/main">
              <a:ext uri="{FF2B5EF4-FFF2-40B4-BE49-F238E27FC236}">
                <a16:creationId xmlns:a16="http://schemas.microsoft.com/office/drawing/2014/main" id="{0451EB73-B2B0-4DD1-ABB0-02E73F2428A3}"/>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2">
            <a:extLst xmlns:a="http://schemas.openxmlformats.org/drawingml/2006/main">
              <a:ext uri="{FF2B5EF4-FFF2-40B4-BE49-F238E27FC236}">
                <a16:creationId xmlns:a16="http://schemas.microsoft.com/office/drawing/2014/main" id="{573098E4-0BF8-42E2-9A3C-EDE2C54C8DFA}"/>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2">
            <a:extLst xmlns:a="http://schemas.openxmlformats.org/drawingml/2006/main">
              <a:ext uri="{FF2B5EF4-FFF2-40B4-BE49-F238E27FC236}">
                <a16:creationId xmlns:a16="http://schemas.microsoft.com/office/drawing/2014/main" id="{D3F2C7C2-8A3B-4AA5-956E-89BC5CD46EFE}"/>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22</a:t>
            </a:r>
          </a:p>
        </p:txBody>
      </p:sp>
    </p:spTree>
    <p:extLst>
      <p:ext uri="{BB962C8B-B14F-4D97-AF65-F5344CB8AC3E}">
        <p14:creationId xmlns:p14="http://schemas.microsoft.com/office/powerpoint/2010/main" val="2750553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23">
            <a:extLst xmlns:a="http://schemas.openxmlformats.org/drawingml/2006/main">
              <a:ext uri="{FF2B5EF4-FFF2-40B4-BE49-F238E27FC236}">
                <a16:creationId xmlns:a16="http://schemas.microsoft.com/office/drawing/2014/main" id="{07C8A8E4-5C29-47CC-9A9F-3567E2732E1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3">
            <a:extLst xmlns:a="http://schemas.openxmlformats.org/drawingml/2006/main">
              <a:ext uri="{FF2B5EF4-FFF2-40B4-BE49-F238E27FC236}">
                <a16:creationId xmlns:a16="http://schemas.microsoft.com/office/drawing/2014/main" id="{38E08273-2DF3-428D-8D21-E991768378C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scanner modes</a:t>
            </a:r>
          </a:p>
        </p:txBody>
      </p:sp>
      <p:sp>
        <p:nvSpPr>
          <p:cNvPr id="3" name="title-rule-23">
            <a:extLst xmlns:a="http://schemas.openxmlformats.org/drawingml/2006/main">
              <a:ext uri="{FF2B5EF4-FFF2-40B4-BE49-F238E27FC236}">
                <a16:creationId xmlns:a16="http://schemas.microsoft.com/office/drawing/2014/main" id="{39914252-34AF-40ED-82DC-390EAD1CA1E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134f9b8fd4c4df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3">
            <a:extLst xmlns:a="http://schemas.openxmlformats.org/drawingml/2006/main">
              <a:ext uri="{FF2B5EF4-FFF2-40B4-BE49-F238E27FC236}">
                <a16:creationId xmlns:a16="http://schemas.microsoft.com/office/drawing/2014/main" id="{D83051A2-AEF5-4268-AA82-6B183F58CC9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3">
            <a:extLst xmlns:a="http://schemas.openxmlformats.org/drawingml/2006/main">
              <a:ext uri="{FF2B5EF4-FFF2-40B4-BE49-F238E27FC236}">
                <a16:creationId xmlns:a16="http://schemas.microsoft.com/office/drawing/2014/main" id="{880EA8BC-1089-4BD4-8C25-27E4EAC6EDD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3">
            <a:extLst xmlns:a="http://schemas.openxmlformats.org/drawingml/2006/main">
              <a:ext uri="{FF2B5EF4-FFF2-40B4-BE49-F238E27FC236}">
                <a16:creationId xmlns:a16="http://schemas.microsoft.com/office/drawing/2014/main" id="{BAA5FCE7-A7A1-4DEA-ADE3-972B58A9B51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23</a:t>
            </a:r>
          </a:p>
        </p:txBody>
      </p:sp>
      <p:graphicFrame>
        <p:nvGraphicFramePr>
          <p:cNvPr id="17" name=""/>
          <p:cNvGraphicFramePr/>
          <p:nvPr/>
        </p:nvGraphicFramePr>
        <p:xfrm>
          <a:off xmlns:a="http://schemas.openxmlformats.org/drawingml/2006/main" x="533400" y="1924050"/>
          <a:ext xmlns:a="http://schemas.openxmlformats.org/drawingml/2006/main" cx="11125200" cy="2857500"/>
        </p:xfrm>
        <a:graphic xmlns:a="http://schemas.openxmlformats.org/drawingml/2006/main">
          <a:graphicData uri="http://schemas.openxmlformats.org/drawingml/2006/table">
            <a:tbl>
              <a:tblPr/>
              <a:tblGrid>
                <a:gridCol w="1714500"/>
                <a:gridCol w="2571750"/>
                <a:gridCol w="4095750"/>
                <a:gridCol w="2743200"/>
              </a:tblGrid>
              <a:tr h="952500">
                <a:tc>
                  <a:txBody>
                    <a:bodyPr/>
                    <a:lstStyle/>
                    <a:p>
                      <a:r>
                        <a:rPr sz="1125" b="1">
                          <a:solidFill>
                            <a:srgbClr val="FFFFFF"/>
                          </a:solidFill>
                          <a:latin typeface="Helvetica Neue"/>
                          <a:ea typeface="Helvetica Neue"/>
                          <a:cs typeface="Helvetica Neue"/>
                        </a:rPr>
                        <a:t>Mode</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Input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What the scanner sees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Additional value</a:t>
                      </a:r>
                    </a:p>
                  </a:txBody>
                  <a:tcPr marL="91440" marR="91440" marT="45720" marB="45720">
                    <a:solidFill>
                      <a:srgbClr val="326CE5"/>
                    </a:solidFill>
                  </a:tcPr>
                </a:tc>
              </a:tr>
              <a:tr h="952500">
                <a:tc>
                  <a:txBody>
                    <a:bodyPr/>
                    <a:lstStyle/>
                    <a:p>
                      <a:r>
                        <a:rPr sz="1275" b="1">
                          <a:solidFill>
                            <a:srgbClr val="0C1715"/>
                          </a:solidFill>
                          <a:latin typeface="Helvetica Neue"/>
                          <a:ea typeface="Helvetica Neue"/>
                          <a:cs typeface="Helvetica Neue"/>
                        </a:rPr>
                        <a:t>Live cluster</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Saved kubeconfig and optional context</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Namespaces, workloads, services, secrets metadata, NetworkPolicies, and RBAC bindings</a:t>
                      </a:r>
                    </a:p>
                  </a:txBody>
                  <a:tcPr marL="91440" marR="91440" marT="45720" marB="45720">
                    <a:solidFill>
                      <a:srgbClr val="F2F7F5"/>
                    </a:solidFill>
                  </a:tcPr>
                </a:tc>
                <a:tc>
                  <a:txBody>
                    <a:bodyPr/>
                    <a:lstStyle/>
                    <a:p>
                      <a:r>
                        <a:rPr sz="1275" b="0">
                          <a:solidFill>
                            <a:srgbClr val="0C1715"/>
                          </a:solidFill>
                          <a:latin typeface="Helvetica Neue"/>
                          <a:ea typeface="Helvetica Neue"/>
                          <a:cs typeface="Helvetica Neue"/>
                        </a:rPr>
                        <a:t>Managed EKS or GKE checks plus comparison with repository manifests</a:t>
                      </a:r>
                    </a:p>
                  </a:txBody>
                  <a:tcPr marL="91440" marR="91440" marT="45720" marB="45720">
                    <a:solidFill>
                      <a:srgbClr val="F2F7F5"/>
                    </a:solidFill>
                  </a:tcPr>
                </a:tc>
              </a:tr>
              <a:tr h="952500">
                <a:tc>
                  <a:txBody>
                    <a:bodyPr/>
                    <a:lstStyle/>
                    <a:p>
                      <a:r>
                        <a:rPr sz="1275" b="1">
                          <a:solidFill>
                            <a:srgbClr val="0C1715"/>
                          </a:solidFill>
                          <a:latin typeface="Helvetica Neue"/>
                          <a:ea typeface="Helvetica Neue"/>
                          <a:cs typeface="Helvetica Neue"/>
                        </a:rPr>
                        <a:t>Manifest</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Kubernetes YAML or JSON files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Declared workloads, services, RBAC, namespaces, NetworkPolicies, and Secrets</a:t>
                      </a:r>
                    </a:p>
                  </a:txBody>
                  <a:tcPr marL="91440" marR="91440" marT="45720" marB="45720">
                    <a:solidFill>
                      <a:srgbClr val="FFFFFF"/>
                    </a:solidFill>
                  </a:tcPr>
                </a:tc>
                <a:tc>
                  <a:txBody>
                    <a:bodyPr/>
                    <a:lstStyle/>
                    <a:p>
                      <a:r>
                        <a:rPr sz="1275" b="0">
                          <a:solidFill>
                            <a:srgbClr val="0C1715"/>
                          </a:solidFill>
                          <a:latin typeface="Helvetica Neue"/>
                          <a:ea typeface="Helvetica Neue"/>
                          <a:cs typeface="Helvetica Neue"/>
                        </a:rPr>
                        <a:t>Security review before deployment without cluster access</a:t>
                      </a:r>
                    </a:p>
                  </a:txBody>
                  <a:tcPr marL="91440" marR="91440" marT="45720" marB="45720">
                    <a:solidFill>
                      <a:srgbClr val="FFFFFF"/>
                    </a:solidFill>
                  </a:tcPr>
                </a:tc>
              </a:tr>
            </a:tbl>
          </a:graphicData>
        </a:graphic>
      </p:graphicFrame>
      <p:sp>
        <p:nvSpPr>
          <p:cNvPr id="9" name="k8s-mode-note">
            <a:extLst xmlns:a="http://schemas.openxmlformats.org/drawingml/2006/main">
              <a:ext uri="{FF2B5EF4-FFF2-40B4-BE49-F238E27FC236}">
                <a16:creationId xmlns:a16="http://schemas.microsoft.com/office/drawing/2014/main" id="{8752F24E-4165-4586-B3C9-6610BDC0B082}"/>
              </a:ext>
            </a:extLst>
          </p:cNvPr>
          <p:cNvSpPr>
            <a:spLocks xmlns:a="http://schemas.openxmlformats.org/drawingml/2006/main" noGrp="1"/>
          </p:cNvSpPr>
          <p:nvPr/>
        </p:nvSpPr>
        <p:spPr>
          <a:xfrm xmlns:a="http://schemas.openxmlformats.org/drawingml/2006/main">
            <a:off x="533400" y="521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725" b="1">
                <a:solidFill>
                  <a:srgbClr val="0C1715"/>
                </a:solidFill>
                <a:latin typeface="Helvetica Neue"/>
                <a:ea typeface="Helvetica Neue"/>
                <a:cs typeface="Helvetica Neue"/>
              </a:defRPr>
            </a:pPr>
            <a:r>
              <a:rPr sz="1725" b="1">
                <a:solidFill>
                  <a:srgbClr val="0C1715"/>
                </a:solidFill>
                <a:latin typeface="Helvetica Neue"/>
                <a:ea typeface="Helvetica Neue"/>
                <a:cs typeface="Helvetica Neue"/>
              </a:rPr>
              <a:t>Both modes produce the same finding structure, which makes live and pre-deployment results comparable.</a:t>
            </a:r>
          </a:p>
        </p:txBody>
      </p:sp>
    </p:spTree>
    <p:extLst>
      <p:ext uri="{BB962C8B-B14F-4D97-AF65-F5344CB8AC3E}">
        <p14:creationId xmlns:p14="http://schemas.microsoft.com/office/powerpoint/2010/main" val="87792485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4">
            <a:extLst xmlns:a="http://schemas.openxmlformats.org/drawingml/2006/main">
              <a:ext uri="{FF2B5EF4-FFF2-40B4-BE49-F238E27FC236}">
                <a16:creationId xmlns:a16="http://schemas.microsoft.com/office/drawing/2014/main" id="{0F74230E-B6C0-4642-AEC7-A48346A0CDA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4">
            <a:extLst xmlns:a="http://schemas.openxmlformats.org/drawingml/2006/main">
              <a:ext uri="{FF2B5EF4-FFF2-40B4-BE49-F238E27FC236}">
                <a16:creationId xmlns:a16="http://schemas.microsoft.com/office/drawing/2014/main" id="{401C5FD8-16C7-4638-91DE-4C9278B3D6E4}"/>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What the Kubernetes scanner inspects</a:t>
            </a:r>
          </a:p>
        </p:txBody>
      </p:sp>
      <p:sp>
        <p:nvSpPr>
          <p:cNvPr id="3" name="title-rule-24">
            <a:extLst xmlns:a="http://schemas.openxmlformats.org/drawingml/2006/main">
              <a:ext uri="{FF2B5EF4-FFF2-40B4-BE49-F238E27FC236}">
                <a16:creationId xmlns:a16="http://schemas.microsoft.com/office/drawing/2014/main" id="{E8304D4D-7997-481D-A0D6-9DDDD20EAB9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6006ce512d9474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4">
            <a:extLst xmlns:a="http://schemas.openxmlformats.org/drawingml/2006/main">
              <a:ext uri="{FF2B5EF4-FFF2-40B4-BE49-F238E27FC236}">
                <a16:creationId xmlns:a16="http://schemas.microsoft.com/office/drawing/2014/main" id="{7073D61C-3AF5-49A0-B5A2-09BD4252AB99}"/>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4">
            <a:extLst xmlns:a="http://schemas.openxmlformats.org/drawingml/2006/main">
              <a:ext uri="{FF2B5EF4-FFF2-40B4-BE49-F238E27FC236}">
                <a16:creationId xmlns:a16="http://schemas.microsoft.com/office/drawing/2014/main" id="{EBB7769F-F51A-423B-8FFC-31AAFA5B47A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4">
            <a:extLst xmlns:a="http://schemas.openxmlformats.org/drawingml/2006/main">
              <a:ext uri="{FF2B5EF4-FFF2-40B4-BE49-F238E27FC236}">
                <a16:creationId xmlns:a16="http://schemas.microsoft.com/office/drawing/2014/main" id="{CEFF1D39-851C-467A-846F-AC47935A46C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24</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714500"/>
                <a:gridCol w="3714750"/>
                <a:gridCol w="5695950"/>
              </a:tblGrid>
              <a:tr h="819150">
                <a:tc>
                  <a:txBody>
                    <a:bodyPr/>
                    <a:lstStyle/>
                    <a:p>
                      <a:r>
                        <a:rPr sz="1125" b="1">
                          <a:solidFill>
                            <a:srgbClr val="FFFFFF"/>
                          </a:solidFill>
                          <a:latin typeface="Helvetica Neue"/>
                          <a:ea typeface="Helvetica Neue"/>
                          <a:cs typeface="Helvetica Neue"/>
                        </a:rPr>
                        <a:t>Layer</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Objects</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questions</a:t>
                      </a:r>
                    </a:p>
                  </a:txBody>
                  <a:tcPr marL="91440" marR="91440" marT="45720" marB="45720">
                    <a:solidFill>
                      <a:srgbClr val="326CE5"/>
                    </a:solidFill>
                  </a:tcPr>
                </a:tc>
              </a:tr>
              <a:tr h="819150">
                <a:tc>
                  <a:txBody>
                    <a:bodyPr/>
                    <a:lstStyle/>
                    <a:p>
                      <a:r>
                        <a:rPr sz="1200" b="1">
                          <a:solidFill>
                            <a:srgbClr val="0C1715"/>
                          </a:solidFill>
                          <a:latin typeface="Helvetica Neue"/>
                          <a:ea typeface="Helvetica Neue"/>
                          <a:cs typeface="Helvetica Neue"/>
                        </a:rPr>
                        <a:t>Workload</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Pod, Deployment, StatefulSet, DaemonSet, Job, CronJob</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Does the pod share host namespaces, run privileged, or allow escalation?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Identity</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ServiceAccount, RoleBinding, ClusterRoleBinding</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Does a workload receive unnecessary API access or cluster-admin?</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Exposure</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Service and NetworkPolicy</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Can the workload receive public traffic or send unrestricted egress?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Platform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Namespace, EKS or GKE control plane, live-to-IaC comparison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Are guardrails enabled, and does live state match the declared configuration?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8989715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25">
            <a:extLst xmlns:a="http://schemas.openxmlformats.org/drawingml/2006/main">
              <a:ext uri="{FF2B5EF4-FFF2-40B4-BE49-F238E27FC236}">
                <a16:creationId xmlns:a16="http://schemas.microsoft.com/office/drawing/2014/main" id="{BE5427EF-9E54-46CB-89DA-60D7FE2F13D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5">
            <a:extLst xmlns:a="http://schemas.openxmlformats.org/drawingml/2006/main">
              <a:ext uri="{FF2B5EF4-FFF2-40B4-BE49-F238E27FC236}">
                <a16:creationId xmlns:a16="http://schemas.microsoft.com/office/drawing/2014/main" id="{B5769B2E-0B4A-4344-A398-97A907890B5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findings in the workshop cluster</a:t>
            </a:r>
          </a:p>
        </p:txBody>
      </p:sp>
      <p:sp>
        <p:nvSpPr>
          <p:cNvPr id="3" name="title-rule-25">
            <a:extLst xmlns:a="http://schemas.openxmlformats.org/drawingml/2006/main">
              <a:ext uri="{FF2B5EF4-FFF2-40B4-BE49-F238E27FC236}">
                <a16:creationId xmlns:a16="http://schemas.microsoft.com/office/drawing/2014/main" id="{68ADE698-68D0-4E70-8116-CD6A402CDB5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cb1a7351bb04be5"/>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5">
            <a:extLst xmlns:a="http://schemas.openxmlformats.org/drawingml/2006/main">
              <a:ext uri="{FF2B5EF4-FFF2-40B4-BE49-F238E27FC236}">
                <a16:creationId xmlns:a16="http://schemas.microsoft.com/office/drawing/2014/main" id="{C2BF0C22-4386-4EC3-AFED-2EC92D697EA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5">
            <a:extLst xmlns:a="http://schemas.openxmlformats.org/drawingml/2006/main">
              <a:ext uri="{FF2B5EF4-FFF2-40B4-BE49-F238E27FC236}">
                <a16:creationId xmlns:a16="http://schemas.microsoft.com/office/drawing/2014/main" id="{A4049F35-A817-4F24-846B-D0564D567893}"/>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5">
            <a:extLst xmlns:a="http://schemas.openxmlformats.org/drawingml/2006/main">
              <a:ext uri="{FF2B5EF4-FFF2-40B4-BE49-F238E27FC236}">
                <a16:creationId xmlns:a16="http://schemas.microsoft.com/office/drawing/2014/main" id="{F4EAC66C-A5B6-49CA-BB74-ED1598E22243}"/>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25</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238375"/>
                <a:gridCol w="3714750"/>
                <a:gridCol w="3476625"/>
                <a:gridCol w="1695450"/>
              </a:tblGrid>
              <a:tr h="819150">
                <a:tc>
                  <a:txBody>
                    <a:bodyPr/>
                    <a:lstStyle/>
                    <a:p>
                      <a:r>
                        <a:rPr sz="1125" b="1">
                          <a:solidFill>
                            <a:srgbClr val="FFFFFF"/>
                          </a:solidFill>
                          <a:latin typeface="Helvetica Neue"/>
                          <a:ea typeface="Helvetica Neue"/>
                          <a:cs typeface="Helvetica Neue"/>
                        </a:rPr>
                        <a:t>Finding</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Evidence in the lab</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Security impact</a:t>
                      </a:r>
                    </a:p>
                  </a:txBody>
                  <a:tcPr marL="91440" marR="91440" marT="45720" marB="45720">
                    <a:solidFill>
                      <a:srgbClr val="326CE5"/>
                    </a:solidFill>
                  </a:tcPr>
                </a:tc>
                <a:tc>
                  <a:txBody>
                    <a:bodyPr/>
                    <a:lstStyle/>
                    <a:p>
                      <a:r>
                        <a:rPr sz="1125" b="1">
                          <a:solidFill>
                            <a:srgbClr val="FFFFFF"/>
                          </a:solidFill>
                          <a:latin typeface="Helvetica Neue"/>
                          <a:ea typeface="Helvetica Neue"/>
                          <a:cs typeface="Helvetica Neue"/>
                        </a:rPr>
                        <a:t>Severity</a:t>
                      </a:r>
                    </a:p>
                  </a:txBody>
                  <a:tcPr marL="91440" marR="91440" marT="45720" marB="45720">
                    <a:solidFill>
                      <a:srgbClr val="326CE5"/>
                    </a:solidFill>
                  </a:tcPr>
                </a:tc>
              </a:tr>
              <a:tr h="819150">
                <a:tc>
                  <a:txBody>
                    <a:bodyPr/>
                    <a:lstStyle/>
                    <a:p>
                      <a:r>
                        <a:rPr sz="1125" b="1">
                          <a:solidFill>
                            <a:srgbClr val="0C1715"/>
                          </a:solidFill>
                          <a:latin typeface="Helvetica Neue"/>
                          <a:ea typeface="Helvetica Neue"/>
                          <a:cs typeface="Helvetica Neue"/>
                        </a:rPr>
                        <a:t>Cluster-admin binding</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Service account bound to the cluster-admin ClusterRole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 compromised pod can control the cluster</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Critical</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Privileged workload</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privileged: true with host namespace access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The container can reach host-level capabilities and devices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Critical or High</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Risky container settings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Privilege escalation, root execution, mutable image, dangerous capabilities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The workload is easier to compromise and harder to contain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Medium or High</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Broad network exposure</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NodePort, LoadBalancer, or 0.0.0.0/0 in NetworkPolicy</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More systems can reach the workload or receive traffic from it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Low or Medium</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944626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ection-26">
            <a:extLst xmlns:a="http://schemas.openxmlformats.org/drawingml/2006/main">
              <a:ext uri="{FF2B5EF4-FFF2-40B4-BE49-F238E27FC236}">
                <a16:creationId xmlns:a16="http://schemas.microsoft.com/office/drawing/2014/main" id="{81DC2B62-55E3-4CAD-B433-EA19F821580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6">
            <a:extLst xmlns:a="http://schemas.openxmlformats.org/drawingml/2006/main">
              <a:ext uri="{FF2B5EF4-FFF2-40B4-BE49-F238E27FC236}">
                <a16:creationId xmlns:a16="http://schemas.microsoft.com/office/drawing/2014/main" id="{937B01F1-10C9-4929-B619-95C5DE94F6FA}"/>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severity follows blast radius</a:t>
            </a:r>
          </a:p>
        </p:txBody>
      </p:sp>
      <p:sp>
        <p:nvSpPr>
          <p:cNvPr id="3" name="title-rule-26">
            <a:extLst xmlns:a="http://schemas.openxmlformats.org/drawingml/2006/main">
              <a:ext uri="{FF2B5EF4-FFF2-40B4-BE49-F238E27FC236}">
                <a16:creationId xmlns:a16="http://schemas.microsoft.com/office/drawing/2014/main" id="{4D51A9E6-F6F9-4667-A1F2-453F7EDEB69E}"/>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b3b0052895943bc"/>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6">
            <a:extLst xmlns:a="http://schemas.openxmlformats.org/drawingml/2006/main">
              <a:ext uri="{FF2B5EF4-FFF2-40B4-BE49-F238E27FC236}">
                <a16:creationId xmlns:a16="http://schemas.microsoft.com/office/drawing/2014/main" id="{2D0FE93C-AF70-4B4C-8F4E-2E915CB310A0}"/>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6">
            <a:extLst xmlns:a="http://schemas.openxmlformats.org/drawingml/2006/main">
              <a:ext uri="{FF2B5EF4-FFF2-40B4-BE49-F238E27FC236}">
                <a16:creationId xmlns:a16="http://schemas.microsoft.com/office/drawing/2014/main" id="{C30E025A-A59D-452E-A109-506FFABD378F}"/>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6">
            <a:extLst xmlns:a="http://schemas.openxmlformats.org/drawingml/2006/main">
              <a:ext uri="{FF2B5EF4-FFF2-40B4-BE49-F238E27FC236}">
                <a16:creationId xmlns:a16="http://schemas.microsoft.com/office/drawing/2014/main" id="{B7523CB7-0F97-419A-9AC1-86B0B57824D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26</a:t>
            </a:r>
          </a:p>
        </p:txBody>
      </p:sp>
      <p:sp>
        <p:nvSpPr>
          <p:cNvPr id="8" name="blast-lead">
            <a:extLst xmlns:a="http://schemas.openxmlformats.org/drawingml/2006/main">
              <a:ext uri="{FF2B5EF4-FFF2-40B4-BE49-F238E27FC236}">
                <a16:creationId xmlns:a16="http://schemas.microsoft.com/office/drawing/2014/main" id="{9CF17D0E-8F3F-4EF0-8116-EC7A86453DE7}"/>
              </a:ext>
            </a:extLst>
          </p:cNvPr>
          <p:cNvSpPr>
            <a:spLocks xmlns:a="http://schemas.openxmlformats.org/drawingml/2006/main" noGrp="1"/>
          </p:cNvSpPr>
          <p:nvPr/>
        </p:nvSpPr>
        <p:spPr>
          <a:xfrm xmlns:a="http://schemas.openxmlformats.org/drawingml/2006/main">
            <a:off x="533400" y="18097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75" b="1">
                <a:solidFill>
                  <a:srgbClr val="0C1715"/>
                </a:solidFill>
                <a:latin typeface="Helvetica Neue"/>
                <a:ea typeface="Helvetica Neue"/>
                <a:cs typeface="Helvetica Neue"/>
              </a:defRPr>
            </a:pPr>
            <a:r>
              <a:rPr sz="1875" b="1">
                <a:solidFill>
                  <a:srgbClr val="0C1715"/>
                </a:solidFill>
                <a:latin typeface="Helvetica Neue"/>
                <a:ea typeface="Helvetica Neue"/>
                <a:cs typeface="Helvetica Neue"/>
              </a:rPr>
              <a:t>Three independent settings combine into a much larger risk when they affect the same workload.</a:t>
            </a:r>
          </a:p>
        </p:txBody>
      </p:sp>
      <p:sp>
        <p:nvSpPr>
          <p:cNvPr id="9" name="blast-title-0">
            <a:extLst xmlns:a="http://schemas.openxmlformats.org/drawingml/2006/main">
              <a:ext uri="{FF2B5EF4-FFF2-40B4-BE49-F238E27FC236}">
                <a16:creationId xmlns:a16="http://schemas.microsoft.com/office/drawing/2014/main" id="{CADAF72F-3BC2-45C5-9AA8-4FA82B593621}"/>
              </a:ext>
            </a:extLst>
          </p:cNvPr>
          <p:cNvSpPr>
            <a:spLocks xmlns:a="http://schemas.openxmlformats.org/drawingml/2006/main" noGrp="1"/>
          </p:cNvSpPr>
          <p:nvPr/>
        </p:nvSpPr>
        <p:spPr>
          <a:xfrm xmlns:a="http://schemas.openxmlformats.org/drawingml/2006/main">
            <a:off x="53340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Public entry point</a:t>
            </a:r>
          </a:p>
        </p:txBody>
      </p:sp>
      <p:sp>
        <p:nvSpPr>
          <p:cNvPr id="10" name="blast-rule-0">
            <a:extLst xmlns:a="http://schemas.openxmlformats.org/drawingml/2006/main">
              <a:ext uri="{FF2B5EF4-FFF2-40B4-BE49-F238E27FC236}">
                <a16:creationId xmlns:a16="http://schemas.microsoft.com/office/drawing/2014/main" id="{F22A1389-9C30-4BCC-B544-6A9205211FFE}"/>
              </a:ext>
            </a:extLst>
          </p:cNvPr>
          <p:cNvSpPr>
            <a:spLocks xmlns:a="http://schemas.openxmlformats.org/drawingml/2006/main" noGrp="1"/>
          </p:cNvSpPr>
          <p:nvPr/>
        </p:nvSpPr>
        <p:spPr>
          <a:xfrm xmlns:a="http://schemas.openxmlformats.org/drawingml/2006/main">
            <a:off x="53340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blast-body-0">
            <a:extLst xmlns:a="http://schemas.openxmlformats.org/drawingml/2006/main">
              <a:ext uri="{FF2B5EF4-FFF2-40B4-BE49-F238E27FC236}">
                <a16:creationId xmlns:a16="http://schemas.microsoft.com/office/drawing/2014/main" id="{79EF62BC-FDEB-4B89-BA09-618978731CAB}"/>
              </a:ext>
            </a:extLst>
          </p:cNvPr>
          <p:cNvSpPr>
            <a:spLocks xmlns:a="http://schemas.openxmlformats.org/drawingml/2006/main" noGrp="1"/>
          </p:cNvSpPr>
          <p:nvPr/>
        </p:nvSpPr>
        <p:spPr>
          <a:xfrm xmlns:a="http://schemas.openxmlformats.org/drawingml/2006/main">
            <a:off x="53340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NodePort, LoadBalancer, or broad ingress makes the application reachable from a wider network.</a:t>
            </a:r>
          </a:p>
        </p:txBody>
      </p:sp>
      <p:sp>
        <p:nvSpPr>
          <p:cNvPr id="12" name="blast-title-1">
            <a:extLst xmlns:a="http://schemas.openxmlformats.org/drawingml/2006/main">
              <a:ext uri="{FF2B5EF4-FFF2-40B4-BE49-F238E27FC236}">
                <a16:creationId xmlns:a16="http://schemas.microsoft.com/office/drawing/2014/main" id="{27DCB388-51CF-40E6-9E11-4B92DFCAB5D7}"/>
              </a:ext>
            </a:extLst>
          </p:cNvPr>
          <p:cNvSpPr>
            <a:spLocks xmlns:a="http://schemas.openxmlformats.org/drawingml/2006/main" noGrp="1"/>
          </p:cNvSpPr>
          <p:nvPr/>
        </p:nvSpPr>
        <p:spPr>
          <a:xfrm xmlns:a="http://schemas.openxmlformats.org/drawingml/2006/main">
            <a:off x="424815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Powerful pod</a:t>
            </a:r>
          </a:p>
        </p:txBody>
      </p:sp>
      <p:sp>
        <p:nvSpPr>
          <p:cNvPr id="13" name="blast-rule-1">
            <a:extLst xmlns:a="http://schemas.openxmlformats.org/drawingml/2006/main">
              <a:ext uri="{FF2B5EF4-FFF2-40B4-BE49-F238E27FC236}">
                <a16:creationId xmlns:a16="http://schemas.microsoft.com/office/drawing/2014/main" id="{D1DC10B8-28C5-4735-A752-14B59E594AF2}"/>
              </a:ext>
            </a:extLst>
          </p:cNvPr>
          <p:cNvSpPr>
            <a:spLocks xmlns:a="http://schemas.openxmlformats.org/drawingml/2006/main" noGrp="1"/>
          </p:cNvSpPr>
          <p:nvPr/>
        </p:nvSpPr>
        <p:spPr>
          <a:xfrm xmlns:a="http://schemas.openxmlformats.org/drawingml/2006/main">
            <a:off x="424815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blast-body-1">
            <a:extLst xmlns:a="http://schemas.openxmlformats.org/drawingml/2006/main">
              <a:ext uri="{FF2B5EF4-FFF2-40B4-BE49-F238E27FC236}">
                <a16:creationId xmlns:a16="http://schemas.microsoft.com/office/drawing/2014/main" id="{E96FED68-37C3-4027-BD08-1F9DCC061A1D}"/>
              </a:ext>
            </a:extLst>
          </p:cNvPr>
          <p:cNvSpPr>
            <a:spLocks xmlns:a="http://schemas.openxmlformats.org/drawingml/2006/main" noGrp="1"/>
          </p:cNvSpPr>
          <p:nvPr/>
        </p:nvSpPr>
        <p:spPr>
          <a:xfrm xmlns:a="http://schemas.openxmlformats.org/drawingml/2006/main">
            <a:off x="424815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Privileged mode, host namespaces, and risky Linux capabilities weaken container isolation.</a:t>
            </a:r>
          </a:p>
        </p:txBody>
      </p:sp>
      <p:sp>
        <p:nvSpPr>
          <p:cNvPr id="15" name="blast-title-2">
            <a:extLst xmlns:a="http://schemas.openxmlformats.org/drawingml/2006/main">
              <a:ext uri="{FF2B5EF4-FFF2-40B4-BE49-F238E27FC236}">
                <a16:creationId xmlns:a16="http://schemas.microsoft.com/office/drawing/2014/main" id="{85E72E50-3717-483A-B792-F0E63CCBF183}"/>
              </a:ext>
            </a:extLst>
          </p:cNvPr>
          <p:cNvSpPr>
            <a:spLocks xmlns:a="http://schemas.openxmlformats.org/drawingml/2006/main" noGrp="1"/>
          </p:cNvSpPr>
          <p:nvPr/>
        </p:nvSpPr>
        <p:spPr>
          <a:xfrm xmlns:a="http://schemas.openxmlformats.org/drawingml/2006/main">
            <a:off x="7962900" y="28003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326CE5"/>
                </a:solidFill>
                <a:latin typeface="Helvetica Neue"/>
                <a:ea typeface="Helvetica Neue"/>
                <a:cs typeface="Helvetica Neue"/>
              </a:defRPr>
            </a:pPr>
            <a:r>
              <a:rPr sz="1950" b="1">
                <a:solidFill>
                  <a:srgbClr val="326CE5"/>
                </a:solidFill>
                <a:latin typeface="Helvetica Neue"/>
                <a:ea typeface="Helvetica Neue"/>
                <a:cs typeface="Helvetica Neue"/>
              </a:rPr>
              <a:t>Powerful identity</a:t>
            </a:r>
          </a:p>
        </p:txBody>
      </p:sp>
      <p:sp>
        <p:nvSpPr>
          <p:cNvPr id="16" name="blast-rule-2">
            <a:extLst xmlns:a="http://schemas.openxmlformats.org/drawingml/2006/main">
              <a:ext uri="{FF2B5EF4-FFF2-40B4-BE49-F238E27FC236}">
                <a16:creationId xmlns:a16="http://schemas.microsoft.com/office/drawing/2014/main" id="{C776B1AA-E727-48F2-9170-7207E05CD575}"/>
              </a:ext>
            </a:extLst>
          </p:cNvPr>
          <p:cNvSpPr>
            <a:spLocks xmlns:a="http://schemas.openxmlformats.org/drawingml/2006/main" noGrp="1"/>
          </p:cNvSpPr>
          <p:nvPr/>
        </p:nvSpPr>
        <p:spPr>
          <a:xfrm xmlns:a="http://schemas.openxmlformats.org/drawingml/2006/main">
            <a:off x="7962900" y="3390900"/>
            <a:ext cx="314325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7" name="blast-body-2">
            <a:extLst xmlns:a="http://schemas.openxmlformats.org/drawingml/2006/main">
              <a:ext uri="{FF2B5EF4-FFF2-40B4-BE49-F238E27FC236}">
                <a16:creationId xmlns:a16="http://schemas.microsoft.com/office/drawing/2014/main" id="{A2579165-70E1-4373-BCF6-28640005431A}"/>
              </a:ext>
            </a:extLst>
          </p:cNvPr>
          <p:cNvSpPr>
            <a:spLocks xmlns:a="http://schemas.openxmlformats.org/drawingml/2006/main" noGrp="1"/>
          </p:cNvSpPr>
          <p:nvPr/>
        </p:nvSpPr>
        <p:spPr>
          <a:xfrm xmlns:a="http://schemas.openxmlformats.org/drawingml/2006/main">
            <a:off x="7962900" y="3714750"/>
            <a:ext cx="314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60716D"/>
                </a:solidFill>
                <a:latin typeface="Helvetica Neue"/>
                <a:ea typeface="Helvetica Neue"/>
                <a:cs typeface="Helvetica Neue"/>
              </a:defRPr>
            </a:pPr>
            <a:r>
              <a:rPr sz="1500" b="0">
                <a:solidFill>
                  <a:srgbClr val="60716D"/>
                </a:solidFill>
                <a:latin typeface="Helvetica Neue"/>
                <a:ea typeface="Helvetica Neue"/>
                <a:cs typeface="Helvetica Neue"/>
              </a:rPr>
              <a:t>A service account bound to cluster-admin gives the compromised workload control-plane authority.</a:t>
            </a:r>
          </a:p>
        </p:txBody>
      </p:sp>
      <p:sp>
        <p:nvSpPr>
          <p:cNvPr id="18" name="blast-note">
            <a:extLst xmlns:a="http://schemas.openxmlformats.org/drawingml/2006/main">
              <a:ext uri="{FF2B5EF4-FFF2-40B4-BE49-F238E27FC236}">
                <a16:creationId xmlns:a16="http://schemas.microsoft.com/office/drawing/2014/main" id="{5ED98CB4-7EAC-4991-B513-5E74B67D7322}"/>
              </a:ext>
            </a:extLst>
          </p:cNvPr>
          <p:cNvSpPr>
            <a:spLocks xmlns:a="http://schemas.openxmlformats.org/drawingml/2006/main" noGrp="1"/>
          </p:cNvSpPr>
          <p:nvPr/>
        </p:nvSpPr>
        <p:spPr>
          <a:xfrm xmlns:a="http://schemas.openxmlformats.org/drawingml/2006/main">
            <a:off x="533400" y="571500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0C1715"/>
                </a:solidFill>
                <a:latin typeface="Helvetica Neue"/>
                <a:ea typeface="Helvetica Neue"/>
                <a:cs typeface="Helvetica Neue"/>
              </a:defRPr>
            </a:pPr>
            <a:r>
              <a:rPr sz="1500" b="1">
                <a:solidFill>
                  <a:srgbClr val="0C1715"/>
                </a:solidFill>
                <a:latin typeface="Helvetica Neue"/>
                <a:ea typeface="Helvetica Neue"/>
                <a:cs typeface="Helvetica Neue"/>
              </a:rPr>
              <a:t>The scanner reports separate findings. Investigation connects them into a single attack path.</a:t>
            </a:r>
          </a:p>
        </p:txBody>
      </p:sp>
    </p:spTree>
    <p:extLst>
      <p:ext uri="{BB962C8B-B14F-4D97-AF65-F5344CB8AC3E}">
        <p14:creationId xmlns:p14="http://schemas.microsoft.com/office/powerpoint/2010/main" val="202796734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27">
            <a:extLst xmlns:a="http://schemas.openxmlformats.org/drawingml/2006/main">
              <a:ext uri="{FF2B5EF4-FFF2-40B4-BE49-F238E27FC236}">
                <a16:creationId xmlns:a16="http://schemas.microsoft.com/office/drawing/2014/main" id="{6A74144F-26D7-4958-A158-C5B69124B588}"/>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7">
            <a:extLst xmlns:a="http://schemas.openxmlformats.org/drawingml/2006/main">
              <a:ext uri="{FF2B5EF4-FFF2-40B4-BE49-F238E27FC236}">
                <a16:creationId xmlns:a16="http://schemas.microsoft.com/office/drawing/2014/main" id="{E7D971C4-832E-4857-BABE-BEA866DE0A0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Kubernetes scan demonstration</a:t>
            </a:r>
          </a:p>
        </p:txBody>
      </p:sp>
      <p:sp>
        <p:nvSpPr>
          <p:cNvPr id="3" name="title-rule-27">
            <a:extLst xmlns:a="http://schemas.openxmlformats.org/drawingml/2006/main">
              <a:ext uri="{FF2B5EF4-FFF2-40B4-BE49-F238E27FC236}">
                <a16:creationId xmlns:a16="http://schemas.microsoft.com/office/drawing/2014/main" id="{41B01B21-952E-455B-BE75-D8724C5BC3B4}"/>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a3e43fb0d084620"/>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7">
            <a:extLst xmlns:a="http://schemas.openxmlformats.org/drawingml/2006/main">
              <a:ext uri="{FF2B5EF4-FFF2-40B4-BE49-F238E27FC236}">
                <a16:creationId xmlns:a16="http://schemas.microsoft.com/office/drawing/2014/main" id="{0DAD2737-E8C8-4259-BCCB-02E1EC185C93}"/>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7">
            <a:extLst xmlns:a="http://schemas.openxmlformats.org/drawingml/2006/main">
              <a:ext uri="{FF2B5EF4-FFF2-40B4-BE49-F238E27FC236}">
                <a16:creationId xmlns:a16="http://schemas.microsoft.com/office/drawing/2014/main" id="{4FDF531E-AAD7-404B-A802-C6C60450246A}"/>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7">
            <a:extLst xmlns:a="http://schemas.openxmlformats.org/drawingml/2006/main">
              <a:ext uri="{FF2B5EF4-FFF2-40B4-BE49-F238E27FC236}">
                <a16:creationId xmlns:a16="http://schemas.microsoft.com/office/drawing/2014/main" id="{C2B67E60-28D8-4036-904E-71D4B1592757}"/>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27</a:t>
            </a:r>
          </a:p>
        </p:txBody>
      </p:sp>
      <p:sp>
        <p:nvSpPr>
          <p:cNvPr id="8" name="demo-band-27">
            <a:extLst xmlns:a="http://schemas.openxmlformats.org/drawingml/2006/main">
              <a:ext uri="{FF2B5EF4-FFF2-40B4-BE49-F238E27FC236}">
                <a16:creationId xmlns:a16="http://schemas.microsoft.com/office/drawing/2014/main" id="{8B8E6E29-5A4E-4122-BF9B-48BDDC6F7B43}"/>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demo-provider-27">
            <a:extLst xmlns:a="http://schemas.openxmlformats.org/drawingml/2006/main">
              <a:ext uri="{FF2B5EF4-FFF2-40B4-BE49-F238E27FC236}">
                <a16:creationId xmlns:a16="http://schemas.microsoft.com/office/drawing/2014/main" id="{B2B6D566-644E-49B0-B4B7-899B04B25D1A}"/>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Kubernetes</a:t>
            </a:r>
          </a:p>
        </p:txBody>
      </p:sp>
      <p:sp>
        <p:nvSpPr>
          <p:cNvPr id="10" name="demo-label-27">
            <a:extLst xmlns:a="http://schemas.openxmlformats.org/drawingml/2006/main">
              <a:ext uri="{FF2B5EF4-FFF2-40B4-BE49-F238E27FC236}">
                <a16:creationId xmlns:a16="http://schemas.microsoft.com/office/drawing/2014/main" id="{0B4559B0-4B90-41BF-AA71-7B4E1FF98CAC}"/>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27">
            <a:extLst xmlns:a="http://schemas.openxmlformats.org/drawingml/2006/main">
              <a:ext uri="{FF2B5EF4-FFF2-40B4-BE49-F238E27FC236}">
                <a16:creationId xmlns:a16="http://schemas.microsoft.com/office/drawing/2014/main" id="{70767379-A7A8-4D4C-98D1-368B8DF92367}"/>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 disposable namespace contains an exposed service, a privileged workload, and an over-permissive service account.</a:t>
            </a:r>
          </a:p>
        </p:txBody>
      </p:sp>
      <p:sp>
        <p:nvSpPr>
          <p:cNvPr id="12" name="demo-sequence-title-27">
            <a:extLst xmlns:a="http://schemas.openxmlformats.org/drawingml/2006/main">
              <a:ext uri="{FF2B5EF4-FFF2-40B4-BE49-F238E27FC236}">
                <a16:creationId xmlns:a16="http://schemas.microsoft.com/office/drawing/2014/main" id="{A7D59497-989D-4DE6-A5D3-FDA2C1F07AE8}"/>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326CE5"/>
                </a:solidFill>
                <a:latin typeface="Helvetica Neue"/>
                <a:ea typeface="Helvetica Neue"/>
                <a:cs typeface="Helvetica Neue"/>
              </a:defRPr>
            </a:pPr>
            <a:r>
              <a:rPr sz="1650" b="1">
                <a:solidFill>
                  <a:srgbClr val="326CE5"/>
                </a:solidFill>
                <a:latin typeface="Helvetica Neue"/>
                <a:ea typeface="Helvetica Neue"/>
                <a:cs typeface="Helvetica Neue"/>
              </a:rPr>
              <a:t>What happens in the scan</a:t>
            </a:r>
          </a:p>
        </p:txBody>
      </p:sp>
      <p:sp>
        <p:nvSpPr>
          <p:cNvPr id="13" name="demo-num-27-0">
            <a:extLst xmlns:a="http://schemas.openxmlformats.org/drawingml/2006/main">
              <a:ext uri="{FF2B5EF4-FFF2-40B4-BE49-F238E27FC236}">
                <a16:creationId xmlns:a16="http://schemas.microsoft.com/office/drawing/2014/main" id="{3205FC85-8BFD-4C45-813C-9CD0367B0562}"/>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01</a:t>
            </a:r>
          </a:p>
        </p:txBody>
      </p:sp>
      <p:sp>
        <p:nvSpPr>
          <p:cNvPr id="14" name="demo-text-27-0">
            <a:extLst xmlns:a="http://schemas.openxmlformats.org/drawingml/2006/main">
              <a:ext uri="{FF2B5EF4-FFF2-40B4-BE49-F238E27FC236}">
                <a16:creationId xmlns:a16="http://schemas.microsoft.com/office/drawing/2014/main" id="{A6ECF349-A645-4AF1-AD27-D83233FC817C}"/>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kubeconfig and context identify the disposable cluster used by the scan</a:t>
            </a:r>
          </a:p>
        </p:txBody>
      </p:sp>
      <p:sp>
        <p:nvSpPr>
          <p:cNvPr id="15" name="demo-num-27-1">
            <a:extLst xmlns:a="http://schemas.openxmlformats.org/drawingml/2006/main">
              <a:ext uri="{FF2B5EF4-FFF2-40B4-BE49-F238E27FC236}">
                <a16:creationId xmlns:a16="http://schemas.microsoft.com/office/drawing/2014/main" id="{ECE1DF2F-E5E4-44F4-AC8C-BF49C5AF71EA}"/>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02</a:t>
            </a:r>
          </a:p>
        </p:txBody>
      </p:sp>
      <p:sp>
        <p:nvSpPr>
          <p:cNvPr id="16" name="demo-text-27-1">
            <a:extLst xmlns:a="http://schemas.openxmlformats.org/drawingml/2006/main">
              <a:ext uri="{FF2B5EF4-FFF2-40B4-BE49-F238E27FC236}">
                <a16:creationId xmlns:a16="http://schemas.microsoft.com/office/drawing/2014/main" id="{D35BCB8D-36A1-402E-86A4-E38C4C0325F3}"/>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Live discovery loads workloads, services, NetworkPolicies, namespaces, and RBAC bindings</a:t>
            </a:r>
          </a:p>
        </p:txBody>
      </p:sp>
      <p:sp>
        <p:nvSpPr>
          <p:cNvPr id="17" name="demo-num-27-2">
            <a:extLst xmlns:a="http://schemas.openxmlformats.org/drawingml/2006/main">
              <a:ext uri="{FF2B5EF4-FFF2-40B4-BE49-F238E27FC236}">
                <a16:creationId xmlns:a16="http://schemas.microsoft.com/office/drawing/2014/main" id="{CCAB82E6-3AA0-4727-B32C-85EB3D118070}"/>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03</a:t>
            </a:r>
          </a:p>
        </p:txBody>
      </p:sp>
      <p:sp>
        <p:nvSpPr>
          <p:cNvPr id="18" name="demo-text-27-2">
            <a:extLst xmlns:a="http://schemas.openxmlformats.org/drawingml/2006/main">
              <a:ext uri="{FF2B5EF4-FFF2-40B4-BE49-F238E27FC236}">
                <a16:creationId xmlns:a16="http://schemas.microsoft.com/office/drawing/2014/main" id="{19FE4262-08D9-4C38-97BE-B9EAF4CDD510}"/>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workload finding exposes the securityContext and host namespace settings</a:t>
            </a:r>
          </a:p>
        </p:txBody>
      </p:sp>
      <p:sp>
        <p:nvSpPr>
          <p:cNvPr id="19" name="demo-num-27-3">
            <a:extLst xmlns:a="http://schemas.openxmlformats.org/drawingml/2006/main">
              <a:ext uri="{FF2B5EF4-FFF2-40B4-BE49-F238E27FC236}">
                <a16:creationId xmlns:a16="http://schemas.microsoft.com/office/drawing/2014/main" id="{6D11D6FF-2024-474B-9030-24586CD27915}"/>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04</a:t>
            </a:r>
          </a:p>
        </p:txBody>
      </p:sp>
      <p:sp>
        <p:nvSpPr>
          <p:cNvPr id="20" name="demo-text-27-3">
            <a:extLst xmlns:a="http://schemas.openxmlformats.org/drawingml/2006/main">
              <a:ext uri="{FF2B5EF4-FFF2-40B4-BE49-F238E27FC236}">
                <a16:creationId xmlns:a16="http://schemas.microsoft.com/office/drawing/2014/main" id="{3FCC5C80-BBDE-4A60-85EB-E0B4F386F104}"/>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RBAC finding shows how the service account receives cluster-admin authority</a:t>
            </a:r>
          </a:p>
        </p:txBody>
      </p:sp>
      <p:sp>
        <p:nvSpPr>
          <p:cNvPr id="21" name="demo-result-bg-27">
            <a:extLst xmlns:a="http://schemas.openxmlformats.org/drawingml/2006/main">
              <a:ext uri="{FF2B5EF4-FFF2-40B4-BE49-F238E27FC236}">
                <a16:creationId xmlns:a16="http://schemas.microsoft.com/office/drawing/2014/main" id="{5249FC3E-D702-48AB-B073-C67DE54E41F9}"/>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27">
            <a:extLst xmlns:a="http://schemas.openxmlformats.org/drawingml/2006/main">
              <a:ext uri="{FF2B5EF4-FFF2-40B4-BE49-F238E27FC236}">
                <a16:creationId xmlns:a16="http://schemas.microsoft.com/office/drawing/2014/main" id="{DF02A99F-8E4E-46BE-ADDF-8DF3B06C9860}"/>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highest priority comes from the combined reachability, workload privilege, and identity scope.</a:t>
            </a:r>
          </a:p>
        </p:txBody>
      </p:sp>
    </p:spTree>
    <p:extLst>
      <p:ext uri="{BB962C8B-B14F-4D97-AF65-F5344CB8AC3E}">
        <p14:creationId xmlns:p14="http://schemas.microsoft.com/office/powerpoint/2010/main" val="15690264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28">
            <a:extLst xmlns:a="http://schemas.openxmlformats.org/drawingml/2006/main">
              <a:ext uri="{FF2B5EF4-FFF2-40B4-BE49-F238E27FC236}">
                <a16:creationId xmlns:a16="http://schemas.microsoft.com/office/drawing/2014/main" id="{8FDE0396-25CB-4666-AE74-86DFE161F61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4</a:t>
            </a:r>
          </a:p>
        </p:txBody>
      </p:sp>
      <p:sp>
        <p:nvSpPr>
          <p:cNvPr id="2" name="title-28">
            <a:extLst xmlns:a="http://schemas.openxmlformats.org/drawingml/2006/main">
              <a:ext uri="{FF2B5EF4-FFF2-40B4-BE49-F238E27FC236}">
                <a16:creationId xmlns:a16="http://schemas.microsoft.com/office/drawing/2014/main" id="{B490979B-AF37-4B14-A50B-940A80472FAE}"/>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3: Kubernetes scanner</a:t>
            </a:r>
          </a:p>
        </p:txBody>
      </p:sp>
      <p:sp>
        <p:nvSpPr>
          <p:cNvPr id="3" name="title-rule-28">
            <a:extLst xmlns:a="http://schemas.openxmlformats.org/drawingml/2006/main">
              <a:ext uri="{FF2B5EF4-FFF2-40B4-BE49-F238E27FC236}">
                <a16:creationId xmlns:a16="http://schemas.microsoft.com/office/drawing/2014/main" id="{0FB2CD85-7D0F-4F44-8C08-9FDCBC7721B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ec31198663047c3"/>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28">
            <a:extLst xmlns:a="http://schemas.openxmlformats.org/drawingml/2006/main">
              <a:ext uri="{FF2B5EF4-FFF2-40B4-BE49-F238E27FC236}">
                <a16:creationId xmlns:a16="http://schemas.microsoft.com/office/drawing/2014/main" id="{7E5DB77D-7626-423D-88D9-99000C1057C4}"/>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28">
            <a:extLst xmlns:a="http://schemas.openxmlformats.org/drawingml/2006/main">
              <a:ext uri="{FF2B5EF4-FFF2-40B4-BE49-F238E27FC236}">
                <a16:creationId xmlns:a16="http://schemas.microsoft.com/office/drawing/2014/main" id="{1FAB91CD-0CD5-4C76-AB03-648EF1292427}"/>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28">
            <a:extLst xmlns:a="http://schemas.openxmlformats.org/drawingml/2006/main">
              <a:ext uri="{FF2B5EF4-FFF2-40B4-BE49-F238E27FC236}">
                <a16:creationId xmlns:a16="http://schemas.microsoft.com/office/drawing/2014/main" id="{65B4B577-752D-41E3-8AF4-DBB5D8264BF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28</a:t>
            </a:r>
          </a:p>
        </p:txBody>
      </p:sp>
      <p:sp>
        <p:nvSpPr>
          <p:cNvPr id="8" name="lab-band-28">
            <a:extLst xmlns:a="http://schemas.openxmlformats.org/drawingml/2006/main">
              <a:ext uri="{FF2B5EF4-FFF2-40B4-BE49-F238E27FC236}">
                <a16:creationId xmlns:a16="http://schemas.microsoft.com/office/drawing/2014/main" id="{E75AC57E-BDED-4340-9991-56FC272843B7}"/>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326CE5"/>
          </a:solidFill>
          <a:ln xmlns:a="http://schemas.openxmlformats.org/drawingml/2006/main" w="0">
            <a:solidFill>
              <a:srgbClr val="326CE5"/>
            </a:solidFill>
            <a:prstDash val="solid"/>
          </a:ln>
        </p:spPr>
      </p:sp>
      <p:sp>
        <p:nvSpPr>
          <p:cNvPr id="9" name="lab-number-28">
            <a:extLst xmlns:a="http://schemas.openxmlformats.org/drawingml/2006/main">
              <a:ext uri="{FF2B5EF4-FFF2-40B4-BE49-F238E27FC236}">
                <a16:creationId xmlns:a16="http://schemas.microsoft.com/office/drawing/2014/main" id="{3AE09505-E664-4188-A9BE-F1AA69829897}"/>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3</a:t>
            </a:r>
          </a:p>
        </p:txBody>
      </p:sp>
      <p:sp>
        <p:nvSpPr>
          <p:cNvPr id="10" name="lab-provider-28">
            <a:extLst xmlns:a="http://schemas.openxmlformats.org/drawingml/2006/main">
              <a:ext uri="{FF2B5EF4-FFF2-40B4-BE49-F238E27FC236}">
                <a16:creationId xmlns:a16="http://schemas.microsoft.com/office/drawing/2014/main" id="{2314F77A-F717-44A3-B876-9DE026CEFBDE}"/>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Kubernetes</a:t>
            </a:r>
          </a:p>
        </p:txBody>
      </p:sp>
      <p:sp>
        <p:nvSpPr>
          <p:cNvPr id="11" name="lab-time-label-28">
            <a:extLst xmlns:a="http://schemas.openxmlformats.org/drawingml/2006/main">
              <a:ext uri="{FF2B5EF4-FFF2-40B4-BE49-F238E27FC236}">
                <a16:creationId xmlns:a16="http://schemas.microsoft.com/office/drawing/2014/main" id="{6E0B144B-6E22-49B9-A682-66B0AD45FE5B}"/>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28">
            <a:extLst xmlns:a="http://schemas.openxmlformats.org/drawingml/2006/main">
              <a:ext uri="{FF2B5EF4-FFF2-40B4-BE49-F238E27FC236}">
                <a16:creationId xmlns:a16="http://schemas.microsoft.com/office/drawing/2014/main" id="{7EE49F38-8399-4D86-A57D-240DA8C8CEBD}"/>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8 minutes</a:t>
            </a:r>
          </a:p>
        </p:txBody>
      </p:sp>
      <p:sp>
        <p:nvSpPr>
          <p:cNvPr id="13" name="lab-goal-label-28">
            <a:extLst xmlns:a="http://schemas.openxmlformats.org/drawingml/2006/main">
              <a:ext uri="{FF2B5EF4-FFF2-40B4-BE49-F238E27FC236}">
                <a16:creationId xmlns:a16="http://schemas.microsoft.com/office/drawing/2014/main" id="{98D565DA-CE3E-4B24-910C-9DBF85360B36}"/>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Goal</a:t>
            </a:r>
          </a:p>
        </p:txBody>
      </p:sp>
      <p:sp>
        <p:nvSpPr>
          <p:cNvPr id="14" name="lab-goal-28">
            <a:extLst xmlns:a="http://schemas.openxmlformats.org/drawingml/2006/main">
              <a:ext uri="{FF2B5EF4-FFF2-40B4-BE49-F238E27FC236}">
                <a16:creationId xmlns:a16="http://schemas.microsoft.com/office/drawing/2014/main" id="{DDE0FC96-1722-4B37-A6C5-AC82533DB3DD}"/>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Connect workload, identity, and exposure findings into one risk explanation.</a:t>
            </a:r>
          </a:p>
        </p:txBody>
      </p:sp>
      <p:sp>
        <p:nvSpPr>
          <p:cNvPr id="15" name="lab-task-label-28">
            <a:extLst xmlns:a="http://schemas.openxmlformats.org/drawingml/2006/main">
              <a:ext uri="{FF2B5EF4-FFF2-40B4-BE49-F238E27FC236}">
                <a16:creationId xmlns:a16="http://schemas.microsoft.com/office/drawing/2014/main" id="{7FC2CD3B-4241-4813-995A-0FEBC03BFEA1}"/>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Exercise</a:t>
            </a:r>
          </a:p>
        </p:txBody>
      </p:sp>
      <p:sp>
        <p:nvSpPr>
          <p:cNvPr id="16" name="lab-tasks-28">
            <a:extLst xmlns:a="http://schemas.openxmlformats.org/drawingml/2006/main">
              <a:ext uri="{FF2B5EF4-FFF2-40B4-BE49-F238E27FC236}">
                <a16:creationId xmlns:a16="http://schemas.microsoft.com/office/drawing/2014/main" id="{E3471C66-3B14-4FC8-A18D-EE1DEF6C90B7}"/>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Use the assigned disposable cluster and cloudguard-test namespace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live Kubernetes scan with the provided kubeconfig</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privileged workload and cluster-admin binding findings</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Delete the lab manifest after recording evidence</a:t>
            </a:r>
          </a:p>
        </p:txBody>
      </p:sp>
      <p:sp>
        <p:nvSpPr>
          <p:cNvPr id="17" name="lab-submit-label-28">
            <a:extLst xmlns:a="http://schemas.openxmlformats.org/drawingml/2006/main">
              <a:ext uri="{FF2B5EF4-FFF2-40B4-BE49-F238E27FC236}">
                <a16:creationId xmlns:a16="http://schemas.microsoft.com/office/drawing/2014/main" id="{B02B7882-D739-4CE6-8E4C-8403B6CB8EE5}"/>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326CE5"/>
                </a:solidFill>
                <a:latin typeface="Helvetica Neue"/>
                <a:ea typeface="Helvetica Neue"/>
                <a:cs typeface="Helvetica Neue"/>
              </a:defRPr>
            </a:pPr>
            <a:r>
              <a:rPr sz="1275" b="1">
                <a:solidFill>
                  <a:srgbClr val="326CE5"/>
                </a:solidFill>
                <a:latin typeface="Helvetica Neue"/>
                <a:ea typeface="Helvetica Neue"/>
                <a:cs typeface="Helvetica Neue"/>
              </a:rPr>
              <a:t>Evidence to submit</a:t>
            </a:r>
          </a:p>
        </p:txBody>
      </p:sp>
      <p:sp>
        <p:nvSpPr>
          <p:cNvPr id="18" name="lab-submit-28">
            <a:extLst xmlns:a="http://schemas.openxmlformats.org/drawingml/2006/main">
              <a:ext uri="{FF2B5EF4-FFF2-40B4-BE49-F238E27FC236}">
                <a16:creationId xmlns:a16="http://schemas.microsoft.com/office/drawing/2014/main" id="{69A2B356-C713-4FB0-84DF-578CC6973508}"/>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Finding IDs</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Workload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RBAC evidence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Namespace deletion result</a:t>
            </a:r>
          </a:p>
        </p:txBody>
      </p:sp>
      <p:sp>
        <p:nvSpPr>
          <p:cNvPr id="19" name="lab-check-bg-28">
            <a:extLst xmlns:a="http://schemas.openxmlformats.org/drawingml/2006/main">
              <a:ext uri="{FF2B5EF4-FFF2-40B4-BE49-F238E27FC236}">
                <a16:creationId xmlns:a16="http://schemas.microsoft.com/office/drawing/2014/main" id="{19B60892-935C-4C37-A7D5-C8C906F08367}"/>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28">
            <a:extLst xmlns:a="http://schemas.openxmlformats.org/drawingml/2006/main">
              <a:ext uri="{FF2B5EF4-FFF2-40B4-BE49-F238E27FC236}">
                <a16:creationId xmlns:a16="http://schemas.microsoft.com/office/drawing/2014/main" id="{6E4428B2-94B9-42B6-A911-0F635C5C7C13}"/>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the group explains the attack path and retains the cleanup event</a:t>
            </a:r>
          </a:p>
        </p:txBody>
      </p:sp>
    </p:spTree>
    <p:extLst>
      <p:ext uri="{BB962C8B-B14F-4D97-AF65-F5344CB8AC3E}">
        <p14:creationId xmlns:p14="http://schemas.microsoft.com/office/powerpoint/2010/main" val="180405238"/>
      </p:ext>
    </p:extLst>
  </p:cSld>
</p:sld>
</file>

<file path=ppt/slides/slide29.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48f0eb752cd4189"/>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29">
            <a:extLst xmlns:a="http://schemas.openxmlformats.org/drawingml/2006/main">
              <a:ext uri="{FF2B5EF4-FFF2-40B4-BE49-F238E27FC236}">
                <a16:creationId xmlns:a16="http://schemas.microsoft.com/office/drawing/2014/main" id="{0DCB79F3-A281-4AA8-938A-9F79B4E9A07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29">
            <a:extLst xmlns:a="http://schemas.openxmlformats.org/drawingml/2006/main">
              <a:ext uri="{FF2B5EF4-FFF2-40B4-BE49-F238E27FC236}">
                <a16:creationId xmlns:a16="http://schemas.microsoft.com/office/drawing/2014/main" id="{596B827E-E24B-4FF6-B789-2FD01F1AD88A}"/>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5</a:t>
            </a:r>
          </a:p>
        </p:txBody>
      </p:sp>
      <p:sp>
        <p:nvSpPr>
          <p:cNvPr id="4" name="module-title-29">
            <a:extLst xmlns:a="http://schemas.openxmlformats.org/drawingml/2006/main">
              <a:ext uri="{FF2B5EF4-FFF2-40B4-BE49-F238E27FC236}">
                <a16:creationId xmlns:a16="http://schemas.microsoft.com/office/drawing/2014/main" id="{090C4543-0499-4DD4-99A0-EC2F1F0C6085}"/>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Infrastructure as Code scanner</a:t>
            </a:r>
          </a:p>
        </p:txBody>
      </p:sp>
      <p:sp>
        <p:nvSpPr>
          <p:cNvPr id="5" name="module-purpose-29">
            <a:extLst xmlns:a="http://schemas.openxmlformats.org/drawingml/2006/main">
              <a:ext uri="{FF2B5EF4-FFF2-40B4-BE49-F238E27FC236}">
                <a16:creationId xmlns:a16="http://schemas.microsoft.com/office/drawing/2014/main" id="{3A46FF25-33B9-45A4-AD0C-6372ACC884C2}"/>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The IaC scanner identifies unsafe configuration in Terraform, CloudFormation, and Kubernetes files before deployment.</a:t>
            </a:r>
          </a:p>
        </p:txBody>
      </p:sp>
      <p:sp>
        <p:nvSpPr>
          <p:cNvPr id="6" name="module-time-29">
            <a:extLst xmlns:a="http://schemas.openxmlformats.org/drawingml/2006/main">
              <a:ext uri="{FF2B5EF4-FFF2-40B4-BE49-F238E27FC236}">
                <a16:creationId xmlns:a16="http://schemas.microsoft.com/office/drawing/2014/main" id="{FA5ED7CB-05F4-4675-9AE8-D45D25DD611E}"/>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25 minutes</a:t>
            </a:r>
          </a:p>
        </p:txBody>
      </p:sp>
      <p:sp>
        <p:nvSpPr>
          <p:cNvPr id="7" name="module-rule-29">
            <a:extLst xmlns:a="http://schemas.openxmlformats.org/drawingml/2006/main">
              <a:ext uri="{FF2B5EF4-FFF2-40B4-BE49-F238E27FC236}">
                <a16:creationId xmlns:a16="http://schemas.microsoft.com/office/drawing/2014/main" id="{262090F5-DF2A-421E-862F-24EA95289D43}"/>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29">
            <a:extLst xmlns:a="http://schemas.openxmlformats.org/drawingml/2006/main">
              <a:ext uri="{FF2B5EF4-FFF2-40B4-BE49-F238E27FC236}">
                <a16:creationId xmlns:a16="http://schemas.microsoft.com/office/drawing/2014/main" id="{B6322774-3460-427A-9621-9EEE58ABA0B2}"/>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29">
            <a:extLst xmlns:a="http://schemas.openxmlformats.org/drawingml/2006/main">
              <a:ext uri="{FF2B5EF4-FFF2-40B4-BE49-F238E27FC236}">
                <a16:creationId xmlns:a16="http://schemas.microsoft.com/office/drawing/2014/main" id="{717678E8-AB9A-455E-8D3B-6ABFAE5FDCB6}"/>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29</a:t>
            </a:r>
          </a:p>
        </p:txBody>
      </p:sp>
    </p:spTree>
    <p:extLst>
      <p:ext uri="{BB962C8B-B14F-4D97-AF65-F5344CB8AC3E}">
        <p14:creationId xmlns:p14="http://schemas.microsoft.com/office/powerpoint/2010/main" val="1223826326"/>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30">
            <a:extLst xmlns:a="http://schemas.openxmlformats.org/drawingml/2006/main">
              <a:ext uri="{FF2B5EF4-FFF2-40B4-BE49-F238E27FC236}">
                <a16:creationId xmlns:a16="http://schemas.microsoft.com/office/drawing/2014/main" id="{3D1E99AF-2174-4305-A290-8CE2F7E6ED2F}"/>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0">
            <a:extLst xmlns:a="http://schemas.openxmlformats.org/drawingml/2006/main">
              <a:ext uri="{FF2B5EF4-FFF2-40B4-BE49-F238E27FC236}">
                <a16:creationId xmlns:a16="http://schemas.microsoft.com/office/drawing/2014/main" id="{86009C29-4DCB-4850-AAB5-EDFA49E12CCB}"/>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scanner coverage</a:t>
            </a:r>
          </a:p>
        </p:txBody>
      </p:sp>
      <p:sp>
        <p:nvSpPr>
          <p:cNvPr id="3" name="title-rule-30">
            <a:extLst xmlns:a="http://schemas.openxmlformats.org/drawingml/2006/main">
              <a:ext uri="{FF2B5EF4-FFF2-40B4-BE49-F238E27FC236}">
                <a16:creationId xmlns:a16="http://schemas.microsoft.com/office/drawing/2014/main" id="{6613F270-A0D5-422A-8D25-A29B67C57E89}"/>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510b536c13f400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0">
            <a:extLst xmlns:a="http://schemas.openxmlformats.org/drawingml/2006/main">
              <a:ext uri="{FF2B5EF4-FFF2-40B4-BE49-F238E27FC236}">
                <a16:creationId xmlns:a16="http://schemas.microsoft.com/office/drawing/2014/main" id="{1E09F8BF-CFCF-4B3A-9DE6-D48CA877121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0">
            <a:extLst xmlns:a="http://schemas.openxmlformats.org/drawingml/2006/main">
              <a:ext uri="{FF2B5EF4-FFF2-40B4-BE49-F238E27FC236}">
                <a16:creationId xmlns:a16="http://schemas.microsoft.com/office/drawing/2014/main" id="{C086AEE0-D6EA-403F-A707-B4EED6509042}"/>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0">
            <a:extLst xmlns:a="http://schemas.openxmlformats.org/drawingml/2006/main">
              <a:ext uri="{FF2B5EF4-FFF2-40B4-BE49-F238E27FC236}">
                <a16:creationId xmlns:a16="http://schemas.microsoft.com/office/drawing/2014/main" id="{8144BEF3-50CB-431A-B32F-93CFFC56806B}"/>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30</a:t>
            </a:r>
          </a:p>
        </p:txBody>
      </p:sp>
      <p:graphicFrame>
        <p:nvGraphicFramePr>
          <p:cNvPr id="17" name=""/>
          <p:cNvGraphicFramePr/>
          <p:nvPr/>
        </p:nvGraphicFramePr>
        <p:xfrm>
          <a:off xmlns:a="http://schemas.openxmlformats.org/drawingml/2006/main" x="533400" y="1885950"/>
          <a:ext xmlns:a="http://schemas.openxmlformats.org/drawingml/2006/main" cx="11125200" cy="3333750"/>
        </p:xfrm>
        <a:graphic xmlns:a="http://schemas.openxmlformats.org/drawingml/2006/main">
          <a:graphicData uri="http://schemas.openxmlformats.org/drawingml/2006/table">
            <a:tbl>
              <a:tblPr/>
              <a:tblGrid>
                <a:gridCol w="2095500"/>
                <a:gridCol w="3143250"/>
                <a:gridCol w="5886450"/>
              </a:tblGrid>
              <a:tr h="833438">
                <a:tc>
                  <a:txBody>
                    <a:bodyPr/>
                    <a:lstStyle/>
                    <a:p>
                      <a:r>
                        <a:rPr sz="1125" b="1">
                          <a:solidFill>
                            <a:srgbClr val="FFFFFF"/>
                          </a:solidFill>
                          <a:latin typeface="Helvetica Neue"/>
                          <a:ea typeface="Helvetica Neue"/>
                          <a:cs typeface="Helvetica Neue"/>
                        </a:rPr>
                        <a:t>Template type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How CloudGuard identifies it</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Examples of checks</a:t>
                      </a:r>
                    </a:p>
                  </a:txBody>
                  <a:tcPr marL="91440" marR="91440" marT="45720" marB="45720">
                    <a:solidFill>
                      <a:srgbClr val="7C3AED"/>
                    </a:solidFill>
                  </a:tcPr>
                </a:tc>
              </a:tr>
              <a:tr h="833438">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.tf, .tfvars, or .hcl content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ACL, open security group, public database, missing encryption, wildcard IAM</a:t>
                      </a:r>
                    </a:p>
                  </a:txBody>
                  <a:tcPr marL="91440" marR="91440" marT="45720" marB="45720">
                    <a:solidFill>
                      <a:srgbClr val="F2F7F5"/>
                    </a:solidFill>
                  </a:tcPr>
                </a:tc>
              </a:tr>
              <a:tr h="833438">
                <a:tc>
                  <a:txBody>
                    <a:bodyPr/>
                    <a:lstStyle/>
                    <a:p>
                      <a:r>
                        <a:rPr sz="1200" b="1">
                          <a:solidFill>
                            <a:srgbClr val="0C1715"/>
                          </a:solidFill>
                          <a:latin typeface="Helvetica Neue"/>
                          <a:ea typeface="Helvetica Neue"/>
                          <a:cs typeface="Helvetica Neue"/>
                        </a:rPr>
                        <a:t>CloudFormation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AWS template Resources in YAML or JSON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bucket, missing public access block, open ingress, public RDS, broad IAM</a:t>
                      </a:r>
                    </a:p>
                  </a:txBody>
                  <a:tcPr marL="91440" marR="91440" marT="45720" marB="45720">
                    <a:solidFill>
                      <a:srgbClr val="FFFFFF"/>
                    </a:solidFill>
                  </a:tcPr>
                </a:tc>
              </a:tr>
              <a:tr h="833438">
                <a:tc>
                  <a:txBody>
                    <a:bodyPr/>
                    <a:lstStyle/>
                    <a:p>
                      <a:r>
                        <a:rPr sz="1200" b="1">
                          <a:solidFill>
                            <a:srgbClr val="0C1715"/>
                          </a:solidFill>
                          <a:latin typeface="Helvetica Neue"/>
                          <a:ea typeface="Helvetica Neue"/>
                          <a:cs typeface="Helvetica Neue"/>
                        </a:rPr>
                        <a:t>Kubernetes manifest</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apiVersion and kind in YAML or JSON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Privileged workload, host access, mutable image, broad RBAC, exposed service, Secret in source</a:t>
                      </a:r>
                    </a:p>
                  </a:txBody>
                  <a:tcPr marL="91440" marR="91440" marT="45720" marB="45720">
                    <a:solidFill>
                      <a:srgbClr val="F2F7F5"/>
                    </a:solidFill>
                  </a:tcPr>
                </a:tc>
              </a:tr>
            </a:tbl>
          </a:graphicData>
        </a:graphic>
      </p:graphicFrame>
      <p:sp>
        <p:nvSpPr>
          <p:cNvPr id="9" name="iac-coverage-note">
            <a:extLst xmlns:a="http://schemas.openxmlformats.org/drawingml/2006/main">
              <a:ext uri="{FF2B5EF4-FFF2-40B4-BE49-F238E27FC236}">
                <a16:creationId xmlns:a16="http://schemas.microsoft.com/office/drawing/2014/main" id="{54096991-1099-45C3-8648-137D4EB83960}"/>
              </a:ext>
            </a:extLst>
          </p:cNvPr>
          <p:cNvSpPr>
            <a:spLocks xmlns:a="http://schemas.openxmlformats.org/drawingml/2006/main" noGrp="1"/>
          </p:cNvSpPr>
          <p:nvPr/>
        </p:nvSpPr>
        <p:spPr>
          <a:xfrm xmlns:a="http://schemas.openxmlformats.org/drawingml/2006/main">
            <a:off x="533400" y="55626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The scan accepts uploaded files or a repository path. It reads configuration only and does not deploy the templates.</a:t>
            </a:r>
          </a:p>
        </p:txBody>
      </p:sp>
    </p:spTree>
    <p:extLst>
      <p:ext uri="{BB962C8B-B14F-4D97-AF65-F5344CB8AC3E}">
        <p14:creationId xmlns:p14="http://schemas.microsoft.com/office/powerpoint/2010/main" val="14561242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31">
            <a:extLst xmlns:a="http://schemas.openxmlformats.org/drawingml/2006/main">
              <a:ext uri="{FF2B5EF4-FFF2-40B4-BE49-F238E27FC236}">
                <a16:creationId xmlns:a16="http://schemas.microsoft.com/office/drawing/2014/main" id="{4F91FA9B-0B74-45EB-BD1A-3517F179401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1">
            <a:extLst xmlns:a="http://schemas.openxmlformats.org/drawingml/2006/main">
              <a:ext uri="{FF2B5EF4-FFF2-40B4-BE49-F238E27FC236}">
                <a16:creationId xmlns:a16="http://schemas.microsoft.com/office/drawing/2014/main" id="{9D4C35DA-55F1-4B1A-A59C-1B31F344B9F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IaC static analysis works</a:t>
            </a:r>
          </a:p>
        </p:txBody>
      </p:sp>
      <p:sp>
        <p:nvSpPr>
          <p:cNvPr id="3" name="title-rule-31">
            <a:extLst xmlns:a="http://schemas.openxmlformats.org/drawingml/2006/main">
              <a:ext uri="{FF2B5EF4-FFF2-40B4-BE49-F238E27FC236}">
                <a16:creationId xmlns:a16="http://schemas.microsoft.com/office/drawing/2014/main" id="{71E1D390-7F49-4C16-8973-7F2CA82F230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7f5ae1fb1794eb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1">
            <a:extLst xmlns:a="http://schemas.openxmlformats.org/drawingml/2006/main">
              <a:ext uri="{FF2B5EF4-FFF2-40B4-BE49-F238E27FC236}">
                <a16:creationId xmlns:a16="http://schemas.microsoft.com/office/drawing/2014/main" id="{A38A30B3-46C9-41B3-8E0B-80529C8033BD}"/>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1">
            <a:extLst xmlns:a="http://schemas.openxmlformats.org/drawingml/2006/main">
              <a:ext uri="{FF2B5EF4-FFF2-40B4-BE49-F238E27FC236}">
                <a16:creationId xmlns:a16="http://schemas.microsoft.com/office/drawing/2014/main" id="{D93B0FB6-B178-4E94-B39B-1559C46E7C8C}"/>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1">
            <a:extLst xmlns:a="http://schemas.openxmlformats.org/drawingml/2006/main">
              <a:ext uri="{FF2B5EF4-FFF2-40B4-BE49-F238E27FC236}">
                <a16:creationId xmlns:a16="http://schemas.microsoft.com/office/drawing/2014/main" id="{7D952DFB-E24E-4130-855F-406118A8E69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31</a:t>
            </a:r>
          </a:p>
        </p:txBody>
      </p:sp>
      <p:sp>
        <p:nvSpPr>
          <p:cNvPr id="8" name="part-num-31-0">
            <a:extLst xmlns:a="http://schemas.openxmlformats.org/drawingml/2006/main">
              <a:ext uri="{FF2B5EF4-FFF2-40B4-BE49-F238E27FC236}">
                <a16:creationId xmlns:a16="http://schemas.microsoft.com/office/drawing/2014/main" id="{A2713E93-EA09-4D00-9BB4-45835D8BC07B}"/>
              </a:ext>
            </a:extLst>
          </p:cNvPr>
          <p:cNvSpPr>
            <a:spLocks xmlns:a="http://schemas.openxmlformats.org/drawingml/2006/main" noGrp="1"/>
          </p:cNvSpPr>
          <p:nvPr/>
        </p:nvSpPr>
        <p:spPr>
          <a:xfrm xmlns:a="http://schemas.openxmlformats.org/drawingml/2006/main">
            <a:off x="5334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01</a:t>
            </a:r>
          </a:p>
        </p:txBody>
      </p:sp>
      <p:sp>
        <p:nvSpPr>
          <p:cNvPr id="9" name="part-rule-31-0">
            <a:extLst xmlns:a="http://schemas.openxmlformats.org/drawingml/2006/main">
              <a:ext uri="{FF2B5EF4-FFF2-40B4-BE49-F238E27FC236}">
                <a16:creationId xmlns:a16="http://schemas.microsoft.com/office/drawing/2014/main" id="{688C07D2-E375-4C3A-8F30-0DAE2C7FAC54}"/>
              </a:ext>
            </a:extLst>
          </p:cNvPr>
          <p:cNvSpPr>
            <a:spLocks xmlns:a="http://schemas.openxmlformats.org/drawingml/2006/main" noGrp="1"/>
          </p:cNvSpPr>
          <p:nvPr/>
        </p:nvSpPr>
        <p:spPr>
          <a:xfrm xmlns:a="http://schemas.openxmlformats.org/drawingml/2006/main">
            <a:off x="5334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0" name="part-title-31-0">
            <a:extLst xmlns:a="http://schemas.openxmlformats.org/drawingml/2006/main">
              <a:ext uri="{FF2B5EF4-FFF2-40B4-BE49-F238E27FC236}">
                <a16:creationId xmlns:a16="http://schemas.microsoft.com/office/drawing/2014/main" id="{19A0E58B-8FEC-4158-B503-AF3781F5DBDD}"/>
              </a:ext>
            </a:extLst>
          </p:cNvPr>
          <p:cNvSpPr>
            <a:spLocks xmlns:a="http://schemas.openxmlformats.org/drawingml/2006/main" noGrp="1"/>
          </p:cNvSpPr>
          <p:nvPr/>
        </p:nvSpPr>
        <p:spPr>
          <a:xfrm xmlns:a="http://schemas.openxmlformats.org/drawingml/2006/main">
            <a:off x="5334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Discover files</a:t>
            </a:r>
          </a:p>
        </p:txBody>
      </p:sp>
      <p:sp>
        <p:nvSpPr>
          <p:cNvPr id="11" name="part-body-31-0">
            <a:extLst xmlns:a="http://schemas.openxmlformats.org/drawingml/2006/main">
              <a:ext uri="{FF2B5EF4-FFF2-40B4-BE49-F238E27FC236}">
                <a16:creationId xmlns:a16="http://schemas.microsoft.com/office/drawing/2014/main" id="{D3FC1864-38A7-4583-B409-C49562796E77}"/>
              </a:ext>
            </a:extLst>
          </p:cNvPr>
          <p:cNvSpPr>
            <a:spLocks xmlns:a="http://schemas.openxmlformats.org/drawingml/2006/main" noGrp="1"/>
          </p:cNvSpPr>
          <p:nvPr/>
        </p:nvSpPr>
        <p:spPr>
          <a:xfrm xmlns:a="http://schemas.openxmlformats.org/drawingml/2006/main">
            <a:off x="5334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scanner walks the selected repository or accepts uploaded files while excluding build, dependency, and report directories.</a:t>
            </a:r>
          </a:p>
        </p:txBody>
      </p:sp>
      <p:sp>
        <p:nvSpPr>
          <p:cNvPr id="12" name="part-num-31-1">
            <a:extLst xmlns:a="http://schemas.openxmlformats.org/drawingml/2006/main">
              <a:ext uri="{FF2B5EF4-FFF2-40B4-BE49-F238E27FC236}">
                <a16:creationId xmlns:a16="http://schemas.microsoft.com/office/drawing/2014/main" id="{DEFD8988-2AEB-489C-80A5-F236F0489F8A}"/>
              </a:ext>
            </a:extLst>
          </p:cNvPr>
          <p:cNvSpPr>
            <a:spLocks xmlns:a="http://schemas.openxmlformats.org/drawingml/2006/main" noGrp="1"/>
          </p:cNvSpPr>
          <p:nvPr/>
        </p:nvSpPr>
        <p:spPr>
          <a:xfrm xmlns:a="http://schemas.openxmlformats.org/drawingml/2006/main">
            <a:off x="33147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02</a:t>
            </a:r>
          </a:p>
        </p:txBody>
      </p:sp>
      <p:sp>
        <p:nvSpPr>
          <p:cNvPr id="13" name="part-rule-31-1">
            <a:extLst xmlns:a="http://schemas.openxmlformats.org/drawingml/2006/main">
              <a:ext uri="{FF2B5EF4-FFF2-40B4-BE49-F238E27FC236}">
                <a16:creationId xmlns:a16="http://schemas.microsoft.com/office/drawing/2014/main" id="{D77665F3-8FD9-44B9-BE63-3FA0A0ADE85B}"/>
              </a:ext>
            </a:extLst>
          </p:cNvPr>
          <p:cNvSpPr>
            <a:spLocks xmlns:a="http://schemas.openxmlformats.org/drawingml/2006/main" noGrp="1"/>
          </p:cNvSpPr>
          <p:nvPr/>
        </p:nvSpPr>
        <p:spPr>
          <a:xfrm xmlns:a="http://schemas.openxmlformats.org/drawingml/2006/main">
            <a:off x="33147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4" name="part-title-31-1">
            <a:extLst xmlns:a="http://schemas.openxmlformats.org/drawingml/2006/main">
              <a:ext uri="{FF2B5EF4-FFF2-40B4-BE49-F238E27FC236}">
                <a16:creationId xmlns:a16="http://schemas.microsoft.com/office/drawing/2014/main" id="{2D691FF5-D4B4-4396-92E6-247492283A42}"/>
              </a:ext>
            </a:extLst>
          </p:cNvPr>
          <p:cNvSpPr>
            <a:spLocks xmlns:a="http://schemas.openxmlformats.org/drawingml/2006/main" noGrp="1"/>
          </p:cNvSpPr>
          <p:nvPr/>
        </p:nvSpPr>
        <p:spPr>
          <a:xfrm xmlns:a="http://schemas.openxmlformats.org/drawingml/2006/main">
            <a:off x="33147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Classify</a:t>
            </a:r>
          </a:p>
        </p:txBody>
      </p:sp>
      <p:sp>
        <p:nvSpPr>
          <p:cNvPr id="15" name="part-body-31-1">
            <a:extLst xmlns:a="http://schemas.openxmlformats.org/drawingml/2006/main">
              <a:ext uri="{FF2B5EF4-FFF2-40B4-BE49-F238E27FC236}">
                <a16:creationId xmlns:a16="http://schemas.microsoft.com/office/drawing/2014/main" id="{95199874-8662-427D-A809-272B9E6D28BF}"/>
              </a:ext>
            </a:extLst>
          </p:cNvPr>
          <p:cNvSpPr>
            <a:spLocks xmlns:a="http://schemas.openxmlformats.org/drawingml/2006/main" noGrp="1"/>
          </p:cNvSpPr>
          <p:nvPr/>
        </p:nvSpPr>
        <p:spPr>
          <a:xfrm xmlns:a="http://schemas.openxmlformats.org/drawingml/2006/main">
            <a:off x="33147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Extensions and content identify Terraform, CloudFormation, or Kubernetes configuration.</a:t>
            </a:r>
          </a:p>
        </p:txBody>
      </p:sp>
      <p:sp>
        <p:nvSpPr>
          <p:cNvPr id="16" name="part-num-31-2">
            <a:extLst xmlns:a="http://schemas.openxmlformats.org/drawingml/2006/main">
              <a:ext uri="{FF2B5EF4-FFF2-40B4-BE49-F238E27FC236}">
                <a16:creationId xmlns:a16="http://schemas.microsoft.com/office/drawing/2014/main" id="{0CEC2BE4-5A27-4EB5-B59B-54E576C50CFC}"/>
              </a:ext>
            </a:extLst>
          </p:cNvPr>
          <p:cNvSpPr>
            <a:spLocks xmlns:a="http://schemas.openxmlformats.org/drawingml/2006/main" noGrp="1"/>
          </p:cNvSpPr>
          <p:nvPr/>
        </p:nvSpPr>
        <p:spPr>
          <a:xfrm xmlns:a="http://schemas.openxmlformats.org/drawingml/2006/main">
            <a:off x="60960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03</a:t>
            </a:r>
          </a:p>
        </p:txBody>
      </p:sp>
      <p:sp>
        <p:nvSpPr>
          <p:cNvPr id="17" name="part-rule-31-2">
            <a:extLst xmlns:a="http://schemas.openxmlformats.org/drawingml/2006/main">
              <a:ext uri="{FF2B5EF4-FFF2-40B4-BE49-F238E27FC236}">
                <a16:creationId xmlns:a16="http://schemas.microsoft.com/office/drawing/2014/main" id="{EADC8E1D-95A1-4066-AF74-C82C4FBA3780}"/>
              </a:ext>
            </a:extLst>
          </p:cNvPr>
          <p:cNvSpPr>
            <a:spLocks xmlns:a="http://schemas.openxmlformats.org/drawingml/2006/main" noGrp="1"/>
          </p:cNvSpPr>
          <p:nvPr/>
        </p:nvSpPr>
        <p:spPr>
          <a:xfrm xmlns:a="http://schemas.openxmlformats.org/drawingml/2006/main">
            <a:off x="60960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8" name="part-title-31-2">
            <a:extLst xmlns:a="http://schemas.openxmlformats.org/drawingml/2006/main">
              <a:ext uri="{FF2B5EF4-FFF2-40B4-BE49-F238E27FC236}">
                <a16:creationId xmlns:a16="http://schemas.microsoft.com/office/drawing/2014/main" id="{413DB461-C9BB-4731-8F15-6A6E1DDDFCA4}"/>
              </a:ext>
            </a:extLst>
          </p:cNvPr>
          <p:cNvSpPr>
            <a:spLocks xmlns:a="http://schemas.openxmlformats.org/drawingml/2006/main" noGrp="1"/>
          </p:cNvSpPr>
          <p:nvPr/>
        </p:nvSpPr>
        <p:spPr>
          <a:xfrm xmlns:a="http://schemas.openxmlformats.org/drawingml/2006/main">
            <a:off x="60960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Match rules</a:t>
            </a:r>
          </a:p>
        </p:txBody>
      </p:sp>
      <p:sp>
        <p:nvSpPr>
          <p:cNvPr id="19" name="part-body-31-2">
            <a:extLst xmlns:a="http://schemas.openxmlformats.org/drawingml/2006/main">
              <a:ext uri="{FF2B5EF4-FFF2-40B4-BE49-F238E27FC236}">
                <a16:creationId xmlns:a16="http://schemas.microsoft.com/office/drawing/2014/main" id="{B9439467-4137-47ED-9A77-AE0178982B2C}"/>
              </a:ext>
            </a:extLst>
          </p:cNvPr>
          <p:cNvSpPr>
            <a:spLocks xmlns:a="http://schemas.openxmlformats.org/drawingml/2006/main" noGrp="1"/>
          </p:cNvSpPr>
          <p:nvPr/>
        </p:nvSpPr>
        <p:spPr>
          <a:xfrm xmlns:a="http://schemas.openxmlformats.org/drawingml/2006/main">
            <a:off x="60960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Parsers and targeted patterns identify properties such as public access, wildcard permissions, or privileged execution.</a:t>
            </a:r>
          </a:p>
        </p:txBody>
      </p:sp>
      <p:sp>
        <p:nvSpPr>
          <p:cNvPr id="20" name="part-num-31-3">
            <a:extLst xmlns:a="http://schemas.openxmlformats.org/drawingml/2006/main">
              <a:ext uri="{FF2B5EF4-FFF2-40B4-BE49-F238E27FC236}">
                <a16:creationId xmlns:a16="http://schemas.microsoft.com/office/drawing/2014/main" id="{85FC043A-D580-44BD-979A-451224F32532}"/>
              </a:ext>
            </a:extLst>
          </p:cNvPr>
          <p:cNvSpPr>
            <a:spLocks xmlns:a="http://schemas.openxmlformats.org/drawingml/2006/main" noGrp="1"/>
          </p:cNvSpPr>
          <p:nvPr/>
        </p:nvSpPr>
        <p:spPr>
          <a:xfrm xmlns:a="http://schemas.openxmlformats.org/drawingml/2006/main">
            <a:off x="8877300" y="1809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7C3AED"/>
                </a:solidFill>
                <a:latin typeface="Helvetica Neue"/>
                <a:ea typeface="Helvetica Neue"/>
                <a:cs typeface="Helvetica Neue"/>
              </a:defRPr>
            </a:pPr>
            <a:r>
              <a:rPr sz="2100" b="1">
                <a:solidFill>
                  <a:srgbClr val="7C3AED"/>
                </a:solidFill>
                <a:latin typeface="Helvetica Neue"/>
                <a:ea typeface="Helvetica Neue"/>
                <a:cs typeface="Helvetica Neue"/>
              </a:rPr>
              <a:t>04</a:t>
            </a:r>
          </a:p>
        </p:txBody>
      </p:sp>
      <p:sp>
        <p:nvSpPr>
          <p:cNvPr id="21" name="part-rule-31-3">
            <a:extLst xmlns:a="http://schemas.openxmlformats.org/drawingml/2006/main">
              <a:ext uri="{FF2B5EF4-FFF2-40B4-BE49-F238E27FC236}">
                <a16:creationId xmlns:a16="http://schemas.microsoft.com/office/drawing/2014/main" id="{C2E29459-ECA4-4CB1-A9E4-CEC498F590C4}"/>
              </a:ext>
            </a:extLst>
          </p:cNvPr>
          <p:cNvSpPr>
            <a:spLocks xmlns:a="http://schemas.openxmlformats.org/drawingml/2006/main" noGrp="1"/>
          </p:cNvSpPr>
          <p:nvPr/>
        </p:nvSpPr>
        <p:spPr>
          <a:xfrm xmlns:a="http://schemas.openxmlformats.org/drawingml/2006/main">
            <a:off x="8877300" y="2381250"/>
            <a:ext cx="2362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22" name="part-title-31-3">
            <a:extLst xmlns:a="http://schemas.openxmlformats.org/drawingml/2006/main">
              <a:ext uri="{FF2B5EF4-FFF2-40B4-BE49-F238E27FC236}">
                <a16:creationId xmlns:a16="http://schemas.microsoft.com/office/drawing/2014/main" id="{E1962B6D-26CE-4452-8D21-24801A0CFC16}"/>
              </a:ext>
            </a:extLst>
          </p:cNvPr>
          <p:cNvSpPr>
            <a:spLocks xmlns:a="http://schemas.openxmlformats.org/drawingml/2006/main" noGrp="1"/>
          </p:cNvSpPr>
          <p:nvPr/>
        </p:nvSpPr>
        <p:spPr>
          <a:xfrm xmlns:a="http://schemas.openxmlformats.org/drawingml/2006/main">
            <a:off x="8877300" y="2667000"/>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0C1715"/>
                </a:solidFill>
                <a:latin typeface="Helvetica Neue"/>
                <a:ea typeface="Helvetica Neue"/>
                <a:cs typeface="Helvetica Neue"/>
              </a:defRPr>
            </a:pPr>
            <a:r>
              <a:rPr sz="1650" b="1">
                <a:solidFill>
                  <a:srgbClr val="0C1715"/>
                </a:solidFill>
                <a:latin typeface="Helvetica Neue"/>
                <a:ea typeface="Helvetica Neue"/>
                <a:cs typeface="Helvetica Neue"/>
              </a:rPr>
              <a:t>Return evidence</a:t>
            </a:r>
          </a:p>
        </p:txBody>
      </p:sp>
      <p:sp>
        <p:nvSpPr>
          <p:cNvPr id="23" name="part-body-31-3">
            <a:extLst xmlns:a="http://schemas.openxmlformats.org/drawingml/2006/main">
              <a:ext uri="{FF2B5EF4-FFF2-40B4-BE49-F238E27FC236}">
                <a16:creationId xmlns:a16="http://schemas.microsoft.com/office/drawing/2014/main" id="{8E2E3856-0588-4832-824E-C23FF4F98033}"/>
              </a:ext>
            </a:extLst>
          </p:cNvPr>
          <p:cNvSpPr>
            <a:spLocks xmlns:a="http://schemas.openxmlformats.org/drawingml/2006/main" noGrp="1"/>
          </p:cNvSpPr>
          <p:nvPr/>
        </p:nvSpPr>
        <p:spPr>
          <a:xfrm xmlns:a="http://schemas.openxmlformats.org/drawingml/2006/main">
            <a:off x="8877300" y="3143250"/>
            <a:ext cx="23622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0">
                <a:solidFill>
                  <a:srgbClr val="60716D"/>
                </a:solidFill>
                <a:latin typeface="Helvetica Neue"/>
                <a:ea typeface="Helvetica Neue"/>
                <a:cs typeface="Helvetica Neue"/>
              </a:defRPr>
            </a:pPr>
            <a:r>
              <a:rPr sz="1350" b="0">
                <a:solidFill>
                  <a:srgbClr val="60716D"/>
                </a:solidFill>
                <a:latin typeface="Helvetica Neue"/>
                <a:ea typeface="Helvetica Neue"/>
                <a:cs typeface="Helvetica Neue"/>
              </a:rPr>
              <a:t>The finding includes the template file, issue, severity, explanation, recommendation, and compliance references.</a:t>
            </a:r>
          </a:p>
        </p:txBody>
      </p:sp>
    </p:spTree>
    <p:extLst>
      <p:ext uri="{BB962C8B-B14F-4D97-AF65-F5344CB8AC3E}">
        <p14:creationId xmlns:p14="http://schemas.microsoft.com/office/powerpoint/2010/main" val="23579454"/>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2">
            <a:extLst xmlns:a="http://schemas.openxmlformats.org/drawingml/2006/main">
              <a:ext uri="{FF2B5EF4-FFF2-40B4-BE49-F238E27FC236}">
                <a16:creationId xmlns:a16="http://schemas.microsoft.com/office/drawing/2014/main" id="{E0287501-ECCA-4718-9F51-C26E8ACF6962}"/>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2">
            <a:extLst xmlns:a="http://schemas.openxmlformats.org/drawingml/2006/main">
              <a:ext uri="{FF2B5EF4-FFF2-40B4-BE49-F238E27FC236}">
                <a16:creationId xmlns:a16="http://schemas.microsoft.com/office/drawing/2014/main" id="{4C9FDA76-5D3B-42C7-AAEA-3FF911C2441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findings in the workshop fixtures</a:t>
            </a:r>
          </a:p>
        </p:txBody>
      </p:sp>
      <p:sp>
        <p:nvSpPr>
          <p:cNvPr id="3" name="title-rule-32">
            <a:extLst xmlns:a="http://schemas.openxmlformats.org/drawingml/2006/main">
              <a:ext uri="{FF2B5EF4-FFF2-40B4-BE49-F238E27FC236}">
                <a16:creationId xmlns:a16="http://schemas.microsoft.com/office/drawing/2014/main" id="{0E56C76B-0BB7-4C99-B8AC-DD117E5B769A}"/>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16bed0d5d1c4922"/>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2">
            <a:extLst xmlns:a="http://schemas.openxmlformats.org/drawingml/2006/main">
              <a:ext uri="{FF2B5EF4-FFF2-40B4-BE49-F238E27FC236}">
                <a16:creationId xmlns:a16="http://schemas.microsoft.com/office/drawing/2014/main" id="{A682EB5B-D3DF-4703-B62F-B275D2F0A3DE}"/>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2">
            <a:extLst xmlns:a="http://schemas.openxmlformats.org/drawingml/2006/main">
              <a:ext uri="{FF2B5EF4-FFF2-40B4-BE49-F238E27FC236}">
                <a16:creationId xmlns:a16="http://schemas.microsoft.com/office/drawing/2014/main" id="{00881224-335F-4D95-A3B0-CFA4FE831334}"/>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2">
            <a:extLst xmlns:a="http://schemas.openxmlformats.org/drawingml/2006/main">
              <a:ext uri="{FF2B5EF4-FFF2-40B4-BE49-F238E27FC236}">
                <a16:creationId xmlns:a16="http://schemas.microsoft.com/office/drawing/2014/main" id="{926A660D-F7F6-49C1-92ED-7E8E87704BE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32</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2095500"/>
                <a:gridCol w="4476750"/>
                <a:gridCol w="4552950"/>
              </a:tblGrid>
              <a:tr h="819150">
                <a:tc>
                  <a:txBody>
                    <a:bodyPr/>
                    <a:lstStyle/>
                    <a:p>
                      <a:r>
                        <a:rPr sz="1125" b="1">
                          <a:solidFill>
                            <a:srgbClr val="FFFFFF"/>
                          </a:solidFill>
                          <a:latin typeface="Helvetica Neue"/>
                          <a:ea typeface="Helvetica Neue"/>
                          <a:cs typeface="Helvetica Neue"/>
                        </a:rPr>
                        <a:t>Template</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Vulnerable configuration</a:t>
                      </a:r>
                    </a:p>
                  </a:txBody>
                  <a:tcPr marL="91440" marR="91440" marT="45720" marB="45720">
                    <a:solidFill>
                      <a:srgbClr val="7C3AED"/>
                    </a:solidFill>
                  </a:tcPr>
                </a:tc>
                <a:tc>
                  <a:txBody>
                    <a:bodyPr/>
                    <a:lstStyle/>
                    <a:p>
                      <a:r>
                        <a:rPr sz="1125" b="1">
                          <a:solidFill>
                            <a:srgbClr val="FFFFFF"/>
                          </a:solidFill>
                          <a:latin typeface="Helvetica Neue"/>
                          <a:ea typeface="Helvetica Neue"/>
                          <a:cs typeface="Helvetica Neue"/>
                        </a:rPr>
                        <a:t>Finding</a:t>
                      </a:r>
                    </a:p>
                  </a:txBody>
                  <a:tcPr marL="91440" marR="91440" marT="45720" marB="45720">
                    <a:solidFill>
                      <a:srgbClr val="7C3AED"/>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acl = public-read or ingress from 0.0.0.0/0</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Public S3 access or unrestricted network ingress</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Terraform</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publicly_accessible = true and no explicit encryption</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Public or unencrypted database</a:t>
                      </a:r>
                    </a:p>
                  </a:txBody>
                  <a:tcPr marL="91440" marR="91440" marT="45720" marB="45720">
                    <a:solidFill>
                      <a:srgbClr val="FFFFFF"/>
                    </a:solidFill>
                  </a:tcPr>
                </a:tc>
              </a:tr>
              <a:tr h="819150">
                <a:tc>
                  <a:txBody>
                    <a:bodyPr/>
                    <a:lstStyle/>
                    <a:p>
                      <a:r>
                        <a:rPr sz="1200" b="1">
                          <a:solidFill>
                            <a:srgbClr val="0C1715"/>
                          </a:solidFill>
                          <a:latin typeface="Helvetica Neue"/>
                          <a:ea typeface="Helvetica Neue"/>
                          <a:cs typeface="Helvetica Neue"/>
                        </a:rPr>
                        <a:t>Terraform or CloudFormation</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Action '*' with Resource '*'</a:t>
                      </a:r>
                    </a:p>
                  </a:txBody>
                  <a:tcPr marL="91440" marR="91440" marT="45720" marB="45720">
                    <a:solidFill>
                      <a:srgbClr val="F2F7F5"/>
                    </a:solidFill>
                  </a:tcPr>
                </a:tc>
                <a:tc>
                  <a:txBody>
                    <a:bodyPr/>
                    <a:lstStyle/>
                    <a:p>
                      <a:r>
                        <a:rPr sz="1200" b="0">
                          <a:solidFill>
                            <a:srgbClr val="0C1715"/>
                          </a:solidFill>
                          <a:latin typeface="Helvetica Neue"/>
                          <a:ea typeface="Helvetica Neue"/>
                          <a:cs typeface="Helvetica Neue"/>
                        </a:rPr>
                        <a:t>Wildcard IAM permission</a:t>
                      </a:r>
                    </a:p>
                  </a:txBody>
                  <a:tcPr marL="91440" marR="91440" marT="45720" marB="45720">
                    <a:solidFill>
                      <a:srgbClr val="F2F7F5"/>
                    </a:solidFill>
                  </a:tcPr>
                </a:tc>
              </a:tr>
              <a:tr h="819150">
                <a:tc>
                  <a:txBody>
                    <a:bodyPr/>
                    <a:lstStyle/>
                    <a:p>
                      <a:r>
                        <a:rPr sz="1200" b="1">
                          <a:solidFill>
                            <a:srgbClr val="0C1715"/>
                          </a:solidFill>
                          <a:latin typeface="Helvetica Neue"/>
                          <a:ea typeface="Helvetica Neue"/>
                          <a:cs typeface="Helvetica Neue"/>
                        </a:rPr>
                        <a:t>Kubernetes YAML</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privileged: true, cluster-admin, LoadBalancer, or Secret data</a:t>
                      </a:r>
                    </a:p>
                  </a:txBody>
                  <a:tcPr marL="91440" marR="91440" marT="45720" marB="45720">
                    <a:solidFill>
                      <a:srgbClr val="FFFFFF"/>
                    </a:solidFill>
                  </a:tcPr>
                </a:tc>
                <a:tc>
                  <a:txBody>
                    <a:bodyPr/>
                    <a:lstStyle/>
                    <a:p>
                      <a:r>
                        <a:rPr sz="1200" b="0">
                          <a:solidFill>
                            <a:srgbClr val="0C1715"/>
                          </a:solidFill>
                          <a:latin typeface="Helvetica Neue"/>
                          <a:ea typeface="Helvetica Neue"/>
                          <a:cs typeface="Helvetica Neue"/>
                        </a:rPr>
                        <a:t>Workload, RBAC, exposure, or secret-management risk</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4331520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ection-33">
            <a:extLst xmlns:a="http://schemas.openxmlformats.org/drawingml/2006/main">
              <a:ext uri="{FF2B5EF4-FFF2-40B4-BE49-F238E27FC236}">
                <a16:creationId xmlns:a16="http://schemas.microsoft.com/office/drawing/2014/main" id="{F82A0CE1-7DA9-4CD9-BCDD-325E4E65ED39}"/>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3">
            <a:extLst xmlns:a="http://schemas.openxmlformats.org/drawingml/2006/main">
              <a:ext uri="{FF2B5EF4-FFF2-40B4-BE49-F238E27FC236}">
                <a16:creationId xmlns:a16="http://schemas.microsoft.com/office/drawing/2014/main" id="{AFDAD5B2-3D9D-43EE-96D3-F7FEE94C5E88}"/>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findings show design risk before deployment</a:t>
            </a:r>
          </a:p>
        </p:txBody>
      </p:sp>
      <p:sp>
        <p:nvSpPr>
          <p:cNvPr id="3" name="title-rule-33">
            <a:extLst xmlns:a="http://schemas.openxmlformats.org/drawingml/2006/main">
              <a:ext uri="{FF2B5EF4-FFF2-40B4-BE49-F238E27FC236}">
                <a16:creationId xmlns:a16="http://schemas.microsoft.com/office/drawing/2014/main" id="{0C6FDD84-A4AE-4134-BD28-6CA37972E12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3ffcd764c53483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3">
            <a:extLst xmlns:a="http://schemas.openxmlformats.org/drawingml/2006/main">
              <a:ext uri="{FF2B5EF4-FFF2-40B4-BE49-F238E27FC236}">
                <a16:creationId xmlns:a16="http://schemas.microsoft.com/office/drawing/2014/main" id="{2CA7C7F5-41ED-48F5-B00B-76B111A73F02}"/>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3">
            <a:extLst xmlns:a="http://schemas.openxmlformats.org/drawingml/2006/main">
              <a:ext uri="{FF2B5EF4-FFF2-40B4-BE49-F238E27FC236}">
                <a16:creationId xmlns:a16="http://schemas.microsoft.com/office/drawing/2014/main" id="{92D88ACB-4710-4E3D-B436-73217ABA081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3">
            <a:extLst xmlns:a="http://schemas.openxmlformats.org/drawingml/2006/main">
              <a:ext uri="{FF2B5EF4-FFF2-40B4-BE49-F238E27FC236}">
                <a16:creationId xmlns:a16="http://schemas.microsoft.com/office/drawing/2014/main" id="{67CF0082-FA21-4A57-9419-5B500FF4B8A9}"/>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33</a:t>
            </a:r>
          </a:p>
        </p:txBody>
      </p:sp>
      <p:sp>
        <p:nvSpPr>
          <p:cNvPr id="8" name="pair-left-title-33">
            <a:extLst xmlns:a="http://schemas.openxmlformats.org/drawingml/2006/main">
              <a:ext uri="{FF2B5EF4-FFF2-40B4-BE49-F238E27FC236}">
                <a16:creationId xmlns:a16="http://schemas.microsoft.com/office/drawing/2014/main" id="{06E36A07-97CA-4170-8AF9-1E324D157F2D}"/>
              </a:ext>
            </a:extLst>
          </p:cNvPr>
          <p:cNvSpPr>
            <a:spLocks xmlns:a="http://schemas.openxmlformats.org/drawingml/2006/main" noGrp="1"/>
          </p:cNvSpPr>
          <p:nvPr/>
        </p:nvSpPr>
        <p:spPr>
          <a:xfrm xmlns:a="http://schemas.openxmlformats.org/drawingml/2006/main">
            <a:off x="533400" y="18478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7C3AED"/>
                </a:solidFill>
                <a:latin typeface="Helvetica Neue"/>
                <a:ea typeface="Helvetica Neue"/>
                <a:cs typeface="Helvetica Neue"/>
              </a:defRPr>
            </a:pPr>
            <a:r>
              <a:rPr sz="1800" b="1">
                <a:solidFill>
                  <a:srgbClr val="7C3AED"/>
                </a:solidFill>
                <a:latin typeface="Helvetica Neue"/>
                <a:ea typeface="Helvetica Neue"/>
                <a:cs typeface="Helvetica Neue"/>
              </a:rPr>
              <a:t>What IaC evidence proves</a:t>
            </a:r>
          </a:p>
        </p:txBody>
      </p:sp>
      <p:sp>
        <p:nvSpPr>
          <p:cNvPr id="9" name="pair-left-33">
            <a:extLst xmlns:a="http://schemas.openxmlformats.org/drawingml/2006/main">
              <a:ext uri="{FF2B5EF4-FFF2-40B4-BE49-F238E27FC236}">
                <a16:creationId xmlns:a16="http://schemas.microsoft.com/office/drawing/2014/main" id="{0E59A564-FAC4-45B8-859C-9B865147D391}"/>
              </a:ext>
            </a:extLst>
          </p:cNvPr>
          <p:cNvSpPr>
            <a:spLocks xmlns:a="http://schemas.openxmlformats.org/drawingml/2006/main" noGrp="1"/>
          </p:cNvSpPr>
          <p:nvPr/>
        </p:nvSpPr>
        <p:spPr>
          <a:xfrm xmlns:a="http://schemas.openxmlformats.org/drawingml/2006/main">
            <a:off x="47625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unsafe value exists in a versioned configuration file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The code change can be reviewed before any cloud mutation</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A second scan can compare the original and corrected source</a:t>
            </a:r>
          </a:p>
        </p:txBody>
      </p:sp>
      <p:sp>
        <p:nvSpPr>
          <p:cNvPr id="10" name="pair-divider-33">
            <a:extLst xmlns:a="http://schemas.openxmlformats.org/drawingml/2006/main">
              <a:ext uri="{FF2B5EF4-FFF2-40B4-BE49-F238E27FC236}">
                <a16:creationId xmlns:a16="http://schemas.microsoft.com/office/drawing/2014/main" id="{B4DAD101-D87A-4F82-99B1-0CA3D7C9FF22}"/>
              </a:ext>
            </a:extLst>
          </p:cNvPr>
          <p:cNvSpPr>
            <a:spLocks xmlns:a="http://schemas.openxmlformats.org/drawingml/2006/main" noGrp="1"/>
          </p:cNvSpPr>
          <p:nvPr/>
        </p:nvSpPr>
        <p:spPr>
          <a:xfrm xmlns:a="http://schemas.openxmlformats.org/drawingml/2006/main">
            <a:off x="6000750" y="1809750"/>
            <a:ext cx="9525" cy="3848100"/>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sp>
        <p:nvSpPr>
          <p:cNvPr id="11" name="pair-right-title-33">
            <a:extLst xmlns:a="http://schemas.openxmlformats.org/drawingml/2006/main">
              <a:ext uri="{FF2B5EF4-FFF2-40B4-BE49-F238E27FC236}">
                <a16:creationId xmlns:a16="http://schemas.microsoft.com/office/drawing/2014/main" id="{5B7557C4-0EDC-4F2C-BB64-5EE01BE5B1AE}"/>
              </a:ext>
            </a:extLst>
          </p:cNvPr>
          <p:cNvSpPr>
            <a:spLocks xmlns:a="http://schemas.openxmlformats.org/drawingml/2006/main" noGrp="1"/>
          </p:cNvSpPr>
          <p:nvPr/>
        </p:nvSpPr>
        <p:spPr>
          <a:xfrm xmlns:a="http://schemas.openxmlformats.org/drawingml/2006/main">
            <a:off x="6572250" y="1847850"/>
            <a:ext cx="466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7C3AED"/>
                </a:solidFill>
                <a:latin typeface="Helvetica Neue"/>
                <a:ea typeface="Helvetica Neue"/>
                <a:cs typeface="Helvetica Neue"/>
              </a:defRPr>
            </a:pPr>
            <a:r>
              <a:rPr sz="1800" b="1">
                <a:solidFill>
                  <a:srgbClr val="7C3AED"/>
                </a:solidFill>
                <a:latin typeface="Helvetica Neue"/>
                <a:ea typeface="Helvetica Neue"/>
                <a:cs typeface="Helvetica Neue"/>
              </a:rPr>
              <a:t>What IaC evidence cannot prove</a:t>
            </a:r>
          </a:p>
        </p:txBody>
      </p:sp>
      <p:sp>
        <p:nvSpPr>
          <p:cNvPr id="12" name="pair-right-33">
            <a:extLst xmlns:a="http://schemas.openxmlformats.org/drawingml/2006/main">
              <a:ext uri="{FF2B5EF4-FFF2-40B4-BE49-F238E27FC236}">
                <a16:creationId xmlns:a16="http://schemas.microsoft.com/office/drawing/2014/main" id="{DA5AE420-A4C6-4C75-A96D-393510BFE452}"/>
              </a:ext>
            </a:extLst>
          </p:cNvPr>
          <p:cNvSpPr>
            <a:spLocks xmlns:a="http://schemas.openxmlformats.org/drawingml/2006/main" noGrp="1"/>
          </p:cNvSpPr>
          <p:nvPr/>
        </p:nvSpPr>
        <p:spPr>
          <a:xfrm xmlns:a="http://schemas.openxmlformats.org/drawingml/2006/main">
            <a:off x="6515100" y="2400300"/>
            <a:ext cx="47625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the template has been deployed</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a later runtime change altered the live resource</a:t>
            </a:r>
          </a:p>
          <a:p xmlns:a="http://schemas.openxmlformats.org/drawingml/2006/main">
            <a:pPr marL="228600" indent="-114300">
              <a:spcAft>
                <a:spcPts val="1000"/>
              </a:spcAft>
              <a:buChar char="•"/>
              <a:defRPr sz="1500">
                <a:solidFill>
                  <a:srgbClr val="0C1715"/>
                </a:solidFill>
                <a:latin typeface="Helvetica Neue"/>
                <a:ea typeface="Helvetica Neue"/>
                <a:cs typeface="Helvetica Neue"/>
              </a:defRPr>
            </a:pPr>
            <a:r>
              <a:rPr sz="1500">
                <a:solidFill>
                  <a:srgbClr val="0C1715"/>
                </a:solidFill>
                <a:latin typeface="Helvetica Neue"/>
                <a:ea typeface="Helvetica Neue"/>
                <a:cs typeface="Helvetica Neue"/>
              </a:rPr>
              <a:t>Whether compensating controls reduce real exposure</a:t>
            </a:r>
          </a:p>
        </p:txBody>
      </p:sp>
      <p:sp>
        <p:nvSpPr>
          <p:cNvPr id="13" name="iac-difference-bg">
            <a:extLst xmlns:a="http://schemas.openxmlformats.org/drawingml/2006/main">
              <a:ext uri="{FF2B5EF4-FFF2-40B4-BE49-F238E27FC236}">
                <a16:creationId xmlns:a16="http://schemas.microsoft.com/office/drawing/2014/main" id="{2EB71B1D-7F54-4455-A13D-D3D022EF03F3}"/>
              </a:ext>
            </a:extLst>
          </p:cNvPr>
          <p:cNvSpPr>
            <a:spLocks xmlns:a="http://schemas.openxmlformats.org/drawingml/2006/main" noGrp="1"/>
          </p:cNvSpPr>
          <p:nvPr/>
        </p:nvSpPr>
        <p:spPr>
          <a:xfrm xmlns:a="http://schemas.openxmlformats.org/drawingml/2006/main">
            <a:off x="533400" y="5619750"/>
            <a:ext cx="11125200" cy="514350"/>
          </a:xfrm>
          <a:prstGeom xmlns:a="http://schemas.openxmlformats.org/drawingml/2006/main" prst="rect">
            <a:avLst/>
          </a:prstGeom>
          <a:solidFill xmlns:a="http://schemas.openxmlformats.org/drawingml/2006/main">
            <a:srgbClr val="DDF7EF"/>
          </a:solidFill>
          <a:ln xmlns:a="http://schemas.openxmlformats.org/drawingml/2006/main" w="0">
            <a:solidFill>
              <a:srgbClr val="DDF7EF"/>
            </a:solidFill>
            <a:prstDash val="solid"/>
          </a:ln>
        </p:spPr>
      </p:sp>
      <p:sp>
        <p:nvSpPr>
          <p:cNvPr id="14" name="iac-difference-note">
            <a:extLst xmlns:a="http://schemas.openxmlformats.org/drawingml/2006/main">
              <a:ext uri="{FF2B5EF4-FFF2-40B4-BE49-F238E27FC236}">
                <a16:creationId xmlns:a16="http://schemas.microsoft.com/office/drawing/2014/main" id="{E837A2C8-C8BC-46EB-86AD-963BFE43C609}"/>
              </a:ext>
            </a:extLst>
          </p:cNvPr>
          <p:cNvSpPr>
            <a:spLocks xmlns:a="http://schemas.openxmlformats.org/drawingml/2006/main" noGrp="1"/>
          </p:cNvSpPr>
          <p:nvPr/>
        </p:nvSpPr>
        <p:spPr>
          <a:xfrm xmlns:a="http://schemas.openxmlformats.org/drawingml/2006/main">
            <a:off x="762000" y="57816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Static and live scanning answer different questions, so mature programs use both.</a:t>
            </a:r>
          </a:p>
        </p:txBody>
      </p:sp>
    </p:spTree>
    <p:extLst>
      <p:ext uri="{BB962C8B-B14F-4D97-AF65-F5344CB8AC3E}">
        <p14:creationId xmlns:p14="http://schemas.microsoft.com/office/powerpoint/2010/main" val="158635573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ection-34">
            <a:extLst xmlns:a="http://schemas.openxmlformats.org/drawingml/2006/main">
              <a:ext uri="{FF2B5EF4-FFF2-40B4-BE49-F238E27FC236}">
                <a16:creationId xmlns:a16="http://schemas.microsoft.com/office/drawing/2014/main" id="{0E59A189-8CCA-4FC4-BB20-4C10AE01007B}"/>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4">
            <a:extLst xmlns:a="http://schemas.openxmlformats.org/drawingml/2006/main">
              <a:ext uri="{FF2B5EF4-FFF2-40B4-BE49-F238E27FC236}">
                <a16:creationId xmlns:a16="http://schemas.microsoft.com/office/drawing/2014/main" id="{661D5E6F-FE66-4B80-ADB2-EE33BC4AAFD9}"/>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IaC scan demonstration</a:t>
            </a:r>
          </a:p>
        </p:txBody>
      </p:sp>
      <p:sp>
        <p:nvSpPr>
          <p:cNvPr id="3" name="title-rule-34">
            <a:extLst xmlns:a="http://schemas.openxmlformats.org/drawingml/2006/main">
              <a:ext uri="{FF2B5EF4-FFF2-40B4-BE49-F238E27FC236}">
                <a16:creationId xmlns:a16="http://schemas.microsoft.com/office/drawing/2014/main" id="{7F0A08D6-C8D2-459A-9A42-57A76D78069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80348a5e5574838"/>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4">
            <a:extLst xmlns:a="http://schemas.openxmlformats.org/drawingml/2006/main">
              <a:ext uri="{FF2B5EF4-FFF2-40B4-BE49-F238E27FC236}">
                <a16:creationId xmlns:a16="http://schemas.microsoft.com/office/drawing/2014/main" id="{C69748FA-8F79-40AE-8981-284A3B47B39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4">
            <a:extLst xmlns:a="http://schemas.openxmlformats.org/drawingml/2006/main">
              <a:ext uri="{FF2B5EF4-FFF2-40B4-BE49-F238E27FC236}">
                <a16:creationId xmlns:a16="http://schemas.microsoft.com/office/drawing/2014/main" id="{AB3B25C3-5A4D-45BA-94FA-77EB1754EDAD}"/>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4">
            <a:extLst xmlns:a="http://schemas.openxmlformats.org/drawingml/2006/main">
              <a:ext uri="{FF2B5EF4-FFF2-40B4-BE49-F238E27FC236}">
                <a16:creationId xmlns:a16="http://schemas.microsoft.com/office/drawing/2014/main" id="{4A19D019-F8C6-4194-8D5B-228D072E0B66}"/>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34</a:t>
            </a:r>
          </a:p>
        </p:txBody>
      </p:sp>
      <p:sp>
        <p:nvSpPr>
          <p:cNvPr id="8" name="demo-band-34">
            <a:extLst xmlns:a="http://schemas.openxmlformats.org/drawingml/2006/main">
              <a:ext uri="{FF2B5EF4-FFF2-40B4-BE49-F238E27FC236}">
                <a16:creationId xmlns:a16="http://schemas.microsoft.com/office/drawing/2014/main" id="{A42B3A35-DAD1-4777-9C5D-0CD60E161A98}"/>
              </a:ext>
            </a:extLst>
          </p:cNvPr>
          <p:cNvSpPr>
            <a:spLocks xmlns:a="http://schemas.openxmlformats.org/drawingml/2006/main" noGrp="1"/>
          </p:cNvSpPr>
          <p:nvPr/>
        </p:nvSpPr>
        <p:spPr>
          <a:xfrm xmlns:a="http://schemas.openxmlformats.org/drawingml/2006/main">
            <a:off x="533400" y="1752600"/>
            <a:ext cx="2762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demo-provider-34">
            <a:extLst xmlns:a="http://schemas.openxmlformats.org/drawingml/2006/main">
              <a:ext uri="{FF2B5EF4-FFF2-40B4-BE49-F238E27FC236}">
                <a16:creationId xmlns:a16="http://schemas.microsoft.com/office/drawing/2014/main" id="{C34F1688-A9AD-4984-B8E5-E40B5C7703BA}"/>
              </a:ext>
            </a:extLst>
          </p:cNvPr>
          <p:cNvSpPr>
            <a:spLocks xmlns:a="http://schemas.openxmlformats.org/drawingml/2006/main" noGrp="1"/>
          </p:cNvSpPr>
          <p:nvPr/>
        </p:nvSpPr>
        <p:spPr>
          <a:xfrm xmlns:a="http://schemas.openxmlformats.org/drawingml/2006/main">
            <a:off x="800100" y="2057400"/>
            <a:ext cx="2190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0" name="demo-label-34">
            <a:extLst xmlns:a="http://schemas.openxmlformats.org/drawingml/2006/main">
              <a:ext uri="{FF2B5EF4-FFF2-40B4-BE49-F238E27FC236}">
                <a16:creationId xmlns:a16="http://schemas.microsoft.com/office/drawing/2014/main" id="{FE713B2D-0876-4782-833E-40DA70311A16}"/>
              </a:ext>
            </a:extLst>
          </p:cNvPr>
          <p:cNvSpPr>
            <a:spLocks xmlns:a="http://schemas.openxmlformats.org/drawingml/2006/main" noGrp="1"/>
          </p:cNvSpPr>
          <p:nvPr/>
        </p:nvSpPr>
        <p:spPr>
          <a:xfrm xmlns:a="http://schemas.openxmlformats.org/drawingml/2006/main">
            <a:off x="800100" y="27813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LIVE DEMONSTRATION</a:t>
            </a:r>
          </a:p>
        </p:txBody>
      </p:sp>
      <p:sp>
        <p:nvSpPr>
          <p:cNvPr id="11" name="demo-focus-34">
            <a:extLst xmlns:a="http://schemas.openxmlformats.org/drawingml/2006/main">
              <a:ext uri="{FF2B5EF4-FFF2-40B4-BE49-F238E27FC236}">
                <a16:creationId xmlns:a16="http://schemas.microsoft.com/office/drawing/2014/main" id="{4E9DAC7A-219C-4B83-AC21-C6AAD94E0DF4}"/>
              </a:ext>
            </a:extLst>
          </p:cNvPr>
          <p:cNvSpPr>
            <a:spLocks xmlns:a="http://schemas.openxmlformats.org/drawingml/2006/main" noGrp="1"/>
          </p:cNvSpPr>
          <p:nvPr/>
        </p:nvSpPr>
        <p:spPr>
          <a:xfrm xmlns:a="http://schemas.openxmlformats.org/drawingml/2006/main">
            <a:off x="800100" y="3257550"/>
            <a:ext cx="2095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The scanner reviews vulnerable Terraform, CloudFormation, and Kubernetes fixtures without creating any resources.</a:t>
            </a:r>
          </a:p>
        </p:txBody>
      </p:sp>
      <p:sp>
        <p:nvSpPr>
          <p:cNvPr id="12" name="demo-sequence-title-34">
            <a:extLst xmlns:a="http://schemas.openxmlformats.org/drawingml/2006/main">
              <a:ext uri="{FF2B5EF4-FFF2-40B4-BE49-F238E27FC236}">
                <a16:creationId xmlns:a16="http://schemas.microsoft.com/office/drawing/2014/main" id="{7F7120EF-6644-4A10-B33B-F69E9373A611}"/>
              </a:ext>
            </a:extLst>
          </p:cNvPr>
          <p:cNvSpPr>
            <a:spLocks xmlns:a="http://schemas.openxmlformats.org/drawingml/2006/main" noGrp="1"/>
          </p:cNvSpPr>
          <p:nvPr/>
        </p:nvSpPr>
        <p:spPr>
          <a:xfrm xmlns:a="http://schemas.openxmlformats.org/drawingml/2006/main">
            <a:off x="3810000" y="18478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650" b="1">
                <a:solidFill>
                  <a:srgbClr val="7C3AED"/>
                </a:solidFill>
                <a:latin typeface="Helvetica Neue"/>
                <a:ea typeface="Helvetica Neue"/>
                <a:cs typeface="Helvetica Neue"/>
              </a:defRPr>
            </a:pPr>
            <a:r>
              <a:rPr sz="1650" b="1">
                <a:solidFill>
                  <a:srgbClr val="7C3AED"/>
                </a:solidFill>
                <a:latin typeface="Helvetica Neue"/>
                <a:ea typeface="Helvetica Neue"/>
                <a:cs typeface="Helvetica Neue"/>
              </a:rPr>
              <a:t>What happens in the scan</a:t>
            </a:r>
          </a:p>
        </p:txBody>
      </p:sp>
      <p:sp>
        <p:nvSpPr>
          <p:cNvPr id="13" name="demo-num-34-0">
            <a:extLst xmlns:a="http://schemas.openxmlformats.org/drawingml/2006/main">
              <a:ext uri="{FF2B5EF4-FFF2-40B4-BE49-F238E27FC236}">
                <a16:creationId xmlns:a16="http://schemas.microsoft.com/office/drawing/2014/main" id="{BDC0FBD4-9715-4078-A951-4BB02CDF267E}"/>
              </a:ext>
            </a:extLst>
          </p:cNvPr>
          <p:cNvSpPr>
            <a:spLocks xmlns:a="http://schemas.openxmlformats.org/drawingml/2006/main" noGrp="1"/>
          </p:cNvSpPr>
          <p:nvPr/>
        </p:nvSpPr>
        <p:spPr>
          <a:xfrm xmlns:a="http://schemas.openxmlformats.org/drawingml/2006/main">
            <a:off x="3810000" y="23622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01</a:t>
            </a:r>
          </a:p>
        </p:txBody>
      </p:sp>
      <p:sp>
        <p:nvSpPr>
          <p:cNvPr id="14" name="demo-text-34-0">
            <a:extLst xmlns:a="http://schemas.openxmlformats.org/drawingml/2006/main">
              <a:ext uri="{FF2B5EF4-FFF2-40B4-BE49-F238E27FC236}">
                <a16:creationId xmlns:a16="http://schemas.microsoft.com/office/drawing/2014/main" id="{8BE0A76E-EC38-4D70-AFD7-F9F6041EB3FD}"/>
              </a:ext>
            </a:extLst>
          </p:cNvPr>
          <p:cNvSpPr>
            <a:spLocks xmlns:a="http://schemas.openxmlformats.org/drawingml/2006/main" noGrp="1"/>
          </p:cNvSpPr>
          <p:nvPr/>
        </p:nvSpPr>
        <p:spPr>
          <a:xfrm xmlns:a="http://schemas.openxmlformats.org/drawingml/2006/main">
            <a:off x="4438650" y="23050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1">
                <a:solidFill>
                  <a:srgbClr val="0C1715"/>
                </a:solidFill>
                <a:latin typeface="Helvetica Neue"/>
                <a:ea typeface="Helvetica Neue"/>
                <a:cs typeface="Helvetica Neue"/>
              </a:defRPr>
            </a:pPr>
            <a:r>
              <a:rPr sz="1425" b="1">
                <a:solidFill>
                  <a:srgbClr val="0C1715"/>
                </a:solidFill>
                <a:latin typeface="Helvetica Neue"/>
                <a:ea typeface="Helvetica Neue"/>
                <a:cs typeface="Helvetica Neue"/>
              </a:rPr>
              <a:t>The selected folder contains files for all three supported template types</a:t>
            </a:r>
          </a:p>
        </p:txBody>
      </p:sp>
      <p:sp>
        <p:nvSpPr>
          <p:cNvPr id="15" name="demo-num-34-1">
            <a:extLst xmlns:a="http://schemas.openxmlformats.org/drawingml/2006/main">
              <a:ext uri="{FF2B5EF4-FFF2-40B4-BE49-F238E27FC236}">
                <a16:creationId xmlns:a16="http://schemas.microsoft.com/office/drawing/2014/main" id="{1EEA36E5-1A22-404C-800B-56B591C40354}"/>
              </a:ext>
            </a:extLst>
          </p:cNvPr>
          <p:cNvSpPr>
            <a:spLocks xmlns:a="http://schemas.openxmlformats.org/drawingml/2006/main" noGrp="1"/>
          </p:cNvSpPr>
          <p:nvPr/>
        </p:nvSpPr>
        <p:spPr>
          <a:xfrm xmlns:a="http://schemas.openxmlformats.org/drawingml/2006/main">
            <a:off x="3810000" y="29718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02</a:t>
            </a:r>
          </a:p>
        </p:txBody>
      </p:sp>
      <p:sp>
        <p:nvSpPr>
          <p:cNvPr id="16" name="demo-text-34-1">
            <a:extLst xmlns:a="http://schemas.openxmlformats.org/drawingml/2006/main">
              <a:ext uri="{FF2B5EF4-FFF2-40B4-BE49-F238E27FC236}">
                <a16:creationId xmlns:a16="http://schemas.microsoft.com/office/drawing/2014/main" id="{DE5FFCDF-6868-46DA-BFE2-9D1634E10ADC}"/>
              </a:ext>
            </a:extLst>
          </p:cNvPr>
          <p:cNvSpPr>
            <a:spLocks xmlns:a="http://schemas.openxmlformats.org/drawingml/2006/main" noGrp="1"/>
          </p:cNvSpPr>
          <p:nvPr/>
        </p:nvSpPr>
        <p:spPr>
          <a:xfrm xmlns:a="http://schemas.openxmlformats.org/drawingml/2006/main">
            <a:off x="4438650" y="29146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File classification assigns each template to the correct rule set</a:t>
            </a:r>
          </a:p>
        </p:txBody>
      </p:sp>
      <p:sp>
        <p:nvSpPr>
          <p:cNvPr id="17" name="demo-num-34-2">
            <a:extLst xmlns:a="http://schemas.openxmlformats.org/drawingml/2006/main">
              <a:ext uri="{FF2B5EF4-FFF2-40B4-BE49-F238E27FC236}">
                <a16:creationId xmlns:a16="http://schemas.microsoft.com/office/drawing/2014/main" id="{EB03983B-4E02-435F-A117-B9E768B16F5F}"/>
              </a:ext>
            </a:extLst>
          </p:cNvPr>
          <p:cNvSpPr>
            <a:spLocks xmlns:a="http://schemas.openxmlformats.org/drawingml/2006/main" noGrp="1"/>
          </p:cNvSpPr>
          <p:nvPr/>
        </p:nvSpPr>
        <p:spPr>
          <a:xfrm xmlns:a="http://schemas.openxmlformats.org/drawingml/2006/main">
            <a:off x="3810000" y="35814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03</a:t>
            </a:r>
          </a:p>
        </p:txBody>
      </p:sp>
      <p:sp>
        <p:nvSpPr>
          <p:cNvPr id="18" name="demo-text-34-2">
            <a:extLst xmlns:a="http://schemas.openxmlformats.org/drawingml/2006/main">
              <a:ext uri="{FF2B5EF4-FFF2-40B4-BE49-F238E27FC236}">
                <a16:creationId xmlns:a16="http://schemas.microsoft.com/office/drawing/2014/main" id="{DA26394A-982E-4B51-81EF-40D7C0CDBAFF}"/>
              </a:ext>
            </a:extLst>
          </p:cNvPr>
          <p:cNvSpPr>
            <a:spLocks xmlns:a="http://schemas.openxmlformats.org/drawingml/2006/main" noGrp="1"/>
          </p:cNvSpPr>
          <p:nvPr/>
        </p:nvSpPr>
        <p:spPr>
          <a:xfrm xmlns:a="http://schemas.openxmlformats.org/drawingml/2006/main">
            <a:off x="4438650" y="35242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The finding points to the file and describes the matched unsafe setting</a:t>
            </a:r>
          </a:p>
        </p:txBody>
      </p:sp>
      <p:sp>
        <p:nvSpPr>
          <p:cNvPr id="19" name="demo-num-34-3">
            <a:extLst xmlns:a="http://schemas.openxmlformats.org/drawingml/2006/main">
              <a:ext uri="{FF2B5EF4-FFF2-40B4-BE49-F238E27FC236}">
                <a16:creationId xmlns:a16="http://schemas.microsoft.com/office/drawing/2014/main" id="{C8DBB34E-AC57-4EE8-BF7C-F78058597483}"/>
              </a:ext>
            </a:extLst>
          </p:cNvPr>
          <p:cNvSpPr>
            <a:spLocks xmlns:a="http://schemas.openxmlformats.org/drawingml/2006/main" noGrp="1"/>
          </p:cNvSpPr>
          <p:nvPr/>
        </p:nvSpPr>
        <p:spPr>
          <a:xfrm xmlns:a="http://schemas.openxmlformats.org/drawingml/2006/main">
            <a:off x="3810000" y="4191000"/>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04</a:t>
            </a:r>
          </a:p>
        </p:txBody>
      </p:sp>
      <p:sp>
        <p:nvSpPr>
          <p:cNvPr id="20" name="demo-text-34-3">
            <a:extLst xmlns:a="http://schemas.openxmlformats.org/drawingml/2006/main">
              <a:ext uri="{FF2B5EF4-FFF2-40B4-BE49-F238E27FC236}">
                <a16:creationId xmlns:a16="http://schemas.microsoft.com/office/drawing/2014/main" id="{3623BE8F-7999-4363-990A-000C3BF53048}"/>
              </a:ext>
            </a:extLst>
          </p:cNvPr>
          <p:cNvSpPr>
            <a:spLocks xmlns:a="http://schemas.openxmlformats.org/drawingml/2006/main" noGrp="1"/>
          </p:cNvSpPr>
          <p:nvPr/>
        </p:nvSpPr>
        <p:spPr>
          <a:xfrm xmlns:a="http://schemas.openxmlformats.org/drawingml/2006/main">
            <a:off x="4438650" y="4133850"/>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425" b="0">
                <a:solidFill>
                  <a:srgbClr val="0C1715"/>
                </a:solidFill>
                <a:latin typeface="Helvetica Neue"/>
                <a:ea typeface="Helvetica Neue"/>
                <a:cs typeface="Helvetica Neue"/>
              </a:defRPr>
            </a:pPr>
            <a:r>
              <a:rPr sz="1425" b="0">
                <a:solidFill>
                  <a:srgbClr val="0C1715"/>
                </a:solidFill>
                <a:latin typeface="Helvetica Neue"/>
                <a:ea typeface="Helvetica Neue"/>
                <a:cs typeface="Helvetica Neue"/>
              </a:rPr>
              <a:t>A corrected value produces a clean result or removes the original finding</a:t>
            </a:r>
          </a:p>
        </p:txBody>
      </p:sp>
      <p:sp>
        <p:nvSpPr>
          <p:cNvPr id="21" name="demo-result-bg-34">
            <a:extLst xmlns:a="http://schemas.openxmlformats.org/drawingml/2006/main">
              <a:ext uri="{FF2B5EF4-FFF2-40B4-BE49-F238E27FC236}">
                <a16:creationId xmlns:a16="http://schemas.microsoft.com/office/drawing/2014/main" id="{BEC40A51-4E30-4077-9D6A-08C1E7D9AD0F}"/>
              </a:ext>
            </a:extLst>
          </p:cNvPr>
          <p:cNvSpPr>
            <a:spLocks xmlns:a="http://schemas.openxmlformats.org/drawingml/2006/main" noGrp="1"/>
          </p:cNvSpPr>
          <p:nvPr/>
        </p:nvSpPr>
        <p:spPr>
          <a:xfrm xmlns:a="http://schemas.openxmlformats.org/drawingml/2006/main">
            <a:off x="3810000" y="5067300"/>
            <a:ext cx="7239000" cy="78105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2" name="demo-result-34">
            <a:extLst xmlns:a="http://schemas.openxmlformats.org/drawingml/2006/main">
              <a:ext uri="{FF2B5EF4-FFF2-40B4-BE49-F238E27FC236}">
                <a16:creationId xmlns:a16="http://schemas.microsoft.com/office/drawing/2014/main" id="{159C2A00-E34E-42C8-8B26-39173601F62E}"/>
              </a:ext>
            </a:extLst>
          </p:cNvPr>
          <p:cNvSpPr>
            <a:spLocks xmlns:a="http://schemas.openxmlformats.org/drawingml/2006/main" noGrp="1"/>
          </p:cNvSpPr>
          <p:nvPr/>
        </p:nvSpPr>
        <p:spPr>
          <a:xfrm xmlns:a="http://schemas.openxmlformats.org/drawingml/2006/main">
            <a:off x="4057650" y="5248275"/>
            <a:ext cx="676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The before-and-after scan becomes reviewable evidence of a secure source change.</a:t>
            </a:r>
          </a:p>
        </p:txBody>
      </p:sp>
    </p:spTree>
    <p:extLst>
      <p:ext uri="{BB962C8B-B14F-4D97-AF65-F5344CB8AC3E}">
        <p14:creationId xmlns:p14="http://schemas.microsoft.com/office/powerpoint/2010/main" val="67023676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ection-35">
            <a:extLst xmlns:a="http://schemas.openxmlformats.org/drawingml/2006/main">
              <a:ext uri="{FF2B5EF4-FFF2-40B4-BE49-F238E27FC236}">
                <a16:creationId xmlns:a16="http://schemas.microsoft.com/office/drawing/2014/main" id="{2D2EC7F1-DACB-4CA1-8156-CD73CE8CBB8D}"/>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5</a:t>
            </a:r>
          </a:p>
        </p:txBody>
      </p:sp>
      <p:sp>
        <p:nvSpPr>
          <p:cNvPr id="2" name="title-35">
            <a:extLst xmlns:a="http://schemas.openxmlformats.org/drawingml/2006/main">
              <a:ext uri="{FF2B5EF4-FFF2-40B4-BE49-F238E27FC236}">
                <a16:creationId xmlns:a16="http://schemas.microsoft.com/office/drawing/2014/main" id="{7AD25CFA-74DA-48A4-A072-1348ACA9EA37}"/>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Lab 4: Infrastructure as Code scanner</a:t>
            </a:r>
          </a:p>
        </p:txBody>
      </p:sp>
      <p:sp>
        <p:nvSpPr>
          <p:cNvPr id="3" name="title-rule-35">
            <a:extLst xmlns:a="http://schemas.openxmlformats.org/drawingml/2006/main">
              <a:ext uri="{FF2B5EF4-FFF2-40B4-BE49-F238E27FC236}">
                <a16:creationId xmlns:a16="http://schemas.microsoft.com/office/drawing/2014/main" id="{BC8FD085-0DDB-4BCE-A734-7C5B414121B0}"/>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ab8af3912f6c4154"/>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5">
            <a:extLst xmlns:a="http://schemas.openxmlformats.org/drawingml/2006/main">
              <a:ext uri="{FF2B5EF4-FFF2-40B4-BE49-F238E27FC236}">
                <a16:creationId xmlns:a16="http://schemas.microsoft.com/office/drawing/2014/main" id="{BF5F8437-A52A-4ADC-AA4E-26A90E608B18}"/>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5">
            <a:extLst xmlns:a="http://schemas.openxmlformats.org/drawingml/2006/main">
              <a:ext uri="{FF2B5EF4-FFF2-40B4-BE49-F238E27FC236}">
                <a16:creationId xmlns:a16="http://schemas.microsoft.com/office/drawing/2014/main" id="{001E0685-6778-4D9D-BCFC-F6B1DCF26189}"/>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5">
            <a:extLst xmlns:a="http://schemas.openxmlformats.org/drawingml/2006/main">
              <a:ext uri="{FF2B5EF4-FFF2-40B4-BE49-F238E27FC236}">
                <a16:creationId xmlns:a16="http://schemas.microsoft.com/office/drawing/2014/main" id="{648F55FD-C3C4-4FA0-ABEA-9B6B334BB051}"/>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35</a:t>
            </a:r>
          </a:p>
        </p:txBody>
      </p:sp>
      <p:sp>
        <p:nvSpPr>
          <p:cNvPr id="8" name="lab-band-35">
            <a:extLst xmlns:a="http://schemas.openxmlformats.org/drawingml/2006/main">
              <a:ext uri="{FF2B5EF4-FFF2-40B4-BE49-F238E27FC236}">
                <a16:creationId xmlns:a16="http://schemas.microsoft.com/office/drawing/2014/main" id="{1B28D4FF-EC1F-4066-980E-2F24694AC9FC}"/>
              </a:ext>
            </a:extLst>
          </p:cNvPr>
          <p:cNvSpPr>
            <a:spLocks xmlns:a="http://schemas.openxmlformats.org/drawingml/2006/main" noGrp="1"/>
          </p:cNvSpPr>
          <p:nvPr/>
        </p:nvSpPr>
        <p:spPr>
          <a:xfrm xmlns:a="http://schemas.openxmlformats.org/drawingml/2006/main">
            <a:off x="533400" y="1752600"/>
            <a:ext cx="2381250" cy="4095750"/>
          </a:xfrm>
          <a:prstGeom xmlns:a="http://schemas.openxmlformats.org/drawingml/2006/main" prst="rect">
            <a:avLst/>
          </a:prstGeom>
          <a:solidFill xmlns:a="http://schemas.openxmlformats.org/drawingml/2006/main">
            <a:srgbClr val="7C3AED"/>
          </a:solidFill>
          <a:ln xmlns:a="http://schemas.openxmlformats.org/drawingml/2006/main" w="0">
            <a:solidFill>
              <a:srgbClr val="7C3AED"/>
            </a:solidFill>
            <a:prstDash val="solid"/>
          </a:ln>
        </p:spPr>
      </p:sp>
      <p:sp>
        <p:nvSpPr>
          <p:cNvPr id="9" name="lab-number-35">
            <a:extLst xmlns:a="http://schemas.openxmlformats.org/drawingml/2006/main">
              <a:ext uri="{FF2B5EF4-FFF2-40B4-BE49-F238E27FC236}">
                <a16:creationId xmlns:a16="http://schemas.microsoft.com/office/drawing/2014/main" id="{9E070F8F-2769-4EE5-9811-542B33ABBBE8}"/>
              </a:ext>
            </a:extLst>
          </p:cNvPr>
          <p:cNvSpPr>
            <a:spLocks xmlns:a="http://schemas.openxmlformats.org/drawingml/2006/main" noGrp="1"/>
          </p:cNvSpPr>
          <p:nvPr/>
        </p:nvSpPr>
        <p:spPr>
          <a:xfrm xmlns:a="http://schemas.openxmlformats.org/drawingml/2006/main">
            <a:off x="781050" y="20383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LAB 4</a:t>
            </a:r>
          </a:p>
        </p:txBody>
      </p:sp>
      <p:sp>
        <p:nvSpPr>
          <p:cNvPr id="10" name="lab-provider-35">
            <a:extLst xmlns:a="http://schemas.openxmlformats.org/drawingml/2006/main">
              <a:ext uri="{FF2B5EF4-FFF2-40B4-BE49-F238E27FC236}">
                <a16:creationId xmlns:a16="http://schemas.microsoft.com/office/drawing/2014/main" id="{E1853508-AB17-4360-8525-C60F67293E3D}"/>
              </a:ext>
            </a:extLst>
          </p:cNvPr>
          <p:cNvSpPr>
            <a:spLocks xmlns:a="http://schemas.openxmlformats.org/drawingml/2006/main" noGrp="1"/>
          </p:cNvSpPr>
          <p:nvPr/>
        </p:nvSpPr>
        <p:spPr>
          <a:xfrm xmlns:a="http://schemas.openxmlformats.org/drawingml/2006/main">
            <a:off x="781050" y="26098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IaC</a:t>
            </a:r>
          </a:p>
        </p:txBody>
      </p:sp>
      <p:sp>
        <p:nvSpPr>
          <p:cNvPr id="11" name="lab-time-label-35">
            <a:extLst xmlns:a="http://schemas.openxmlformats.org/drawingml/2006/main">
              <a:ext uri="{FF2B5EF4-FFF2-40B4-BE49-F238E27FC236}">
                <a16:creationId xmlns:a16="http://schemas.microsoft.com/office/drawing/2014/main" id="{A2D8F145-439A-4DA8-BAF9-B2339CAD8781}"/>
              </a:ext>
            </a:extLst>
          </p:cNvPr>
          <p:cNvSpPr>
            <a:spLocks xmlns:a="http://schemas.openxmlformats.org/drawingml/2006/main" noGrp="1"/>
          </p:cNvSpPr>
          <p:nvPr/>
        </p:nvSpPr>
        <p:spPr>
          <a:xfrm xmlns:a="http://schemas.openxmlformats.org/drawingml/2006/main">
            <a:off x="781050" y="44767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Exercise time</a:t>
            </a:r>
          </a:p>
        </p:txBody>
      </p:sp>
      <p:sp>
        <p:nvSpPr>
          <p:cNvPr id="12" name="lab-time-35">
            <a:extLst xmlns:a="http://schemas.openxmlformats.org/drawingml/2006/main">
              <a:ext uri="{FF2B5EF4-FFF2-40B4-BE49-F238E27FC236}">
                <a16:creationId xmlns:a16="http://schemas.microsoft.com/office/drawing/2014/main" id="{536F59A2-1715-4675-AEE3-F785F43B6CFA}"/>
              </a:ext>
            </a:extLst>
          </p:cNvPr>
          <p:cNvSpPr>
            <a:spLocks xmlns:a="http://schemas.openxmlformats.org/drawingml/2006/main" noGrp="1"/>
          </p:cNvSpPr>
          <p:nvPr/>
        </p:nvSpPr>
        <p:spPr>
          <a:xfrm xmlns:a="http://schemas.openxmlformats.org/drawingml/2006/main">
            <a:off x="781050" y="4857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5 minutes</a:t>
            </a:r>
          </a:p>
        </p:txBody>
      </p:sp>
      <p:sp>
        <p:nvSpPr>
          <p:cNvPr id="13" name="lab-goal-label-35">
            <a:extLst xmlns:a="http://schemas.openxmlformats.org/drawingml/2006/main">
              <a:ext uri="{FF2B5EF4-FFF2-40B4-BE49-F238E27FC236}">
                <a16:creationId xmlns:a16="http://schemas.microsoft.com/office/drawing/2014/main" id="{01E6DB75-31A4-40FA-8455-2B95851532B7}"/>
              </a:ext>
            </a:extLst>
          </p:cNvPr>
          <p:cNvSpPr>
            <a:spLocks xmlns:a="http://schemas.openxmlformats.org/drawingml/2006/main" noGrp="1"/>
          </p:cNvSpPr>
          <p:nvPr/>
        </p:nvSpPr>
        <p:spPr>
          <a:xfrm xmlns:a="http://schemas.openxmlformats.org/drawingml/2006/main">
            <a:off x="3333750" y="1847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Goal</a:t>
            </a:r>
          </a:p>
        </p:txBody>
      </p:sp>
      <p:sp>
        <p:nvSpPr>
          <p:cNvPr id="14" name="lab-goal-35">
            <a:extLst xmlns:a="http://schemas.openxmlformats.org/drawingml/2006/main">
              <a:ext uri="{FF2B5EF4-FFF2-40B4-BE49-F238E27FC236}">
                <a16:creationId xmlns:a16="http://schemas.microsoft.com/office/drawing/2014/main" id="{033DC927-5576-4B6E-8612-BE99A0121EEC}"/>
              </a:ext>
            </a:extLst>
          </p:cNvPr>
          <p:cNvSpPr>
            <a:spLocks xmlns:a="http://schemas.openxmlformats.org/drawingml/2006/main" noGrp="1"/>
          </p:cNvSpPr>
          <p:nvPr/>
        </p:nvSpPr>
        <p:spPr>
          <a:xfrm xmlns:a="http://schemas.openxmlformats.org/drawingml/2006/main">
            <a:off x="3333750" y="2171700"/>
            <a:ext cx="7524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00" b="0">
                <a:solidFill>
                  <a:srgbClr val="0C1715"/>
                </a:solidFill>
                <a:latin typeface="Helvetica Neue"/>
                <a:ea typeface="Helvetica Neue"/>
                <a:cs typeface="Helvetica Neue"/>
              </a:defRPr>
            </a:pPr>
            <a:r>
              <a:rPr sz="1500" b="0">
                <a:solidFill>
                  <a:srgbClr val="0C1715"/>
                </a:solidFill>
                <a:latin typeface="Helvetica Neue"/>
                <a:ea typeface="Helvetica Neue"/>
                <a:cs typeface="Helvetica Neue"/>
              </a:rPr>
              <a:t>Identify an unsafe design choice, correct it in source, and verify the change.</a:t>
            </a:r>
          </a:p>
        </p:txBody>
      </p:sp>
      <p:sp>
        <p:nvSpPr>
          <p:cNvPr id="15" name="lab-task-label-35">
            <a:extLst xmlns:a="http://schemas.openxmlformats.org/drawingml/2006/main">
              <a:ext uri="{FF2B5EF4-FFF2-40B4-BE49-F238E27FC236}">
                <a16:creationId xmlns:a16="http://schemas.microsoft.com/office/drawing/2014/main" id="{D1475897-8A99-4EF1-A672-1B84C3384429}"/>
              </a:ext>
            </a:extLst>
          </p:cNvPr>
          <p:cNvSpPr>
            <a:spLocks xmlns:a="http://schemas.openxmlformats.org/drawingml/2006/main" noGrp="1"/>
          </p:cNvSpPr>
          <p:nvPr/>
        </p:nvSpPr>
        <p:spPr>
          <a:xfrm xmlns:a="http://schemas.openxmlformats.org/drawingml/2006/main">
            <a:off x="3333750" y="29908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Exercise</a:t>
            </a:r>
          </a:p>
        </p:txBody>
      </p:sp>
      <p:sp>
        <p:nvSpPr>
          <p:cNvPr id="16" name="lab-tasks-35">
            <a:extLst xmlns:a="http://schemas.openxmlformats.org/drawingml/2006/main">
              <a:ext uri="{FF2B5EF4-FFF2-40B4-BE49-F238E27FC236}">
                <a16:creationId xmlns:a16="http://schemas.microsoft.com/office/drawing/2014/main" id="{72E7FAC4-8AF5-4FAF-8ABE-06F7963C3DC3}"/>
              </a:ext>
            </a:extLst>
          </p:cNvPr>
          <p:cNvSpPr>
            <a:spLocks xmlns:a="http://schemas.openxmlformats.org/drawingml/2006/main" noGrp="1"/>
          </p:cNvSpPr>
          <p:nvPr/>
        </p:nvSpPr>
        <p:spPr>
          <a:xfrm xmlns:a="http://schemas.openxmlformats.org/drawingml/2006/main">
            <a:off x="3276600" y="33147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Open the provided IaC fixture folder without applying any template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Predict the findings in one Terraform, CloudFormation, or Kubernetes file</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Run the IaC scan and compare the findings with the prediction</a:t>
            </a:r>
          </a:p>
          <a:p xmlns:a="http://schemas.openxmlformats.org/drawingml/2006/main">
            <a:pPr marL="228600" indent="-114300">
              <a:spcAft>
                <a:spcPts val="7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Correct one setting and run the scan again</a:t>
            </a:r>
          </a:p>
        </p:txBody>
      </p:sp>
      <p:sp>
        <p:nvSpPr>
          <p:cNvPr id="17" name="lab-submit-label-35">
            <a:extLst xmlns:a="http://schemas.openxmlformats.org/drawingml/2006/main">
              <a:ext uri="{FF2B5EF4-FFF2-40B4-BE49-F238E27FC236}">
                <a16:creationId xmlns:a16="http://schemas.microsoft.com/office/drawing/2014/main" id="{AF61B042-5620-4A43-93B7-50718CD4A8BE}"/>
              </a:ext>
            </a:extLst>
          </p:cNvPr>
          <p:cNvSpPr>
            <a:spLocks xmlns:a="http://schemas.openxmlformats.org/drawingml/2006/main" noGrp="1"/>
          </p:cNvSpPr>
          <p:nvPr/>
        </p:nvSpPr>
        <p:spPr>
          <a:xfrm xmlns:a="http://schemas.openxmlformats.org/drawingml/2006/main">
            <a:off x="8572500" y="29908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7C3AED"/>
                </a:solidFill>
                <a:latin typeface="Helvetica Neue"/>
                <a:ea typeface="Helvetica Neue"/>
                <a:cs typeface="Helvetica Neue"/>
              </a:defRPr>
            </a:pPr>
            <a:r>
              <a:rPr sz="1275" b="1">
                <a:solidFill>
                  <a:srgbClr val="7C3AED"/>
                </a:solidFill>
                <a:latin typeface="Helvetica Neue"/>
                <a:ea typeface="Helvetica Neue"/>
                <a:cs typeface="Helvetica Neue"/>
              </a:rPr>
              <a:t>Evidence to submit</a:t>
            </a:r>
          </a:p>
        </p:txBody>
      </p:sp>
      <p:sp>
        <p:nvSpPr>
          <p:cNvPr id="18" name="lab-submit-35">
            <a:extLst xmlns:a="http://schemas.openxmlformats.org/drawingml/2006/main">
              <a:ext uri="{FF2B5EF4-FFF2-40B4-BE49-F238E27FC236}">
                <a16:creationId xmlns:a16="http://schemas.microsoft.com/office/drawing/2014/main" id="{A99D9581-3FF8-4FD2-BC73-55D866A65D26}"/>
              </a:ext>
            </a:extLst>
          </p:cNvPr>
          <p:cNvSpPr>
            <a:spLocks xmlns:a="http://schemas.openxmlformats.org/drawingml/2006/main" noGrp="1"/>
          </p:cNvSpPr>
          <p:nvPr/>
        </p:nvSpPr>
        <p:spPr>
          <a:xfrm xmlns:a="http://schemas.openxmlformats.org/drawingml/2006/main">
            <a:off x="8515350" y="3314700"/>
            <a:ext cx="266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Original finding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File and matched setting</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Corrected value</a:t>
            </a:r>
          </a:p>
          <a:p xmlns:a="http://schemas.openxmlformats.org/drawingml/2006/main">
            <a:pPr marL="228600" indent="-114300">
              <a:spcAft>
                <a:spcPts val="600"/>
              </a:spcAft>
              <a:buChar char="•"/>
              <a:defRPr sz="1275">
                <a:solidFill>
                  <a:srgbClr val="0C1715"/>
                </a:solidFill>
                <a:latin typeface="Helvetica Neue"/>
                <a:ea typeface="Helvetica Neue"/>
                <a:cs typeface="Helvetica Neue"/>
              </a:defRPr>
            </a:pPr>
            <a:r>
              <a:rPr sz="1275">
                <a:solidFill>
                  <a:srgbClr val="0C1715"/>
                </a:solidFill>
                <a:latin typeface="Helvetica Neue"/>
                <a:ea typeface="Helvetica Neue"/>
                <a:cs typeface="Helvetica Neue"/>
              </a:rPr>
              <a:t>Second scan result</a:t>
            </a:r>
          </a:p>
        </p:txBody>
      </p:sp>
      <p:sp>
        <p:nvSpPr>
          <p:cNvPr id="19" name="lab-check-bg-35">
            <a:extLst xmlns:a="http://schemas.openxmlformats.org/drawingml/2006/main">
              <a:ext uri="{FF2B5EF4-FFF2-40B4-BE49-F238E27FC236}">
                <a16:creationId xmlns:a16="http://schemas.microsoft.com/office/drawing/2014/main" id="{421EE970-27C9-45A7-B442-917567A0A50C}"/>
              </a:ext>
            </a:extLst>
          </p:cNvPr>
          <p:cNvSpPr>
            <a:spLocks xmlns:a="http://schemas.openxmlformats.org/drawingml/2006/main" noGrp="1"/>
          </p:cNvSpPr>
          <p:nvPr/>
        </p:nvSpPr>
        <p:spPr>
          <a:xfrm xmlns:a="http://schemas.openxmlformats.org/drawingml/2006/main">
            <a:off x="3333750" y="5238750"/>
            <a:ext cx="7848600" cy="609600"/>
          </a:xfrm>
          <a:prstGeom xmlns:a="http://schemas.openxmlformats.org/drawingml/2006/main" prst="rect">
            <a:avLst/>
          </a:prstGeom>
          <a:solidFill xmlns:a="http://schemas.openxmlformats.org/drawingml/2006/main">
            <a:srgbClr val="F2F7F5"/>
          </a:solidFill>
          <a:ln xmlns:a="http://schemas.openxmlformats.org/drawingml/2006/main" w="0">
            <a:solidFill>
              <a:srgbClr val="F2F7F5"/>
            </a:solidFill>
            <a:prstDash val="solid"/>
          </a:ln>
        </p:spPr>
      </p:sp>
      <p:sp>
        <p:nvSpPr>
          <p:cNvPr id="20" name="lab-check-35">
            <a:extLst xmlns:a="http://schemas.openxmlformats.org/drawingml/2006/main">
              <a:ext uri="{FF2B5EF4-FFF2-40B4-BE49-F238E27FC236}">
                <a16:creationId xmlns:a16="http://schemas.microsoft.com/office/drawing/2014/main" id="{EEA8D100-310D-40F2-884E-ADB18768CAC0}"/>
              </a:ext>
            </a:extLst>
          </p:cNvPr>
          <p:cNvSpPr>
            <a:spLocks xmlns:a="http://schemas.openxmlformats.org/drawingml/2006/main" noGrp="1"/>
          </p:cNvSpPr>
          <p:nvPr/>
        </p:nvSpPr>
        <p:spPr>
          <a:xfrm xmlns:a="http://schemas.openxmlformats.org/drawingml/2006/main">
            <a:off x="3562350" y="5410200"/>
            <a:ext cx="739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350" b="1">
                <a:solidFill>
                  <a:srgbClr val="0C1715"/>
                </a:solidFill>
                <a:latin typeface="Helvetica Neue"/>
                <a:ea typeface="Helvetica Neue"/>
                <a:cs typeface="Helvetica Neue"/>
              </a:defRPr>
            </a:pPr>
            <a:r>
              <a:rPr sz="1350" b="1">
                <a:solidFill>
                  <a:srgbClr val="0C1715"/>
                </a:solidFill>
                <a:latin typeface="Helvetica Neue"/>
                <a:ea typeface="Helvetica Neue"/>
                <a:cs typeface="Helvetica Neue"/>
              </a:rPr>
              <a:t>Completion: one finding has a documented before-and-after result</a:t>
            </a:r>
          </a:p>
        </p:txBody>
      </p:sp>
    </p:spTree>
    <p:extLst>
      <p:ext uri="{BB962C8B-B14F-4D97-AF65-F5344CB8AC3E}">
        <p14:creationId xmlns:p14="http://schemas.microsoft.com/office/powerpoint/2010/main" val="1047795853"/>
      </p:ext>
    </p:extLst>
  </p:cSld>
</p:sld>
</file>

<file path=ppt/slides/slide36.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ee853b19e00492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2" name="brand-name-36">
            <a:extLst xmlns:a="http://schemas.openxmlformats.org/drawingml/2006/main">
              <a:ext uri="{FF2B5EF4-FFF2-40B4-BE49-F238E27FC236}">
                <a16:creationId xmlns:a16="http://schemas.microsoft.com/office/drawing/2014/main" id="{D9505AB3-42BE-42CA-A972-6E7D16FABC6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DeepTrustxAI</a:t>
            </a:r>
          </a:p>
        </p:txBody>
      </p:sp>
      <p:sp>
        <p:nvSpPr>
          <p:cNvPr id="3" name="module-label-36">
            <a:extLst xmlns:a="http://schemas.openxmlformats.org/drawingml/2006/main">
              <a:ext uri="{FF2B5EF4-FFF2-40B4-BE49-F238E27FC236}">
                <a16:creationId xmlns:a16="http://schemas.microsoft.com/office/drawing/2014/main" id="{9DBC1CFB-ED59-4DFE-A995-5C9FDA2B430B}"/>
              </a:ext>
            </a:extLst>
          </p:cNvPr>
          <p:cNvSpPr>
            <a:spLocks xmlns:a="http://schemas.openxmlformats.org/drawingml/2006/main" noGrp="1"/>
          </p:cNvSpPr>
          <p:nvPr/>
        </p:nvSpPr>
        <p:spPr>
          <a:xfrm xmlns:a="http://schemas.openxmlformats.org/drawingml/2006/main">
            <a:off x="666750" y="609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MODULE 6</a:t>
            </a:r>
          </a:p>
        </p:txBody>
      </p:sp>
      <p:sp>
        <p:nvSpPr>
          <p:cNvPr id="4" name="module-title-36">
            <a:extLst xmlns:a="http://schemas.openxmlformats.org/drawingml/2006/main">
              <a:ext uri="{FF2B5EF4-FFF2-40B4-BE49-F238E27FC236}">
                <a16:creationId xmlns:a16="http://schemas.microsoft.com/office/drawing/2014/main" id="{34A29C48-B0CC-4D1D-909E-D521AA81FCB5}"/>
              </a:ext>
            </a:extLst>
          </p:cNvPr>
          <p:cNvSpPr>
            <a:spLocks xmlns:a="http://schemas.openxmlformats.org/drawingml/2006/main" noGrp="1"/>
          </p:cNvSpPr>
          <p:nvPr/>
        </p:nvSpPr>
        <p:spPr>
          <a:xfrm xmlns:a="http://schemas.openxmlformats.org/drawingml/2006/main">
            <a:off x="666750" y="1695450"/>
            <a:ext cx="857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Evidence, governance,</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and workshop close</a:t>
            </a:r>
          </a:p>
        </p:txBody>
      </p:sp>
      <p:sp>
        <p:nvSpPr>
          <p:cNvPr id="5" name="module-purpose-36">
            <a:extLst xmlns:a="http://schemas.openxmlformats.org/drawingml/2006/main">
              <a:ext uri="{FF2B5EF4-FFF2-40B4-BE49-F238E27FC236}">
                <a16:creationId xmlns:a16="http://schemas.microsoft.com/office/drawing/2014/main" id="{9118DA3C-B353-4791-8EA2-26E16A0D887D}"/>
              </a:ext>
            </a:extLst>
          </p:cNvPr>
          <p:cNvSpPr>
            <a:spLocks xmlns:a="http://schemas.openxmlformats.org/drawingml/2006/main" noGrp="1"/>
          </p:cNvSpPr>
          <p:nvPr/>
        </p:nvSpPr>
        <p:spPr>
          <a:xfrm xmlns:a="http://schemas.openxmlformats.org/drawingml/2006/main">
            <a:off x="704850" y="3695700"/>
            <a:ext cx="7810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8CBC6"/>
                </a:solidFill>
                <a:latin typeface="Helvetica Neue"/>
                <a:ea typeface="Helvetica Neue"/>
                <a:cs typeface="Helvetica Neue"/>
              </a:defRPr>
            </a:pPr>
            <a:r>
              <a:rPr sz="1800" b="0">
                <a:solidFill>
                  <a:srgbClr val="B8CBC6"/>
                </a:solidFill>
                <a:latin typeface="Helvetica Neue"/>
                <a:ea typeface="Helvetica Neue"/>
                <a:cs typeface="Helvetica Neue"/>
              </a:rPr>
              <a:t>Scanner output becomes useful when it supports prioritization, ownership, remediation, and verified closure.</a:t>
            </a:r>
          </a:p>
        </p:txBody>
      </p:sp>
      <p:sp>
        <p:nvSpPr>
          <p:cNvPr id="6" name="module-time-36">
            <a:extLst xmlns:a="http://schemas.openxmlformats.org/drawingml/2006/main">
              <a:ext uri="{FF2B5EF4-FFF2-40B4-BE49-F238E27FC236}">
                <a16:creationId xmlns:a16="http://schemas.microsoft.com/office/drawing/2014/main" id="{CCF6284D-7586-4344-A501-A0556BA35BE4}"/>
              </a:ext>
            </a:extLst>
          </p:cNvPr>
          <p:cNvSpPr>
            <a:spLocks xmlns:a="http://schemas.openxmlformats.org/drawingml/2006/main" noGrp="1"/>
          </p:cNvSpPr>
          <p:nvPr/>
        </p:nvSpPr>
        <p:spPr>
          <a:xfrm xmlns:a="http://schemas.openxmlformats.org/drawingml/2006/main">
            <a:off x="9334500" y="47625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2100" b="1">
                <a:solidFill>
                  <a:srgbClr val="42D7B0"/>
                </a:solidFill>
                <a:latin typeface="Helvetica Neue"/>
                <a:ea typeface="Helvetica Neue"/>
                <a:cs typeface="Helvetica Neue"/>
              </a:defRPr>
            </a:pPr>
            <a:r>
              <a:rPr sz="2100" b="1">
                <a:solidFill>
                  <a:srgbClr val="42D7B0"/>
                </a:solidFill>
                <a:latin typeface="Helvetica Neue"/>
                <a:ea typeface="Helvetica Neue"/>
                <a:cs typeface="Helvetica Neue"/>
              </a:rPr>
              <a:t>20 minutes</a:t>
            </a:r>
          </a:p>
        </p:txBody>
      </p:sp>
      <p:sp>
        <p:nvSpPr>
          <p:cNvPr id="7" name="module-rule-36">
            <a:extLst xmlns:a="http://schemas.openxmlformats.org/drawingml/2006/main">
              <a:ext uri="{FF2B5EF4-FFF2-40B4-BE49-F238E27FC236}">
                <a16:creationId xmlns:a16="http://schemas.microsoft.com/office/drawing/2014/main" id="{BAF735D2-C5D9-4AC9-930A-8E605E1A263E}"/>
              </a:ext>
            </a:extLst>
          </p:cNvPr>
          <p:cNvSpPr>
            <a:spLocks xmlns:a="http://schemas.openxmlformats.org/drawingml/2006/main" noGrp="1"/>
          </p:cNvSpPr>
          <p:nvPr/>
        </p:nvSpPr>
        <p:spPr>
          <a:xfrm xmlns:a="http://schemas.openxmlformats.org/drawingml/2006/main">
            <a:off x="666750" y="5391150"/>
            <a:ext cx="10763250" cy="19050"/>
          </a:xfrm>
          <a:prstGeom xmlns:a="http://schemas.openxmlformats.org/drawingml/2006/main" prst="rect">
            <a:avLst/>
          </a:prstGeom>
          <a:solidFill xmlns:a="http://schemas.openxmlformats.org/drawingml/2006/main">
            <a:srgbClr val="11856E"/>
          </a:solidFill>
          <a:ln xmlns:a="http://schemas.openxmlformats.org/drawingml/2006/main" w="0">
            <a:solidFill>
              <a:srgbClr val="11856E"/>
            </a:solidFill>
            <a:prstDash val="solid"/>
          </a:ln>
        </p:spPr>
      </p:sp>
      <p:sp>
        <p:nvSpPr>
          <p:cNvPr id="8" name="module-footer-36">
            <a:extLst xmlns:a="http://schemas.openxmlformats.org/drawingml/2006/main">
              <a:ext uri="{FF2B5EF4-FFF2-40B4-BE49-F238E27FC236}">
                <a16:creationId xmlns:a16="http://schemas.microsoft.com/office/drawing/2014/main" id="{6A904118-0B43-4297-ABA6-0326E743E148}"/>
              </a:ext>
            </a:extLst>
          </p:cNvPr>
          <p:cNvSpPr>
            <a:spLocks xmlns:a="http://schemas.openxmlformats.org/drawingml/2006/main" noGrp="1"/>
          </p:cNvSpPr>
          <p:nvPr/>
        </p:nvSpPr>
        <p:spPr>
          <a:xfrm xmlns:a="http://schemas.openxmlformats.org/drawingml/2006/main">
            <a:off x="666750" y="584835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0">
                <a:solidFill>
                  <a:srgbClr val="86A39C"/>
                </a:solidFill>
                <a:latin typeface="Helvetica Neue"/>
                <a:ea typeface="Helvetica Neue"/>
                <a:cs typeface="Helvetica Neue"/>
              </a:defRPr>
            </a:pPr>
            <a:r>
              <a:rPr sz="975" b="0">
                <a:solidFill>
                  <a:srgbClr val="86A39C"/>
                </a:solidFill>
                <a:latin typeface="Helvetica Neue"/>
                <a:ea typeface="Helvetica Neue"/>
                <a:cs typeface="Helvetica Neue"/>
              </a:rPr>
              <a:t>DeepTrustxAI CloudGuard workshop</a:t>
            </a:r>
          </a:p>
        </p:txBody>
      </p:sp>
      <p:sp>
        <p:nvSpPr>
          <p:cNvPr id="9" name="module-page-36">
            <a:extLst xmlns:a="http://schemas.openxmlformats.org/drawingml/2006/main">
              <a:ext uri="{FF2B5EF4-FFF2-40B4-BE49-F238E27FC236}">
                <a16:creationId xmlns:a16="http://schemas.microsoft.com/office/drawing/2014/main" id="{84ECF45F-4900-4706-A7E0-848D5ACE6191}"/>
              </a:ext>
            </a:extLst>
          </p:cNvPr>
          <p:cNvSpPr>
            <a:spLocks xmlns:a="http://schemas.openxmlformats.org/drawingml/2006/main" noGrp="1"/>
          </p:cNvSpPr>
          <p:nvPr/>
        </p:nvSpPr>
        <p:spPr>
          <a:xfrm xmlns:a="http://schemas.openxmlformats.org/drawingml/2006/main">
            <a:off x="10934700" y="58483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75" b="1">
                <a:solidFill>
                  <a:srgbClr val="86A39C"/>
                </a:solidFill>
                <a:latin typeface="Helvetica Neue"/>
                <a:ea typeface="Helvetica Neue"/>
                <a:cs typeface="Helvetica Neue"/>
              </a:defRPr>
            </a:pPr>
            <a:r>
              <a:rPr sz="975" b="1">
                <a:solidFill>
                  <a:srgbClr val="86A39C"/>
                </a:solidFill>
                <a:latin typeface="Helvetica Neue"/>
                <a:ea typeface="Helvetica Neue"/>
                <a:cs typeface="Helvetica Neue"/>
              </a:rPr>
              <a:t>36</a:t>
            </a:r>
          </a:p>
        </p:txBody>
      </p:sp>
    </p:spTree>
    <p:extLst>
      <p:ext uri="{BB962C8B-B14F-4D97-AF65-F5344CB8AC3E}">
        <p14:creationId xmlns:p14="http://schemas.microsoft.com/office/powerpoint/2010/main" val="90116463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37">
            <a:extLst xmlns:a="http://schemas.openxmlformats.org/drawingml/2006/main">
              <a:ext uri="{FF2B5EF4-FFF2-40B4-BE49-F238E27FC236}">
                <a16:creationId xmlns:a16="http://schemas.microsoft.com/office/drawing/2014/main" id="{5BA2E855-8746-4B52-9EAB-24211716A924}"/>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7">
            <a:extLst xmlns:a="http://schemas.openxmlformats.org/drawingml/2006/main">
              <a:ext uri="{FF2B5EF4-FFF2-40B4-BE49-F238E27FC236}">
                <a16:creationId xmlns:a16="http://schemas.microsoft.com/office/drawing/2014/main" id="{98C272BD-C87E-4C19-987F-72546FA2812F}"/>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How the four scanners differ</a:t>
            </a:r>
          </a:p>
        </p:txBody>
      </p:sp>
      <p:sp>
        <p:nvSpPr>
          <p:cNvPr id="3" name="title-rule-37">
            <a:extLst xmlns:a="http://schemas.openxmlformats.org/drawingml/2006/main">
              <a:ext uri="{FF2B5EF4-FFF2-40B4-BE49-F238E27FC236}">
                <a16:creationId xmlns:a16="http://schemas.microsoft.com/office/drawing/2014/main" id="{7CD53CD5-7338-474F-9A79-4797B7549057}"/>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75aa00ed96249aa"/>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7">
            <a:extLst xmlns:a="http://schemas.openxmlformats.org/drawingml/2006/main">
              <a:ext uri="{FF2B5EF4-FFF2-40B4-BE49-F238E27FC236}">
                <a16:creationId xmlns:a16="http://schemas.microsoft.com/office/drawing/2014/main" id="{40B88CD8-6D41-4C4B-9595-202288174247}"/>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7">
            <a:extLst xmlns:a="http://schemas.openxmlformats.org/drawingml/2006/main">
              <a:ext uri="{FF2B5EF4-FFF2-40B4-BE49-F238E27FC236}">
                <a16:creationId xmlns:a16="http://schemas.microsoft.com/office/drawing/2014/main" id="{E15A5B52-2571-46E4-B7A6-D52008D07EE5}"/>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7">
            <a:extLst xmlns:a="http://schemas.openxmlformats.org/drawingml/2006/main">
              <a:ext uri="{FF2B5EF4-FFF2-40B4-BE49-F238E27FC236}">
                <a16:creationId xmlns:a16="http://schemas.microsoft.com/office/drawing/2014/main" id="{62418F84-EB0A-43AA-8997-0C7B313CF00D}"/>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37</a:t>
            </a:r>
          </a:p>
        </p:txBody>
      </p:sp>
      <p:graphicFrame>
        <p:nvGraphicFramePr>
          <p:cNvPr id="16" name=""/>
          <p:cNvGraphicFramePr/>
          <p:nvPr/>
        </p:nvGraphicFramePr>
        <p:xfrm>
          <a:off xmlns:a="http://schemas.openxmlformats.org/drawingml/2006/main" x="533400" y="1752600"/>
          <a:ext xmlns:a="http://schemas.openxmlformats.org/drawingml/2006/main" cx="11125200" cy="4095750"/>
        </p:xfrm>
        <a:graphic xmlns:a="http://schemas.openxmlformats.org/drawingml/2006/main">
          <a:graphicData uri="http://schemas.openxmlformats.org/drawingml/2006/table">
            <a:tbl>
              <a:tblPr/>
              <a:tblGrid>
                <a:gridCol w="1428750"/>
                <a:gridCol w="2476500"/>
                <a:gridCol w="3810000"/>
                <a:gridCol w="3409950"/>
              </a:tblGrid>
              <a:tr h="819150">
                <a:tc>
                  <a:txBody>
                    <a:bodyPr/>
                    <a:lstStyle/>
                    <a:p>
                      <a:r>
                        <a:rPr sz="1125" b="1">
                          <a:solidFill>
                            <a:srgbClr val="FFFFFF"/>
                          </a:solidFill>
                          <a:latin typeface="Helvetica Neue"/>
                          <a:ea typeface="Helvetica Neue"/>
                          <a:cs typeface="Helvetica Neue"/>
                        </a:rPr>
                        <a:t>Scanner</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Primary input</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Best evidence</a:t>
                      </a:r>
                    </a:p>
                  </a:txBody>
                  <a:tcPr marL="91440" marR="91440" marT="45720" marB="45720">
                    <a:solidFill>
                      <a:srgbClr val="11856E"/>
                    </a:solidFill>
                  </a:tcPr>
                </a:tc>
                <a:tc>
                  <a:txBody>
                    <a:bodyPr/>
                    <a:lstStyle/>
                    <a:p>
                      <a:r>
                        <a:rPr sz="1125" b="1">
                          <a:solidFill>
                            <a:srgbClr val="FFFFFF"/>
                          </a:solidFill>
                          <a:latin typeface="Helvetica Neue"/>
                          <a:ea typeface="Helvetica Neue"/>
                          <a:cs typeface="Helvetica Neue"/>
                        </a:rPr>
                        <a:t>Main limitation</a:t>
                      </a:r>
                    </a:p>
                  </a:txBody>
                  <a:tcPr marL="91440" marR="91440" marT="45720" marB="45720">
                    <a:solidFill>
                      <a:srgbClr val="11856E"/>
                    </a:solidFill>
                  </a:tcPr>
                </a:tc>
              </a:tr>
              <a:tr h="819150">
                <a:tc>
                  <a:txBody>
                    <a:bodyPr/>
                    <a:lstStyle/>
                    <a:p>
                      <a:r>
                        <a:rPr sz="1125" b="1">
                          <a:solidFill>
                            <a:srgbClr val="0C1715"/>
                          </a:solidFill>
                          <a:latin typeface="Helvetica Neue"/>
                          <a:ea typeface="Helvetica Neue"/>
                          <a:cs typeface="Helvetica Neue"/>
                        </a:rPr>
                        <a:t>AWS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AWS account credentials and region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Observed cloud policy and resource configuration</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Only sees services allowed by the credential and selected regions</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GCP</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Service account and project</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Project IAM, resource properties, and firewall configuration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Project permissions and API availability control coverage</a:t>
                      </a:r>
                    </a:p>
                  </a:txBody>
                  <a:tcPr marL="91440" marR="91440" marT="45720" marB="45720">
                    <a:solidFill>
                      <a:srgbClr val="FFFFFF"/>
                    </a:solidFill>
                  </a:tcPr>
                </a:tc>
              </a:tr>
              <a:tr h="819150">
                <a:tc>
                  <a:txBody>
                    <a:bodyPr/>
                    <a:lstStyle/>
                    <a:p>
                      <a:r>
                        <a:rPr sz="1125" b="1">
                          <a:solidFill>
                            <a:srgbClr val="0C1715"/>
                          </a:solidFill>
                          <a:latin typeface="Helvetica Neue"/>
                          <a:ea typeface="Helvetica Neue"/>
                          <a:cs typeface="Helvetica Neue"/>
                        </a:rPr>
                        <a:t>Kubernetes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Kubeconfig or manifest files</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Workload, RBAC, exposure, and live-to-IaC state</a:t>
                      </a:r>
                    </a:p>
                  </a:txBody>
                  <a:tcPr marL="91440" marR="91440" marT="45720" marB="45720">
                    <a:solidFill>
                      <a:srgbClr val="F2F7F5"/>
                    </a:solidFill>
                  </a:tcPr>
                </a:tc>
                <a:tc>
                  <a:txBody>
                    <a:bodyPr/>
                    <a:lstStyle/>
                    <a:p>
                      <a:r>
                        <a:rPr sz="1125" b="0">
                          <a:solidFill>
                            <a:srgbClr val="0C1715"/>
                          </a:solidFill>
                          <a:latin typeface="Helvetica Neue"/>
                          <a:ea typeface="Helvetica Neue"/>
                          <a:cs typeface="Helvetica Neue"/>
                        </a:rPr>
                        <a:t>Cluster access and resource-list permissions affect live coverage</a:t>
                      </a:r>
                    </a:p>
                  </a:txBody>
                  <a:tcPr marL="91440" marR="91440" marT="45720" marB="45720">
                    <a:solidFill>
                      <a:srgbClr val="F2F7F5"/>
                    </a:solidFill>
                  </a:tcPr>
                </a:tc>
              </a:tr>
              <a:tr h="819150">
                <a:tc>
                  <a:txBody>
                    <a:bodyPr/>
                    <a:lstStyle/>
                    <a:p>
                      <a:r>
                        <a:rPr sz="1125" b="1">
                          <a:solidFill>
                            <a:srgbClr val="0C1715"/>
                          </a:solidFill>
                          <a:latin typeface="Helvetica Neue"/>
                          <a:ea typeface="Helvetica Neue"/>
                          <a:cs typeface="Helvetica Neue"/>
                        </a:rPr>
                        <a:t>IaC</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Repository path or uploaded templates</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Versioned file and unsafe configuration</a:t>
                      </a:r>
                    </a:p>
                  </a:txBody>
                  <a:tcPr marL="91440" marR="91440" marT="45720" marB="45720">
                    <a:solidFill>
                      <a:srgbClr val="FFFFFF"/>
                    </a:solidFill>
                  </a:tcPr>
                </a:tc>
                <a:tc>
                  <a:txBody>
                    <a:bodyPr/>
                    <a:lstStyle/>
                    <a:p>
                      <a:r>
                        <a:rPr sz="1125" b="0">
                          <a:solidFill>
                            <a:srgbClr val="0C1715"/>
                          </a:solidFill>
                          <a:latin typeface="Helvetica Neue"/>
                          <a:ea typeface="Helvetica Neue"/>
                          <a:cs typeface="Helvetica Neue"/>
                        </a:rPr>
                        <a:t>Does not prove that the template is deployed or currently exposed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9787886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38">
            <a:extLst xmlns:a="http://schemas.openxmlformats.org/drawingml/2006/main">
              <a:ext uri="{FF2B5EF4-FFF2-40B4-BE49-F238E27FC236}">
                <a16:creationId xmlns:a16="http://schemas.microsoft.com/office/drawing/2014/main" id="{4F74F647-E8C9-4C11-8CC0-70D4BE1409AC}"/>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8">
            <a:extLst xmlns:a="http://schemas.openxmlformats.org/drawingml/2006/main">
              <a:ext uri="{FF2B5EF4-FFF2-40B4-BE49-F238E27FC236}">
                <a16:creationId xmlns:a16="http://schemas.microsoft.com/office/drawing/2014/main" id="{DB537A17-423D-488D-8044-1A11C7B58CC3}"/>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Evidence and GRC connection</a:t>
            </a:r>
          </a:p>
        </p:txBody>
      </p:sp>
      <p:sp>
        <p:nvSpPr>
          <p:cNvPr id="3" name="title-rule-38">
            <a:extLst xmlns:a="http://schemas.openxmlformats.org/drawingml/2006/main">
              <a:ext uri="{FF2B5EF4-FFF2-40B4-BE49-F238E27FC236}">
                <a16:creationId xmlns:a16="http://schemas.microsoft.com/office/drawing/2014/main" id="{4B5AC302-ED71-46D1-AFF8-D50261637898}"/>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cb41723e284d86"/>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8">
            <a:extLst xmlns:a="http://schemas.openxmlformats.org/drawingml/2006/main">
              <a:ext uri="{FF2B5EF4-FFF2-40B4-BE49-F238E27FC236}">
                <a16:creationId xmlns:a16="http://schemas.microsoft.com/office/drawing/2014/main" id="{4CCF0CC9-BCA2-4436-932B-6C00E2759E7A}"/>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8">
            <a:extLst xmlns:a="http://schemas.openxmlformats.org/drawingml/2006/main">
              <a:ext uri="{FF2B5EF4-FFF2-40B4-BE49-F238E27FC236}">
                <a16:creationId xmlns:a16="http://schemas.microsoft.com/office/drawing/2014/main" id="{F8C12B94-6196-44B5-8948-57F11F1DF144}"/>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8">
            <a:extLst xmlns:a="http://schemas.openxmlformats.org/drawingml/2006/main">
              <a:ext uri="{FF2B5EF4-FFF2-40B4-BE49-F238E27FC236}">
                <a16:creationId xmlns:a16="http://schemas.microsoft.com/office/drawing/2014/main" id="{30D4F978-A737-44F6-8CEC-087E0C821D6C}"/>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38</a:t>
            </a:r>
          </a:p>
        </p:txBody>
      </p:sp>
      <p:sp>
        <p:nvSpPr>
          <p:cNvPr id="8" name="evidence-frame">
            <a:extLst xmlns:a="http://schemas.openxmlformats.org/drawingml/2006/main">
              <a:ext uri="{FF2B5EF4-FFF2-40B4-BE49-F238E27FC236}">
                <a16:creationId xmlns:a16="http://schemas.microsoft.com/office/drawing/2014/main" id="{6D6FBDF6-6811-4ADC-BD03-93D188FC7ECE}"/>
              </a:ext>
            </a:extLst>
          </p:cNvPr>
          <p:cNvSpPr>
            <a:spLocks xmlns:a="http://schemas.openxmlformats.org/drawingml/2006/main" noGrp="1"/>
          </p:cNvSpPr>
          <p:nvPr/>
        </p:nvSpPr>
        <p:spPr>
          <a:xfrm xmlns:a="http://schemas.openxmlformats.org/drawingml/2006/main">
            <a:off x="533400" y="1752600"/>
            <a:ext cx="7429500" cy="4095750"/>
          </a:xfrm>
          <a:prstGeom xmlns:a="http://schemas.openxmlformats.org/drawingml/2006/main" prst="rect">
            <a:avLst/>
          </a:prstGeom>
          <a:solidFill xmlns:a="http://schemas.openxmlformats.org/drawingml/2006/main">
            <a:srgbClr val="F2F7F5"/>
          </a:solidFill>
          <a:ln xmlns:a="http://schemas.openxmlformats.org/drawingml/2006/main" w="9525">
            <a:solidFill>
              <a:srgbClr val="B9C9C5"/>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e00154704344938"/>
          <a:stretch xmlns:a="http://schemas.openxmlformats.org/drawingml/2006/main"/>
        </p:blipFill>
        <p:spPr>
          <a:xfrm xmlns:a="http://schemas.openxmlformats.org/drawingml/2006/main">
            <a:off x="878417" y="1905000"/>
            <a:ext cx="6739467" cy="3790950"/>
          </a:xfrm>
          <a:prstGeom xmlns:a="http://schemas.openxmlformats.org/drawingml/2006/main" prst="roundRect">
            <a:avLst>
              <a:gd name="adj" fmla="val 1005"/>
            </a:avLst>
          </a:prstGeom>
        </p:spPr>
      </p:pic>
      <p:sp>
        <p:nvSpPr>
          <p:cNvPr id="10" name="evidence-title">
            <a:extLst xmlns:a="http://schemas.openxmlformats.org/drawingml/2006/main">
              <a:ext uri="{FF2B5EF4-FFF2-40B4-BE49-F238E27FC236}">
                <a16:creationId xmlns:a16="http://schemas.microsoft.com/office/drawing/2014/main" id="{4A412C6F-0CC9-4DD9-8D1D-7E81E23877CD}"/>
              </a:ext>
            </a:extLst>
          </p:cNvPr>
          <p:cNvSpPr>
            <a:spLocks xmlns:a="http://schemas.openxmlformats.org/drawingml/2006/main" noGrp="1"/>
          </p:cNvSpPr>
          <p:nvPr/>
        </p:nvSpPr>
        <p:spPr>
          <a:xfrm xmlns:a="http://schemas.openxmlformats.org/drawingml/2006/main">
            <a:off x="8382000" y="18859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1">
                <a:solidFill>
                  <a:srgbClr val="11856E"/>
                </a:solidFill>
                <a:latin typeface="Helvetica Neue"/>
                <a:ea typeface="Helvetica Neue"/>
                <a:cs typeface="Helvetica Neue"/>
              </a:defRPr>
            </a:pPr>
            <a:r>
              <a:rPr sz="1800" b="1">
                <a:solidFill>
                  <a:srgbClr val="11856E"/>
                </a:solidFill>
                <a:latin typeface="Helvetica Neue"/>
                <a:ea typeface="Helvetica Neue"/>
                <a:cs typeface="Helvetica Neue"/>
              </a:rPr>
              <a:t>A complete evidence record</a:t>
            </a:r>
          </a:p>
        </p:txBody>
      </p:sp>
      <p:sp>
        <p:nvSpPr>
          <p:cNvPr id="11" name="evidence-list">
            <a:extLst xmlns:a="http://schemas.openxmlformats.org/drawingml/2006/main">
              <a:ext uri="{FF2B5EF4-FFF2-40B4-BE49-F238E27FC236}">
                <a16:creationId xmlns:a16="http://schemas.microsoft.com/office/drawing/2014/main" id="{4008F271-6B0F-4285-9CC8-CB5D84D2E3BF}"/>
              </a:ext>
            </a:extLst>
          </p:cNvPr>
          <p:cNvSpPr>
            <a:spLocks xmlns:a="http://schemas.openxmlformats.org/drawingml/2006/main" noGrp="1"/>
          </p:cNvSpPr>
          <p:nvPr/>
        </p:nvSpPr>
        <p:spPr>
          <a:xfrm xmlns:a="http://schemas.openxmlformats.org/drawingml/2006/main">
            <a:off x="8305800" y="2628900"/>
            <a:ext cx="30480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Preserves the original scanner and target</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Names the exact asset or configuration file</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Stores the observation that supports the finding</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Maps the finding to a control and accountable owner</a:t>
            </a:r>
          </a:p>
          <a:p xmlns:a="http://schemas.openxmlformats.org/drawingml/2006/main">
            <a:pPr marL="228600" indent="-114300">
              <a:spcAft>
                <a:spcPts val="800"/>
              </a:spcAft>
              <a:buChar char="•"/>
              <a:defRPr sz="1350">
                <a:solidFill>
                  <a:srgbClr val="0C1715"/>
                </a:solidFill>
                <a:latin typeface="Helvetica Neue"/>
                <a:ea typeface="Helvetica Neue"/>
                <a:cs typeface="Helvetica Neue"/>
              </a:defRPr>
            </a:pPr>
            <a:r>
              <a:rPr sz="1350">
                <a:solidFill>
                  <a:srgbClr val="0C1715"/>
                </a:solidFill>
                <a:latin typeface="Helvetica Neue"/>
                <a:ea typeface="Helvetica Neue"/>
                <a:cs typeface="Helvetica Neue"/>
              </a:rPr>
              <a:t>Retains the rescan, corrected code, or cleanup event</a:t>
            </a:r>
          </a:p>
        </p:txBody>
      </p:sp>
    </p:spTree>
    <p:extLst>
      <p:ext uri="{BB962C8B-B14F-4D97-AF65-F5344CB8AC3E}">
        <p14:creationId xmlns:p14="http://schemas.microsoft.com/office/powerpoint/2010/main" val="128510866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39">
            <a:extLst xmlns:a="http://schemas.openxmlformats.org/drawingml/2006/main">
              <a:ext uri="{FF2B5EF4-FFF2-40B4-BE49-F238E27FC236}">
                <a16:creationId xmlns:a16="http://schemas.microsoft.com/office/drawing/2014/main" id="{EED2C11D-2C40-4C04-A5D0-D31305487D11}"/>
              </a:ext>
            </a:extLst>
          </p:cNvPr>
          <p:cNvSpPr>
            <a:spLocks xmlns:a="http://schemas.openxmlformats.org/drawingml/2006/main" noGrp="1"/>
          </p:cNvSpPr>
          <p:nvPr/>
        </p:nvSpPr>
        <p:spPr>
          <a:xfrm xmlns:a="http://schemas.openxmlformats.org/drawingml/2006/main">
            <a:off x="533400" y="3619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75" b="1">
                <a:solidFill>
                  <a:srgbClr val="11856E"/>
                </a:solidFill>
                <a:latin typeface="Helvetica Neue"/>
                <a:ea typeface="Helvetica Neue"/>
                <a:cs typeface="Helvetica Neue"/>
              </a:defRPr>
            </a:pPr>
            <a:r>
              <a:rPr sz="975" b="1">
                <a:solidFill>
                  <a:srgbClr val="11856E"/>
                </a:solidFill>
                <a:latin typeface="Helvetica Neue"/>
                <a:ea typeface="Helvetica Neue"/>
                <a:cs typeface="Helvetica Neue"/>
              </a:rPr>
              <a:t>MODULE 6</a:t>
            </a:r>
          </a:p>
        </p:txBody>
      </p:sp>
      <p:sp>
        <p:nvSpPr>
          <p:cNvPr id="2" name="title-39">
            <a:extLst xmlns:a="http://schemas.openxmlformats.org/drawingml/2006/main">
              <a:ext uri="{FF2B5EF4-FFF2-40B4-BE49-F238E27FC236}">
                <a16:creationId xmlns:a16="http://schemas.microsoft.com/office/drawing/2014/main" id="{E75D1615-8FA9-44D8-9FB0-8EB54E3E08E0}"/>
              </a:ext>
            </a:extLst>
          </p:cNvPr>
          <p:cNvSpPr>
            <a:spLocks xmlns:a="http://schemas.openxmlformats.org/drawingml/2006/main" noGrp="1"/>
          </p:cNvSpPr>
          <p:nvPr/>
        </p:nvSpPr>
        <p:spPr>
          <a:xfrm xmlns:a="http://schemas.openxmlformats.org/drawingml/2006/main">
            <a:off x="533400" y="685800"/>
            <a:ext cx="962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2850" b="1">
                <a:solidFill>
                  <a:srgbClr val="0C1715"/>
                </a:solidFill>
                <a:latin typeface="Helvetica Neue"/>
                <a:ea typeface="Helvetica Neue"/>
                <a:cs typeface="Helvetica Neue"/>
              </a:defRPr>
            </a:pPr>
            <a:r>
              <a:rPr sz="2850" b="1">
                <a:solidFill>
                  <a:srgbClr val="0C1715"/>
                </a:solidFill>
                <a:latin typeface="Helvetica Neue"/>
                <a:ea typeface="Helvetica Neue"/>
                <a:cs typeface="Helvetica Neue"/>
              </a:rPr>
              <a:t>Reason and Act workflow</a:t>
            </a:r>
          </a:p>
        </p:txBody>
      </p:sp>
      <p:sp>
        <p:nvSpPr>
          <p:cNvPr id="3" name="title-rule-39">
            <a:extLst xmlns:a="http://schemas.openxmlformats.org/drawingml/2006/main">
              <a:ext uri="{FF2B5EF4-FFF2-40B4-BE49-F238E27FC236}">
                <a16:creationId xmlns:a16="http://schemas.microsoft.com/office/drawing/2014/main" id="{075FB451-B0EF-490D-B79C-D13B196D6035}"/>
              </a:ext>
            </a:extLst>
          </p:cNvPr>
          <p:cNvSpPr>
            <a:spLocks xmlns:a="http://schemas.openxmlformats.org/drawingml/2006/main" noGrp="1"/>
          </p:cNvSpPr>
          <p:nvPr/>
        </p:nvSpPr>
        <p:spPr>
          <a:xfrm xmlns:a="http://schemas.openxmlformats.org/drawingml/2006/main">
            <a:off x="533400" y="1381125"/>
            <a:ext cx="11125200" cy="9525"/>
          </a:xfrm>
          <a:prstGeom xmlns:a="http://schemas.openxmlformats.org/drawingml/2006/main" prst="rect">
            <a:avLst/>
          </a:prstGeom>
          <a:solidFill xmlns:a="http://schemas.openxmlformats.org/drawingml/2006/main">
            <a:srgbClr val="B9C9C5"/>
          </a:solidFill>
          <a:ln xmlns:a="http://schemas.openxmlformats.org/drawingml/2006/main" w="0">
            <a:solidFill>
              <a:srgbClr val="B9C9C5"/>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58ef74f33ef495d"/>
          <a:stretch xmlns:a="http://schemas.openxmlformats.org/drawingml/2006/main"/>
        </p:blipFill>
        <p:spPr>
          <a:xfrm xmlns:a="http://schemas.openxmlformats.org/drawingml/2006/main">
            <a:off x="10858500" y="266700"/>
            <a:ext cx="361950" cy="361950"/>
          </a:xfrm>
          <a:prstGeom xmlns:a="http://schemas.openxmlformats.org/drawingml/2006/main" prst="rect">
            <a:avLst/>
          </a:prstGeom>
        </p:spPr>
      </p:pic>
      <p:sp>
        <p:nvSpPr>
          <p:cNvPr id="5" name="brand-name-39">
            <a:extLst xmlns:a="http://schemas.openxmlformats.org/drawingml/2006/main">
              <a:ext uri="{FF2B5EF4-FFF2-40B4-BE49-F238E27FC236}">
                <a16:creationId xmlns:a16="http://schemas.microsoft.com/office/drawing/2014/main" id="{DE8057A6-5F75-40B3-AA20-10211B688434}"/>
              </a:ext>
            </a:extLst>
          </p:cNvPr>
          <p:cNvSpPr>
            <a:spLocks xmlns:a="http://schemas.openxmlformats.org/drawingml/2006/main" noGrp="1"/>
          </p:cNvSpPr>
          <p:nvPr/>
        </p:nvSpPr>
        <p:spPr>
          <a:xfrm xmlns:a="http://schemas.openxmlformats.org/drawingml/2006/main">
            <a:off x="9429750" y="333375"/>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050" b="1">
                <a:solidFill>
                  <a:srgbClr val="0C1715"/>
                </a:solidFill>
                <a:latin typeface="Helvetica Neue"/>
                <a:ea typeface="Helvetica Neue"/>
                <a:cs typeface="Helvetica Neue"/>
              </a:defRPr>
            </a:pPr>
            <a:r>
              <a:rPr sz="1050" b="1">
                <a:solidFill>
                  <a:srgbClr val="0C1715"/>
                </a:solidFill>
                <a:latin typeface="Helvetica Neue"/>
                <a:ea typeface="Helvetica Neue"/>
                <a:cs typeface="Helvetica Neue"/>
              </a:rPr>
              <a:t>DeepTrustxAI</a:t>
            </a:r>
          </a:p>
        </p:txBody>
      </p:sp>
      <p:sp>
        <p:nvSpPr>
          <p:cNvPr id="6" name="footer-39">
            <a:extLst xmlns:a="http://schemas.openxmlformats.org/drawingml/2006/main">
              <a:ext uri="{FF2B5EF4-FFF2-40B4-BE49-F238E27FC236}">
                <a16:creationId xmlns:a16="http://schemas.microsoft.com/office/drawing/2014/main" id="{5FDF6E07-3412-472A-B202-2347FCB35AA8}"/>
              </a:ext>
            </a:extLst>
          </p:cNvPr>
          <p:cNvSpPr>
            <a:spLocks xmlns:a="http://schemas.openxmlformats.org/drawingml/2006/main" noGrp="1"/>
          </p:cNvSpPr>
          <p:nvPr/>
        </p:nvSpPr>
        <p:spPr>
          <a:xfrm xmlns:a="http://schemas.openxmlformats.org/drawingml/2006/main">
            <a:off x="533400" y="6486525"/>
            <a:ext cx="266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900" b="0">
                <a:solidFill>
                  <a:srgbClr val="60716D"/>
                </a:solidFill>
                <a:latin typeface="Helvetica Neue"/>
                <a:ea typeface="Helvetica Neue"/>
                <a:cs typeface="Helvetica Neue"/>
              </a:defRPr>
            </a:pPr>
            <a:r>
              <a:rPr sz="900" b="0">
                <a:solidFill>
                  <a:srgbClr val="60716D"/>
                </a:solidFill>
                <a:latin typeface="Helvetica Neue"/>
                <a:ea typeface="Helvetica Neue"/>
                <a:cs typeface="Helvetica Neue"/>
              </a:rPr>
              <a:t>CloudGuard security workshop</a:t>
            </a:r>
          </a:p>
        </p:txBody>
      </p:sp>
      <p:sp>
        <p:nvSpPr>
          <p:cNvPr id="7" name="page-39">
            <a:extLst xmlns:a="http://schemas.openxmlformats.org/drawingml/2006/main">
              <a:ext uri="{FF2B5EF4-FFF2-40B4-BE49-F238E27FC236}">
                <a16:creationId xmlns:a16="http://schemas.microsoft.com/office/drawing/2014/main" id="{58C0AC3A-705B-414D-964A-934C7DBA4405}"/>
              </a:ext>
            </a:extLst>
          </p:cNvPr>
          <p:cNvSpPr>
            <a:spLocks xmlns:a="http://schemas.openxmlformats.org/drawingml/2006/main" noGrp="1"/>
          </p:cNvSpPr>
          <p:nvPr/>
        </p:nvSpPr>
        <p:spPr>
          <a:xfrm xmlns:a="http://schemas.openxmlformats.org/drawingml/2006/main">
            <a:off x="11163300" y="6486525"/>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900" b="1">
                <a:solidFill>
                  <a:srgbClr val="60716D"/>
                </a:solidFill>
                <a:latin typeface="Helvetica Neue"/>
                <a:ea typeface="Helvetica Neue"/>
                <a:cs typeface="Helvetica Neue"/>
              </a:defRPr>
            </a:pPr>
            <a:r>
              <a:rPr sz="900" b="1">
                <a:solidFill>
                  <a:srgbClr val="60716D"/>
                </a:solidFill>
                <a:latin typeface="Helvetica Neue"/>
                <a:ea typeface="Helvetica Neue"/>
                <a:cs typeface="Helvetica Neue"/>
              </a:rPr>
              <a:t>39</a:t>
            </a:r>
          </a:p>
        </p:txBody>
      </p:sp>
      <p:sp>
        <p:nvSpPr>
          <p:cNvPr id="8" name="reason-frame">
            <a:extLst xmlns:a="http://schemas.openxmlformats.org/drawingml/2006/main">
              <a:ext uri="{FF2B5EF4-FFF2-40B4-BE49-F238E27FC236}">
                <a16:creationId xmlns:a16="http://schemas.microsoft.com/office/drawing/2014/main" id="{EA09A5D5-D581-430B-9535-C9FF4CE95346}"/>
              </a:ext>
            </a:extLst>
          </p:cNvPr>
          <p:cNvSpPr>
            <a:spLocks xmlns:a="http://schemas.openxmlformats.org/drawingml/2006/main" noGrp="1"/>
          </p:cNvSpPr>
          <p:nvPr/>
        </p:nvSpPr>
        <p:spPr>
          <a:xfrm xmlns:a="http://schemas.openxmlformats.org/drawingml/2006/main">
            <a:off x="533400" y="1752600"/>
            <a:ext cx="7239000" cy="4095750"/>
          </a:xfrm>
          <a:prstGeom xmlns:a="http://schemas.openxmlformats.org/drawingml/2006/main" prst="rect">
            <a:avLst/>
          </a:prstGeom>
          <a:solidFill xmlns:a="http://schemas.openxmlformats.org/drawingml/2006/main">
            <a:srgbClr val="0B1D19"/>
          </a:solidFill>
          <a:ln xmlns:a="http://schemas.openxmlformats.org/drawingml/2006/main" w="0">
            <a:solidFill>
              <a:srgbClr val="0B1D19"/>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b72bec1f87b4e93"/>
          <a:srcRect xmlns:a="http://schemas.openxmlformats.org/drawingml/2006/main" l="0" t="1404" r="0" b="1404"/>
          <a:stretch xmlns:a="http://schemas.openxmlformats.org/drawingml/2006/main">
            <a:fillRect l="0" t="0" r="0" b="0"/>
          </a:stretch>
        </p:blipFill>
        <p:spPr>
          <a:xfrm xmlns:a="http://schemas.openxmlformats.org/drawingml/2006/main">
            <a:off x="685800" y="1905000"/>
            <a:ext cx="6934200" cy="3790950"/>
          </a:xfrm>
          <a:prstGeom xmlns:a="http://schemas.openxmlformats.org/drawingml/2006/main" prst="roundRect">
            <a:avLst>
              <a:gd name="adj" fmla="val 1508"/>
            </a:avLst>
          </a:prstGeom>
        </p:spPr>
      </p:pic>
      <p:sp>
        <p:nvSpPr>
          <p:cNvPr id="10" name="reason-num-0">
            <a:extLst xmlns:a="http://schemas.openxmlformats.org/drawingml/2006/main">
              <a:ext uri="{FF2B5EF4-FFF2-40B4-BE49-F238E27FC236}">
                <a16:creationId xmlns:a16="http://schemas.microsoft.com/office/drawing/2014/main" id="{16670242-DA4A-4DA2-8ACD-A748B2552EE2}"/>
              </a:ext>
            </a:extLst>
          </p:cNvPr>
          <p:cNvSpPr>
            <a:spLocks xmlns:a="http://schemas.openxmlformats.org/drawingml/2006/main" noGrp="1"/>
          </p:cNvSpPr>
          <p:nvPr/>
        </p:nvSpPr>
        <p:spPr>
          <a:xfrm xmlns:a="http://schemas.openxmlformats.org/drawingml/2006/main">
            <a:off x="8115300" y="18859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1</a:t>
            </a:r>
          </a:p>
        </p:txBody>
      </p:sp>
      <p:sp>
        <p:nvSpPr>
          <p:cNvPr id="11" name="reason-title-0">
            <a:extLst xmlns:a="http://schemas.openxmlformats.org/drawingml/2006/main">
              <a:ext uri="{FF2B5EF4-FFF2-40B4-BE49-F238E27FC236}">
                <a16:creationId xmlns:a16="http://schemas.microsoft.com/office/drawing/2014/main" id="{666020C1-259E-4959-A4B1-298C3567366A}"/>
              </a:ext>
            </a:extLst>
          </p:cNvPr>
          <p:cNvSpPr>
            <a:spLocks xmlns:a="http://schemas.openxmlformats.org/drawingml/2006/main" noGrp="1"/>
          </p:cNvSpPr>
          <p:nvPr/>
        </p:nvSpPr>
        <p:spPr>
          <a:xfrm xmlns:a="http://schemas.openxmlformats.org/drawingml/2006/main">
            <a:off x="8591550" y="1847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Discover</a:t>
            </a:r>
          </a:p>
        </p:txBody>
      </p:sp>
      <p:sp>
        <p:nvSpPr>
          <p:cNvPr id="12" name="reason-body-0">
            <a:extLst xmlns:a="http://schemas.openxmlformats.org/drawingml/2006/main">
              <a:ext uri="{FF2B5EF4-FFF2-40B4-BE49-F238E27FC236}">
                <a16:creationId xmlns:a16="http://schemas.microsoft.com/office/drawing/2014/main" id="{4AB9929B-416F-4EDA-9919-FC1A17B4ECEA}"/>
              </a:ext>
            </a:extLst>
          </p:cNvPr>
          <p:cNvSpPr>
            <a:spLocks xmlns:a="http://schemas.openxmlformats.org/drawingml/2006/main" noGrp="1"/>
          </p:cNvSpPr>
          <p:nvPr/>
        </p:nvSpPr>
        <p:spPr>
          <a:xfrm xmlns:a="http://schemas.openxmlformats.org/drawingml/2006/main">
            <a:off x="8591550" y="2114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Scanner produces the finding</a:t>
            </a:r>
          </a:p>
        </p:txBody>
      </p:sp>
      <p:sp>
        <p:nvSpPr>
          <p:cNvPr id="13" name="reason-num-1">
            <a:extLst xmlns:a="http://schemas.openxmlformats.org/drawingml/2006/main">
              <a:ext uri="{FF2B5EF4-FFF2-40B4-BE49-F238E27FC236}">
                <a16:creationId xmlns:a16="http://schemas.microsoft.com/office/drawing/2014/main" id="{AAD0AA5F-55EF-4836-A25C-2453351A070E}"/>
              </a:ext>
            </a:extLst>
          </p:cNvPr>
          <p:cNvSpPr>
            <a:spLocks xmlns:a="http://schemas.openxmlformats.org/drawingml/2006/main" noGrp="1"/>
          </p:cNvSpPr>
          <p:nvPr/>
        </p:nvSpPr>
        <p:spPr>
          <a:xfrm xmlns:a="http://schemas.openxmlformats.org/drawingml/2006/main">
            <a:off x="8115300" y="25717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2</a:t>
            </a:r>
          </a:p>
        </p:txBody>
      </p:sp>
      <p:sp>
        <p:nvSpPr>
          <p:cNvPr id="14" name="reason-title-1">
            <a:extLst xmlns:a="http://schemas.openxmlformats.org/drawingml/2006/main">
              <a:ext uri="{FF2B5EF4-FFF2-40B4-BE49-F238E27FC236}">
                <a16:creationId xmlns:a16="http://schemas.microsoft.com/office/drawing/2014/main" id="{2B87FA8D-145A-49EF-A5B6-9D292832F393}"/>
              </a:ext>
            </a:extLst>
          </p:cNvPr>
          <p:cNvSpPr>
            <a:spLocks xmlns:a="http://schemas.openxmlformats.org/drawingml/2006/main" noGrp="1"/>
          </p:cNvSpPr>
          <p:nvPr/>
        </p:nvSpPr>
        <p:spPr>
          <a:xfrm xmlns:a="http://schemas.openxmlformats.org/drawingml/2006/main">
            <a:off x="8591550" y="25336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Prioritize</a:t>
            </a:r>
          </a:p>
        </p:txBody>
      </p:sp>
      <p:sp>
        <p:nvSpPr>
          <p:cNvPr id="15" name="reason-body-1">
            <a:extLst xmlns:a="http://schemas.openxmlformats.org/drawingml/2006/main">
              <a:ext uri="{FF2B5EF4-FFF2-40B4-BE49-F238E27FC236}">
                <a16:creationId xmlns:a16="http://schemas.microsoft.com/office/drawing/2014/main" id="{304044DF-0AB0-462D-AC72-595AB514DEF2}"/>
              </a:ext>
            </a:extLst>
          </p:cNvPr>
          <p:cNvSpPr>
            <a:spLocks xmlns:a="http://schemas.openxmlformats.org/drawingml/2006/main" noGrp="1"/>
          </p:cNvSpPr>
          <p:nvPr/>
        </p:nvSpPr>
        <p:spPr>
          <a:xfrm xmlns:a="http://schemas.openxmlformats.org/drawingml/2006/main">
            <a:off x="8591550" y="28003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Risk context changes urgency</a:t>
            </a:r>
          </a:p>
        </p:txBody>
      </p:sp>
      <p:sp>
        <p:nvSpPr>
          <p:cNvPr id="16" name="reason-num-2">
            <a:extLst xmlns:a="http://schemas.openxmlformats.org/drawingml/2006/main">
              <a:ext uri="{FF2B5EF4-FFF2-40B4-BE49-F238E27FC236}">
                <a16:creationId xmlns:a16="http://schemas.microsoft.com/office/drawing/2014/main" id="{82E56D0B-BC76-4EF0-A426-07DEC31FA571}"/>
              </a:ext>
            </a:extLst>
          </p:cNvPr>
          <p:cNvSpPr>
            <a:spLocks xmlns:a="http://schemas.openxmlformats.org/drawingml/2006/main" noGrp="1"/>
          </p:cNvSpPr>
          <p:nvPr/>
        </p:nvSpPr>
        <p:spPr>
          <a:xfrm xmlns:a="http://schemas.openxmlformats.org/drawingml/2006/main">
            <a:off x="8115300" y="32575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3</a:t>
            </a:r>
          </a:p>
        </p:txBody>
      </p:sp>
      <p:sp>
        <p:nvSpPr>
          <p:cNvPr id="17" name="reason-title-2">
            <a:extLst xmlns:a="http://schemas.openxmlformats.org/drawingml/2006/main">
              <a:ext uri="{FF2B5EF4-FFF2-40B4-BE49-F238E27FC236}">
                <a16:creationId xmlns:a16="http://schemas.microsoft.com/office/drawing/2014/main" id="{8B180E18-905A-4C5C-BB1F-95251E70D6DF}"/>
              </a:ext>
            </a:extLst>
          </p:cNvPr>
          <p:cNvSpPr>
            <a:spLocks xmlns:a="http://schemas.openxmlformats.org/drawingml/2006/main" noGrp="1"/>
          </p:cNvSpPr>
          <p:nvPr/>
        </p:nvSpPr>
        <p:spPr>
          <a:xfrm xmlns:a="http://schemas.openxmlformats.org/drawingml/2006/main">
            <a:off x="8591550" y="3219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Validate</a:t>
            </a:r>
          </a:p>
        </p:txBody>
      </p:sp>
      <p:sp>
        <p:nvSpPr>
          <p:cNvPr id="18" name="reason-body-2">
            <a:extLst xmlns:a="http://schemas.openxmlformats.org/drawingml/2006/main">
              <a:ext uri="{FF2B5EF4-FFF2-40B4-BE49-F238E27FC236}">
                <a16:creationId xmlns:a16="http://schemas.microsoft.com/office/drawing/2014/main" id="{529D8ABF-6EE6-4EDF-A418-D07FD865C7FB}"/>
              </a:ext>
            </a:extLst>
          </p:cNvPr>
          <p:cNvSpPr>
            <a:spLocks xmlns:a="http://schemas.openxmlformats.org/drawingml/2006/main" noGrp="1"/>
          </p:cNvSpPr>
          <p:nvPr/>
        </p:nvSpPr>
        <p:spPr>
          <a:xfrm xmlns:a="http://schemas.openxmlformats.org/drawingml/2006/main">
            <a:off x="8591550" y="3486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Sandbox proof confirms the condition</a:t>
            </a:r>
          </a:p>
        </p:txBody>
      </p:sp>
      <p:sp>
        <p:nvSpPr>
          <p:cNvPr id="19" name="reason-num-3">
            <a:extLst xmlns:a="http://schemas.openxmlformats.org/drawingml/2006/main">
              <a:ext uri="{FF2B5EF4-FFF2-40B4-BE49-F238E27FC236}">
                <a16:creationId xmlns:a16="http://schemas.microsoft.com/office/drawing/2014/main" id="{48EC33B1-7EDA-4080-9387-5ABBCC4BFA20}"/>
              </a:ext>
            </a:extLst>
          </p:cNvPr>
          <p:cNvSpPr>
            <a:spLocks xmlns:a="http://schemas.openxmlformats.org/drawingml/2006/main" noGrp="1"/>
          </p:cNvSpPr>
          <p:nvPr/>
        </p:nvSpPr>
        <p:spPr>
          <a:xfrm xmlns:a="http://schemas.openxmlformats.org/drawingml/2006/main">
            <a:off x="8115300" y="39433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4</a:t>
            </a:r>
          </a:p>
        </p:txBody>
      </p:sp>
      <p:sp>
        <p:nvSpPr>
          <p:cNvPr id="20" name="reason-title-3">
            <a:extLst xmlns:a="http://schemas.openxmlformats.org/drawingml/2006/main">
              <a:ext uri="{FF2B5EF4-FFF2-40B4-BE49-F238E27FC236}">
                <a16:creationId xmlns:a16="http://schemas.microsoft.com/office/drawing/2014/main" id="{2BED2434-6032-417E-BED5-9A4ABEB0615B}"/>
              </a:ext>
            </a:extLst>
          </p:cNvPr>
          <p:cNvSpPr>
            <a:spLocks xmlns:a="http://schemas.openxmlformats.org/drawingml/2006/main" noGrp="1"/>
          </p:cNvSpPr>
          <p:nvPr/>
        </p:nvSpPr>
        <p:spPr>
          <a:xfrm xmlns:a="http://schemas.openxmlformats.org/drawingml/2006/main">
            <a:off x="8591550" y="3905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Approve</a:t>
            </a:r>
          </a:p>
        </p:txBody>
      </p:sp>
      <p:sp>
        <p:nvSpPr>
          <p:cNvPr id="21" name="reason-body-3">
            <a:extLst xmlns:a="http://schemas.openxmlformats.org/drawingml/2006/main">
              <a:ext uri="{FF2B5EF4-FFF2-40B4-BE49-F238E27FC236}">
                <a16:creationId xmlns:a16="http://schemas.microsoft.com/office/drawing/2014/main" id="{98C82014-704C-4FBC-9417-84D343A0C102}"/>
              </a:ext>
            </a:extLst>
          </p:cNvPr>
          <p:cNvSpPr>
            <a:spLocks xmlns:a="http://schemas.openxmlformats.org/drawingml/2006/main" noGrp="1"/>
          </p:cNvSpPr>
          <p:nvPr/>
        </p:nvSpPr>
        <p:spPr>
          <a:xfrm xmlns:a="http://schemas.openxmlformats.org/drawingml/2006/main">
            <a:off x="8591550" y="41719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A human reviews the proposed action</a:t>
            </a:r>
          </a:p>
        </p:txBody>
      </p:sp>
      <p:sp>
        <p:nvSpPr>
          <p:cNvPr id="22" name="reason-num-4">
            <a:extLst xmlns:a="http://schemas.openxmlformats.org/drawingml/2006/main">
              <a:ext uri="{FF2B5EF4-FFF2-40B4-BE49-F238E27FC236}">
                <a16:creationId xmlns:a16="http://schemas.microsoft.com/office/drawing/2014/main" id="{0D5EF090-FBCF-4793-9FFF-F2656D90BD51}"/>
              </a:ext>
            </a:extLst>
          </p:cNvPr>
          <p:cNvSpPr>
            <a:spLocks xmlns:a="http://schemas.openxmlformats.org/drawingml/2006/main" noGrp="1"/>
          </p:cNvSpPr>
          <p:nvPr/>
        </p:nvSpPr>
        <p:spPr>
          <a:xfrm xmlns:a="http://schemas.openxmlformats.org/drawingml/2006/main">
            <a:off x="8115300" y="4629150"/>
            <a:ext cx="323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75" b="1">
                <a:solidFill>
                  <a:srgbClr val="42D7B0"/>
                </a:solidFill>
                <a:latin typeface="Helvetica Neue"/>
                <a:ea typeface="Helvetica Neue"/>
                <a:cs typeface="Helvetica Neue"/>
              </a:defRPr>
            </a:pPr>
            <a:r>
              <a:rPr sz="1275" b="1">
                <a:solidFill>
                  <a:srgbClr val="42D7B0"/>
                </a:solidFill>
                <a:latin typeface="Helvetica Neue"/>
                <a:ea typeface="Helvetica Neue"/>
                <a:cs typeface="Helvetica Neue"/>
              </a:rPr>
              <a:t>5</a:t>
            </a:r>
          </a:p>
        </p:txBody>
      </p:sp>
      <p:sp>
        <p:nvSpPr>
          <p:cNvPr id="23" name="reason-title-4">
            <a:extLst xmlns:a="http://schemas.openxmlformats.org/drawingml/2006/main">
              <a:ext uri="{FF2B5EF4-FFF2-40B4-BE49-F238E27FC236}">
                <a16:creationId xmlns:a16="http://schemas.microsoft.com/office/drawing/2014/main" id="{05D4E28D-FCDA-404A-BE4F-64DF4576E49C}"/>
              </a:ext>
            </a:extLst>
          </p:cNvPr>
          <p:cNvSpPr>
            <a:spLocks xmlns:a="http://schemas.openxmlformats.org/drawingml/2006/main" noGrp="1"/>
          </p:cNvSpPr>
          <p:nvPr/>
        </p:nvSpPr>
        <p:spPr>
          <a:xfrm xmlns:a="http://schemas.openxmlformats.org/drawingml/2006/main">
            <a:off x="8591550" y="45910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575" b="1">
                <a:solidFill>
                  <a:srgbClr val="0C1715"/>
                </a:solidFill>
                <a:latin typeface="Helvetica Neue"/>
                <a:ea typeface="Helvetica Neue"/>
                <a:cs typeface="Helvetica Neue"/>
              </a:defRPr>
            </a:pPr>
            <a:r>
              <a:rPr sz="1575" b="1">
                <a:solidFill>
                  <a:srgbClr val="0C1715"/>
                </a:solidFill>
                <a:latin typeface="Helvetica Neue"/>
                <a:ea typeface="Helvetica Neue"/>
                <a:cs typeface="Helvetica Neue"/>
              </a:rPr>
              <a:t>Govern</a:t>
            </a:r>
          </a:p>
        </p:txBody>
      </p:sp>
      <p:sp>
        <p:nvSpPr>
          <p:cNvPr id="24" name="reason-body-4">
            <a:extLst xmlns:a="http://schemas.openxmlformats.org/drawingml/2006/main">
              <a:ext uri="{FF2B5EF4-FFF2-40B4-BE49-F238E27FC236}">
                <a16:creationId xmlns:a16="http://schemas.microsoft.com/office/drawing/2014/main" id="{362E0272-CAE5-4041-BD18-35BFA287388D}"/>
              </a:ext>
            </a:extLst>
          </p:cNvPr>
          <p:cNvSpPr>
            <a:spLocks xmlns:a="http://schemas.openxmlformats.org/drawingml/2006/main" noGrp="1"/>
          </p:cNvSpPr>
          <p:nvPr/>
        </p:nvSpPr>
        <p:spPr>
          <a:xfrm xmlns:a="http://schemas.openxmlformats.org/drawingml/2006/main">
            <a:off x="8591550" y="48577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0">
                <a:solidFill>
                  <a:srgbClr val="60716D"/>
                </a:solidFill>
                <a:latin typeface="Helvetica Neue"/>
                <a:ea typeface="Helvetica Neue"/>
                <a:cs typeface="Helvetica Neue"/>
              </a:defRPr>
            </a:pPr>
            <a:r>
              <a:rPr sz="1200" b="0">
                <a:solidFill>
                  <a:srgbClr val="60716D"/>
                </a:solidFill>
                <a:latin typeface="Helvetica Neue"/>
                <a:ea typeface="Helvetica Neue"/>
                <a:cs typeface="Helvetica Neue"/>
              </a:rPr>
              <a:t>Evidence records the final state</a:t>
            </a:r>
          </a:p>
        </p:txBody>
      </p:sp>
    </p:spTree>
    <p:extLst>
      <p:ext uri="{BB962C8B-B14F-4D97-AF65-F5344CB8AC3E}">
        <p14:creationId xmlns:p14="http://schemas.microsoft.com/office/powerpoint/2010/main" val="1783862537"/>
      </p:ext>
    </p:extLst>
  </p:cSld>
</p:sld>
</file>

<file path=ppt/slides/slide40.xml><?xml version="1.0" encoding="utf-8"?>
<p:sld xmlns:p="http://schemas.openxmlformats.org/presentationml/2006/main">
  <p:cSld>
    <p:bg>
      <p:bgPr>
        <a:solidFill xmlns:a="http://schemas.openxmlformats.org/drawingml/2006/main">
          <a:srgbClr val="0B1D19"/>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226665571744ca9"/>
          <a:stretch xmlns:a="http://schemas.openxmlformats.org/drawingml/2006/main"/>
        </p:blipFill>
        <p:spPr>
          <a:xfrm xmlns:a="http://schemas.openxmlformats.org/drawingml/2006/main">
            <a:off x="10287000" y="590550"/>
            <a:ext cx="1047750" cy="1047750"/>
          </a:xfrm>
          <a:prstGeom xmlns:a="http://schemas.openxmlformats.org/drawingml/2006/main" prst="rect">
            <a:avLst/>
          </a:prstGeom>
        </p:spPr>
      </p:pic>
      <p:sp>
        <p:nvSpPr>
          <p:cNvPr id="2" name="close-brand">
            <a:extLst xmlns:a="http://schemas.openxmlformats.org/drawingml/2006/main">
              <a:ext uri="{FF2B5EF4-FFF2-40B4-BE49-F238E27FC236}">
                <a16:creationId xmlns:a16="http://schemas.microsoft.com/office/drawing/2014/main" id="{CBE09BB2-1ACD-4061-994F-B9D3BD19F18B}"/>
              </a:ext>
            </a:extLst>
          </p:cNvPr>
          <p:cNvSpPr>
            <a:spLocks xmlns:a="http://schemas.openxmlformats.org/drawingml/2006/main" noGrp="1"/>
          </p:cNvSpPr>
          <p:nvPr/>
        </p:nvSpPr>
        <p:spPr>
          <a:xfrm xmlns:a="http://schemas.openxmlformats.org/drawingml/2006/main">
            <a:off x="9353550" y="17526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DeepTrustxAI</a:t>
            </a:r>
          </a:p>
        </p:txBody>
      </p:sp>
      <p:sp>
        <p:nvSpPr>
          <p:cNvPr id="3" name="close-title">
            <a:extLst xmlns:a="http://schemas.openxmlformats.org/drawingml/2006/main">
              <a:ext uri="{FF2B5EF4-FFF2-40B4-BE49-F238E27FC236}">
                <a16:creationId xmlns:a16="http://schemas.microsoft.com/office/drawing/2014/main" id="{79FD3364-F83A-499C-A301-D5D48B56977C}"/>
              </a:ext>
            </a:extLst>
          </p:cNvPr>
          <p:cNvSpPr>
            <a:spLocks xmlns:a="http://schemas.openxmlformats.org/drawingml/2006/main" noGrp="1"/>
          </p:cNvSpPr>
          <p:nvPr/>
        </p:nvSpPr>
        <p:spPr>
          <a:xfrm xmlns:a="http://schemas.openxmlformats.org/drawingml/2006/main">
            <a:off x="609600" y="762000"/>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Four scanners,</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one evidence story</a:t>
            </a:r>
          </a:p>
        </p:txBody>
      </p:sp>
      <p:sp>
        <p:nvSpPr>
          <p:cNvPr id="4" name="close-sub">
            <a:extLst xmlns:a="http://schemas.openxmlformats.org/drawingml/2006/main">
              <a:ext uri="{FF2B5EF4-FFF2-40B4-BE49-F238E27FC236}">
                <a16:creationId xmlns:a16="http://schemas.microsoft.com/office/drawing/2014/main" id="{92A248E2-3BEC-446E-9B7E-B7742C3C218B}"/>
              </a:ext>
            </a:extLst>
          </p:cNvPr>
          <p:cNvSpPr>
            <a:spLocks xmlns:a="http://schemas.openxmlformats.org/drawingml/2006/main" noGrp="1"/>
          </p:cNvSpPr>
          <p:nvPr/>
        </p:nvSpPr>
        <p:spPr>
          <a:xfrm xmlns:a="http://schemas.openxmlformats.org/drawingml/2006/main">
            <a:off x="628650" y="25146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800" b="0">
                <a:solidFill>
                  <a:srgbClr val="B7CBC5"/>
                </a:solidFill>
                <a:latin typeface="Helvetica Neue"/>
                <a:ea typeface="Helvetica Neue"/>
                <a:cs typeface="Helvetica Neue"/>
              </a:defRPr>
            </a:pPr>
            <a:r>
              <a:rPr sz="1800" b="0">
                <a:solidFill>
                  <a:srgbClr val="B7CBC5"/>
                </a:solidFill>
                <a:latin typeface="Helvetica Neue"/>
                <a:ea typeface="Helvetica Neue"/>
                <a:cs typeface="Helvetica Neue"/>
              </a:rPr>
              <a:t>The provider changes. A useful finding still answers the same questions.</a:t>
            </a:r>
          </a:p>
        </p:txBody>
      </p:sp>
      <p:sp>
        <p:nvSpPr>
          <p:cNvPr id="5" name="close-list">
            <a:extLst xmlns:a="http://schemas.openxmlformats.org/drawingml/2006/main">
              <a:ext uri="{FF2B5EF4-FFF2-40B4-BE49-F238E27FC236}">
                <a16:creationId xmlns:a16="http://schemas.microsoft.com/office/drawing/2014/main" id="{A177243F-9538-4729-9F54-B6E8A6D2E453}"/>
              </a:ext>
            </a:extLst>
          </p:cNvPr>
          <p:cNvSpPr>
            <a:spLocks xmlns:a="http://schemas.openxmlformats.org/drawingml/2006/main" noGrp="1"/>
          </p:cNvSpPr>
          <p:nvPr/>
        </p:nvSpPr>
        <p:spPr>
          <a:xfrm xmlns:a="http://schemas.openxmlformats.org/drawingml/2006/main">
            <a:off x="552450" y="3257550"/>
            <a:ext cx="77152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asset or file contains the unsafe condition?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observation proves the issue exists?</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How large is the exposure and identity blast radius?</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Who owns the correction?</a:t>
            </a:r>
          </a:p>
          <a:p xmlns:a="http://schemas.openxmlformats.org/drawingml/2006/main">
            <a:pPr marL="228600" indent="-114300">
              <a:spcAft>
                <a:spcPts val="800"/>
              </a:spcAft>
              <a:buChar char="•"/>
              <a:defRPr sz="1575">
                <a:solidFill>
                  <a:srgbClr val="FFFFFF"/>
                </a:solidFill>
                <a:latin typeface="Helvetica Neue"/>
                <a:ea typeface="Helvetica Neue"/>
                <a:cs typeface="Helvetica Neue"/>
              </a:defRPr>
            </a:pPr>
            <a:r>
              <a:rPr sz="1575">
                <a:solidFill>
                  <a:srgbClr val="FFFFFF"/>
                </a:solidFill>
                <a:latin typeface="Helvetica Neue"/>
                <a:ea typeface="Helvetica Neue"/>
                <a:cs typeface="Helvetica Neue"/>
              </a:rPr>
              <a:t>What rescan, code change, or cleanup event proves closure?</a:t>
            </a:r>
          </a:p>
        </p:txBody>
      </p:sp>
      <p:sp>
        <p:nvSpPr>
          <p:cNvPr id="6" name="close-quote-bg">
            <a:extLst xmlns:a="http://schemas.openxmlformats.org/drawingml/2006/main">
              <a:ext uri="{FF2B5EF4-FFF2-40B4-BE49-F238E27FC236}">
                <a16:creationId xmlns:a16="http://schemas.microsoft.com/office/drawing/2014/main" id="{1616F195-CA97-4DC7-A30B-45B6BACEFECA}"/>
              </a:ext>
            </a:extLst>
          </p:cNvPr>
          <p:cNvSpPr>
            <a:spLocks xmlns:a="http://schemas.openxmlformats.org/drawingml/2006/main" noGrp="1"/>
          </p:cNvSpPr>
          <p:nvPr/>
        </p:nvSpPr>
        <p:spPr>
          <a:xfrm xmlns:a="http://schemas.openxmlformats.org/drawingml/2006/main">
            <a:off x="8858250" y="3143250"/>
            <a:ext cx="2571750" cy="2381250"/>
          </a:xfrm>
          <a:prstGeom xmlns:a="http://schemas.openxmlformats.org/drawingml/2006/main" prst="rect">
            <a:avLst/>
          </a:prstGeom>
          <a:solidFill xmlns:a="http://schemas.openxmlformats.org/drawingml/2006/main">
            <a:srgbClr val="42D7B0"/>
          </a:solidFill>
          <a:ln xmlns:a="http://schemas.openxmlformats.org/drawingml/2006/main" w="0">
            <a:solidFill>
              <a:srgbClr val="42D7B0"/>
            </a:solidFill>
            <a:prstDash val="solid"/>
          </a:ln>
        </p:spPr>
      </p:sp>
      <p:sp>
        <p:nvSpPr>
          <p:cNvPr id="7" name="close-quote-label">
            <a:extLst xmlns:a="http://schemas.openxmlformats.org/drawingml/2006/main">
              <a:ext uri="{FF2B5EF4-FFF2-40B4-BE49-F238E27FC236}">
                <a16:creationId xmlns:a16="http://schemas.microsoft.com/office/drawing/2014/main" id="{38E49826-29B6-4F1B-9165-97A221463957}"/>
              </a:ext>
            </a:extLst>
          </p:cNvPr>
          <p:cNvSpPr>
            <a:spLocks xmlns:a="http://schemas.openxmlformats.org/drawingml/2006/main" noGrp="1"/>
          </p:cNvSpPr>
          <p:nvPr/>
        </p:nvSpPr>
        <p:spPr>
          <a:xfrm xmlns:a="http://schemas.openxmlformats.org/drawingml/2006/main">
            <a:off x="9144000" y="34290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050" b="1">
                <a:solidFill>
                  <a:srgbClr val="0B1D19"/>
                </a:solidFill>
                <a:latin typeface="Helvetica Neue"/>
                <a:ea typeface="Helvetica Neue"/>
                <a:cs typeface="Helvetica Neue"/>
              </a:defRPr>
            </a:pPr>
            <a:r>
              <a:rPr sz="1050" b="1">
                <a:solidFill>
                  <a:srgbClr val="0B1D19"/>
                </a:solidFill>
                <a:latin typeface="Helvetica Neue"/>
                <a:ea typeface="Helvetica Neue"/>
                <a:cs typeface="Helvetica Neue"/>
              </a:rPr>
              <a:t>WORKSHOP RESULT</a:t>
            </a:r>
          </a:p>
        </p:txBody>
      </p:sp>
      <p:sp>
        <p:nvSpPr>
          <p:cNvPr id="8" name="close-quote">
            <a:extLst xmlns:a="http://schemas.openxmlformats.org/drawingml/2006/main">
              <a:ext uri="{FF2B5EF4-FFF2-40B4-BE49-F238E27FC236}">
                <a16:creationId xmlns:a16="http://schemas.microsoft.com/office/drawing/2014/main" id="{858DE156-C409-47A0-A811-18B6385F0B24}"/>
              </a:ext>
            </a:extLst>
          </p:cNvPr>
          <p:cNvSpPr>
            <a:spLocks xmlns:a="http://schemas.openxmlformats.org/drawingml/2006/main" noGrp="1"/>
          </p:cNvSpPr>
          <p:nvPr/>
        </p:nvSpPr>
        <p:spPr>
          <a:xfrm xmlns:a="http://schemas.openxmlformats.org/drawingml/2006/main">
            <a:off x="9144000" y="39433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A finding that</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people can</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understand, own,</a:t>
            </a:r>
          </a:p>
          <a:p xmlns:a="http://schemas.openxmlformats.org/drawingml/2006/main">
            <a:pPr algn="l">
              <a:defRPr sz="1950" b="1">
                <a:solidFill>
                  <a:srgbClr val="0B1D19"/>
                </a:solidFill>
                <a:latin typeface="Helvetica Neue"/>
                <a:ea typeface="Helvetica Neue"/>
                <a:cs typeface="Helvetica Neue"/>
              </a:defRPr>
            </a:pPr>
            <a:r>
              <a:rPr sz="1950" b="1">
                <a:solidFill>
                  <a:srgbClr val="0B1D19"/>
                </a:solidFill>
                <a:latin typeface="Helvetica Neue"/>
                <a:ea typeface="Helvetica Neue"/>
                <a:cs typeface="Helvetica Neue"/>
              </a:rPr>
              <a:t>and close</a:t>
            </a:r>
          </a:p>
        </p:txBody>
      </p:sp>
      <p:sp>
        <p:nvSpPr>
          <p:cNvPr id="9" name="close-footer">
            <a:extLst xmlns:a="http://schemas.openxmlformats.org/drawingml/2006/main">
              <a:ext uri="{FF2B5EF4-FFF2-40B4-BE49-F238E27FC236}">
                <a16:creationId xmlns:a16="http://schemas.microsoft.com/office/drawing/2014/main" id="{C64BDF99-B811-415F-87BA-C88041F54FB1}"/>
              </a:ext>
            </a:extLst>
          </p:cNvPr>
          <p:cNvSpPr>
            <a:spLocks xmlns:a="http://schemas.openxmlformats.org/drawingml/2006/main" noGrp="1"/>
          </p:cNvSpPr>
          <p:nvPr/>
        </p:nvSpPr>
        <p:spPr>
          <a:xfrm xmlns:a="http://schemas.openxmlformats.org/drawingml/2006/main">
            <a:off x="609600" y="62103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Autofit/>
          </a:bodyPr>
          <a:lstStyle xmlns:a="http://schemas.openxmlformats.org/drawingml/2006/main"/>
          <a:p xmlns:a="http://schemas.openxmlformats.org/drawingml/2006/main">
            <a:pPr algn="l">
              <a:defRPr sz="1200" b="1">
                <a:solidFill>
                  <a:srgbClr val="42D7B0"/>
                </a:solidFill>
                <a:latin typeface="Helvetica Neue"/>
                <a:ea typeface="Helvetica Neue"/>
                <a:cs typeface="Helvetica Neue"/>
              </a:defRPr>
            </a:pPr>
            <a:r>
              <a:rPr sz="1200" b="1">
                <a:solidFill>
                  <a:srgbClr val="42D7B0"/>
                </a:solidFill>
                <a:latin typeface="Helvetica Neue"/>
                <a:ea typeface="Helvetica Neue"/>
                <a:cs typeface="Helvetica Neue"/>
              </a:rPr>
              <a:t>Questions and discussion</a:t>
            </a:r>
          </a:p>
        </p:txBody>
      </p:sp>
    </p:spTree>
    <p:extLst>
      <p:ext uri="{BB962C8B-B14F-4D97-AF65-F5344CB8AC3E}">
        <p14:creationId xmlns:p14="http://schemas.microsoft.com/office/powerpoint/2010/main" val="20417128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2026-09-05T13:27:07.4620000Z</dcterms:created>
  <dcterms:modified xsi:type="dcterms:W3CDTF">2026-09-05T13:27:07.4620000Z</dcterms:modified>
</coreProperties>
</file>