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76bc9d158c4cbc" /><Relationship Type="http://schemas.openxmlformats.org/officeDocument/2006/relationships/extended-properties" Target="/docProps/app.xml" Id="R37ad6b3c56394476" /><Relationship Type="http://schemas.openxmlformats.org/officeDocument/2006/relationships/officeDocument" Target="/ppt/presentation.xml" Id="R93c2e71767344ab4" /></Relationships>
</file>

<file path=ppt/presentation.xml><?xml version="1.0" encoding="utf-8"?>
<p:presentation xmlns:p="http://schemas.openxmlformats.org/presentationml/2006/main">
  <p:sldMasterIdLst>
    <p:sldMasterId xmlns:r="http://schemas.openxmlformats.org/officeDocument/2006/relationships" id="2147483648" r:id="R3ce4068fe5334017"/>
  </p:sldMasterIdLst>
  <p:notesMasterIdLst>
    <p:notesMasterId xmlns:r="http://schemas.openxmlformats.org/officeDocument/2006/relationships" r:id="Rd19c5b29a3b143a6"/>
  </p:notesMasterIdLst>
  <p:sldIdLst>
    <p:sldId xmlns:r="http://schemas.openxmlformats.org/officeDocument/2006/relationships" id="256" r:id="Rbd49dfa67685410f"/>
    <p:sldId xmlns:r="http://schemas.openxmlformats.org/officeDocument/2006/relationships" id="257" r:id="R52a234f214f64701"/>
    <p:sldId xmlns:r="http://schemas.openxmlformats.org/officeDocument/2006/relationships" id="258" r:id="R41883aa4cd2e478c"/>
    <p:sldId xmlns:r="http://schemas.openxmlformats.org/officeDocument/2006/relationships" id="259" r:id="Rf866c34e9edd4218"/>
    <p:sldId xmlns:r="http://schemas.openxmlformats.org/officeDocument/2006/relationships" id="260" r:id="Rfcf8da65753b4a5b"/>
    <p:sldId xmlns:r="http://schemas.openxmlformats.org/officeDocument/2006/relationships" id="261" r:id="Ra5e8d09c36054f88"/>
    <p:sldId xmlns:r="http://schemas.openxmlformats.org/officeDocument/2006/relationships" id="262" r:id="R2b2e4c1eb17048f0"/>
    <p:sldId xmlns:r="http://schemas.openxmlformats.org/officeDocument/2006/relationships" id="263" r:id="R80eff0bfe8a34d2c"/>
    <p:sldId xmlns:r="http://schemas.openxmlformats.org/officeDocument/2006/relationships" id="264" r:id="R206a338d102842fd"/>
    <p:sldId xmlns:r="http://schemas.openxmlformats.org/officeDocument/2006/relationships" id="265" r:id="R633f8b3b1f144cb8"/>
    <p:sldId xmlns:r="http://schemas.openxmlformats.org/officeDocument/2006/relationships" id="266" r:id="R874744c2bb9a464e"/>
    <p:sldId xmlns:r="http://schemas.openxmlformats.org/officeDocument/2006/relationships" id="267" r:id="Rc6db0049b8b64e3f"/>
    <p:sldId xmlns:r="http://schemas.openxmlformats.org/officeDocument/2006/relationships" id="268" r:id="R0d19d228b0824abe"/>
    <p:sldId xmlns:r="http://schemas.openxmlformats.org/officeDocument/2006/relationships" id="269" r:id="R75efc83788fc4731"/>
    <p:sldId xmlns:r="http://schemas.openxmlformats.org/officeDocument/2006/relationships" id="270" r:id="Rbecb7a356bce4700"/>
    <p:sldId xmlns:r="http://schemas.openxmlformats.org/officeDocument/2006/relationships" id="271" r:id="R7531f022e26d443b"/>
    <p:sldId xmlns:r="http://schemas.openxmlformats.org/officeDocument/2006/relationships" id="272" r:id="R7e1f46c796bc45fb"/>
    <p:sldId xmlns:r="http://schemas.openxmlformats.org/officeDocument/2006/relationships" id="273" r:id="R455334ccc7af4dcc"/>
    <p:sldId xmlns:r="http://schemas.openxmlformats.org/officeDocument/2006/relationships" id="274" r:id="R6da3d79c44d64392"/>
    <p:sldId xmlns:r="http://schemas.openxmlformats.org/officeDocument/2006/relationships" id="275" r:id="R8954c9d8742c4348"/>
    <p:sldId xmlns:r="http://schemas.openxmlformats.org/officeDocument/2006/relationships" id="276" r:id="R1a7d074a33064bf4"/>
    <p:sldId xmlns:r="http://schemas.openxmlformats.org/officeDocument/2006/relationships" id="277" r:id="Rf80a391a4b0c4e55"/>
    <p:sldId xmlns:r="http://schemas.openxmlformats.org/officeDocument/2006/relationships" id="278" r:id="R1bf34091f5644871"/>
    <p:sldId xmlns:r="http://schemas.openxmlformats.org/officeDocument/2006/relationships" id="279" r:id="R45336f7e44fd47ec"/>
    <p:sldId xmlns:r="http://schemas.openxmlformats.org/officeDocument/2006/relationships" id="280" r:id="R5c5981d3293741e5"/>
    <p:sldId xmlns:r="http://schemas.openxmlformats.org/officeDocument/2006/relationships" id="281" r:id="Rdbcc4c3f67024507"/>
    <p:sldId xmlns:r="http://schemas.openxmlformats.org/officeDocument/2006/relationships" id="282" r:id="Rc8fd6c4878d74acc"/>
    <p:sldId xmlns:r="http://schemas.openxmlformats.org/officeDocument/2006/relationships" id="283" r:id="R1a23ea44476a460a"/>
    <p:sldId xmlns:r="http://schemas.openxmlformats.org/officeDocument/2006/relationships" id="284" r:id="R4b7de450e7b64438"/>
    <p:sldId xmlns:r="http://schemas.openxmlformats.org/officeDocument/2006/relationships" id="285" r:id="Re31bf46309cf4f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50425af481440a" /><Relationship Type="http://schemas.openxmlformats.org/officeDocument/2006/relationships/slideMaster" Target="/ppt/slideMasters/slideMaster1.xml" Id="R3ce4068fe5334017" /><Relationship Type="http://schemas.openxmlformats.org/officeDocument/2006/relationships/notesMaster" Target="/ppt/notesMasters/notesMaster1.xml" Id="Rd19c5b29a3b143a6" /><Relationship Type="http://schemas.openxmlformats.org/officeDocument/2006/relationships/presProps" Target="/ppt/presProps.xml" Id="Ra6c15ea8f1ae4cd2" /><Relationship Type="http://schemas.openxmlformats.org/officeDocument/2006/relationships/tableStyles" Target="/ppt/tableStyles.xml" Id="R3baf33fb2b7a43f1" /><Relationship Type="http://schemas.openxmlformats.org/officeDocument/2006/relationships/slide" Target="/ppt/slides/slide1.xml" Id="Rbd49dfa67685410f" /><Relationship Type="http://schemas.openxmlformats.org/officeDocument/2006/relationships/slide" Target="/ppt/slides/slide2.xml" Id="R52a234f214f64701" /><Relationship Type="http://schemas.openxmlformats.org/officeDocument/2006/relationships/slide" Target="/ppt/slides/slide3.xml" Id="R41883aa4cd2e478c" /><Relationship Type="http://schemas.openxmlformats.org/officeDocument/2006/relationships/slide" Target="/ppt/slides/slide4.xml" Id="Rf866c34e9edd4218" /><Relationship Type="http://schemas.openxmlformats.org/officeDocument/2006/relationships/slide" Target="/ppt/slides/slide5.xml" Id="Rfcf8da65753b4a5b" /><Relationship Type="http://schemas.openxmlformats.org/officeDocument/2006/relationships/slide" Target="/ppt/slides/slide6.xml" Id="Ra5e8d09c36054f88" /><Relationship Type="http://schemas.openxmlformats.org/officeDocument/2006/relationships/slide" Target="/ppt/slides/slide7.xml" Id="R2b2e4c1eb17048f0" /><Relationship Type="http://schemas.openxmlformats.org/officeDocument/2006/relationships/slide" Target="/ppt/slides/slide8.xml" Id="R80eff0bfe8a34d2c" /><Relationship Type="http://schemas.openxmlformats.org/officeDocument/2006/relationships/slide" Target="/ppt/slides/slide9.xml" Id="R206a338d102842fd" /><Relationship Type="http://schemas.openxmlformats.org/officeDocument/2006/relationships/slide" Target="/ppt/slides/slide10.xml" Id="R633f8b3b1f144cb8" /><Relationship Type="http://schemas.openxmlformats.org/officeDocument/2006/relationships/slide" Target="/ppt/slides/slide11.xml" Id="R874744c2bb9a464e" /><Relationship Type="http://schemas.openxmlformats.org/officeDocument/2006/relationships/slide" Target="/ppt/slides/slide12.xml" Id="Rc6db0049b8b64e3f" /><Relationship Type="http://schemas.openxmlformats.org/officeDocument/2006/relationships/slide" Target="/ppt/slides/slide13.xml" Id="R0d19d228b0824abe" /><Relationship Type="http://schemas.openxmlformats.org/officeDocument/2006/relationships/slide" Target="/ppt/slides/slide14.xml" Id="R75efc83788fc4731" /><Relationship Type="http://schemas.openxmlformats.org/officeDocument/2006/relationships/slide" Target="/ppt/slides/slide15.xml" Id="Rbecb7a356bce4700" /><Relationship Type="http://schemas.openxmlformats.org/officeDocument/2006/relationships/slide" Target="/ppt/slides/slide16.xml" Id="R7531f022e26d443b" /><Relationship Type="http://schemas.openxmlformats.org/officeDocument/2006/relationships/slide" Target="/ppt/slides/slide17.xml" Id="R7e1f46c796bc45fb" /><Relationship Type="http://schemas.openxmlformats.org/officeDocument/2006/relationships/slide" Target="/ppt/slides/slide18.xml" Id="R455334ccc7af4dcc" /><Relationship Type="http://schemas.openxmlformats.org/officeDocument/2006/relationships/slide" Target="/ppt/slides/slide19.xml" Id="R6da3d79c44d64392" /><Relationship Type="http://schemas.openxmlformats.org/officeDocument/2006/relationships/slide" Target="/ppt/slides/slide20.xml" Id="R8954c9d8742c4348" /><Relationship Type="http://schemas.openxmlformats.org/officeDocument/2006/relationships/slide" Target="/ppt/slides/slide21.xml" Id="R1a7d074a33064bf4" /><Relationship Type="http://schemas.openxmlformats.org/officeDocument/2006/relationships/slide" Target="/ppt/slides/slide22.xml" Id="Rf80a391a4b0c4e55" /><Relationship Type="http://schemas.openxmlformats.org/officeDocument/2006/relationships/slide" Target="/ppt/slides/slide23.xml" Id="R1bf34091f5644871" /><Relationship Type="http://schemas.openxmlformats.org/officeDocument/2006/relationships/slide" Target="/ppt/slides/slide24.xml" Id="R45336f7e44fd47ec" /><Relationship Type="http://schemas.openxmlformats.org/officeDocument/2006/relationships/slide" Target="/ppt/slides/slide25.xml" Id="R5c5981d3293741e5" /><Relationship Type="http://schemas.openxmlformats.org/officeDocument/2006/relationships/slide" Target="/ppt/slides/slide26.xml" Id="Rdbcc4c3f67024507" /><Relationship Type="http://schemas.openxmlformats.org/officeDocument/2006/relationships/slide" Target="/ppt/slides/slide27.xml" Id="Rc8fd6c4878d74acc" /><Relationship Type="http://schemas.openxmlformats.org/officeDocument/2006/relationships/slide" Target="/ppt/slides/slide28.xml" Id="R1a23ea44476a460a" /><Relationship Type="http://schemas.openxmlformats.org/officeDocument/2006/relationships/slide" Target="/ppt/slides/slide29.xml" Id="R4b7de450e7b64438" /><Relationship Type="http://schemas.openxmlformats.org/officeDocument/2006/relationships/slide" Target="/ppt/slides/slide30.xml" Id="Re31bf46309cf4f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6e1836fc8c4e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d00e675da04fd5" /><Relationship Type="http://schemas.openxmlformats.org/officeDocument/2006/relationships/notesMaster" Target="/ppt/notesMasters/notesMaster1.xml" Id="R10ae2c5ce6a94e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d3e4312e6c42d8" /><Relationship Type="http://schemas.openxmlformats.org/officeDocument/2006/relationships/notesMaster" Target="/ppt/notesMasters/notesMaster1.xml" Id="Rfb9fec1458ae4c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9f6dc467984ef5" /><Relationship Type="http://schemas.openxmlformats.org/officeDocument/2006/relationships/notesMaster" Target="/ppt/notesMasters/notesMaster1.xml" Id="R4816dfcf15f340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daa85f6ab94339" /><Relationship Type="http://schemas.openxmlformats.org/officeDocument/2006/relationships/notesMaster" Target="/ppt/notesMasters/notesMaster1.xml" Id="R3c08cbe5049d43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dc0ba5a4564333" /><Relationship Type="http://schemas.openxmlformats.org/officeDocument/2006/relationships/notesMaster" Target="/ppt/notesMasters/notesMaster1.xml" Id="Rebe8873f221349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85212ea58d48f8" /><Relationship Type="http://schemas.openxmlformats.org/officeDocument/2006/relationships/notesMaster" Target="/ppt/notesMasters/notesMaster1.xml" Id="R5723ad0f371249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77fcda7eba4842" /><Relationship Type="http://schemas.openxmlformats.org/officeDocument/2006/relationships/notesMaster" Target="/ppt/notesMasters/notesMaster1.xml" Id="R3c4af8f8158b41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08fa8b92bd440c" /><Relationship Type="http://schemas.openxmlformats.org/officeDocument/2006/relationships/notesMaster" Target="/ppt/notesMasters/notesMaster1.xml" Id="Ra9826467c48740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43789d6bd74bcf" /><Relationship Type="http://schemas.openxmlformats.org/officeDocument/2006/relationships/notesMaster" Target="/ppt/notesMasters/notesMaster1.xml" Id="Rccee7882613a4c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68889ad47e44be" /><Relationship Type="http://schemas.openxmlformats.org/officeDocument/2006/relationships/notesMaster" Target="/ppt/notesMasters/notesMaster1.xml" Id="R477ff27b378b42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66afcaf49a48d4" /><Relationship Type="http://schemas.openxmlformats.org/officeDocument/2006/relationships/notesMaster" Target="/ppt/notesMasters/notesMaster1.xml" Id="Rdd40be1be93241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e22f3c04474aef" /><Relationship Type="http://schemas.openxmlformats.org/officeDocument/2006/relationships/notesMaster" Target="/ppt/notesMasters/notesMaster1.xml" Id="Rc2f86c53ee5f40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b378bdd28b42da" /><Relationship Type="http://schemas.openxmlformats.org/officeDocument/2006/relationships/notesMaster" Target="/ppt/notesMasters/notesMaster1.xml" Id="R2305fee211c74e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8687a318484bf3" /><Relationship Type="http://schemas.openxmlformats.org/officeDocument/2006/relationships/notesMaster" Target="/ppt/notesMasters/notesMaster1.xml" Id="R0b35bd9a7c6245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1a4c87995d4781" /><Relationship Type="http://schemas.openxmlformats.org/officeDocument/2006/relationships/notesMaster" Target="/ppt/notesMasters/notesMaster1.xml" Id="Re309d002cf5442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b70f5558384416" /><Relationship Type="http://schemas.openxmlformats.org/officeDocument/2006/relationships/notesMaster" Target="/ppt/notesMasters/notesMaster1.xml" Id="Rf3b02911d4c849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f0c16a6a824de1" /><Relationship Type="http://schemas.openxmlformats.org/officeDocument/2006/relationships/notesMaster" Target="/ppt/notesMasters/notesMaster1.xml" Id="Rb5da117ab9e34e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cd9830977c45c4" /><Relationship Type="http://schemas.openxmlformats.org/officeDocument/2006/relationships/notesMaster" Target="/ppt/notesMasters/notesMaster1.xml" Id="R4a46ac6beeda49f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6dbceb00c54b81" /><Relationship Type="http://schemas.openxmlformats.org/officeDocument/2006/relationships/notesMaster" Target="/ppt/notesMasters/notesMaster1.xml" Id="R8c66e05c94ee42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6537dccbcc45a0" /><Relationship Type="http://schemas.openxmlformats.org/officeDocument/2006/relationships/notesMaster" Target="/ppt/notesMasters/notesMaster1.xml" Id="R8484dd094ac54d7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291a89430eb487e" /><Relationship Type="http://schemas.openxmlformats.org/officeDocument/2006/relationships/notesMaster" Target="/ppt/notesMasters/notesMaster1.xml" Id="R9ff4ced58abf484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045c5435364acb" /><Relationship Type="http://schemas.openxmlformats.org/officeDocument/2006/relationships/notesMaster" Target="/ppt/notesMasters/notesMaster1.xml" Id="R72f4e6c2c4514a7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8a70ce8cd24719" /><Relationship Type="http://schemas.openxmlformats.org/officeDocument/2006/relationships/notesMaster" Target="/ppt/notesMasters/notesMaster1.xml" Id="R68992085c47248f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51b85605d54562" /><Relationship Type="http://schemas.openxmlformats.org/officeDocument/2006/relationships/notesMaster" Target="/ppt/notesMasters/notesMaster1.xml" Id="R6d2b6c97f220407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1bb4abc97ba4dc8" /><Relationship Type="http://schemas.openxmlformats.org/officeDocument/2006/relationships/notesMaster" Target="/ppt/notesMasters/notesMaster1.xml" Id="R18863207d2734c5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768a897a3c497d" /><Relationship Type="http://schemas.openxmlformats.org/officeDocument/2006/relationships/notesMaster" Target="/ppt/notesMasters/notesMaster1.xml" Id="R18d4eedf7b3c47f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931144883df4058" /><Relationship Type="http://schemas.openxmlformats.org/officeDocument/2006/relationships/notesMaster" Target="/ppt/notesMasters/notesMaster1.xml" Id="R386a3f1aa5e74e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3df646039814612" /><Relationship Type="http://schemas.openxmlformats.org/officeDocument/2006/relationships/notesMaster" Target="/ppt/notesMasters/notesMaster1.xml" Id="R38a70a2ee8bb4ba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4372607a93d4deb" /><Relationship Type="http://schemas.openxmlformats.org/officeDocument/2006/relationships/notesMaster" Target="/ppt/notesMasters/notesMaster1.xml" Id="R72dfe2cf165b45f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b882c5d06a8457a" /><Relationship Type="http://schemas.openxmlformats.org/officeDocument/2006/relationships/notesMaster" Target="/ppt/notesMasters/notesMaster1.xml" Id="R3bd9cc50980e45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Suggested talk track: Welcome everyone. Today we will examine four scanner types, see how each one collects evidence, and use that evidence to understand and close security findings.</a:t>
            </a:r>
          </a:p>
          <a:p xmlns:a="http://schemas.openxmlformats.org/drawingml/2006/main">
            <a:r>
              <a:t/>
            </a:r>
          </a:p>
          <a:p xmlns:a="http://schemas.openxmlformats.org/drawingml/2006/main">
            <a:r>
              <a:t>[Sources]</a:t>
            </a:r>
          </a:p>
          <a:p xmlns:a="http://schemas.openxmlformats.org/drawingml/2006/main">
            <a:r>
              <a:t>- /Users/anjali/Cloud_Vulnerabilities/workshop/marp-demo/images/deeptrustxai-logo.png</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aim is understanding, not memorizing buttons. A useful result connects a configuration to an asset, explains the risk, and records what will prove that the issue has been closed.</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workshop moves from common concepts into four scanner modules. Each scanner module includes explanation, a live example, and a short exercise.</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A scanner does more than search for vulnerabilities. It discovers what exists, evaluates configuration, explains why a condition matters, and gives us a way to verify the correction.</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portal is the coordination layer. It does not need to run inside the cloud being scanned. Provider workers connect to the target, produce findings, and return normalized evidence to the shared platform.</a:t>
            </a:r>
          </a:p>
          <a:p xmlns:a="http://schemas.openxmlformats.org/drawingml/2006/main">
            <a:r>
              <a:t/>
            </a:r>
          </a:p>
          <a:p xmlns:a="http://schemas.openxmlformats.org/drawingml/2006/main">
            <a:r>
              <a:t>[Sources]</a:t>
            </a:r>
          </a:p>
          <a:p xmlns:a="http://schemas.openxmlformats.org/drawingml/2006/main">
            <a:r>
              <a:t>- /Users/anjali/Cloud_Vulnerabilities/handoff/grc-compliance-governance/setup-dokploy-cloudguard-stack.png</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Every finding needs context. A high severity label matters, but priority becomes clearer when we know the exposed asset, the identity involved, and the proof available for remediation.</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 /Users/anjali/Cloud_Vulnerabilities/backend/mcp_servers/kubernetes_server.py</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We create insecure resources only inside an approved sandbox. The lab uses dummy data and temporary access, and cleanup proof is part of the exercise result.</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/Users/anjali/Cloud_Vulnerabilities/docs/sandbox-lab-workflow.md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AWS scanner covers four control areas. S3 represents data exposure, IAM represents identity risk, security groups show reachable services, and account-level checks show whether investigation data will exist.</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first AWS call confirms identity through STS. Discovery follows, then each resource type receives its own checks. The result includes findings, any partial errors, and a severity summary.</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lab combines several weaknesses. The most serious results connect public reachability or broad identity privilege to a concrete asset. Missing telemetry increases the difficulty of detecting and investigating misuse.</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Suggested talk track: Participants use only the assigned sandbox. Ask each group to explain one finding in plain language before they submit the evidence and cleanup record.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GCP coverage follows the project boundary. The scanner combines storage policy, project IAM, virtual machine configuration, and firewall reachability in one result set.</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The project ID anchors the GCP scan. Instance discovery runs across zones, while IAM and firewall rules remain project-level controls. CloudGuard keeps the project and location with each resource.</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public bucket and open firewall rules create direct exposure. Primitive IAM roles create broad authority. VM posture findings add context about reachability and platform hardening.</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Suggested talk track: Each group selects one finding and explains both the GCP-specific configuration and the shared security concept. Use the prepared result if the new job is still running.</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Live mode uses a kubeconfig to query the API. Manifest mode reads files only. Both paths use the same checks and finding format, while live mode can add managed-cluster context and drift.</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scanner follows the layers of a Kubernetes attack path. It looks at the workload, the identity attached to it, the network path to it, and platform controls that affect the whole cluster.</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critical path in this lab combines a powerful service account with a privileged workload. Network exposure matters because it creates a route to the workload, while RBAC and host access determine the blast radius after compromise.</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Suggested talk track: Participants must use a disposable cluster. The exercise ends only after the namespace or manifest has been deleted and the cleanup result has been recorded.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IaC scanner classifies each file, applies checks for that template type, and reports the file as the affected resource. No cloud credentials or deployment are required.</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Static analysis starts with file discovery and classification. Each template type has specific checks. The output points back to the file and the matched configuration so the change can happen in source control.</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fixtures contain deliberately unsafe settings. The scanner maps each pattern to a focused finding so developers can change the source before a deployment creates the resource.</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This exercise uses local files only. Participants must not apply the templates. The output should show the original finding, the code change, and the second scan result.</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The final module explains what governance, risk, and compliance adds to scanner output: a control objective, business context, accountable ownership, a recorded decision, and evidence that the issue is truly closed.</a:t>
            </a:r>
          </a:p>
          <a:p xmlns:a="http://schemas.openxmlformats.org/drawingml/2006/main">
            <a:r>
              <a:t/>
            </a:r>
          </a:p>
          <a:p xmlns:a="http://schemas.openxmlformats.org/drawingml/2006/main">
            <a:r>
              <a:t>[Sources]</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Suggested talk track: A scanner tells us what it observed. GRC connects that observation to the control we intended to operate, the business risk created by failure, the person responsible, and the evidence needed to close or formally accept the issue.</a:t>
            </a:r>
          </a:p>
          <a:p xmlns:a="http://schemas.openxmlformats.org/drawingml/2006/main">
            <a:r>
              <a:t/>
            </a:r>
          </a:p>
          <a:p xmlns:a="http://schemas.openxmlformats.org/drawingml/2006/main">
            <a:r>
              <a:t>[Sources]</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Suggested talk track: GRC is not a single compliance report. It is a connected set of records. The control states the expected outcome, evidence shows what operated, risk explains why the gap matters, an issue tracks the response, and audit history preserves every important decision.</a:t>
            </a:r>
          </a:p>
          <a:p xmlns:a="http://schemas.openxmlformats.org/drawingml/2006/main">
            <a:r>
              <a:t/>
            </a:r>
          </a:p>
          <a:p xmlns:a="http://schemas.openxmlformats.org/drawingml/2006/main">
            <a:r>
              <a:t>[Sources]</a:t>
            </a:r>
          </a:p>
          <a:p xmlns:a="http://schemas.openxmlformats.org/drawingml/2006/main">
            <a:r>
              <a:t>- /Users/anjali/Cloud_Vulnerabilities/docs/grc-platform-merge.md</a:t>
            </a:r>
          </a:p>
          <a:p xmlns:a="http://schemas.openxmlformats.org/drawingml/2006/main">
            <a:r>
              <a:t>- /Users/anjali/Cloud_Vulnerabilities/docs/vendor-neutral-reason-act-architecture.md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Suggested talk track: This example starts with a technical storage finding and follows it into GRC. We identify the expected control, retain the observed policy as evidence, describe the business risk, assign an accountable owner, and require both an approved change and a clean rescan before closure.</a:t>
            </a:r>
          </a:p>
          <a:p xmlns:a="http://schemas.openxmlformats.org/drawingml/2006/main">
            <a:r>
              <a:t/>
            </a:r>
          </a:p>
          <a:p xmlns:a="http://schemas.openxmlformats.org/drawingml/2006/main">
            <a:r>
              <a:t>[Sources]</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A finding is an interpretation; evidence is the material that supports it. Good evidence preserves provenance, remains reviewable, maps to a control, and is joined by remediation or rescan proof so an auditor can reconstruct the full lifecycle.</a:t>
            </a:r>
          </a:p>
          <a:p xmlns:a="http://schemas.openxmlformats.org/drawingml/2006/main">
            <a:r>
              <a:t/>
            </a:r>
          </a:p>
          <a:p xmlns:a="http://schemas.openxmlformats.org/drawingml/2006/main">
            <a:r>
              <a:t>[Sources]</a:t>
            </a:r>
          </a:p>
          <a:p xmlns:a="http://schemas.openxmlformats.org/drawingml/2006/main">
            <a:r>
              <a:t>- /Users/anjali/Cloud_Vulnerabilities/handoff/grc-compliance-governance/architecture-grc-evidence-flow.png</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A scanner should not silently become an autonomous production change. Risk context determines urgency, the issue is assigned to an accountable owner, the proposed action includes validation and rollback, a human approves material change, and a rescan confirms the final state.</a:t>
            </a:r>
          </a:p>
          <a:p xmlns:a="http://schemas.openxmlformats.org/drawingml/2006/main">
            <a:r>
              <a:t/>
            </a:r>
          </a:p>
          <a:p xmlns:a="http://schemas.openxmlformats.org/drawingml/2006/main">
            <a:r>
              <a:t>[Sources]</a:t>
            </a:r>
          </a:p>
          <a:p xmlns:a="http://schemas.openxmlformats.org/drawingml/2006/main">
            <a:r>
              <a:t>- /Users/anjali/Cloud_Vulnerabilities/output/playwright/cloudguard-reason-act.png</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Audit-ready closure means we can reconstruct what was found, which control failed, why it mattered, who made the decision, what changed, and what proved the final state. We finish by confirming that every lab resource and temporary credential has been removed.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af9354587e44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c7c5af77884359" /><Relationship Type="http://schemas.openxmlformats.org/officeDocument/2006/relationships/slideLayout" Target="/ppt/slideLayouts/slideLayout1.xml" Id="R581a1d24968144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1a1d24968144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901d7a8a3047eb" /><Relationship Type="http://schemas.openxmlformats.org/officeDocument/2006/relationships/image" Target="/ppt/media/image.png" Id="R965bcc83f9e34316" /><Relationship Type="http://schemas.openxmlformats.org/officeDocument/2006/relationships/notesSlide" Target="/ppt/notesSlides/notesSlide1.xml" Id="R2d936f2f99dc4c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165ab4f63a4069" /><Relationship Type="http://schemas.openxmlformats.org/officeDocument/2006/relationships/image" Target="/ppt/media/image2.png" Id="Re23580d50d2943ad" /><Relationship Type="http://schemas.openxmlformats.org/officeDocument/2006/relationships/notesSlide" Target="/ppt/notesSlides/notesSlide2.xml" Id="Rb6b5322fd24a42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0df4d989bb4b46" /><Relationship Type="http://schemas.openxmlformats.org/officeDocument/2006/relationships/image" Target="/ppt/media/image3.png" Id="R3b44616790f24636" /><Relationship Type="http://schemas.openxmlformats.org/officeDocument/2006/relationships/notesSlide" Target="/ppt/notesSlides/notesSlide3.xml" Id="R66c67e85c8064a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841caab95549a4" /><Relationship Type="http://schemas.openxmlformats.org/officeDocument/2006/relationships/image" Target="/ppt/media/image4.png" Id="Rddbbd4a6a49744ca" /><Relationship Type="http://schemas.openxmlformats.org/officeDocument/2006/relationships/notesSlide" Target="/ppt/notesSlides/notesSlide4.xml" Id="Rdeec5468fc7245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e4456dce0a41c2" /><Relationship Type="http://schemas.openxmlformats.org/officeDocument/2006/relationships/image" Target="/ppt/media/image5.png" Id="R999d70a2a97c43e7" /><Relationship Type="http://schemas.openxmlformats.org/officeDocument/2006/relationships/image" Target="/ppt/media/image6.png" Id="R68a829101f594638" /><Relationship Type="http://schemas.openxmlformats.org/officeDocument/2006/relationships/notesSlide" Target="/ppt/notesSlides/notesSlide5.xml" Id="R60f1226c335240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04029ab96547ee" /><Relationship Type="http://schemas.openxmlformats.org/officeDocument/2006/relationships/image" Target="/ppt/media/image7.png" Id="Rb3b5585e559143d1" /><Relationship Type="http://schemas.openxmlformats.org/officeDocument/2006/relationships/notesSlide" Target="/ppt/notesSlides/notesSlide6.xml" Id="R44489912642d48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32cb9bed3e4489" /><Relationship Type="http://schemas.openxmlformats.org/officeDocument/2006/relationships/image" Target="/ppt/media/image8.png" Id="R83915f1a409844f4" /><Relationship Type="http://schemas.openxmlformats.org/officeDocument/2006/relationships/notesSlide" Target="/ppt/notesSlides/notesSlide7.xml" Id="Rd95b41af846344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5bb257ddde4634" /><Relationship Type="http://schemas.openxmlformats.org/officeDocument/2006/relationships/image" Target="/ppt/media/image9.png" Id="R78e1b244f7574168" /><Relationship Type="http://schemas.openxmlformats.org/officeDocument/2006/relationships/notesSlide" Target="/ppt/notesSlides/notesSlide8.xml" Id="R451cdcf70d0c4e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46f51cff464f22" /><Relationship Type="http://schemas.openxmlformats.org/officeDocument/2006/relationships/image" Target="/ppt/media/image10.png" Id="R896eb4785cce431d" /><Relationship Type="http://schemas.openxmlformats.org/officeDocument/2006/relationships/notesSlide" Target="/ppt/notesSlides/notesSlide9.xml" Id="R42444870e84d44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3b08daa5964781" /><Relationship Type="http://schemas.openxmlformats.org/officeDocument/2006/relationships/image" Target="/ppt/media/image11.png" Id="Raadf036d960c44c0" /><Relationship Type="http://schemas.openxmlformats.org/officeDocument/2006/relationships/notesSlide" Target="/ppt/notesSlides/notesSlide10.xml" Id="R0524440458c244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a844ba8f3d480b" /><Relationship Type="http://schemas.openxmlformats.org/officeDocument/2006/relationships/image" Target="/ppt/media/image12.png" Id="Rd83db028c35b45f7" /><Relationship Type="http://schemas.openxmlformats.org/officeDocument/2006/relationships/notesSlide" Target="/ppt/notesSlides/notesSlide11.xml" Id="R01a750ff16204b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4c4b868c89d4e7a" /><Relationship Type="http://schemas.openxmlformats.org/officeDocument/2006/relationships/image" Target="/ppt/media/image13.png" Id="R8c852b9440d04ee8" /><Relationship Type="http://schemas.openxmlformats.org/officeDocument/2006/relationships/notesSlide" Target="/ppt/notesSlides/notesSlide12.xml" Id="Rb07c6d1bdbcf40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1756a24cf440c5" /><Relationship Type="http://schemas.openxmlformats.org/officeDocument/2006/relationships/image" Target="/ppt/media/image14.png" Id="R9b3faf0f74ac4ae2" /><Relationship Type="http://schemas.openxmlformats.org/officeDocument/2006/relationships/notesSlide" Target="/ppt/notesSlides/notesSlide13.xml" Id="R22ef5d10773f4f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0a7cae44d04a85" /><Relationship Type="http://schemas.openxmlformats.org/officeDocument/2006/relationships/image" Target="/ppt/media/image15.png" Id="R7082c7dc7584423a" /><Relationship Type="http://schemas.openxmlformats.org/officeDocument/2006/relationships/notesSlide" Target="/ppt/notesSlides/notesSlide14.xml" Id="R5a216f7a91cc41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e35cce5691047a5" /><Relationship Type="http://schemas.openxmlformats.org/officeDocument/2006/relationships/image" Target="/ppt/media/image16.png" Id="Rec1f5eb5e63d4830" /><Relationship Type="http://schemas.openxmlformats.org/officeDocument/2006/relationships/notesSlide" Target="/ppt/notesSlides/notesSlide15.xml" Id="Re23494e9f572456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ba7756ccbed4147" /><Relationship Type="http://schemas.openxmlformats.org/officeDocument/2006/relationships/image" Target="/ppt/media/image17.png" Id="R3a023468d2084249" /><Relationship Type="http://schemas.openxmlformats.org/officeDocument/2006/relationships/notesSlide" Target="/ppt/notesSlides/notesSlide16.xml" Id="R99da5d64c37b4c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4bc55e805f34552" /><Relationship Type="http://schemas.openxmlformats.org/officeDocument/2006/relationships/image" Target="/ppt/media/image18.png" Id="Rc348328b18dc4f79" /><Relationship Type="http://schemas.openxmlformats.org/officeDocument/2006/relationships/notesSlide" Target="/ppt/notesSlides/notesSlide17.xml" Id="Radd7afa06bef4e0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72c4cdfca11487c" /><Relationship Type="http://schemas.openxmlformats.org/officeDocument/2006/relationships/image" Target="/ppt/media/image19.png" Id="R366ce00a61974873" /><Relationship Type="http://schemas.openxmlformats.org/officeDocument/2006/relationships/notesSlide" Target="/ppt/notesSlides/notesSlide18.xml" Id="Rb801c7d39c90471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acdf30a40a54002" /><Relationship Type="http://schemas.openxmlformats.org/officeDocument/2006/relationships/image" Target="/ppt/media/image20.png" Id="R00c5058819874c4d" /><Relationship Type="http://schemas.openxmlformats.org/officeDocument/2006/relationships/notesSlide" Target="/ppt/notesSlides/notesSlide19.xml" Id="Rf840945b7d1844e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ed9ab9d03fc4d7a" /><Relationship Type="http://schemas.openxmlformats.org/officeDocument/2006/relationships/image" Target="/ppt/media/image21.png" Id="R66286e5f013b4d30" /><Relationship Type="http://schemas.openxmlformats.org/officeDocument/2006/relationships/notesSlide" Target="/ppt/notesSlides/notesSlide20.xml" Id="R6d27b46a9bdc49f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9f647ac065d4871" /><Relationship Type="http://schemas.openxmlformats.org/officeDocument/2006/relationships/image" Target="/ppt/media/image22.png" Id="R0df84b7e1fbc48ae" /><Relationship Type="http://schemas.openxmlformats.org/officeDocument/2006/relationships/notesSlide" Target="/ppt/notesSlides/notesSlide21.xml" Id="R8addeebb4a5947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278eca078ec481c" /><Relationship Type="http://schemas.openxmlformats.org/officeDocument/2006/relationships/image" Target="/ppt/media/image23.png" Id="R08647b1720a54b44" /><Relationship Type="http://schemas.openxmlformats.org/officeDocument/2006/relationships/notesSlide" Target="/ppt/notesSlides/notesSlide22.xml" Id="R46dcdff9d7de44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d79945c0ea84363" /><Relationship Type="http://schemas.openxmlformats.org/officeDocument/2006/relationships/image" Target="/ppt/media/image24.png" Id="R9fb9fe7cc08a48f1" /><Relationship Type="http://schemas.openxmlformats.org/officeDocument/2006/relationships/notesSlide" Target="/ppt/notesSlides/notesSlide23.xml" Id="R714adfc1f46f45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092e0894a5b4490" /><Relationship Type="http://schemas.openxmlformats.org/officeDocument/2006/relationships/image" Target="/ppt/media/image25.png" Id="R2b9d7a1d03ad4906" /><Relationship Type="http://schemas.openxmlformats.org/officeDocument/2006/relationships/notesSlide" Target="/ppt/notesSlides/notesSlide24.xml" Id="Rb94f5bdcc5da485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9cc5b45089941c4" /><Relationship Type="http://schemas.openxmlformats.org/officeDocument/2006/relationships/image" Target="/ppt/media/image26.png" Id="R45de0d7f4f4b4113" /><Relationship Type="http://schemas.openxmlformats.org/officeDocument/2006/relationships/notesSlide" Target="/ppt/notesSlides/notesSlide25.xml" Id="R5d0bda86d1e34a5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e7a45d8b699473c" /><Relationship Type="http://schemas.openxmlformats.org/officeDocument/2006/relationships/image" Target="/ppt/media/image27.png" Id="R742c200f01ab4269" /><Relationship Type="http://schemas.openxmlformats.org/officeDocument/2006/relationships/notesSlide" Target="/ppt/notesSlides/notesSlide26.xml" Id="Rc5ebbb7500064ba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4712313a88f4eb2" /><Relationship Type="http://schemas.openxmlformats.org/officeDocument/2006/relationships/image" Target="/ppt/media/image28.png" Id="Rd7e9fee8f32a4d96" /><Relationship Type="http://schemas.openxmlformats.org/officeDocument/2006/relationships/notesSlide" Target="/ppt/notesSlides/notesSlide27.xml" Id="R1e6d5ac16edf4a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a2864cea8bd4804" /><Relationship Type="http://schemas.openxmlformats.org/officeDocument/2006/relationships/image" Target="/ppt/media/image29.png" Id="Rceb6befac5274807" /><Relationship Type="http://schemas.openxmlformats.org/officeDocument/2006/relationships/image" Target="/ppt/media/image30.png" Id="Rd472fe432d6e485f" /><Relationship Type="http://schemas.openxmlformats.org/officeDocument/2006/relationships/notesSlide" Target="/ppt/notesSlides/notesSlide28.xml" Id="R03ef4ebdbf78463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a5aaa9d7e304162" /><Relationship Type="http://schemas.openxmlformats.org/officeDocument/2006/relationships/image" Target="/ppt/media/image31.png" Id="R2800f00f52f448ec" /><Relationship Type="http://schemas.openxmlformats.org/officeDocument/2006/relationships/image" Target="/ppt/media/image32.png" Id="R6eeab4a1c38f4e3e" /><Relationship Type="http://schemas.openxmlformats.org/officeDocument/2006/relationships/notesSlide" Target="/ppt/notesSlides/notesSlide29.xml" Id="R6a4f51a6d7604ed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50c9122e2f747c1" /><Relationship Type="http://schemas.openxmlformats.org/officeDocument/2006/relationships/image" Target="/ppt/media/image33.png" Id="R4c6faab749ee4cd6" /><Relationship Type="http://schemas.openxmlformats.org/officeDocument/2006/relationships/notesSlide" Target="/ppt/notesSlides/notesSlide30.xml" Id="R9ece6c6304a147ce" /></Relationships>
</file>

<file path=ppt/slides/slide1.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65bcc83f9e34316"/>
          <a:stretch xmlns:a="http://schemas.openxmlformats.org/drawingml/2006/main"/>
        </p:blipFill>
        <p:spPr>
          <a:xfrm xmlns:a="http://schemas.openxmlformats.org/drawingml/2006/main">
            <a:off x="647700" y="495300"/>
            <a:ext cx="685800" cy="685800"/>
          </a:xfrm>
          <a:prstGeom xmlns:a="http://schemas.openxmlformats.org/drawingml/2006/main" prst="rect">
            <a:avLst/>
          </a:prstGeom>
        </p:spPr>
      </p:pic>
      <p:sp>
        <p:nvSpPr>
          <p:cNvPr id="2" name="cover-brand">
            <a:extLst xmlns:a="http://schemas.openxmlformats.org/drawingml/2006/main">
              <a:ext uri="{FF2B5EF4-FFF2-40B4-BE49-F238E27FC236}">
                <a16:creationId xmlns:a16="http://schemas.microsoft.com/office/drawing/2014/main" id="{1AB29ED1-B96C-42AF-80C5-CDE5320F2C29}"/>
              </a:ext>
            </a:extLst>
          </p:cNvPr>
          <p:cNvSpPr>
            <a:spLocks xmlns:a="http://schemas.openxmlformats.org/drawingml/2006/main" noGrp="1"/>
          </p:cNvSpPr>
          <p:nvPr/>
        </p:nvSpPr>
        <p:spPr>
          <a:xfrm xmlns:a="http://schemas.openxmlformats.org/drawingml/2006/main">
            <a:off x="1466850" y="6762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DeepTrustxAI</a:t>
            </a:r>
          </a:p>
        </p:txBody>
      </p:sp>
      <p:sp>
        <p:nvSpPr>
          <p:cNvPr id="3" name="cover-title">
            <a:extLst xmlns:a="http://schemas.openxmlformats.org/drawingml/2006/main">
              <a:ext uri="{FF2B5EF4-FFF2-40B4-BE49-F238E27FC236}">
                <a16:creationId xmlns:a16="http://schemas.microsoft.com/office/drawing/2014/main" id="{814BC600-E066-48A3-84E3-5DDD02EA5C1E}"/>
              </a:ext>
            </a:extLst>
          </p:cNvPr>
          <p:cNvSpPr>
            <a:spLocks xmlns:a="http://schemas.openxmlformats.org/drawingml/2006/main" noGrp="1"/>
          </p:cNvSpPr>
          <p:nvPr/>
        </p:nvSpPr>
        <p:spPr>
          <a:xfrm xmlns:a="http://schemas.openxmlformats.org/drawingml/2006/main">
            <a:off x="647700" y="1714500"/>
            <a:ext cx="1028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CloudGuard</a:t>
            </a:r>
          </a:p>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Security Workshop</a:t>
            </a:r>
          </a:p>
        </p:txBody>
      </p:sp>
      <p:sp>
        <p:nvSpPr>
          <p:cNvPr id="4" name="cover-subtitle">
            <a:extLst xmlns:a="http://schemas.openxmlformats.org/drawingml/2006/main">
              <a:ext uri="{FF2B5EF4-FFF2-40B4-BE49-F238E27FC236}">
                <a16:creationId xmlns:a16="http://schemas.microsoft.com/office/drawing/2014/main" id="{F1BE7977-DD79-4381-A966-E3B56FB70101}"/>
              </a:ext>
            </a:extLst>
          </p:cNvPr>
          <p:cNvSpPr>
            <a:spLocks xmlns:a="http://schemas.openxmlformats.org/drawingml/2006/main" noGrp="1"/>
          </p:cNvSpPr>
          <p:nvPr/>
        </p:nvSpPr>
        <p:spPr>
          <a:xfrm xmlns:a="http://schemas.openxmlformats.org/drawingml/2006/main">
            <a:off x="666750" y="35242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42D7B0"/>
                </a:solidFill>
                <a:latin typeface="Helvetica Neue"/>
                <a:ea typeface="Helvetica Neue"/>
                <a:cs typeface="Helvetica Neue"/>
              </a:defRPr>
            </a:pPr>
            <a:r>
              <a:rPr sz="2025" b="1">
                <a:solidFill>
                  <a:srgbClr val="42D7B0"/>
                </a:solidFill>
                <a:latin typeface="Helvetica Neue"/>
                <a:ea typeface="Helvetica Neue"/>
                <a:cs typeface="Helvetica Neue"/>
              </a:rPr>
              <a:t>Understanding AWS, GCP, Kubernetes, and IaC security scanners</a:t>
            </a:r>
          </a:p>
        </p:txBody>
      </p:sp>
      <p:sp>
        <p:nvSpPr>
          <p:cNvPr id="5" name="cover-rule">
            <a:extLst xmlns:a="http://schemas.openxmlformats.org/drawingml/2006/main">
              <a:ext uri="{FF2B5EF4-FFF2-40B4-BE49-F238E27FC236}">
                <a16:creationId xmlns:a16="http://schemas.microsoft.com/office/drawing/2014/main" id="{E9D46DB1-3A94-4595-BF49-4B84679A31D5}"/>
              </a:ext>
            </a:extLst>
          </p:cNvPr>
          <p:cNvSpPr>
            <a:spLocks xmlns:a="http://schemas.openxmlformats.org/drawingml/2006/main" noGrp="1"/>
          </p:cNvSpPr>
          <p:nvPr/>
        </p:nvSpPr>
        <p:spPr>
          <a:xfrm xmlns:a="http://schemas.openxmlformats.org/drawingml/2006/main">
            <a:off x="666750" y="476250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6" name="cover-meta">
            <a:extLst xmlns:a="http://schemas.openxmlformats.org/drawingml/2006/main">
              <a:ext uri="{FF2B5EF4-FFF2-40B4-BE49-F238E27FC236}">
                <a16:creationId xmlns:a16="http://schemas.microsoft.com/office/drawing/2014/main" id="{7E3E2B6C-B57D-4FDF-9072-BC2EF8623D16}"/>
              </a:ext>
            </a:extLst>
          </p:cNvPr>
          <p:cNvSpPr>
            <a:spLocks xmlns:a="http://schemas.openxmlformats.org/drawingml/2006/main" noGrp="1"/>
          </p:cNvSpPr>
          <p:nvPr/>
        </p:nvSpPr>
        <p:spPr>
          <a:xfrm xmlns:a="http://schemas.openxmlformats.org/drawingml/2006/main">
            <a:off x="666750" y="506730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B7CBC5"/>
                </a:solidFill>
                <a:latin typeface="Helvetica Neue"/>
                <a:ea typeface="Helvetica Neue"/>
                <a:cs typeface="Helvetica Neue"/>
              </a:defRPr>
            </a:pPr>
            <a:r>
              <a:rPr sz="1425" b="1">
                <a:solidFill>
                  <a:srgbClr val="B7CBC5"/>
                </a:solidFill>
                <a:latin typeface="Helvetica Neue"/>
                <a:ea typeface="Helvetica Neue"/>
                <a:cs typeface="Helvetica Neue"/>
              </a:rPr>
              <a:t>Concepts, live demonstrations, findings, and practical labs</a:t>
            </a:r>
          </a:p>
        </p:txBody>
      </p:sp>
      <p:sp>
        <p:nvSpPr>
          <p:cNvPr id="7" name="cover-duration">
            <a:extLst xmlns:a="http://schemas.openxmlformats.org/drawingml/2006/main">
              <a:ext uri="{FF2B5EF4-FFF2-40B4-BE49-F238E27FC236}">
                <a16:creationId xmlns:a16="http://schemas.microsoft.com/office/drawing/2014/main" id="{EB969D26-4347-4235-BAB6-F580DCFA7A78}"/>
              </a:ext>
            </a:extLst>
          </p:cNvPr>
          <p:cNvSpPr>
            <a:spLocks xmlns:a="http://schemas.openxmlformats.org/drawingml/2006/main" noGrp="1"/>
          </p:cNvSpPr>
          <p:nvPr/>
        </p:nvSpPr>
        <p:spPr>
          <a:xfrm xmlns:a="http://schemas.openxmlformats.org/drawingml/2006/main">
            <a:off x="666750" y="56197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86A39C"/>
                </a:solidFill>
                <a:latin typeface="Helvetica Neue"/>
                <a:ea typeface="Helvetica Neue"/>
                <a:cs typeface="Helvetica Neue"/>
              </a:defRPr>
            </a:pPr>
            <a:r>
              <a:rPr sz="1275" b="0">
                <a:solidFill>
                  <a:srgbClr val="86A39C"/>
                </a:solidFill>
                <a:latin typeface="Helvetica Neue"/>
                <a:ea typeface="Helvetica Neue"/>
                <a:cs typeface="Helvetica Neue"/>
              </a:rPr>
              <a:t>150-minute workshop</a:t>
            </a:r>
          </a:p>
        </p:txBody>
      </p:sp>
    </p:spTree>
    <p:extLst>
      <p:ext uri="{BB962C8B-B14F-4D97-AF65-F5344CB8AC3E}">
        <p14:creationId xmlns:p14="http://schemas.microsoft.com/office/powerpoint/2010/main" val="3959968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2">
            <a:extLst xmlns:a="http://schemas.openxmlformats.org/drawingml/2006/main">
              <a:ext uri="{FF2B5EF4-FFF2-40B4-BE49-F238E27FC236}">
                <a16:creationId xmlns:a16="http://schemas.microsoft.com/office/drawing/2014/main" id="{61609B5B-4CD6-4A6F-A3B8-790261BB741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WORKSHOP OPENING</a:t>
            </a:r>
          </a:p>
        </p:txBody>
      </p:sp>
      <p:sp>
        <p:nvSpPr>
          <p:cNvPr id="2" name="title-2">
            <a:extLst xmlns:a="http://schemas.openxmlformats.org/drawingml/2006/main">
              <a:ext uri="{FF2B5EF4-FFF2-40B4-BE49-F238E27FC236}">
                <a16:creationId xmlns:a16="http://schemas.microsoft.com/office/drawing/2014/main" id="{112B69CF-61D0-42B1-B560-F199D25CEF13}"/>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Learning outcomes</a:t>
            </a:r>
          </a:p>
        </p:txBody>
      </p:sp>
      <p:sp>
        <p:nvSpPr>
          <p:cNvPr id="3" name="title-rule-2">
            <a:extLst xmlns:a="http://schemas.openxmlformats.org/drawingml/2006/main">
              <a:ext uri="{FF2B5EF4-FFF2-40B4-BE49-F238E27FC236}">
                <a16:creationId xmlns:a16="http://schemas.microsoft.com/office/drawing/2014/main" id="{145C3C8F-5EFC-4D4B-976B-FECC705D7ED8}"/>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23580d50d2943a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
            <a:extLst xmlns:a="http://schemas.openxmlformats.org/drawingml/2006/main">
              <a:ext uri="{FF2B5EF4-FFF2-40B4-BE49-F238E27FC236}">
                <a16:creationId xmlns:a16="http://schemas.microsoft.com/office/drawing/2014/main" id="{1F0FF4FF-2D8B-4398-95AB-AD433BC054BD}"/>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
            <a:extLst xmlns:a="http://schemas.openxmlformats.org/drawingml/2006/main">
              <a:ext uri="{FF2B5EF4-FFF2-40B4-BE49-F238E27FC236}">
                <a16:creationId xmlns:a16="http://schemas.microsoft.com/office/drawing/2014/main" id="{644E85A7-042E-4D49-824D-DB47B4D9B3CC}"/>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
            <a:extLst xmlns:a="http://schemas.openxmlformats.org/drawingml/2006/main">
              <a:ext uri="{FF2B5EF4-FFF2-40B4-BE49-F238E27FC236}">
                <a16:creationId xmlns:a16="http://schemas.microsoft.com/office/drawing/2014/main" id="{6D3A80A5-57E4-43CD-B81F-70B90DC24F7F}"/>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02</a:t>
            </a:r>
          </a:p>
        </p:txBody>
      </p:sp>
      <p:sp>
        <p:nvSpPr>
          <p:cNvPr id="8" name="outcome-lead">
            <a:extLst xmlns:a="http://schemas.openxmlformats.org/drawingml/2006/main">
              <a:ext uri="{FF2B5EF4-FFF2-40B4-BE49-F238E27FC236}">
                <a16:creationId xmlns:a16="http://schemas.microsoft.com/office/drawing/2014/main" id="{6D1C5243-491E-45AB-83C7-71C7DE1C1AB7}"/>
              </a:ext>
            </a:extLst>
          </p:cNvPr>
          <p:cNvSpPr>
            <a:spLocks xmlns:a="http://schemas.openxmlformats.org/drawingml/2006/main" noGrp="1"/>
          </p:cNvSpPr>
          <p:nvPr/>
        </p:nvSpPr>
        <p:spPr>
          <a:xfrm xmlns:a="http://schemas.openxmlformats.org/drawingml/2006/main">
            <a:off x="533400" y="1790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0C1715"/>
                </a:solidFill>
                <a:latin typeface="Helvetica Neue"/>
                <a:ea typeface="Helvetica Neue"/>
                <a:cs typeface="Helvetica Neue"/>
              </a:defRPr>
            </a:pPr>
            <a:r>
              <a:rPr sz="2025" b="1">
                <a:solidFill>
                  <a:srgbClr val="0C1715"/>
                </a:solidFill>
                <a:latin typeface="Helvetica Neue"/>
                <a:ea typeface="Helvetica Neue"/>
                <a:cs typeface="Helvetica Neue"/>
              </a:rPr>
              <a:t>By the end of the workshop, every participant can explain the full life of a scanner finding.</a:t>
            </a:r>
          </a:p>
        </p:txBody>
      </p:sp>
      <p:sp>
        <p:nvSpPr>
          <p:cNvPr id="9" name="pair-left-title-2">
            <a:extLst xmlns:a="http://schemas.openxmlformats.org/drawingml/2006/main">
              <a:ext uri="{FF2B5EF4-FFF2-40B4-BE49-F238E27FC236}">
                <a16:creationId xmlns:a16="http://schemas.microsoft.com/office/drawing/2014/main" id="{71EEC9A2-3ACA-4290-8FA8-3F4D65F012B1}"/>
              </a:ext>
            </a:extLst>
          </p:cNvPr>
          <p:cNvSpPr>
            <a:spLocks xmlns:a="http://schemas.openxmlformats.org/drawingml/2006/main" noGrp="1"/>
          </p:cNvSpPr>
          <p:nvPr/>
        </p:nvSpPr>
        <p:spPr>
          <a:xfrm xmlns:a="http://schemas.openxmlformats.org/drawingml/2006/main">
            <a:off x="533400" y="26289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Scanner understanding</a:t>
            </a:r>
          </a:p>
        </p:txBody>
      </p:sp>
      <p:sp>
        <p:nvSpPr>
          <p:cNvPr id="10" name="pair-left-2">
            <a:extLst xmlns:a="http://schemas.openxmlformats.org/drawingml/2006/main">
              <a:ext uri="{FF2B5EF4-FFF2-40B4-BE49-F238E27FC236}">
                <a16:creationId xmlns:a16="http://schemas.microsoft.com/office/drawing/2014/main" id="{BD0AD83C-50C6-439A-96FF-77DD9E5DA4CF}"/>
              </a:ext>
            </a:extLst>
          </p:cNvPr>
          <p:cNvSpPr>
            <a:spLocks xmlns:a="http://schemas.openxmlformats.org/drawingml/2006/main" noGrp="1"/>
          </p:cNvSpPr>
          <p:nvPr/>
        </p:nvSpPr>
        <p:spPr>
          <a:xfrm xmlns:a="http://schemas.openxmlformats.org/drawingml/2006/main">
            <a:off x="47625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Describe the target and access needed by each scanner</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Explain the resources and configurations each scanner inspects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Distinguish live cloud scans from static file analysis</a:t>
            </a:r>
          </a:p>
        </p:txBody>
      </p:sp>
      <p:sp>
        <p:nvSpPr>
          <p:cNvPr id="11" name="pair-divider-2">
            <a:extLst xmlns:a="http://schemas.openxmlformats.org/drawingml/2006/main">
              <a:ext uri="{FF2B5EF4-FFF2-40B4-BE49-F238E27FC236}">
                <a16:creationId xmlns:a16="http://schemas.microsoft.com/office/drawing/2014/main" id="{45D20A04-A8DC-4588-B576-E3A10BE245AB}"/>
              </a:ext>
            </a:extLst>
          </p:cNvPr>
          <p:cNvSpPr>
            <a:spLocks xmlns:a="http://schemas.openxmlformats.org/drawingml/2006/main" noGrp="1"/>
          </p:cNvSpPr>
          <p:nvPr/>
        </p:nvSpPr>
        <p:spPr>
          <a:xfrm xmlns:a="http://schemas.openxmlformats.org/drawingml/2006/main">
            <a:off x="6000750" y="259080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2" name="pair-right-title-2">
            <a:extLst xmlns:a="http://schemas.openxmlformats.org/drawingml/2006/main">
              <a:ext uri="{FF2B5EF4-FFF2-40B4-BE49-F238E27FC236}">
                <a16:creationId xmlns:a16="http://schemas.microsoft.com/office/drawing/2014/main" id="{7D0FE746-3C61-4950-A72F-B6A7C15BFAB0}"/>
              </a:ext>
            </a:extLst>
          </p:cNvPr>
          <p:cNvSpPr>
            <a:spLocks xmlns:a="http://schemas.openxmlformats.org/drawingml/2006/main" noGrp="1"/>
          </p:cNvSpPr>
          <p:nvPr/>
        </p:nvSpPr>
        <p:spPr>
          <a:xfrm xmlns:a="http://schemas.openxmlformats.org/drawingml/2006/main">
            <a:off x="6572250" y="262890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Finding interpretation</a:t>
            </a:r>
          </a:p>
        </p:txBody>
      </p:sp>
      <p:sp>
        <p:nvSpPr>
          <p:cNvPr id="13" name="pair-right-2">
            <a:extLst xmlns:a="http://schemas.openxmlformats.org/drawingml/2006/main">
              <a:ext uri="{FF2B5EF4-FFF2-40B4-BE49-F238E27FC236}">
                <a16:creationId xmlns:a16="http://schemas.microsoft.com/office/drawing/2014/main" id="{70E1C4DA-B0A7-4481-962D-AC549B804F5A}"/>
              </a:ext>
            </a:extLst>
          </p:cNvPr>
          <p:cNvSpPr>
            <a:spLocks xmlns:a="http://schemas.openxmlformats.org/drawingml/2006/main" noGrp="1"/>
          </p:cNvSpPr>
          <p:nvPr/>
        </p:nvSpPr>
        <p:spPr>
          <a:xfrm xmlns:a="http://schemas.openxmlformats.org/drawingml/2006/main">
            <a:off x="651510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Connect severity to exposure and blast radius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Read the asset, evidence, recommendation, and ownership fields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Map findings to controls, risks, owners, and closure evidence</a:t>
            </a:r>
          </a:p>
        </p:txBody>
      </p:sp>
    </p:spTree>
    <p:extLst>
      <p:ext uri="{BB962C8B-B14F-4D97-AF65-F5344CB8AC3E}">
        <p14:creationId xmlns:p14="http://schemas.microsoft.com/office/powerpoint/2010/main" val="16619994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3">
            <a:extLst xmlns:a="http://schemas.openxmlformats.org/drawingml/2006/main">
              <a:ext uri="{FF2B5EF4-FFF2-40B4-BE49-F238E27FC236}">
                <a16:creationId xmlns:a16="http://schemas.microsoft.com/office/drawing/2014/main" id="{509D7F2B-E37F-4246-99FF-4E97B6B95D9A}"/>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WORKSHOP OPENING</a:t>
            </a:r>
          </a:p>
        </p:txBody>
      </p:sp>
      <p:sp>
        <p:nvSpPr>
          <p:cNvPr id="2" name="title-3">
            <a:extLst xmlns:a="http://schemas.openxmlformats.org/drawingml/2006/main">
              <a:ext uri="{FF2B5EF4-FFF2-40B4-BE49-F238E27FC236}">
                <a16:creationId xmlns:a16="http://schemas.microsoft.com/office/drawing/2014/main" id="{82E2B7F2-41B3-4ABA-93F6-D7B456E2892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150-minute agenda</a:t>
            </a:r>
          </a:p>
        </p:txBody>
      </p:sp>
      <p:sp>
        <p:nvSpPr>
          <p:cNvPr id="3" name="title-rule-3">
            <a:extLst xmlns:a="http://schemas.openxmlformats.org/drawingml/2006/main">
              <a:ext uri="{FF2B5EF4-FFF2-40B4-BE49-F238E27FC236}">
                <a16:creationId xmlns:a16="http://schemas.microsoft.com/office/drawing/2014/main" id="{2FB1E232-D448-40C8-A6CA-3971D79BD21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b44616790f2463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
            <a:extLst xmlns:a="http://schemas.openxmlformats.org/drawingml/2006/main">
              <a:ext uri="{FF2B5EF4-FFF2-40B4-BE49-F238E27FC236}">
                <a16:creationId xmlns:a16="http://schemas.microsoft.com/office/drawing/2014/main" id="{62133D16-F794-41FB-B957-12DED660858D}"/>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
            <a:extLst xmlns:a="http://schemas.openxmlformats.org/drawingml/2006/main">
              <a:ext uri="{FF2B5EF4-FFF2-40B4-BE49-F238E27FC236}">
                <a16:creationId xmlns:a16="http://schemas.microsoft.com/office/drawing/2014/main" id="{598CA89A-1677-4C4F-BEBC-15826677A23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
            <a:extLst xmlns:a="http://schemas.openxmlformats.org/drawingml/2006/main">
              <a:ext uri="{FF2B5EF4-FFF2-40B4-BE49-F238E27FC236}">
                <a16:creationId xmlns:a16="http://schemas.microsoft.com/office/drawing/2014/main" id="{3A50C043-AF0A-4EAE-B099-66E875125EE5}"/>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03</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667000"/>
                <a:gridCol w="1524000"/>
                <a:gridCol w="6934200"/>
              </a:tblGrid>
              <a:tr h="585107">
                <a:tc>
                  <a:txBody>
                    <a:bodyPr/>
                    <a:lstStyle/>
                    <a:p>
                      <a:r>
                        <a:rPr sz="1125" b="1">
                          <a:solidFill>
                            <a:srgbClr val="FFFFFF"/>
                          </a:solidFill>
                          <a:latin typeface="Helvetica Neue"/>
                          <a:ea typeface="Helvetica Neue"/>
                          <a:cs typeface="Helvetica Neue"/>
                        </a:rPr>
                        <a:t>Module</a:t>
                      </a:r>
                    </a:p>
                  </a:txBody>
                  <a:tcPr marL="91440" marR="91440" marT="45720" marB="45720">
                    <a:solidFill>
                      <a:srgbClr val="0B1D19"/>
                    </a:solidFill>
                  </a:tcPr>
                </a:tc>
                <a:tc>
                  <a:txBody>
                    <a:bodyPr/>
                    <a:lstStyle/>
                    <a:p>
                      <a:r>
                        <a:rPr sz="1125" b="1">
                          <a:solidFill>
                            <a:srgbClr val="FFFFFF"/>
                          </a:solidFill>
                          <a:latin typeface="Helvetica Neue"/>
                          <a:ea typeface="Helvetica Neue"/>
                          <a:cs typeface="Helvetica Neue"/>
                        </a:rPr>
                        <a:t>Time</a:t>
                      </a:r>
                    </a:p>
                  </a:txBody>
                  <a:tcPr marL="91440" marR="91440" marT="45720" marB="45720">
                    <a:solidFill>
                      <a:srgbClr val="0B1D19"/>
                    </a:solidFill>
                  </a:tcPr>
                </a:tc>
                <a:tc>
                  <a:txBody>
                    <a:bodyPr/>
                    <a:lstStyle/>
                    <a:p>
                      <a:r>
                        <a:rPr sz="1125" b="1">
                          <a:solidFill>
                            <a:srgbClr val="FFFFFF"/>
                          </a:solidFill>
                          <a:latin typeface="Helvetica Neue"/>
                          <a:ea typeface="Helvetica Neue"/>
                          <a:cs typeface="Helvetica Neue"/>
                        </a:rPr>
                        <a:t>Focus</a:t>
                      </a:r>
                    </a:p>
                  </a:txBody>
                  <a:tcPr marL="91440" marR="91440" marT="45720" marB="45720">
                    <a:solidFill>
                      <a:srgbClr val="0B1D19"/>
                    </a:solidFill>
                  </a:tcPr>
                </a:tc>
              </a:tr>
              <a:tr h="585107">
                <a:tc>
                  <a:txBody>
                    <a:bodyPr/>
                    <a:lstStyle/>
                    <a:p>
                      <a:r>
                        <a:rPr sz="1200" b="1">
                          <a:solidFill>
                            <a:srgbClr val="0C1715"/>
                          </a:solidFill>
                          <a:latin typeface="Helvetica Neue"/>
                          <a:ea typeface="Helvetica Neue"/>
                          <a:cs typeface="Helvetica Neue"/>
                        </a:rPr>
                        <a:t>Opening and foundations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Scanner purpose, architecture, findings, and lab safety</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AWS scanner</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22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Coverage, scan lifecycle, findings, and lab</a:t>
                      </a:r>
                    </a:p>
                  </a:txBody>
                  <a:tcPr marL="91440" marR="91440" marT="45720" marB="45720">
                    <a:solidFill>
                      <a:srgbClr val="FFFFFF"/>
                    </a:solidFill>
                  </a:tcPr>
                </a:tc>
              </a:tr>
              <a:tr h="585107">
                <a:tc>
                  <a:txBody>
                    <a:bodyPr/>
                    <a:lstStyle/>
                    <a:p>
                      <a:r>
                        <a:rPr sz="1200" b="1">
                          <a:solidFill>
                            <a:srgbClr val="0C1715"/>
                          </a:solidFill>
                          <a:latin typeface="Helvetica Neue"/>
                          <a:ea typeface="Helvetica Neue"/>
                          <a:cs typeface="Helvetica Neue"/>
                        </a:rPr>
                        <a:t>GCP scanner</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22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Coverage, scan lifecycle, findings, and lab</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Kubernetes scanner</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Live and manifest modes, checks, findings, and lab</a:t>
                      </a:r>
                    </a:p>
                  </a:txBody>
                  <a:tcPr marL="91440" marR="91440" marT="45720" marB="45720">
                    <a:solidFill>
                      <a:srgbClr val="FFFFFF"/>
                    </a:solidFill>
                  </a:tcPr>
                </a:tc>
              </a:tr>
              <a:tr h="585107">
                <a:tc>
                  <a:txBody>
                    <a:bodyPr/>
                    <a:lstStyle/>
                    <a:p>
                      <a:r>
                        <a:rPr sz="1200" b="1">
                          <a:solidFill>
                            <a:srgbClr val="0C1715"/>
                          </a:solidFill>
                          <a:latin typeface="Helvetica Neue"/>
                          <a:ea typeface="Helvetica Neue"/>
                          <a:cs typeface="Helvetica Neue"/>
                        </a:rPr>
                        <a:t>Infrastructure as Code scanner</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21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Template discovery, static analysis, findings, and lab</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Governance, risk, and compliance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35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Controls, evidence, risk, ownership, approval, and closure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207386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4">
            <a:extLst xmlns:a="http://schemas.openxmlformats.org/drawingml/2006/main">
              <a:ext uri="{FF2B5EF4-FFF2-40B4-BE49-F238E27FC236}">
                <a16:creationId xmlns:a16="http://schemas.microsoft.com/office/drawing/2014/main" id="{23FABF57-32D2-4D1E-AF7E-C4E4D8D2EF97}"/>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4">
            <a:extLst xmlns:a="http://schemas.openxmlformats.org/drawingml/2006/main">
              <a:ext uri="{FF2B5EF4-FFF2-40B4-BE49-F238E27FC236}">
                <a16:creationId xmlns:a16="http://schemas.microsoft.com/office/drawing/2014/main" id="{E452964B-7B5B-4CEA-A227-6865969C103F}"/>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a cloud security scanner answers</a:t>
            </a:r>
          </a:p>
        </p:txBody>
      </p:sp>
      <p:sp>
        <p:nvSpPr>
          <p:cNvPr id="3" name="title-rule-4">
            <a:extLst xmlns:a="http://schemas.openxmlformats.org/drawingml/2006/main">
              <a:ext uri="{FF2B5EF4-FFF2-40B4-BE49-F238E27FC236}">
                <a16:creationId xmlns:a16="http://schemas.microsoft.com/office/drawing/2014/main" id="{642D5EBC-FCEE-4609-939D-08DCDF8C6218}"/>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dbbd4a6a49744c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4">
            <a:extLst xmlns:a="http://schemas.openxmlformats.org/drawingml/2006/main">
              <a:ext uri="{FF2B5EF4-FFF2-40B4-BE49-F238E27FC236}">
                <a16:creationId xmlns:a16="http://schemas.microsoft.com/office/drawing/2014/main" id="{2E9AA14F-7AE8-4C89-B399-0597D30326FF}"/>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4">
            <a:extLst xmlns:a="http://schemas.openxmlformats.org/drawingml/2006/main">
              <a:ext uri="{FF2B5EF4-FFF2-40B4-BE49-F238E27FC236}">
                <a16:creationId xmlns:a16="http://schemas.microsoft.com/office/drawing/2014/main" id="{7F7C297C-B3B1-4463-9F9B-4608B9B003D5}"/>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4">
            <a:extLst xmlns:a="http://schemas.openxmlformats.org/drawingml/2006/main">
              <a:ext uri="{FF2B5EF4-FFF2-40B4-BE49-F238E27FC236}">
                <a16:creationId xmlns:a16="http://schemas.microsoft.com/office/drawing/2014/main" id="{FB8DFF4C-330B-4DFD-8156-91DD131CAC35}"/>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04</a:t>
            </a:r>
          </a:p>
        </p:txBody>
      </p:sp>
      <p:sp>
        <p:nvSpPr>
          <p:cNvPr id="8" name="part-num-5-0">
            <a:extLst xmlns:a="http://schemas.openxmlformats.org/drawingml/2006/main">
              <a:ext uri="{FF2B5EF4-FFF2-40B4-BE49-F238E27FC236}">
                <a16:creationId xmlns:a16="http://schemas.microsoft.com/office/drawing/2014/main" id="{967FDD65-EFEE-407F-A3A1-CEC4CAAC1C1E}"/>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01</a:t>
            </a:r>
          </a:p>
        </p:txBody>
      </p:sp>
      <p:sp>
        <p:nvSpPr>
          <p:cNvPr id="9" name="part-rule-5-0">
            <a:extLst xmlns:a="http://schemas.openxmlformats.org/drawingml/2006/main">
              <a:ext uri="{FF2B5EF4-FFF2-40B4-BE49-F238E27FC236}">
                <a16:creationId xmlns:a16="http://schemas.microsoft.com/office/drawing/2014/main" id="{E5C8BAF3-E356-408D-8D1E-3A7B93DF2A15}"/>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5-0">
            <a:extLst xmlns:a="http://schemas.openxmlformats.org/drawingml/2006/main">
              <a:ext uri="{FF2B5EF4-FFF2-40B4-BE49-F238E27FC236}">
                <a16:creationId xmlns:a16="http://schemas.microsoft.com/office/drawing/2014/main" id="{F5E9F58C-2506-43C1-9461-CA8391E4BEB3}"/>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1" name="part-body-5-0">
            <a:extLst xmlns:a="http://schemas.openxmlformats.org/drawingml/2006/main">
              <a:ext uri="{FF2B5EF4-FFF2-40B4-BE49-F238E27FC236}">
                <a16:creationId xmlns:a16="http://schemas.microsoft.com/office/drawing/2014/main" id="{0FBFE928-D79D-48F8-8564-D23D2B5F17B1}"/>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scanner builds an inventory of accounts, projects, clusters, workloads, or files inside the selected scope.</a:t>
            </a:r>
          </a:p>
        </p:txBody>
      </p:sp>
      <p:sp>
        <p:nvSpPr>
          <p:cNvPr id="12" name="part-num-5-1">
            <a:extLst xmlns:a="http://schemas.openxmlformats.org/drawingml/2006/main">
              <a:ext uri="{FF2B5EF4-FFF2-40B4-BE49-F238E27FC236}">
                <a16:creationId xmlns:a16="http://schemas.microsoft.com/office/drawing/2014/main" id="{90E95C9A-D486-46F9-823B-A77229EA6AB6}"/>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02</a:t>
            </a:r>
          </a:p>
        </p:txBody>
      </p:sp>
      <p:sp>
        <p:nvSpPr>
          <p:cNvPr id="13" name="part-rule-5-1">
            <a:extLst xmlns:a="http://schemas.openxmlformats.org/drawingml/2006/main">
              <a:ext uri="{FF2B5EF4-FFF2-40B4-BE49-F238E27FC236}">
                <a16:creationId xmlns:a16="http://schemas.microsoft.com/office/drawing/2014/main" id="{8DF6B60C-1972-442D-A5C9-4CA8F808F641}"/>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5-1">
            <a:extLst xmlns:a="http://schemas.openxmlformats.org/drawingml/2006/main">
              <a:ext uri="{FF2B5EF4-FFF2-40B4-BE49-F238E27FC236}">
                <a16:creationId xmlns:a16="http://schemas.microsoft.com/office/drawing/2014/main" id="{00211EFE-02F0-443B-862F-4801DC6694E4}"/>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Assess</a:t>
            </a:r>
          </a:p>
        </p:txBody>
      </p:sp>
      <p:sp>
        <p:nvSpPr>
          <p:cNvPr id="15" name="part-body-5-1">
            <a:extLst xmlns:a="http://schemas.openxmlformats.org/drawingml/2006/main">
              <a:ext uri="{FF2B5EF4-FFF2-40B4-BE49-F238E27FC236}">
                <a16:creationId xmlns:a16="http://schemas.microsoft.com/office/drawing/2014/main" id="{2B56FA40-FBE7-41E2-B5CE-8E2314D126AB}"/>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It compares observed configuration with security rules for identity, storage, networks, workloads, and logging.</a:t>
            </a:r>
          </a:p>
        </p:txBody>
      </p:sp>
      <p:sp>
        <p:nvSpPr>
          <p:cNvPr id="16" name="part-num-5-2">
            <a:extLst xmlns:a="http://schemas.openxmlformats.org/drawingml/2006/main">
              <a:ext uri="{FF2B5EF4-FFF2-40B4-BE49-F238E27FC236}">
                <a16:creationId xmlns:a16="http://schemas.microsoft.com/office/drawing/2014/main" id="{3A46C2F3-2FE8-4238-B1F6-1AA418833B64}"/>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03</a:t>
            </a:r>
          </a:p>
        </p:txBody>
      </p:sp>
      <p:sp>
        <p:nvSpPr>
          <p:cNvPr id="17" name="part-rule-5-2">
            <a:extLst xmlns:a="http://schemas.openxmlformats.org/drawingml/2006/main">
              <a:ext uri="{FF2B5EF4-FFF2-40B4-BE49-F238E27FC236}">
                <a16:creationId xmlns:a16="http://schemas.microsoft.com/office/drawing/2014/main" id="{1970379F-CDBE-4A4F-96A7-8C69E06510C9}"/>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5-2">
            <a:extLst xmlns:a="http://schemas.openxmlformats.org/drawingml/2006/main">
              <a:ext uri="{FF2B5EF4-FFF2-40B4-BE49-F238E27FC236}">
                <a16:creationId xmlns:a16="http://schemas.microsoft.com/office/drawing/2014/main" id="{0DFC6A93-8CA9-4683-B5A5-8214F15C4094}"/>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Explain</a:t>
            </a:r>
          </a:p>
        </p:txBody>
      </p:sp>
      <p:sp>
        <p:nvSpPr>
          <p:cNvPr id="19" name="part-body-5-2">
            <a:extLst xmlns:a="http://schemas.openxmlformats.org/drawingml/2006/main">
              <a:ext uri="{FF2B5EF4-FFF2-40B4-BE49-F238E27FC236}">
                <a16:creationId xmlns:a16="http://schemas.microsoft.com/office/drawing/2014/main" id="{3BB28934-7D14-47F7-8D88-8B4262A96ABF}"/>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finding names the affected asset, the risky condition, its severity, and a recommended correction.</a:t>
            </a:r>
          </a:p>
        </p:txBody>
      </p:sp>
      <p:sp>
        <p:nvSpPr>
          <p:cNvPr id="20" name="part-num-5-3">
            <a:extLst xmlns:a="http://schemas.openxmlformats.org/drawingml/2006/main">
              <a:ext uri="{FF2B5EF4-FFF2-40B4-BE49-F238E27FC236}">
                <a16:creationId xmlns:a16="http://schemas.microsoft.com/office/drawing/2014/main" id="{8A521FDB-E20A-44D3-9A89-9DA84D4EB88F}"/>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04</a:t>
            </a:r>
          </a:p>
        </p:txBody>
      </p:sp>
      <p:sp>
        <p:nvSpPr>
          <p:cNvPr id="21" name="part-rule-5-3">
            <a:extLst xmlns:a="http://schemas.openxmlformats.org/drawingml/2006/main">
              <a:ext uri="{FF2B5EF4-FFF2-40B4-BE49-F238E27FC236}">
                <a16:creationId xmlns:a16="http://schemas.microsoft.com/office/drawing/2014/main" id="{F2FB4F77-2F9D-4B3E-B7F4-B726FDA54679}"/>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5-3">
            <a:extLst xmlns:a="http://schemas.openxmlformats.org/drawingml/2006/main">
              <a:ext uri="{FF2B5EF4-FFF2-40B4-BE49-F238E27FC236}">
                <a16:creationId xmlns:a16="http://schemas.microsoft.com/office/drawing/2014/main" id="{D8D97A52-0E1D-4115-8A37-8239FDF2CC75}"/>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Verify</a:t>
            </a:r>
          </a:p>
        </p:txBody>
      </p:sp>
      <p:sp>
        <p:nvSpPr>
          <p:cNvPr id="23" name="part-body-5-3">
            <a:extLst xmlns:a="http://schemas.openxmlformats.org/drawingml/2006/main">
              <a:ext uri="{FF2B5EF4-FFF2-40B4-BE49-F238E27FC236}">
                <a16:creationId xmlns:a16="http://schemas.microsoft.com/office/drawing/2014/main" id="{2B47C063-CC95-4E25-9C97-B7B7C333D34A}"/>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A later scan or cleanup event records whether the risky condition still exists.</a:t>
            </a:r>
          </a:p>
        </p:txBody>
      </p:sp>
    </p:spTree>
    <p:extLst>
      <p:ext uri="{BB962C8B-B14F-4D97-AF65-F5344CB8AC3E}">
        <p14:creationId xmlns:p14="http://schemas.microsoft.com/office/powerpoint/2010/main" val="715487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5">
            <a:extLst xmlns:a="http://schemas.openxmlformats.org/drawingml/2006/main">
              <a:ext uri="{FF2B5EF4-FFF2-40B4-BE49-F238E27FC236}">
                <a16:creationId xmlns:a16="http://schemas.microsoft.com/office/drawing/2014/main" id="{E12254EA-1EAA-4F65-BAFB-A912CF11440B}"/>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5">
            <a:extLst xmlns:a="http://schemas.openxmlformats.org/drawingml/2006/main">
              <a:ext uri="{FF2B5EF4-FFF2-40B4-BE49-F238E27FC236}">
                <a16:creationId xmlns:a16="http://schemas.microsoft.com/office/drawing/2014/main" id="{97A3A7E3-7A5C-4E60-A2FC-F70BE31BAE2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CloudGuard scanner architecture</a:t>
            </a:r>
          </a:p>
        </p:txBody>
      </p:sp>
      <p:sp>
        <p:nvSpPr>
          <p:cNvPr id="3" name="title-rule-5">
            <a:extLst xmlns:a="http://schemas.openxmlformats.org/drawingml/2006/main">
              <a:ext uri="{FF2B5EF4-FFF2-40B4-BE49-F238E27FC236}">
                <a16:creationId xmlns:a16="http://schemas.microsoft.com/office/drawing/2014/main" id="{19A235D5-15F5-455C-8B22-162185EA3C83}"/>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99d70a2a97c43e7"/>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5">
            <a:extLst xmlns:a="http://schemas.openxmlformats.org/drawingml/2006/main">
              <a:ext uri="{FF2B5EF4-FFF2-40B4-BE49-F238E27FC236}">
                <a16:creationId xmlns:a16="http://schemas.microsoft.com/office/drawing/2014/main" id="{0D0F6F6C-6899-4859-BDDC-54A4DADA5D1E}"/>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5">
            <a:extLst xmlns:a="http://schemas.openxmlformats.org/drawingml/2006/main">
              <a:ext uri="{FF2B5EF4-FFF2-40B4-BE49-F238E27FC236}">
                <a16:creationId xmlns:a16="http://schemas.microsoft.com/office/drawing/2014/main" id="{23621606-9AED-44EC-95A3-8714C59E3F12}"/>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5">
            <a:extLst xmlns:a="http://schemas.openxmlformats.org/drawingml/2006/main">
              <a:ext uri="{FF2B5EF4-FFF2-40B4-BE49-F238E27FC236}">
                <a16:creationId xmlns:a16="http://schemas.microsoft.com/office/drawing/2014/main" id="{8A5C8A48-48D5-4E67-8696-F094ED40931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05</a:t>
            </a:r>
          </a:p>
        </p:txBody>
      </p:sp>
      <p:sp>
        <p:nvSpPr>
          <p:cNvPr id="8" name="arch-copy">
            <a:extLst xmlns:a="http://schemas.openxmlformats.org/drawingml/2006/main">
              <a:ext uri="{FF2B5EF4-FFF2-40B4-BE49-F238E27FC236}">
                <a16:creationId xmlns:a16="http://schemas.microsoft.com/office/drawing/2014/main" id="{5D638981-CDD5-40C5-B838-CC8E14CACD5E}"/>
              </a:ext>
            </a:extLst>
          </p:cNvPr>
          <p:cNvSpPr>
            <a:spLocks xmlns:a="http://schemas.openxmlformats.org/drawingml/2006/main" noGrp="1"/>
          </p:cNvSpPr>
          <p:nvPr/>
        </p:nvSpPr>
        <p:spPr>
          <a:xfrm xmlns:a="http://schemas.openxmlformats.org/drawingml/2006/main">
            <a:off x="533400" y="1809750"/>
            <a:ext cx="3714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0C1715"/>
                </a:solidFill>
                <a:latin typeface="Helvetica Neue"/>
                <a:ea typeface="Helvetica Neue"/>
                <a:cs typeface="Helvetica Neue"/>
              </a:defRPr>
            </a:pPr>
            <a:r>
              <a:rPr sz="1575" b="0">
                <a:solidFill>
                  <a:srgbClr val="0C1715"/>
                </a:solidFill>
                <a:latin typeface="Helvetica Neue"/>
                <a:ea typeface="Helvetica Neue"/>
                <a:cs typeface="Helvetica Neue"/>
              </a:rPr>
              <a:t>The portal defines the target and records job state. A provider worker performs discovery and checks. CloudGuard then stores normalized findings and evidence for later governance.</a:t>
            </a:r>
          </a:p>
        </p:txBody>
      </p:sp>
      <p:sp>
        <p:nvSpPr>
          <p:cNvPr id="9" name="arch-bullets">
            <a:extLst xmlns:a="http://schemas.openxmlformats.org/drawingml/2006/main">
              <a:ext uri="{FF2B5EF4-FFF2-40B4-BE49-F238E27FC236}">
                <a16:creationId xmlns:a16="http://schemas.microsoft.com/office/drawing/2014/main" id="{0746B585-7510-49CC-8572-578A670BA2EC}"/>
              </a:ext>
            </a:extLst>
          </p:cNvPr>
          <p:cNvSpPr>
            <a:spLocks xmlns:a="http://schemas.openxmlformats.org/drawingml/2006/main" noGrp="1"/>
          </p:cNvSpPr>
          <p:nvPr/>
        </p:nvSpPr>
        <p:spPr>
          <a:xfrm xmlns:a="http://schemas.openxmlformats.org/drawingml/2006/main">
            <a:off x="476250" y="3352800"/>
            <a:ext cx="3905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Credentials remain associated with the selected tenant and target</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AWS, GCP, Kubernetes, and IaC workers keep provider logic separate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Findings share a common structure across scanner types</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Evidence moves into risk, remediation, and compliance workflows</a:t>
            </a:r>
          </a:p>
        </p:txBody>
      </p:sp>
      <p:sp>
        <p:nvSpPr>
          <p:cNvPr id="10" name="arch-frame">
            <a:extLst xmlns:a="http://schemas.openxmlformats.org/drawingml/2006/main">
              <a:ext uri="{FF2B5EF4-FFF2-40B4-BE49-F238E27FC236}">
                <a16:creationId xmlns:a16="http://schemas.microsoft.com/office/drawing/2014/main" id="{A2277C62-11A0-466D-A172-F1688C33D5F1}"/>
              </a:ext>
            </a:extLst>
          </p:cNvPr>
          <p:cNvSpPr>
            <a:spLocks xmlns:a="http://schemas.openxmlformats.org/drawingml/2006/main" noGrp="1"/>
          </p:cNvSpPr>
          <p:nvPr/>
        </p:nvSpPr>
        <p:spPr>
          <a:xfrm xmlns:a="http://schemas.openxmlformats.org/drawingml/2006/main">
            <a:off x="4762500" y="1752600"/>
            <a:ext cx="6896100" cy="4095750"/>
          </a:xfrm>
          <a:prstGeom xmlns:a="http://schemas.openxmlformats.org/drawingml/2006/main" prst="rect">
            <a:avLst/>
          </a:prstGeom>
          <a:solidFill xmlns:a="http://schemas.openxmlformats.org/drawingml/2006/main">
            <a:srgbClr val="F2F7F5"/>
          </a:solidFill>
          <a:ln xmlns:a="http://schemas.openxmlformats.org/drawingml/2006/main" w="9525">
            <a:solidFill>
              <a:srgbClr val="B9C9C5"/>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8a829101f594638"/>
          <a:stretch xmlns:a="http://schemas.openxmlformats.org/drawingml/2006/main"/>
        </p:blipFill>
        <p:spPr>
          <a:xfrm xmlns:a="http://schemas.openxmlformats.org/drawingml/2006/main">
            <a:off x="4914900" y="1946672"/>
            <a:ext cx="6591300" cy="3707606"/>
          </a:xfrm>
          <a:prstGeom xmlns:a="http://schemas.openxmlformats.org/drawingml/2006/main" prst="roundRect">
            <a:avLst>
              <a:gd name="adj" fmla="val 1005"/>
            </a:avLst>
          </a:prstGeom>
        </p:spPr>
      </p:pic>
    </p:spTree>
    <p:extLst>
      <p:ext uri="{BB962C8B-B14F-4D97-AF65-F5344CB8AC3E}">
        <p14:creationId xmlns:p14="http://schemas.microsoft.com/office/powerpoint/2010/main" val="12875088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6">
            <a:extLst xmlns:a="http://schemas.openxmlformats.org/drawingml/2006/main">
              <a:ext uri="{FF2B5EF4-FFF2-40B4-BE49-F238E27FC236}">
                <a16:creationId xmlns:a16="http://schemas.microsoft.com/office/drawing/2014/main" id="{62517AA4-E5C8-42B6-A479-17B12FB02A29}"/>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6">
            <a:extLst xmlns:a="http://schemas.openxmlformats.org/drawingml/2006/main">
              <a:ext uri="{FF2B5EF4-FFF2-40B4-BE49-F238E27FC236}">
                <a16:creationId xmlns:a16="http://schemas.microsoft.com/office/drawing/2014/main" id="{3D10598C-0BB2-463F-BE4A-28D416C705F2}"/>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Anatomy of a scanner finding</a:t>
            </a:r>
          </a:p>
        </p:txBody>
      </p:sp>
      <p:sp>
        <p:nvSpPr>
          <p:cNvPr id="3" name="title-rule-6">
            <a:extLst xmlns:a="http://schemas.openxmlformats.org/drawingml/2006/main">
              <a:ext uri="{FF2B5EF4-FFF2-40B4-BE49-F238E27FC236}">
                <a16:creationId xmlns:a16="http://schemas.microsoft.com/office/drawing/2014/main" id="{9500AD90-0ABC-40AC-A9C8-B59CF6CDF518}"/>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3b5585e559143d1"/>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6">
            <a:extLst xmlns:a="http://schemas.openxmlformats.org/drawingml/2006/main">
              <a:ext uri="{FF2B5EF4-FFF2-40B4-BE49-F238E27FC236}">
                <a16:creationId xmlns:a16="http://schemas.microsoft.com/office/drawing/2014/main" id="{89820D38-E1E8-43A8-AB22-696BE23A292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6">
            <a:extLst xmlns:a="http://schemas.openxmlformats.org/drawingml/2006/main">
              <a:ext uri="{FF2B5EF4-FFF2-40B4-BE49-F238E27FC236}">
                <a16:creationId xmlns:a16="http://schemas.microsoft.com/office/drawing/2014/main" id="{986FEE0E-2E16-4D19-9061-CCC79260C88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6">
            <a:extLst xmlns:a="http://schemas.openxmlformats.org/drawingml/2006/main">
              <a:ext uri="{FF2B5EF4-FFF2-40B4-BE49-F238E27FC236}">
                <a16:creationId xmlns:a16="http://schemas.microsoft.com/office/drawing/2014/main" id="{5A50E40B-0563-4CEB-8587-5914A8FDB4C1}"/>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06</a:t>
            </a:r>
          </a:p>
        </p:txBody>
      </p:sp>
      <p:graphicFrame>
        <p:nvGraphicFramePr>
          <p:cNvPr id="17" name=""/>
          <p:cNvGraphicFramePr/>
          <p:nvPr/>
        </p:nvGraphicFramePr>
        <p:xfrm>
          <a:off xmlns:a="http://schemas.openxmlformats.org/drawingml/2006/main" x="533400" y="1752600"/>
          <a:ext xmlns:a="http://schemas.openxmlformats.org/drawingml/2006/main" cx="11125200" cy="3848100"/>
        </p:xfrm>
        <a:graphic xmlns:a="http://schemas.openxmlformats.org/drawingml/2006/main">
          <a:graphicData uri="http://schemas.openxmlformats.org/drawingml/2006/table">
            <a:tbl>
              <a:tblPr/>
              <a:tblGrid>
                <a:gridCol w="1714500"/>
                <a:gridCol w="4095750"/>
                <a:gridCol w="5314950"/>
              </a:tblGrid>
              <a:tr h="641350">
                <a:tc>
                  <a:txBody>
                    <a:bodyPr/>
                    <a:lstStyle/>
                    <a:p>
                      <a:r>
                        <a:rPr sz="1125" b="1">
                          <a:solidFill>
                            <a:srgbClr val="FFFFFF"/>
                          </a:solidFill>
                          <a:latin typeface="Helvetica Neue"/>
                          <a:ea typeface="Helvetica Neue"/>
                          <a:cs typeface="Helvetica Neue"/>
                        </a:rPr>
                        <a:t>Field</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What it tells us</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Example from a workshop target</a:t>
                      </a:r>
                    </a:p>
                  </a:txBody>
                  <a:tcPr marL="91440" marR="91440" marT="45720" marB="45720">
                    <a:solidFill>
                      <a:srgbClr val="11856E"/>
                    </a:solidFill>
                  </a:tcPr>
                </a:tc>
              </a:tr>
              <a:tr h="641350">
                <a:tc>
                  <a:txBody>
                    <a:bodyPr/>
                    <a:lstStyle/>
                    <a:p>
                      <a:r>
                        <a:rPr sz="1200" b="1">
                          <a:solidFill>
                            <a:srgbClr val="0C1715"/>
                          </a:solidFill>
                          <a:latin typeface="Helvetica Neue"/>
                          <a:ea typeface="Helvetica Neue"/>
                          <a:cs typeface="Helvetica Neue"/>
                        </a:rPr>
                        <a:t>Asset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resource or file connected to the condition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S3 bucket, firewall rule, Deployment, or Terraform file</a:t>
                      </a:r>
                    </a:p>
                  </a:txBody>
                  <a:tcPr marL="91440" marR="91440" marT="45720" marB="45720">
                    <a:solidFill>
                      <a:srgbClr val="F2F7F5"/>
                    </a:solidFill>
                  </a:tcPr>
                </a:tc>
              </a:tr>
              <a:tr h="641350">
                <a:tc>
                  <a:txBody>
                    <a:bodyPr/>
                    <a:lstStyle/>
                    <a:p>
                      <a:r>
                        <a:rPr sz="1200" b="1">
                          <a:solidFill>
                            <a:srgbClr val="0C1715"/>
                          </a:solidFill>
                          <a:latin typeface="Helvetica Neue"/>
                          <a:ea typeface="Helvetica Neue"/>
                          <a:cs typeface="Helvetica Neue"/>
                        </a:rPr>
                        <a:t>Issue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The configuration rule that failed</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access block disabled</a:t>
                      </a:r>
                    </a:p>
                  </a:txBody>
                  <a:tcPr marL="91440" marR="91440" marT="45720" marB="45720">
                    <a:solidFill>
                      <a:srgbClr val="FFFFFF"/>
                    </a:solidFill>
                  </a:tcPr>
                </a:tc>
              </a:tr>
              <a:tr h="641350">
                <a:tc>
                  <a:txBody>
                    <a:bodyPr/>
                    <a:lstStyle/>
                    <a:p>
                      <a:r>
                        <a:rPr sz="1200" b="1">
                          <a:solidFill>
                            <a:srgbClr val="0C1715"/>
                          </a:solidFill>
                          <a:latin typeface="Helvetica Neue"/>
                          <a:ea typeface="Helvetica Neue"/>
                          <a:cs typeface="Helvetica Neue"/>
                        </a:rPr>
                        <a:t>Severity</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scanner's estimate of technical impact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Critical, High, Medium, Low, or Info</a:t>
                      </a:r>
                    </a:p>
                  </a:txBody>
                  <a:tcPr marL="91440" marR="91440" marT="45720" marB="45720">
                    <a:solidFill>
                      <a:srgbClr val="F2F7F5"/>
                    </a:solidFill>
                  </a:tcPr>
                </a:tc>
              </a:tr>
              <a:tr h="641350">
                <a:tc>
                  <a:txBody>
                    <a:bodyPr/>
                    <a:lstStyle/>
                    <a:p>
                      <a:r>
                        <a:rPr sz="1200" b="1">
                          <a:solidFill>
                            <a:srgbClr val="0C1715"/>
                          </a:solidFill>
                          <a:latin typeface="Helvetica Neue"/>
                          <a:ea typeface="Helvetica Neue"/>
                          <a:cs typeface="Helvetica Neue"/>
                        </a:rPr>
                        <a:t>Evidence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The observed policy, property, or manifest setting</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ACL, open CIDR, privileged: true</a:t>
                      </a:r>
                    </a:p>
                  </a:txBody>
                  <a:tcPr marL="91440" marR="91440" marT="45720" marB="45720">
                    <a:solidFill>
                      <a:srgbClr val="FFFFFF"/>
                    </a:solidFill>
                  </a:tcPr>
                </a:tc>
              </a:tr>
              <a:tr h="641350">
                <a:tc>
                  <a:txBody>
                    <a:bodyPr/>
                    <a:lstStyle/>
                    <a:p>
                      <a:r>
                        <a:rPr sz="1200" b="1">
                          <a:solidFill>
                            <a:srgbClr val="0C1715"/>
                          </a:solidFill>
                          <a:latin typeface="Helvetica Neue"/>
                          <a:ea typeface="Helvetica Neue"/>
                          <a:cs typeface="Helvetica Neue"/>
                        </a:rPr>
                        <a:t>Recommendation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configuration change that removes the condition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Restrict access and run another scan</a:t>
                      </a:r>
                    </a:p>
                  </a:txBody>
                  <a:tcPr marL="91440" marR="91440" marT="45720" marB="45720">
                    <a:solidFill>
                      <a:srgbClr val="F2F7F5"/>
                    </a:solidFill>
                  </a:tcPr>
                </a:tc>
              </a:tr>
            </a:tbl>
          </a:graphicData>
        </a:graphic>
      </p:graphicFrame>
      <p:sp>
        <p:nvSpPr>
          <p:cNvPr id="9" name="finding-note">
            <a:extLst xmlns:a="http://schemas.openxmlformats.org/drawingml/2006/main">
              <a:ext uri="{FF2B5EF4-FFF2-40B4-BE49-F238E27FC236}">
                <a16:creationId xmlns:a16="http://schemas.microsoft.com/office/drawing/2014/main" id="{4BF3A2EE-0BA6-4390-98E7-F35E27CEBA38}"/>
              </a:ext>
            </a:extLst>
          </p:cNvPr>
          <p:cNvSpPr>
            <a:spLocks xmlns:a="http://schemas.openxmlformats.org/drawingml/2006/main" noGrp="1"/>
          </p:cNvSpPr>
          <p:nvPr/>
        </p:nvSpPr>
        <p:spPr>
          <a:xfrm xmlns:a="http://schemas.openxmlformats.org/drawingml/2006/main">
            <a:off x="533400" y="58293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C1715"/>
                </a:solidFill>
                <a:latin typeface="Helvetica Neue"/>
                <a:ea typeface="Helvetica Neue"/>
                <a:cs typeface="Helvetica Neue"/>
              </a:defRPr>
            </a:pPr>
            <a:r>
              <a:rPr sz="1500" b="1">
                <a:solidFill>
                  <a:srgbClr val="0C1715"/>
                </a:solidFill>
                <a:latin typeface="Helvetica Neue"/>
                <a:ea typeface="Helvetica Neue"/>
                <a:cs typeface="Helvetica Neue"/>
              </a:rPr>
              <a:t>Severity starts the conversation. Exposure, identity privilege, asset value, and available evidence determine priority.</a:t>
            </a:r>
          </a:p>
        </p:txBody>
      </p:sp>
    </p:spTree>
    <p:extLst>
      <p:ext uri="{BB962C8B-B14F-4D97-AF65-F5344CB8AC3E}">
        <p14:creationId xmlns:p14="http://schemas.microsoft.com/office/powerpoint/2010/main" val="4223626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7">
            <a:extLst xmlns:a="http://schemas.openxmlformats.org/drawingml/2006/main">
              <a:ext uri="{FF2B5EF4-FFF2-40B4-BE49-F238E27FC236}">
                <a16:creationId xmlns:a16="http://schemas.microsoft.com/office/drawing/2014/main" id="{5D42CE9B-14EC-4DCA-A231-DC67FD676DF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7">
            <a:extLst xmlns:a="http://schemas.openxmlformats.org/drawingml/2006/main">
              <a:ext uri="{FF2B5EF4-FFF2-40B4-BE49-F238E27FC236}">
                <a16:creationId xmlns:a16="http://schemas.microsoft.com/office/drawing/2014/main" id="{C0A42C0D-000F-40A4-9C01-7FFA1AA63C0D}"/>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Safe vulnerable lab model</a:t>
            </a:r>
          </a:p>
        </p:txBody>
      </p:sp>
      <p:sp>
        <p:nvSpPr>
          <p:cNvPr id="3" name="title-rule-7">
            <a:extLst xmlns:a="http://schemas.openxmlformats.org/drawingml/2006/main">
              <a:ext uri="{FF2B5EF4-FFF2-40B4-BE49-F238E27FC236}">
                <a16:creationId xmlns:a16="http://schemas.microsoft.com/office/drawing/2014/main" id="{5036FFB0-F1F5-4B7E-9A35-3274B0E019DE}"/>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3915f1a409844f4"/>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7">
            <a:extLst xmlns:a="http://schemas.openxmlformats.org/drawingml/2006/main">
              <a:ext uri="{FF2B5EF4-FFF2-40B4-BE49-F238E27FC236}">
                <a16:creationId xmlns:a16="http://schemas.microsoft.com/office/drawing/2014/main" id="{7AFDEE96-480B-46A7-94BE-6A3D69F54B36}"/>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7">
            <a:extLst xmlns:a="http://schemas.openxmlformats.org/drawingml/2006/main">
              <a:ext uri="{FF2B5EF4-FFF2-40B4-BE49-F238E27FC236}">
                <a16:creationId xmlns:a16="http://schemas.microsoft.com/office/drawing/2014/main" id="{08E007F3-5E91-4DE1-8B9B-3BC3E61653DF}"/>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7">
            <a:extLst xmlns:a="http://schemas.openxmlformats.org/drawingml/2006/main">
              <a:ext uri="{FF2B5EF4-FFF2-40B4-BE49-F238E27FC236}">
                <a16:creationId xmlns:a16="http://schemas.microsoft.com/office/drawing/2014/main" id="{E15234D0-F1C4-4F68-9F6B-AA9DD271B0A5}"/>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07</a:t>
            </a:r>
          </a:p>
        </p:txBody>
      </p:sp>
      <p:sp>
        <p:nvSpPr>
          <p:cNvPr id="8" name="safe-lead">
            <a:extLst xmlns:a="http://schemas.openxmlformats.org/drawingml/2006/main">
              <a:ext uri="{FF2B5EF4-FFF2-40B4-BE49-F238E27FC236}">
                <a16:creationId xmlns:a16="http://schemas.microsoft.com/office/drawing/2014/main" id="{1EE9B3AC-7B74-40EF-A3AA-668ADA4CA685}"/>
              </a:ext>
            </a:extLst>
          </p:cNvPr>
          <p:cNvSpPr>
            <a:spLocks xmlns:a="http://schemas.openxmlformats.org/drawingml/2006/main" noGrp="1"/>
          </p:cNvSpPr>
          <p:nvPr/>
        </p:nvSpPr>
        <p:spPr>
          <a:xfrm xmlns:a="http://schemas.openxmlformats.org/drawingml/2006/main">
            <a:off x="533400" y="18097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D95D4B"/>
                </a:solidFill>
                <a:latin typeface="Helvetica Neue"/>
                <a:ea typeface="Helvetica Neue"/>
                <a:cs typeface="Helvetica Neue"/>
              </a:defRPr>
            </a:pPr>
            <a:r>
              <a:rPr sz="2100" b="1">
                <a:solidFill>
                  <a:srgbClr val="D95D4B"/>
                </a:solidFill>
                <a:latin typeface="Helvetica Neue"/>
                <a:ea typeface="Helvetica Neue"/>
                <a:cs typeface="Helvetica Neue"/>
              </a:rPr>
              <a:t>The workshop uses intentionally weak resources inside isolated, short-lived environments.</a:t>
            </a:r>
          </a:p>
        </p:txBody>
      </p:sp>
      <p:sp>
        <p:nvSpPr>
          <p:cNvPr id="9" name="pair-left-title-8">
            <a:extLst xmlns:a="http://schemas.openxmlformats.org/drawingml/2006/main">
              <a:ext uri="{FF2B5EF4-FFF2-40B4-BE49-F238E27FC236}">
                <a16:creationId xmlns:a16="http://schemas.microsoft.com/office/drawing/2014/main" id="{9B41B89E-6589-43CA-BBA1-E74358CA50D6}"/>
              </a:ext>
            </a:extLst>
          </p:cNvPr>
          <p:cNvSpPr>
            <a:spLocks xmlns:a="http://schemas.openxmlformats.org/drawingml/2006/main" noGrp="1"/>
          </p:cNvSpPr>
          <p:nvPr/>
        </p:nvSpPr>
        <p:spPr>
          <a:xfrm xmlns:a="http://schemas.openxmlformats.org/drawingml/2006/main">
            <a:off x="533400" y="26289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D95D4B"/>
                </a:solidFill>
                <a:latin typeface="Helvetica Neue"/>
                <a:ea typeface="Helvetica Neue"/>
                <a:cs typeface="Helvetica Neue"/>
              </a:defRPr>
            </a:pPr>
            <a:r>
              <a:rPr sz="1800" b="1">
                <a:solidFill>
                  <a:srgbClr val="D95D4B"/>
                </a:solidFill>
                <a:latin typeface="Helvetica Neue"/>
                <a:ea typeface="Helvetica Neue"/>
                <a:cs typeface="Helvetica Neue"/>
              </a:rPr>
              <a:t>What exists in the lab</a:t>
            </a:r>
          </a:p>
        </p:txBody>
      </p:sp>
      <p:sp>
        <p:nvSpPr>
          <p:cNvPr id="10" name="pair-left-8">
            <a:extLst xmlns:a="http://schemas.openxmlformats.org/drawingml/2006/main">
              <a:ext uri="{FF2B5EF4-FFF2-40B4-BE49-F238E27FC236}">
                <a16:creationId xmlns:a16="http://schemas.microsoft.com/office/drawing/2014/main" id="{3EAED6BC-919E-4202-9D45-C63BBF80B4F7}"/>
              </a:ext>
            </a:extLst>
          </p:cNvPr>
          <p:cNvSpPr>
            <a:spLocks xmlns:a="http://schemas.openxmlformats.org/drawingml/2006/main" noGrp="1"/>
          </p:cNvSpPr>
          <p:nvPr/>
        </p:nvSpPr>
        <p:spPr>
          <a:xfrm xmlns:a="http://schemas.openxmlformats.org/drawingml/2006/main">
            <a:off x="47625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 empty public storage resource with dummy content</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 over-permissive identity or network rule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vulnerable Kubernetes namespace and local IaC fixtures</a:t>
            </a:r>
          </a:p>
        </p:txBody>
      </p:sp>
      <p:sp>
        <p:nvSpPr>
          <p:cNvPr id="11" name="pair-divider-8">
            <a:extLst xmlns:a="http://schemas.openxmlformats.org/drawingml/2006/main">
              <a:ext uri="{FF2B5EF4-FFF2-40B4-BE49-F238E27FC236}">
                <a16:creationId xmlns:a16="http://schemas.microsoft.com/office/drawing/2014/main" id="{48CF9DC0-EE74-4517-9AA2-6E4F16F6A647}"/>
              </a:ext>
            </a:extLst>
          </p:cNvPr>
          <p:cNvSpPr>
            <a:spLocks xmlns:a="http://schemas.openxmlformats.org/drawingml/2006/main" noGrp="1"/>
          </p:cNvSpPr>
          <p:nvPr/>
        </p:nvSpPr>
        <p:spPr>
          <a:xfrm xmlns:a="http://schemas.openxmlformats.org/drawingml/2006/main">
            <a:off x="6000750" y="259080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2" name="pair-right-title-8">
            <a:extLst xmlns:a="http://schemas.openxmlformats.org/drawingml/2006/main">
              <a:ext uri="{FF2B5EF4-FFF2-40B4-BE49-F238E27FC236}">
                <a16:creationId xmlns:a16="http://schemas.microsoft.com/office/drawing/2014/main" id="{AEFEDAA8-F758-4016-BAD9-2D1136FB8AB2}"/>
              </a:ext>
            </a:extLst>
          </p:cNvPr>
          <p:cNvSpPr>
            <a:spLocks xmlns:a="http://schemas.openxmlformats.org/drawingml/2006/main" noGrp="1"/>
          </p:cNvSpPr>
          <p:nvPr/>
        </p:nvSpPr>
        <p:spPr>
          <a:xfrm xmlns:a="http://schemas.openxmlformats.org/drawingml/2006/main">
            <a:off x="6572250" y="262890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D95D4B"/>
                </a:solidFill>
                <a:latin typeface="Helvetica Neue"/>
                <a:ea typeface="Helvetica Neue"/>
                <a:cs typeface="Helvetica Neue"/>
              </a:defRPr>
            </a:pPr>
            <a:r>
              <a:rPr sz="1800" b="1">
                <a:solidFill>
                  <a:srgbClr val="D95D4B"/>
                </a:solidFill>
                <a:latin typeface="Helvetica Neue"/>
                <a:ea typeface="Helvetica Neue"/>
                <a:cs typeface="Helvetica Neue"/>
              </a:rPr>
              <a:t>What remains outside the lab</a:t>
            </a:r>
          </a:p>
        </p:txBody>
      </p:sp>
      <p:sp>
        <p:nvSpPr>
          <p:cNvPr id="13" name="pair-right-8">
            <a:extLst xmlns:a="http://schemas.openxmlformats.org/drawingml/2006/main">
              <a:ext uri="{FF2B5EF4-FFF2-40B4-BE49-F238E27FC236}">
                <a16:creationId xmlns:a16="http://schemas.microsoft.com/office/drawing/2014/main" id="{DB169BCB-6508-4FA1-98B4-ECAF004F547D}"/>
              </a:ext>
            </a:extLst>
          </p:cNvPr>
          <p:cNvSpPr>
            <a:spLocks xmlns:a="http://schemas.openxmlformats.org/drawingml/2006/main" noGrp="1"/>
          </p:cNvSpPr>
          <p:nvPr/>
        </p:nvSpPr>
        <p:spPr>
          <a:xfrm xmlns:a="http://schemas.openxmlformats.org/drawingml/2006/main">
            <a:off x="651510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Production accounts, projects, clusters, and customer data</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Real secrets or long-lived access keys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Any resource that lacks a tested cleanup path</a:t>
            </a:r>
          </a:p>
        </p:txBody>
      </p:sp>
    </p:spTree>
    <p:extLst>
      <p:ext uri="{BB962C8B-B14F-4D97-AF65-F5344CB8AC3E}">
        <p14:creationId xmlns:p14="http://schemas.microsoft.com/office/powerpoint/2010/main" val="12443510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8">
            <a:extLst xmlns:a="http://schemas.openxmlformats.org/drawingml/2006/main">
              <a:ext uri="{FF2B5EF4-FFF2-40B4-BE49-F238E27FC236}">
                <a16:creationId xmlns:a16="http://schemas.microsoft.com/office/drawing/2014/main" id="{BABD6527-88E6-4B1B-94F5-2F08B316726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8">
            <a:extLst xmlns:a="http://schemas.openxmlformats.org/drawingml/2006/main">
              <a:ext uri="{FF2B5EF4-FFF2-40B4-BE49-F238E27FC236}">
                <a16:creationId xmlns:a16="http://schemas.microsoft.com/office/drawing/2014/main" id="{509BF983-F95D-43DD-8433-84F197CF016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scanner coverage</a:t>
            </a:r>
          </a:p>
        </p:txBody>
      </p:sp>
      <p:sp>
        <p:nvSpPr>
          <p:cNvPr id="3" name="title-rule-8">
            <a:extLst xmlns:a="http://schemas.openxmlformats.org/drawingml/2006/main">
              <a:ext uri="{FF2B5EF4-FFF2-40B4-BE49-F238E27FC236}">
                <a16:creationId xmlns:a16="http://schemas.microsoft.com/office/drawing/2014/main" id="{70666975-7C6B-48C1-9663-7ADA55D93AE1}"/>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8e1b244f7574168"/>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8">
            <a:extLst xmlns:a="http://schemas.openxmlformats.org/drawingml/2006/main">
              <a:ext uri="{FF2B5EF4-FFF2-40B4-BE49-F238E27FC236}">
                <a16:creationId xmlns:a16="http://schemas.microsoft.com/office/drawing/2014/main" id="{9756BB4D-F12A-48F4-8E0B-3BEE79D1BAE1}"/>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8">
            <a:extLst xmlns:a="http://schemas.openxmlformats.org/drawingml/2006/main">
              <a:ext uri="{FF2B5EF4-FFF2-40B4-BE49-F238E27FC236}">
                <a16:creationId xmlns:a16="http://schemas.microsoft.com/office/drawing/2014/main" id="{AFC44AD2-9839-4A38-9427-873A55185CD9}"/>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8">
            <a:extLst xmlns:a="http://schemas.openxmlformats.org/drawingml/2006/main">
              <a:ext uri="{FF2B5EF4-FFF2-40B4-BE49-F238E27FC236}">
                <a16:creationId xmlns:a16="http://schemas.microsoft.com/office/drawing/2014/main" id="{B59542B8-0F08-48A5-8D34-35B10AF11413}"/>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08</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4762500"/>
                <a:gridCol w="4648200"/>
              </a:tblGrid>
              <a:tr h="819150">
                <a:tc>
                  <a:txBody>
                    <a:bodyPr/>
                    <a:lstStyle/>
                    <a:p>
                      <a:r>
                        <a:rPr sz="1125" b="1">
                          <a:solidFill>
                            <a:srgbClr val="FFFFFF"/>
                          </a:solidFill>
                          <a:latin typeface="Helvetica Neue"/>
                          <a:ea typeface="Helvetica Neue"/>
                          <a:cs typeface="Helvetica Neue"/>
                        </a:rPr>
                        <a:t>Security area</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Resources and controls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Examples of risky conditions</a:t>
                      </a:r>
                    </a:p>
                  </a:txBody>
                  <a:tcPr marL="91440" marR="91440" marT="45720" marB="45720">
                    <a:solidFill>
                      <a:srgbClr val="F59E0B"/>
                    </a:solidFill>
                  </a:tcPr>
                </a:tc>
              </a:tr>
              <a:tr h="819150">
                <a:tc>
                  <a:txBody>
                    <a:bodyPr/>
                    <a:lstStyle/>
                    <a:p>
                      <a:r>
                        <a:rPr sz="1200" b="1">
                          <a:solidFill>
                            <a:srgbClr val="0C1715"/>
                          </a:solidFill>
                          <a:latin typeface="Helvetica Neue"/>
                          <a:ea typeface="Helvetica Neue"/>
                          <a:cs typeface="Helvetica Neue"/>
                        </a:rPr>
                        <a:t>Storage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S3 buckets, ACLs, encryption, versioning, public access block</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access, missing encryption, versioning disabled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IAM users, MFA devices, inline policies, access keys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No MFA, wildcard administration, access key older than 90 days</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Network</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EC2 security groups and VPCs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All traffic or administrative ports exposed to the internet</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Detection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CloudTrail, GuardDuty, and VPC Flow Logs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Missing or disabled logging and threat detection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381099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9">
            <a:extLst xmlns:a="http://schemas.openxmlformats.org/drawingml/2006/main">
              <a:ext uri="{FF2B5EF4-FFF2-40B4-BE49-F238E27FC236}">
                <a16:creationId xmlns:a16="http://schemas.microsoft.com/office/drawing/2014/main" id="{2F989DE8-A254-422B-8F92-87C1B338769D}"/>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9">
            <a:extLst xmlns:a="http://schemas.openxmlformats.org/drawingml/2006/main">
              <a:ext uri="{FF2B5EF4-FFF2-40B4-BE49-F238E27FC236}">
                <a16:creationId xmlns:a16="http://schemas.microsoft.com/office/drawing/2014/main" id="{5E1F4D2B-0E11-434D-8B86-E143902DF66D}"/>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scan lifecycle</a:t>
            </a:r>
          </a:p>
        </p:txBody>
      </p:sp>
      <p:sp>
        <p:nvSpPr>
          <p:cNvPr id="3" name="title-rule-9">
            <a:extLst xmlns:a="http://schemas.openxmlformats.org/drawingml/2006/main">
              <a:ext uri="{FF2B5EF4-FFF2-40B4-BE49-F238E27FC236}">
                <a16:creationId xmlns:a16="http://schemas.microsoft.com/office/drawing/2014/main" id="{FB6A25E2-74E6-4360-8B6D-13B0E79B290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96eb4785cce431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9">
            <a:extLst xmlns:a="http://schemas.openxmlformats.org/drawingml/2006/main">
              <a:ext uri="{FF2B5EF4-FFF2-40B4-BE49-F238E27FC236}">
                <a16:creationId xmlns:a16="http://schemas.microsoft.com/office/drawing/2014/main" id="{E08CCDE1-4167-4344-9FD8-2EEACC2420F6}"/>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9">
            <a:extLst xmlns:a="http://schemas.openxmlformats.org/drawingml/2006/main">
              <a:ext uri="{FF2B5EF4-FFF2-40B4-BE49-F238E27FC236}">
                <a16:creationId xmlns:a16="http://schemas.microsoft.com/office/drawing/2014/main" id="{23AEAB20-AB0E-4099-82B0-99100782DB67}"/>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9">
            <a:extLst xmlns:a="http://schemas.openxmlformats.org/drawingml/2006/main">
              <a:ext uri="{FF2B5EF4-FFF2-40B4-BE49-F238E27FC236}">
                <a16:creationId xmlns:a16="http://schemas.microsoft.com/office/drawing/2014/main" id="{4315ADA8-6D83-466B-B530-4B80A0963439}"/>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09</a:t>
            </a:r>
          </a:p>
        </p:txBody>
      </p:sp>
      <p:sp>
        <p:nvSpPr>
          <p:cNvPr id="8" name="part-num-11-0">
            <a:extLst xmlns:a="http://schemas.openxmlformats.org/drawingml/2006/main">
              <a:ext uri="{FF2B5EF4-FFF2-40B4-BE49-F238E27FC236}">
                <a16:creationId xmlns:a16="http://schemas.microsoft.com/office/drawing/2014/main" id="{5E151803-4E71-47AB-A1E8-10215CF13C12}"/>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01</a:t>
            </a:r>
          </a:p>
        </p:txBody>
      </p:sp>
      <p:sp>
        <p:nvSpPr>
          <p:cNvPr id="9" name="part-rule-11-0">
            <a:extLst xmlns:a="http://schemas.openxmlformats.org/drawingml/2006/main">
              <a:ext uri="{FF2B5EF4-FFF2-40B4-BE49-F238E27FC236}">
                <a16:creationId xmlns:a16="http://schemas.microsoft.com/office/drawing/2014/main" id="{9D4BF9F6-C4B0-4DE4-BF01-D13DEBB93F15}"/>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11-0">
            <a:extLst xmlns:a="http://schemas.openxmlformats.org/drawingml/2006/main">
              <a:ext uri="{FF2B5EF4-FFF2-40B4-BE49-F238E27FC236}">
                <a16:creationId xmlns:a16="http://schemas.microsoft.com/office/drawing/2014/main" id="{C69FF45C-5E36-4DB0-90CF-241FD1068B39}"/>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Authenticate</a:t>
            </a:r>
          </a:p>
        </p:txBody>
      </p:sp>
      <p:sp>
        <p:nvSpPr>
          <p:cNvPr id="11" name="part-body-11-0">
            <a:extLst xmlns:a="http://schemas.openxmlformats.org/drawingml/2006/main">
              <a:ext uri="{FF2B5EF4-FFF2-40B4-BE49-F238E27FC236}">
                <a16:creationId xmlns:a16="http://schemas.microsoft.com/office/drawing/2014/main" id="{E09054EC-9A16-4D3E-AF27-F9AC1C974D6A}"/>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CloudGuard creates an AWS session, then calls STS to confirm the account identity and selected region.</a:t>
            </a:r>
          </a:p>
        </p:txBody>
      </p:sp>
      <p:sp>
        <p:nvSpPr>
          <p:cNvPr id="12" name="part-num-11-1">
            <a:extLst xmlns:a="http://schemas.openxmlformats.org/drawingml/2006/main">
              <a:ext uri="{FF2B5EF4-FFF2-40B4-BE49-F238E27FC236}">
                <a16:creationId xmlns:a16="http://schemas.microsoft.com/office/drawing/2014/main" id="{57C5FF3A-4C3B-4732-8B90-E82BB3103BB5}"/>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02</a:t>
            </a:r>
          </a:p>
        </p:txBody>
      </p:sp>
      <p:sp>
        <p:nvSpPr>
          <p:cNvPr id="13" name="part-rule-11-1">
            <a:extLst xmlns:a="http://schemas.openxmlformats.org/drawingml/2006/main">
              <a:ext uri="{FF2B5EF4-FFF2-40B4-BE49-F238E27FC236}">
                <a16:creationId xmlns:a16="http://schemas.microsoft.com/office/drawing/2014/main" id="{D6A8F2E2-F375-4633-AC33-65D42F0EFA76}"/>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11-1">
            <a:extLst xmlns:a="http://schemas.openxmlformats.org/drawingml/2006/main">
              <a:ext uri="{FF2B5EF4-FFF2-40B4-BE49-F238E27FC236}">
                <a16:creationId xmlns:a16="http://schemas.microsoft.com/office/drawing/2014/main" id="{1519ABDB-8A72-4751-A368-A864AF72C140}"/>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5" name="part-body-11-1">
            <a:extLst xmlns:a="http://schemas.openxmlformats.org/drawingml/2006/main">
              <a:ext uri="{FF2B5EF4-FFF2-40B4-BE49-F238E27FC236}">
                <a16:creationId xmlns:a16="http://schemas.microsoft.com/office/drawing/2014/main" id="{47B4473B-F1C9-4410-88C1-E33F2C843C49}"/>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worker lists buckets, IAM users, security groups, VPCs, trails, detectors, and flow-log coverage.</a:t>
            </a:r>
          </a:p>
        </p:txBody>
      </p:sp>
      <p:sp>
        <p:nvSpPr>
          <p:cNvPr id="16" name="part-num-11-2">
            <a:extLst xmlns:a="http://schemas.openxmlformats.org/drawingml/2006/main">
              <a:ext uri="{FF2B5EF4-FFF2-40B4-BE49-F238E27FC236}">
                <a16:creationId xmlns:a16="http://schemas.microsoft.com/office/drawing/2014/main" id="{7596CD9D-BC15-4C60-9B11-AD6DEC759896}"/>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03</a:t>
            </a:r>
          </a:p>
        </p:txBody>
      </p:sp>
      <p:sp>
        <p:nvSpPr>
          <p:cNvPr id="17" name="part-rule-11-2">
            <a:extLst xmlns:a="http://schemas.openxmlformats.org/drawingml/2006/main">
              <a:ext uri="{FF2B5EF4-FFF2-40B4-BE49-F238E27FC236}">
                <a16:creationId xmlns:a16="http://schemas.microsoft.com/office/drawing/2014/main" id="{AFA978D5-94E9-4200-955E-C66FE22C8913}"/>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11-2">
            <a:extLst xmlns:a="http://schemas.openxmlformats.org/drawingml/2006/main">
              <a:ext uri="{FF2B5EF4-FFF2-40B4-BE49-F238E27FC236}">
                <a16:creationId xmlns:a16="http://schemas.microsoft.com/office/drawing/2014/main" id="{7D29BE58-7BCA-4213-B0E6-3EDA2B6AB3DC}"/>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Evaluate</a:t>
            </a:r>
          </a:p>
        </p:txBody>
      </p:sp>
      <p:sp>
        <p:nvSpPr>
          <p:cNvPr id="19" name="part-body-11-2">
            <a:extLst xmlns:a="http://schemas.openxmlformats.org/drawingml/2006/main">
              <a:ext uri="{FF2B5EF4-FFF2-40B4-BE49-F238E27FC236}">
                <a16:creationId xmlns:a16="http://schemas.microsoft.com/office/drawing/2014/main" id="{E90CDCF8-04FA-49F2-B67C-75AD7320921B}"/>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resource receives focused checks such as public access, wildcard permissions, or internet-facing ports.</a:t>
            </a:r>
          </a:p>
        </p:txBody>
      </p:sp>
      <p:sp>
        <p:nvSpPr>
          <p:cNvPr id="20" name="part-num-11-3">
            <a:extLst xmlns:a="http://schemas.openxmlformats.org/drawingml/2006/main">
              <a:ext uri="{FF2B5EF4-FFF2-40B4-BE49-F238E27FC236}">
                <a16:creationId xmlns:a16="http://schemas.microsoft.com/office/drawing/2014/main" id="{11974502-A7B5-4D85-A427-1A81E690C9AD}"/>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04</a:t>
            </a:r>
          </a:p>
        </p:txBody>
      </p:sp>
      <p:sp>
        <p:nvSpPr>
          <p:cNvPr id="21" name="part-rule-11-3">
            <a:extLst xmlns:a="http://schemas.openxmlformats.org/drawingml/2006/main">
              <a:ext uri="{FF2B5EF4-FFF2-40B4-BE49-F238E27FC236}">
                <a16:creationId xmlns:a16="http://schemas.microsoft.com/office/drawing/2014/main" id="{DDDD50FF-2D52-4002-A8C3-5B54AA90ED48}"/>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11-3">
            <a:extLst xmlns:a="http://schemas.openxmlformats.org/drawingml/2006/main">
              <a:ext uri="{FF2B5EF4-FFF2-40B4-BE49-F238E27FC236}">
                <a16:creationId xmlns:a16="http://schemas.microsoft.com/office/drawing/2014/main" id="{75512A90-5CCF-48A7-A249-EBE28FC1A5AE}"/>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Summarize</a:t>
            </a:r>
          </a:p>
        </p:txBody>
      </p:sp>
      <p:sp>
        <p:nvSpPr>
          <p:cNvPr id="23" name="part-body-11-3">
            <a:extLst xmlns:a="http://schemas.openxmlformats.org/drawingml/2006/main">
              <a:ext uri="{FF2B5EF4-FFF2-40B4-BE49-F238E27FC236}">
                <a16:creationId xmlns:a16="http://schemas.microsoft.com/office/drawing/2014/main" id="{165D2880-1254-4972-A5DA-486F20113EF6}"/>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 returns resources, findings, errors, and counts by severity. CloudFox can add an optional offensive pass.</a:t>
            </a:r>
          </a:p>
        </p:txBody>
      </p:sp>
    </p:spTree>
    <p:extLst>
      <p:ext uri="{BB962C8B-B14F-4D97-AF65-F5344CB8AC3E}">
        <p14:creationId xmlns:p14="http://schemas.microsoft.com/office/powerpoint/2010/main" val="12154194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0">
            <a:extLst xmlns:a="http://schemas.openxmlformats.org/drawingml/2006/main">
              <a:ext uri="{FF2B5EF4-FFF2-40B4-BE49-F238E27FC236}">
                <a16:creationId xmlns:a16="http://schemas.microsoft.com/office/drawing/2014/main" id="{60BC1A15-7179-4C71-8F43-40E5C2465847}"/>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0">
            <a:extLst xmlns:a="http://schemas.openxmlformats.org/drawingml/2006/main">
              <a:ext uri="{FF2B5EF4-FFF2-40B4-BE49-F238E27FC236}">
                <a16:creationId xmlns:a16="http://schemas.microsoft.com/office/drawing/2014/main" id="{45CF5703-9AFA-402A-B3D9-28D5F638E802}"/>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findings in the workshop account</a:t>
            </a:r>
          </a:p>
        </p:txBody>
      </p:sp>
      <p:sp>
        <p:nvSpPr>
          <p:cNvPr id="3" name="title-rule-10">
            <a:extLst xmlns:a="http://schemas.openxmlformats.org/drawingml/2006/main">
              <a:ext uri="{FF2B5EF4-FFF2-40B4-BE49-F238E27FC236}">
                <a16:creationId xmlns:a16="http://schemas.microsoft.com/office/drawing/2014/main" id="{187EE6CA-3C37-4132-83CB-87508E518665}"/>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adf036d960c44c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0">
            <a:extLst xmlns:a="http://schemas.openxmlformats.org/drawingml/2006/main">
              <a:ext uri="{FF2B5EF4-FFF2-40B4-BE49-F238E27FC236}">
                <a16:creationId xmlns:a16="http://schemas.microsoft.com/office/drawing/2014/main" id="{F79191F3-3717-49F7-BEFE-6AB14BAEB225}"/>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0">
            <a:extLst xmlns:a="http://schemas.openxmlformats.org/drawingml/2006/main">
              <a:ext uri="{FF2B5EF4-FFF2-40B4-BE49-F238E27FC236}">
                <a16:creationId xmlns:a16="http://schemas.microsoft.com/office/drawing/2014/main" id="{0252A96D-621A-423E-9A5C-EFE6ABA1F56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0">
            <a:extLst xmlns:a="http://schemas.openxmlformats.org/drawingml/2006/main">
              <a:ext uri="{FF2B5EF4-FFF2-40B4-BE49-F238E27FC236}">
                <a16:creationId xmlns:a16="http://schemas.microsoft.com/office/drawing/2014/main" id="{E9903FB0-66DD-4640-848F-173DF815C814}"/>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10</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238375"/>
                <a:gridCol w="3714750"/>
                <a:gridCol w="3476625"/>
                <a:gridCol w="1695450"/>
              </a:tblGrid>
              <a:tr h="819150">
                <a:tc>
                  <a:txBody>
                    <a:bodyPr/>
                    <a:lstStyle/>
                    <a:p>
                      <a:r>
                        <a:rPr sz="1125" b="1">
                          <a:solidFill>
                            <a:srgbClr val="FFFFFF"/>
                          </a:solidFill>
                          <a:latin typeface="Helvetica Neue"/>
                          <a:ea typeface="Helvetica Neue"/>
                          <a:cs typeface="Helvetica Neue"/>
                        </a:rPr>
                        <a:t>Finding</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Evidence the scanner reads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Why it matters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Typical severity</a:t>
                      </a:r>
                    </a:p>
                  </a:txBody>
                  <a:tcPr marL="91440" marR="91440" marT="45720" marB="45720">
                    <a:solidFill>
                      <a:srgbClr val="F59E0B"/>
                    </a:solidFill>
                  </a:tcPr>
                </a:tc>
              </a:tr>
              <a:tr h="819150">
                <a:tc>
                  <a:txBody>
                    <a:bodyPr/>
                    <a:lstStyle/>
                    <a:p>
                      <a:r>
                        <a:rPr sz="1125" b="1">
                          <a:solidFill>
                            <a:srgbClr val="0C1715"/>
                          </a:solidFill>
                          <a:latin typeface="Helvetica Neue"/>
                          <a:ea typeface="Helvetica Neue"/>
                          <a:cs typeface="Helvetica Neue"/>
                        </a:rPr>
                        <a:t>Public S3 access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ACL grants AllUsers or public protections are incomplete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Bucket content can become reachable outside the account</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High or 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Wildcard IAM policy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Allow with Action '*' and Resource '*'</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A compromised user can act across the account</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Critical</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Administrative port exposed</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SSH or RDP allowed from 0.0.0.0/0 or ::/0</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Remote systems can reach a sensitive management service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High</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Detection control missing</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No active CloudTrail, GuardDuty, or VPC Flow Logs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Incident investigation and detection lose important telemetry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Medium to Critical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192739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1">
            <a:extLst xmlns:a="http://schemas.openxmlformats.org/drawingml/2006/main">
              <a:ext uri="{FF2B5EF4-FFF2-40B4-BE49-F238E27FC236}">
                <a16:creationId xmlns:a16="http://schemas.microsoft.com/office/drawing/2014/main" id="{AA851CBB-FB9C-4DC9-9038-D3E6961B4017}"/>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1">
            <a:extLst xmlns:a="http://schemas.openxmlformats.org/drawingml/2006/main">
              <a:ext uri="{FF2B5EF4-FFF2-40B4-BE49-F238E27FC236}">
                <a16:creationId xmlns:a16="http://schemas.microsoft.com/office/drawing/2014/main" id="{70C7CB90-73D8-4042-B4C7-22E3C6451FC7}"/>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1: AWS scanner</a:t>
            </a:r>
          </a:p>
        </p:txBody>
      </p:sp>
      <p:sp>
        <p:nvSpPr>
          <p:cNvPr id="3" name="title-rule-11">
            <a:extLst xmlns:a="http://schemas.openxmlformats.org/drawingml/2006/main">
              <a:ext uri="{FF2B5EF4-FFF2-40B4-BE49-F238E27FC236}">
                <a16:creationId xmlns:a16="http://schemas.microsoft.com/office/drawing/2014/main" id="{381EBC91-112C-4725-A641-7D581FC62E01}"/>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83db028c35b45f7"/>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1">
            <a:extLst xmlns:a="http://schemas.openxmlformats.org/drawingml/2006/main">
              <a:ext uri="{FF2B5EF4-FFF2-40B4-BE49-F238E27FC236}">
                <a16:creationId xmlns:a16="http://schemas.microsoft.com/office/drawing/2014/main" id="{178CF24D-EC36-4F66-8722-62B8B9868736}"/>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1">
            <a:extLst xmlns:a="http://schemas.openxmlformats.org/drawingml/2006/main">
              <a:ext uri="{FF2B5EF4-FFF2-40B4-BE49-F238E27FC236}">
                <a16:creationId xmlns:a16="http://schemas.microsoft.com/office/drawing/2014/main" id="{C2165B7E-858E-4DFA-A8C5-278B6C353CD6}"/>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1">
            <a:extLst xmlns:a="http://schemas.openxmlformats.org/drawingml/2006/main">
              <a:ext uri="{FF2B5EF4-FFF2-40B4-BE49-F238E27FC236}">
                <a16:creationId xmlns:a16="http://schemas.microsoft.com/office/drawing/2014/main" id="{89612B3B-A28B-4CD8-A73D-886CC00B6BD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11</a:t>
            </a:r>
          </a:p>
        </p:txBody>
      </p:sp>
      <p:sp>
        <p:nvSpPr>
          <p:cNvPr id="8" name="lab-band-14">
            <a:extLst xmlns:a="http://schemas.openxmlformats.org/drawingml/2006/main">
              <a:ext uri="{FF2B5EF4-FFF2-40B4-BE49-F238E27FC236}">
                <a16:creationId xmlns:a16="http://schemas.microsoft.com/office/drawing/2014/main" id="{AB4EEB78-5B50-42B2-9F76-709359D1AB02}"/>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lab-number-14">
            <a:extLst xmlns:a="http://schemas.openxmlformats.org/drawingml/2006/main">
              <a:ext uri="{FF2B5EF4-FFF2-40B4-BE49-F238E27FC236}">
                <a16:creationId xmlns:a16="http://schemas.microsoft.com/office/drawing/2014/main" id="{CE5E3F1A-BFA8-4866-920F-1F597709F73E}"/>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1</a:t>
            </a:r>
          </a:p>
        </p:txBody>
      </p:sp>
      <p:sp>
        <p:nvSpPr>
          <p:cNvPr id="10" name="lab-provider-14">
            <a:extLst xmlns:a="http://schemas.openxmlformats.org/drawingml/2006/main">
              <a:ext uri="{FF2B5EF4-FFF2-40B4-BE49-F238E27FC236}">
                <a16:creationId xmlns:a16="http://schemas.microsoft.com/office/drawing/2014/main" id="{A575F100-6634-4A52-A2F0-9B5AD13D09F9}"/>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AWS</a:t>
            </a:r>
          </a:p>
        </p:txBody>
      </p:sp>
      <p:sp>
        <p:nvSpPr>
          <p:cNvPr id="11" name="lab-time-label-14">
            <a:extLst xmlns:a="http://schemas.openxmlformats.org/drawingml/2006/main">
              <a:ext uri="{FF2B5EF4-FFF2-40B4-BE49-F238E27FC236}">
                <a16:creationId xmlns:a16="http://schemas.microsoft.com/office/drawing/2014/main" id="{78542B87-0825-4113-93BD-A136511DB583}"/>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14">
            <a:extLst xmlns:a="http://schemas.openxmlformats.org/drawingml/2006/main">
              <a:ext uri="{FF2B5EF4-FFF2-40B4-BE49-F238E27FC236}">
                <a16:creationId xmlns:a16="http://schemas.microsoft.com/office/drawing/2014/main" id="{6825194D-E260-42F1-A820-EDCFEDF7B221}"/>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7 minutes</a:t>
            </a:r>
          </a:p>
        </p:txBody>
      </p:sp>
      <p:sp>
        <p:nvSpPr>
          <p:cNvPr id="13" name="lab-goal-label-14">
            <a:extLst xmlns:a="http://schemas.openxmlformats.org/drawingml/2006/main">
              <a:ext uri="{FF2B5EF4-FFF2-40B4-BE49-F238E27FC236}">
                <a16:creationId xmlns:a16="http://schemas.microsoft.com/office/drawing/2014/main" id="{8E3E7C40-D94E-4E6B-AFE4-55B81FF0F551}"/>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Goal</a:t>
            </a:r>
          </a:p>
        </p:txBody>
      </p:sp>
      <p:sp>
        <p:nvSpPr>
          <p:cNvPr id="14" name="lab-goal-14">
            <a:extLst xmlns:a="http://schemas.openxmlformats.org/drawingml/2006/main">
              <a:ext uri="{FF2B5EF4-FFF2-40B4-BE49-F238E27FC236}">
                <a16:creationId xmlns:a16="http://schemas.microsoft.com/office/drawing/2014/main" id="{BEE9EAF1-03B3-476E-8673-F5148EB1C15B}"/>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Connect a scanner result to the affected AWS asset and its evidence.</a:t>
            </a:r>
          </a:p>
        </p:txBody>
      </p:sp>
      <p:sp>
        <p:nvSpPr>
          <p:cNvPr id="15" name="lab-task-label-14">
            <a:extLst xmlns:a="http://schemas.openxmlformats.org/drawingml/2006/main">
              <a:ext uri="{FF2B5EF4-FFF2-40B4-BE49-F238E27FC236}">
                <a16:creationId xmlns:a16="http://schemas.microsoft.com/office/drawing/2014/main" id="{9CA4CACF-5AE4-4901-85CC-36943B1D65E9}"/>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Exercise</a:t>
            </a:r>
          </a:p>
        </p:txBody>
      </p:sp>
      <p:sp>
        <p:nvSpPr>
          <p:cNvPr id="16" name="lab-tasks-14">
            <a:extLst xmlns:a="http://schemas.openxmlformats.org/drawingml/2006/main">
              <a:ext uri="{FF2B5EF4-FFF2-40B4-BE49-F238E27FC236}">
                <a16:creationId xmlns:a16="http://schemas.microsoft.com/office/drawing/2014/main" id="{B7AC5621-467C-4B88-9258-E85518EEEF97}"/>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assigned sandbox account in CloudGuard</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AWS scan and open one S3, IAM, or network finding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Explain the evidence and choose the appropriate remediation owner</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Record the final cleanup or rescan result</a:t>
            </a:r>
          </a:p>
        </p:txBody>
      </p:sp>
      <p:sp>
        <p:nvSpPr>
          <p:cNvPr id="17" name="lab-submit-label-14">
            <a:extLst xmlns:a="http://schemas.openxmlformats.org/drawingml/2006/main">
              <a:ext uri="{FF2B5EF4-FFF2-40B4-BE49-F238E27FC236}">
                <a16:creationId xmlns:a16="http://schemas.microsoft.com/office/drawing/2014/main" id="{482F2A88-CB41-401C-BF92-AD07E7EE0C0A}"/>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Evidence to submit</a:t>
            </a:r>
          </a:p>
        </p:txBody>
      </p:sp>
      <p:sp>
        <p:nvSpPr>
          <p:cNvPr id="18" name="lab-submit-14">
            <a:extLst xmlns:a="http://schemas.openxmlformats.org/drawingml/2006/main">
              <a:ext uri="{FF2B5EF4-FFF2-40B4-BE49-F238E27FC236}">
                <a16:creationId xmlns:a16="http://schemas.microsoft.com/office/drawing/2014/main" id="{9CCF0F4E-67A8-4E9D-A14D-95B4047A9078}"/>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Scan job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Asset and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Closure proof</a:t>
            </a:r>
          </a:p>
        </p:txBody>
      </p:sp>
      <p:sp>
        <p:nvSpPr>
          <p:cNvPr id="19" name="lab-check-bg-14">
            <a:extLst xmlns:a="http://schemas.openxmlformats.org/drawingml/2006/main">
              <a:ext uri="{FF2B5EF4-FFF2-40B4-BE49-F238E27FC236}">
                <a16:creationId xmlns:a16="http://schemas.microsoft.com/office/drawing/2014/main" id="{741C4E1F-D927-4703-A882-EE84CC2EA659}"/>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14">
            <a:extLst xmlns:a="http://schemas.openxmlformats.org/drawingml/2006/main">
              <a:ext uri="{FF2B5EF4-FFF2-40B4-BE49-F238E27FC236}">
                <a16:creationId xmlns:a16="http://schemas.microsoft.com/office/drawing/2014/main" id="{1FB57113-95E9-4313-B4F3-4BE0EE3B498A}"/>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finding has an asset, severity, explanation, owner, and proof of closure</a:t>
            </a:r>
          </a:p>
        </p:txBody>
      </p:sp>
    </p:spTree>
    <p:extLst>
      <p:ext uri="{BB962C8B-B14F-4D97-AF65-F5344CB8AC3E}">
        <p14:creationId xmlns:p14="http://schemas.microsoft.com/office/powerpoint/2010/main" val="5619156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2">
            <a:extLst xmlns:a="http://schemas.openxmlformats.org/drawingml/2006/main">
              <a:ext uri="{FF2B5EF4-FFF2-40B4-BE49-F238E27FC236}">
                <a16:creationId xmlns:a16="http://schemas.microsoft.com/office/drawing/2014/main" id="{B83FCF97-0308-41B0-A8B9-8B5A9931133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2">
            <a:extLst xmlns:a="http://schemas.openxmlformats.org/drawingml/2006/main">
              <a:ext uri="{FF2B5EF4-FFF2-40B4-BE49-F238E27FC236}">
                <a16:creationId xmlns:a16="http://schemas.microsoft.com/office/drawing/2014/main" id="{0938E999-2FC1-4504-8C79-8CAAFB3BA6D6}"/>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scanner coverage</a:t>
            </a:r>
          </a:p>
        </p:txBody>
      </p:sp>
      <p:sp>
        <p:nvSpPr>
          <p:cNvPr id="3" name="title-rule-12">
            <a:extLst xmlns:a="http://schemas.openxmlformats.org/drawingml/2006/main">
              <a:ext uri="{FF2B5EF4-FFF2-40B4-BE49-F238E27FC236}">
                <a16:creationId xmlns:a16="http://schemas.microsoft.com/office/drawing/2014/main" id="{C112CEBB-DDD6-47CB-A7D3-54C4DA89FD8D}"/>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c852b9440d04ee8"/>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2">
            <a:extLst xmlns:a="http://schemas.openxmlformats.org/drawingml/2006/main">
              <a:ext uri="{FF2B5EF4-FFF2-40B4-BE49-F238E27FC236}">
                <a16:creationId xmlns:a16="http://schemas.microsoft.com/office/drawing/2014/main" id="{1DA8D07A-2FE7-4B39-B909-E821F503C54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2">
            <a:extLst xmlns:a="http://schemas.openxmlformats.org/drawingml/2006/main">
              <a:ext uri="{FF2B5EF4-FFF2-40B4-BE49-F238E27FC236}">
                <a16:creationId xmlns:a16="http://schemas.microsoft.com/office/drawing/2014/main" id="{30147E06-0755-46AA-9534-BF632981E7CC}"/>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2">
            <a:extLst xmlns:a="http://schemas.openxmlformats.org/drawingml/2006/main">
              <a:ext uri="{FF2B5EF4-FFF2-40B4-BE49-F238E27FC236}">
                <a16:creationId xmlns:a16="http://schemas.microsoft.com/office/drawing/2014/main" id="{2866FD6A-183D-430B-899F-3E712A3B653E}"/>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12</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4762500"/>
                <a:gridCol w="4648200"/>
              </a:tblGrid>
              <a:tr h="819150">
                <a:tc>
                  <a:txBody>
                    <a:bodyPr/>
                    <a:lstStyle/>
                    <a:p>
                      <a:r>
                        <a:rPr sz="1125" b="1">
                          <a:solidFill>
                            <a:srgbClr val="FFFFFF"/>
                          </a:solidFill>
                          <a:latin typeface="Helvetica Neue"/>
                          <a:ea typeface="Helvetica Neue"/>
                          <a:cs typeface="Helvetica Neue"/>
                        </a:rPr>
                        <a:t>Security area</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Resources and controls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Examples of risky conditions</a:t>
                      </a:r>
                    </a:p>
                  </a:txBody>
                  <a:tcPr marL="91440" marR="91440" marT="45720" marB="45720">
                    <a:solidFill>
                      <a:srgbClr val="4285F4"/>
                    </a:solidFill>
                  </a:tcPr>
                </a:tc>
              </a:tr>
              <a:tr h="819150">
                <a:tc>
                  <a:txBody>
                    <a:bodyPr/>
                    <a:lstStyle/>
                    <a:p>
                      <a:r>
                        <a:rPr sz="1200" b="1">
                          <a:solidFill>
                            <a:srgbClr val="0C1715"/>
                          </a:solidFill>
                          <a:latin typeface="Helvetica Neue"/>
                          <a:ea typeface="Helvetica Neue"/>
                          <a:cs typeface="Helvetica Neue"/>
                        </a:rPr>
                        <a:t>Storage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Cloud Storage IAM, customer-managed keys, versioning, logging</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members, no CMEK, versioning or logging disabled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Project IAM bindings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Primitive Owner or Editor role, external personal account</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Compute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VM network interfaces and Shielded VM settings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IP, Secure Boot disabled, IP forwarding enabled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Network</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VPC firewall ingress rules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All traffic or sensitive ports allowed from 0.0.0.0/0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371548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3">
            <a:extLst xmlns:a="http://schemas.openxmlformats.org/drawingml/2006/main">
              <a:ext uri="{FF2B5EF4-FFF2-40B4-BE49-F238E27FC236}">
                <a16:creationId xmlns:a16="http://schemas.microsoft.com/office/drawing/2014/main" id="{2E5236F7-D225-489F-8750-51D6F2C7128E}"/>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3">
            <a:extLst xmlns:a="http://schemas.openxmlformats.org/drawingml/2006/main">
              <a:ext uri="{FF2B5EF4-FFF2-40B4-BE49-F238E27FC236}">
                <a16:creationId xmlns:a16="http://schemas.microsoft.com/office/drawing/2014/main" id="{BF4E9DD7-35BB-4F70-B86C-AAF55E1DB452}"/>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 lifecycle</a:t>
            </a:r>
          </a:p>
        </p:txBody>
      </p:sp>
      <p:sp>
        <p:nvSpPr>
          <p:cNvPr id="3" name="title-rule-13">
            <a:extLst xmlns:a="http://schemas.openxmlformats.org/drawingml/2006/main">
              <a:ext uri="{FF2B5EF4-FFF2-40B4-BE49-F238E27FC236}">
                <a16:creationId xmlns:a16="http://schemas.microsoft.com/office/drawing/2014/main" id="{92E6F2AB-A1B1-4ED6-A198-EC2DE7855F1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b3faf0f74ac4ae2"/>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3">
            <a:extLst xmlns:a="http://schemas.openxmlformats.org/drawingml/2006/main">
              <a:ext uri="{FF2B5EF4-FFF2-40B4-BE49-F238E27FC236}">
                <a16:creationId xmlns:a16="http://schemas.microsoft.com/office/drawing/2014/main" id="{D4FCC0A2-7582-460A-8B46-A72B46731CAC}"/>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3">
            <a:extLst xmlns:a="http://schemas.openxmlformats.org/drawingml/2006/main">
              <a:ext uri="{FF2B5EF4-FFF2-40B4-BE49-F238E27FC236}">
                <a16:creationId xmlns:a16="http://schemas.microsoft.com/office/drawing/2014/main" id="{E8965690-44C8-44D2-8230-5BF82C3EBA4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3">
            <a:extLst xmlns:a="http://schemas.openxmlformats.org/drawingml/2006/main">
              <a:ext uri="{FF2B5EF4-FFF2-40B4-BE49-F238E27FC236}">
                <a16:creationId xmlns:a16="http://schemas.microsoft.com/office/drawing/2014/main" id="{5FFD3F98-BAF7-4C8A-A082-40DA18CBB2F9}"/>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13</a:t>
            </a:r>
          </a:p>
        </p:txBody>
      </p:sp>
      <p:sp>
        <p:nvSpPr>
          <p:cNvPr id="8" name="part-num-17-0">
            <a:extLst xmlns:a="http://schemas.openxmlformats.org/drawingml/2006/main">
              <a:ext uri="{FF2B5EF4-FFF2-40B4-BE49-F238E27FC236}">
                <a16:creationId xmlns:a16="http://schemas.microsoft.com/office/drawing/2014/main" id="{381E3B0B-3666-443C-8F24-E5D1A26A4357}"/>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01</a:t>
            </a:r>
          </a:p>
        </p:txBody>
      </p:sp>
      <p:sp>
        <p:nvSpPr>
          <p:cNvPr id="9" name="part-rule-17-0">
            <a:extLst xmlns:a="http://schemas.openxmlformats.org/drawingml/2006/main">
              <a:ext uri="{FF2B5EF4-FFF2-40B4-BE49-F238E27FC236}">
                <a16:creationId xmlns:a16="http://schemas.microsoft.com/office/drawing/2014/main" id="{2317C834-BD36-4295-ADF8-A632AB304704}"/>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17-0">
            <a:extLst xmlns:a="http://schemas.openxmlformats.org/drawingml/2006/main">
              <a:ext uri="{FF2B5EF4-FFF2-40B4-BE49-F238E27FC236}">
                <a16:creationId xmlns:a16="http://schemas.microsoft.com/office/drawing/2014/main" id="{AC9F74DA-4DAE-421B-84EA-BCC38D4947BD}"/>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Select project</a:t>
            </a:r>
          </a:p>
        </p:txBody>
      </p:sp>
      <p:sp>
        <p:nvSpPr>
          <p:cNvPr id="11" name="part-body-17-0">
            <a:extLst xmlns:a="http://schemas.openxmlformats.org/drawingml/2006/main">
              <a:ext uri="{FF2B5EF4-FFF2-40B4-BE49-F238E27FC236}">
                <a16:creationId xmlns:a16="http://schemas.microsoft.com/office/drawing/2014/main" id="{BDC9DBFD-60F4-4CCE-AB43-03E5E44CDEA8}"/>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CloudGuard loads the service account and identifies the project that defines the scan boundary.</a:t>
            </a:r>
          </a:p>
        </p:txBody>
      </p:sp>
      <p:sp>
        <p:nvSpPr>
          <p:cNvPr id="12" name="part-num-17-1">
            <a:extLst xmlns:a="http://schemas.openxmlformats.org/drawingml/2006/main">
              <a:ext uri="{FF2B5EF4-FFF2-40B4-BE49-F238E27FC236}">
                <a16:creationId xmlns:a16="http://schemas.microsoft.com/office/drawing/2014/main" id="{8B3AC191-3675-490A-981B-73BF850664FC}"/>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02</a:t>
            </a:r>
          </a:p>
        </p:txBody>
      </p:sp>
      <p:sp>
        <p:nvSpPr>
          <p:cNvPr id="13" name="part-rule-17-1">
            <a:extLst xmlns:a="http://schemas.openxmlformats.org/drawingml/2006/main">
              <a:ext uri="{FF2B5EF4-FFF2-40B4-BE49-F238E27FC236}">
                <a16:creationId xmlns:a16="http://schemas.microsoft.com/office/drawing/2014/main" id="{387DC580-DC20-4B82-B980-011CBE266F27}"/>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17-1">
            <a:extLst xmlns:a="http://schemas.openxmlformats.org/drawingml/2006/main">
              <a:ext uri="{FF2B5EF4-FFF2-40B4-BE49-F238E27FC236}">
                <a16:creationId xmlns:a16="http://schemas.microsoft.com/office/drawing/2014/main" id="{B519D90C-8387-43EB-A779-9770FAFBA94E}"/>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5" name="part-body-17-1">
            <a:extLst xmlns:a="http://schemas.openxmlformats.org/drawingml/2006/main">
              <a:ext uri="{FF2B5EF4-FFF2-40B4-BE49-F238E27FC236}">
                <a16:creationId xmlns:a16="http://schemas.microsoft.com/office/drawing/2014/main" id="{302AA599-4B36-49AD-A035-AE9E152CDE13}"/>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worker lists buckets and instances across zones, then loads project IAM and firewall configuration.</a:t>
            </a:r>
          </a:p>
        </p:txBody>
      </p:sp>
      <p:sp>
        <p:nvSpPr>
          <p:cNvPr id="16" name="part-num-17-2">
            <a:extLst xmlns:a="http://schemas.openxmlformats.org/drawingml/2006/main">
              <a:ext uri="{FF2B5EF4-FFF2-40B4-BE49-F238E27FC236}">
                <a16:creationId xmlns:a16="http://schemas.microsoft.com/office/drawing/2014/main" id="{50D01FC7-E7A3-48FF-AB05-7803BDD5BB8A}"/>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03</a:t>
            </a:r>
          </a:p>
        </p:txBody>
      </p:sp>
      <p:sp>
        <p:nvSpPr>
          <p:cNvPr id="17" name="part-rule-17-2">
            <a:extLst xmlns:a="http://schemas.openxmlformats.org/drawingml/2006/main">
              <a:ext uri="{FF2B5EF4-FFF2-40B4-BE49-F238E27FC236}">
                <a16:creationId xmlns:a16="http://schemas.microsoft.com/office/drawing/2014/main" id="{72E7FE73-9BC7-4F73-A9A6-FAFF1DED9255}"/>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17-2">
            <a:extLst xmlns:a="http://schemas.openxmlformats.org/drawingml/2006/main">
              <a:ext uri="{FF2B5EF4-FFF2-40B4-BE49-F238E27FC236}">
                <a16:creationId xmlns:a16="http://schemas.microsoft.com/office/drawing/2014/main" id="{503285AB-CF2A-4F86-9781-FE46C7811C1B}"/>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Evaluate</a:t>
            </a:r>
          </a:p>
        </p:txBody>
      </p:sp>
      <p:sp>
        <p:nvSpPr>
          <p:cNvPr id="19" name="part-body-17-2">
            <a:extLst xmlns:a="http://schemas.openxmlformats.org/drawingml/2006/main">
              <a:ext uri="{FF2B5EF4-FFF2-40B4-BE49-F238E27FC236}">
                <a16:creationId xmlns:a16="http://schemas.microsoft.com/office/drawing/2014/main" id="{D038C9BB-3D53-42A3-BB9D-FF04E8622B0F}"/>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Storage, compute, identity, and network checks produce provider-specific evidence.</a:t>
            </a:r>
          </a:p>
        </p:txBody>
      </p:sp>
      <p:sp>
        <p:nvSpPr>
          <p:cNvPr id="20" name="part-num-17-3">
            <a:extLst xmlns:a="http://schemas.openxmlformats.org/drawingml/2006/main">
              <a:ext uri="{FF2B5EF4-FFF2-40B4-BE49-F238E27FC236}">
                <a16:creationId xmlns:a16="http://schemas.microsoft.com/office/drawing/2014/main" id="{95B066D4-DAF5-490C-906A-1265ECB1599D}"/>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04</a:t>
            </a:r>
          </a:p>
        </p:txBody>
      </p:sp>
      <p:sp>
        <p:nvSpPr>
          <p:cNvPr id="21" name="part-rule-17-3">
            <a:extLst xmlns:a="http://schemas.openxmlformats.org/drawingml/2006/main">
              <a:ext uri="{FF2B5EF4-FFF2-40B4-BE49-F238E27FC236}">
                <a16:creationId xmlns:a16="http://schemas.microsoft.com/office/drawing/2014/main" id="{41A081F0-5FA4-4AC9-A8A9-42C5B27DCC36}"/>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17-3">
            <a:extLst xmlns:a="http://schemas.openxmlformats.org/drawingml/2006/main">
              <a:ext uri="{FF2B5EF4-FFF2-40B4-BE49-F238E27FC236}">
                <a16:creationId xmlns:a16="http://schemas.microsoft.com/office/drawing/2014/main" id="{C26E2847-9FB2-4019-AB4C-0C2A3D771C14}"/>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Normalize</a:t>
            </a:r>
          </a:p>
        </p:txBody>
      </p:sp>
      <p:sp>
        <p:nvSpPr>
          <p:cNvPr id="23" name="part-body-17-3">
            <a:extLst xmlns:a="http://schemas.openxmlformats.org/drawingml/2006/main">
              <a:ext uri="{FF2B5EF4-FFF2-40B4-BE49-F238E27FC236}">
                <a16:creationId xmlns:a16="http://schemas.microsoft.com/office/drawing/2014/main" id="{8F603E38-0815-4402-9B9C-C4DF9628BCAC}"/>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result carries the project resource, region or zone, severity, recommendation, and detection tool.</a:t>
            </a:r>
          </a:p>
        </p:txBody>
      </p:sp>
    </p:spTree>
    <p:extLst>
      <p:ext uri="{BB962C8B-B14F-4D97-AF65-F5344CB8AC3E}">
        <p14:creationId xmlns:p14="http://schemas.microsoft.com/office/powerpoint/2010/main" val="18810637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4">
            <a:extLst xmlns:a="http://schemas.openxmlformats.org/drawingml/2006/main">
              <a:ext uri="{FF2B5EF4-FFF2-40B4-BE49-F238E27FC236}">
                <a16:creationId xmlns:a16="http://schemas.microsoft.com/office/drawing/2014/main" id="{476788A5-CF44-4237-BDC7-24D058237571}"/>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4">
            <a:extLst xmlns:a="http://schemas.openxmlformats.org/drawingml/2006/main">
              <a:ext uri="{FF2B5EF4-FFF2-40B4-BE49-F238E27FC236}">
                <a16:creationId xmlns:a16="http://schemas.microsoft.com/office/drawing/2014/main" id="{A174121D-0C29-4FF6-917D-D6690CC9AE4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findings in the workshop project</a:t>
            </a:r>
          </a:p>
        </p:txBody>
      </p:sp>
      <p:sp>
        <p:nvSpPr>
          <p:cNvPr id="3" name="title-rule-14">
            <a:extLst xmlns:a="http://schemas.openxmlformats.org/drawingml/2006/main">
              <a:ext uri="{FF2B5EF4-FFF2-40B4-BE49-F238E27FC236}">
                <a16:creationId xmlns:a16="http://schemas.microsoft.com/office/drawing/2014/main" id="{EFB2A347-B0E1-4775-B6C0-07F8C89BF176}"/>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082c7dc7584423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4">
            <a:extLst xmlns:a="http://schemas.openxmlformats.org/drawingml/2006/main">
              <a:ext uri="{FF2B5EF4-FFF2-40B4-BE49-F238E27FC236}">
                <a16:creationId xmlns:a16="http://schemas.microsoft.com/office/drawing/2014/main" id="{0286C1EC-C66D-4C8F-A64D-D09179269A7A}"/>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4">
            <a:extLst xmlns:a="http://schemas.openxmlformats.org/drawingml/2006/main">
              <a:ext uri="{FF2B5EF4-FFF2-40B4-BE49-F238E27FC236}">
                <a16:creationId xmlns:a16="http://schemas.microsoft.com/office/drawing/2014/main" id="{57D190F3-081C-4569-A966-113BBF8524EB}"/>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4">
            <a:extLst xmlns:a="http://schemas.openxmlformats.org/drawingml/2006/main">
              <a:ext uri="{FF2B5EF4-FFF2-40B4-BE49-F238E27FC236}">
                <a16:creationId xmlns:a16="http://schemas.microsoft.com/office/drawing/2014/main" id="{7EEA7F90-0802-44B3-AEB6-6F79F2748C0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14</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238375"/>
                <a:gridCol w="3714750"/>
                <a:gridCol w="3476625"/>
                <a:gridCol w="1695450"/>
              </a:tblGrid>
              <a:tr h="819150">
                <a:tc>
                  <a:txBody>
                    <a:bodyPr/>
                    <a:lstStyle/>
                    <a:p>
                      <a:r>
                        <a:rPr sz="1125" b="1">
                          <a:solidFill>
                            <a:srgbClr val="FFFFFF"/>
                          </a:solidFill>
                          <a:latin typeface="Helvetica Neue"/>
                          <a:ea typeface="Helvetica Neue"/>
                          <a:cs typeface="Helvetica Neue"/>
                        </a:rPr>
                        <a:t>Finding</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Evidence the scanner reads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Why it matters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Typical severity</a:t>
                      </a:r>
                    </a:p>
                  </a:txBody>
                  <a:tcPr marL="91440" marR="91440" marT="45720" marB="45720">
                    <a:solidFill>
                      <a:srgbClr val="4285F4"/>
                    </a:solidFill>
                  </a:tcPr>
                </a:tc>
              </a:tr>
              <a:tr h="819150">
                <a:tc>
                  <a:txBody>
                    <a:bodyPr/>
                    <a:lstStyle/>
                    <a:p>
                      <a:r>
                        <a:rPr sz="1125" b="1">
                          <a:solidFill>
                            <a:srgbClr val="0C1715"/>
                          </a:solidFill>
                          <a:latin typeface="Helvetica Neue"/>
                          <a:ea typeface="Helvetica Neue"/>
                          <a:cs typeface="Helvetica Neue"/>
                        </a:rPr>
                        <a:t>Public Cloud Storage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IAM member allUsers or allAuthenticatedUsers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Objects can become available outside the project</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Primitive project role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roles/owner or roles/editor binding</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The member receives broad project permissions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High</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Open firewall rule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0.0.0.0/0 with all traffic or a sensitive port</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Internet systems can reach the allowed service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High or 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Weak VM posture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Public IP, Secure Boot off, or IP forwarding on</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The VM has a larger attack surface or weaker integrity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Medium or High</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109217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5">
            <a:extLst xmlns:a="http://schemas.openxmlformats.org/drawingml/2006/main">
              <a:ext uri="{FF2B5EF4-FFF2-40B4-BE49-F238E27FC236}">
                <a16:creationId xmlns:a16="http://schemas.microsoft.com/office/drawing/2014/main" id="{3197FC4A-64D0-48D1-9B1F-0EAAA02A0AC9}"/>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5">
            <a:extLst xmlns:a="http://schemas.openxmlformats.org/drawingml/2006/main">
              <a:ext uri="{FF2B5EF4-FFF2-40B4-BE49-F238E27FC236}">
                <a16:creationId xmlns:a16="http://schemas.microsoft.com/office/drawing/2014/main" id="{280D392B-4E7F-496D-8FF0-5FCE7B7BACB3}"/>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2: GCP scanner</a:t>
            </a:r>
          </a:p>
        </p:txBody>
      </p:sp>
      <p:sp>
        <p:nvSpPr>
          <p:cNvPr id="3" name="title-rule-15">
            <a:extLst xmlns:a="http://schemas.openxmlformats.org/drawingml/2006/main">
              <a:ext uri="{FF2B5EF4-FFF2-40B4-BE49-F238E27FC236}">
                <a16:creationId xmlns:a16="http://schemas.microsoft.com/office/drawing/2014/main" id="{5EDEA7BD-CB63-4130-BB6B-D55BE2FFB28D}"/>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c1f5eb5e63d483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5">
            <a:extLst xmlns:a="http://schemas.openxmlformats.org/drawingml/2006/main">
              <a:ext uri="{FF2B5EF4-FFF2-40B4-BE49-F238E27FC236}">
                <a16:creationId xmlns:a16="http://schemas.microsoft.com/office/drawing/2014/main" id="{BDFB949F-A4EE-45BD-BA1C-C5414F51276A}"/>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5">
            <a:extLst xmlns:a="http://schemas.openxmlformats.org/drawingml/2006/main">
              <a:ext uri="{FF2B5EF4-FFF2-40B4-BE49-F238E27FC236}">
                <a16:creationId xmlns:a16="http://schemas.microsoft.com/office/drawing/2014/main" id="{9D30E4A2-8DD3-4CD6-8F55-7AA5B611D1BE}"/>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5">
            <a:extLst xmlns:a="http://schemas.openxmlformats.org/drawingml/2006/main">
              <a:ext uri="{FF2B5EF4-FFF2-40B4-BE49-F238E27FC236}">
                <a16:creationId xmlns:a16="http://schemas.microsoft.com/office/drawing/2014/main" id="{DC122C03-25BC-4A5B-A191-6C2AD4D7CAA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15</a:t>
            </a:r>
          </a:p>
        </p:txBody>
      </p:sp>
      <p:sp>
        <p:nvSpPr>
          <p:cNvPr id="8" name="lab-band-21">
            <a:extLst xmlns:a="http://schemas.openxmlformats.org/drawingml/2006/main">
              <a:ext uri="{FF2B5EF4-FFF2-40B4-BE49-F238E27FC236}">
                <a16:creationId xmlns:a16="http://schemas.microsoft.com/office/drawing/2014/main" id="{B7CB5848-EFF7-4D0C-BD87-43C0009E7A10}"/>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9" name="lab-number-21">
            <a:extLst xmlns:a="http://schemas.openxmlformats.org/drawingml/2006/main">
              <a:ext uri="{FF2B5EF4-FFF2-40B4-BE49-F238E27FC236}">
                <a16:creationId xmlns:a16="http://schemas.microsoft.com/office/drawing/2014/main" id="{99630D5E-DB7B-45DB-97DA-7A2F7EE94043}"/>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2</a:t>
            </a:r>
          </a:p>
        </p:txBody>
      </p:sp>
      <p:sp>
        <p:nvSpPr>
          <p:cNvPr id="10" name="lab-provider-21">
            <a:extLst xmlns:a="http://schemas.openxmlformats.org/drawingml/2006/main">
              <a:ext uri="{FF2B5EF4-FFF2-40B4-BE49-F238E27FC236}">
                <a16:creationId xmlns:a16="http://schemas.microsoft.com/office/drawing/2014/main" id="{EE8E6071-306C-40A7-914A-47CC68604584}"/>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GCP</a:t>
            </a:r>
          </a:p>
        </p:txBody>
      </p:sp>
      <p:sp>
        <p:nvSpPr>
          <p:cNvPr id="11" name="lab-time-label-21">
            <a:extLst xmlns:a="http://schemas.openxmlformats.org/drawingml/2006/main">
              <a:ext uri="{FF2B5EF4-FFF2-40B4-BE49-F238E27FC236}">
                <a16:creationId xmlns:a16="http://schemas.microsoft.com/office/drawing/2014/main" id="{643DE35E-A177-4C1A-A4CB-CFDB8E046473}"/>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21">
            <a:extLst xmlns:a="http://schemas.openxmlformats.org/drawingml/2006/main">
              <a:ext uri="{FF2B5EF4-FFF2-40B4-BE49-F238E27FC236}">
                <a16:creationId xmlns:a16="http://schemas.microsoft.com/office/drawing/2014/main" id="{C255309A-BDC3-4C80-A6F5-44594D3ECF1B}"/>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6 minutes</a:t>
            </a:r>
          </a:p>
        </p:txBody>
      </p:sp>
      <p:sp>
        <p:nvSpPr>
          <p:cNvPr id="13" name="lab-goal-label-21">
            <a:extLst xmlns:a="http://schemas.openxmlformats.org/drawingml/2006/main">
              <a:ext uri="{FF2B5EF4-FFF2-40B4-BE49-F238E27FC236}">
                <a16:creationId xmlns:a16="http://schemas.microsoft.com/office/drawing/2014/main" id="{432AB7B2-6EC2-4315-ABC1-7E2589574953}"/>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Goal</a:t>
            </a:r>
          </a:p>
        </p:txBody>
      </p:sp>
      <p:sp>
        <p:nvSpPr>
          <p:cNvPr id="14" name="lab-goal-21">
            <a:extLst xmlns:a="http://schemas.openxmlformats.org/drawingml/2006/main">
              <a:ext uri="{FF2B5EF4-FFF2-40B4-BE49-F238E27FC236}">
                <a16:creationId xmlns:a16="http://schemas.microsoft.com/office/drawing/2014/main" id="{F3623B47-1F4C-472B-BAF3-63857F1F9179}"/>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Explain one GCP finding and connect it to the equivalent cloud risk category.</a:t>
            </a:r>
          </a:p>
        </p:txBody>
      </p:sp>
      <p:sp>
        <p:nvSpPr>
          <p:cNvPr id="15" name="lab-task-label-21">
            <a:extLst xmlns:a="http://schemas.openxmlformats.org/drawingml/2006/main">
              <a:ext uri="{FF2B5EF4-FFF2-40B4-BE49-F238E27FC236}">
                <a16:creationId xmlns:a16="http://schemas.microsoft.com/office/drawing/2014/main" id="{B070FFB8-B7D7-40CE-BDCC-CAC4EAFFE4F2}"/>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Exercise</a:t>
            </a:r>
          </a:p>
        </p:txBody>
      </p:sp>
      <p:sp>
        <p:nvSpPr>
          <p:cNvPr id="16" name="lab-tasks-21">
            <a:extLst xmlns:a="http://schemas.openxmlformats.org/drawingml/2006/main">
              <a:ext uri="{FF2B5EF4-FFF2-40B4-BE49-F238E27FC236}">
                <a16:creationId xmlns:a16="http://schemas.microsoft.com/office/drawing/2014/main" id="{015E8850-248E-42B1-B969-06B25F760C07}"/>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assigned disposable project in CloudGuard</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GCP scan and inspect a storage or firewall finding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Identify the project, resource, evidence, and recommended correction</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Match the finding to the equivalent AWS risk concept</a:t>
            </a:r>
          </a:p>
        </p:txBody>
      </p:sp>
      <p:sp>
        <p:nvSpPr>
          <p:cNvPr id="17" name="lab-submit-label-21">
            <a:extLst xmlns:a="http://schemas.openxmlformats.org/drawingml/2006/main">
              <a:ext uri="{FF2B5EF4-FFF2-40B4-BE49-F238E27FC236}">
                <a16:creationId xmlns:a16="http://schemas.microsoft.com/office/drawing/2014/main" id="{4AF50664-0FC2-4618-BD0B-8F953A8F463A}"/>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Evidence to submit</a:t>
            </a:r>
          </a:p>
        </p:txBody>
      </p:sp>
      <p:sp>
        <p:nvSpPr>
          <p:cNvPr id="18" name="lab-submit-21">
            <a:extLst xmlns:a="http://schemas.openxmlformats.org/drawingml/2006/main">
              <a:ext uri="{FF2B5EF4-FFF2-40B4-BE49-F238E27FC236}">
                <a16:creationId xmlns:a16="http://schemas.microsoft.com/office/drawing/2014/main" id="{D677AEC3-C302-475D-A53D-C215AA03772D}"/>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Scan job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Project and resource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Cross-cloud mapping</a:t>
            </a:r>
          </a:p>
        </p:txBody>
      </p:sp>
      <p:sp>
        <p:nvSpPr>
          <p:cNvPr id="19" name="lab-check-bg-21">
            <a:extLst xmlns:a="http://schemas.openxmlformats.org/drawingml/2006/main">
              <a:ext uri="{FF2B5EF4-FFF2-40B4-BE49-F238E27FC236}">
                <a16:creationId xmlns:a16="http://schemas.microsoft.com/office/drawing/2014/main" id="{3D34CD04-D1B7-42FB-86BD-59EC1D9D1FC1}"/>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21">
            <a:extLst xmlns:a="http://schemas.openxmlformats.org/drawingml/2006/main">
              <a:ext uri="{FF2B5EF4-FFF2-40B4-BE49-F238E27FC236}">
                <a16:creationId xmlns:a16="http://schemas.microsoft.com/office/drawing/2014/main" id="{78627FD8-69A0-4C3F-9A93-0024A753A70B}"/>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result includes provider evidence and a provider-neutral risk explanation</a:t>
            </a:r>
          </a:p>
        </p:txBody>
      </p:sp>
    </p:spTree>
    <p:extLst>
      <p:ext uri="{BB962C8B-B14F-4D97-AF65-F5344CB8AC3E}">
        <p14:creationId xmlns:p14="http://schemas.microsoft.com/office/powerpoint/2010/main" val="19574986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16">
            <a:extLst xmlns:a="http://schemas.openxmlformats.org/drawingml/2006/main">
              <a:ext uri="{FF2B5EF4-FFF2-40B4-BE49-F238E27FC236}">
                <a16:creationId xmlns:a16="http://schemas.microsoft.com/office/drawing/2014/main" id="{EC9CDF4C-6479-4DC5-AF86-948311AD59B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16">
            <a:extLst xmlns:a="http://schemas.openxmlformats.org/drawingml/2006/main">
              <a:ext uri="{FF2B5EF4-FFF2-40B4-BE49-F238E27FC236}">
                <a16:creationId xmlns:a16="http://schemas.microsoft.com/office/drawing/2014/main" id="{0A01D3C5-D509-421E-9344-6F0367AA094C}"/>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scanner modes</a:t>
            </a:r>
          </a:p>
        </p:txBody>
      </p:sp>
      <p:sp>
        <p:nvSpPr>
          <p:cNvPr id="3" name="title-rule-16">
            <a:extLst xmlns:a="http://schemas.openxmlformats.org/drawingml/2006/main">
              <a:ext uri="{FF2B5EF4-FFF2-40B4-BE49-F238E27FC236}">
                <a16:creationId xmlns:a16="http://schemas.microsoft.com/office/drawing/2014/main" id="{7C09166E-C22C-4264-81B2-02E82B585A28}"/>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a023468d2084249"/>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6">
            <a:extLst xmlns:a="http://schemas.openxmlformats.org/drawingml/2006/main">
              <a:ext uri="{FF2B5EF4-FFF2-40B4-BE49-F238E27FC236}">
                <a16:creationId xmlns:a16="http://schemas.microsoft.com/office/drawing/2014/main" id="{D7FC8506-957C-4181-BA76-4CA49070684E}"/>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6">
            <a:extLst xmlns:a="http://schemas.openxmlformats.org/drawingml/2006/main">
              <a:ext uri="{FF2B5EF4-FFF2-40B4-BE49-F238E27FC236}">
                <a16:creationId xmlns:a16="http://schemas.microsoft.com/office/drawing/2014/main" id="{1F16DDA1-DA1F-42DF-A987-A327A940E42D}"/>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6">
            <a:extLst xmlns:a="http://schemas.openxmlformats.org/drawingml/2006/main">
              <a:ext uri="{FF2B5EF4-FFF2-40B4-BE49-F238E27FC236}">
                <a16:creationId xmlns:a16="http://schemas.microsoft.com/office/drawing/2014/main" id="{B95E90CC-4A0B-46BE-9320-D67CDA39C4B7}"/>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16</a:t>
            </a:r>
          </a:p>
        </p:txBody>
      </p:sp>
      <p:graphicFrame>
        <p:nvGraphicFramePr>
          <p:cNvPr id="17" name=""/>
          <p:cNvGraphicFramePr/>
          <p:nvPr/>
        </p:nvGraphicFramePr>
        <p:xfrm>
          <a:off xmlns:a="http://schemas.openxmlformats.org/drawingml/2006/main" x="533400" y="1924050"/>
          <a:ext xmlns:a="http://schemas.openxmlformats.org/drawingml/2006/main" cx="11125200" cy="2857500"/>
        </p:xfrm>
        <a:graphic xmlns:a="http://schemas.openxmlformats.org/drawingml/2006/main">
          <a:graphicData uri="http://schemas.openxmlformats.org/drawingml/2006/table">
            <a:tbl>
              <a:tblPr/>
              <a:tblGrid>
                <a:gridCol w="1714500"/>
                <a:gridCol w="2571750"/>
                <a:gridCol w="4095750"/>
                <a:gridCol w="2743200"/>
              </a:tblGrid>
              <a:tr h="952500">
                <a:tc>
                  <a:txBody>
                    <a:bodyPr/>
                    <a:lstStyle/>
                    <a:p>
                      <a:r>
                        <a:rPr sz="1125" b="1">
                          <a:solidFill>
                            <a:srgbClr val="FFFFFF"/>
                          </a:solidFill>
                          <a:latin typeface="Helvetica Neue"/>
                          <a:ea typeface="Helvetica Neue"/>
                          <a:cs typeface="Helvetica Neue"/>
                        </a:rPr>
                        <a:t>Mode</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Input</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What the scanner sees</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Additional value</a:t>
                      </a:r>
                    </a:p>
                  </a:txBody>
                  <a:tcPr marL="91440" marR="91440" marT="45720" marB="45720">
                    <a:solidFill>
                      <a:srgbClr val="326CE5"/>
                    </a:solidFill>
                  </a:tcPr>
                </a:tc>
              </a:tr>
              <a:tr h="952500">
                <a:tc>
                  <a:txBody>
                    <a:bodyPr/>
                    <a:lstStyle/>
                    <a:p>
                      <a:r>
                        <a:rPr sz="1275" b="1">
                          <a:solidFill>
                            <a:srgbClr val="0C1715"/>
                          </a:solidFill>
                          <a:latin typeface="Helvetica Neue"/>
                          <a:ea typeface="Helvetica Neue"/>
                          <a:cs typeface="Helvetica Neue"/>
                        </a:rPr>
                        <a:t>Live cluster</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Saved kubeconfig and optional context</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Namespaces, workloads, services, secrets metadata, NetworkPolicies, and RBAC bindings</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Managed EKS or GKE checks plus comparison with repository manifests</a:t>
                      </a:r>
                    </a:p>
                  </a:txBody>
                  <a:tcPr marL="91440" marR="91440" marT="45720" marB="45720">
                    <a:solidFill>
                      <a:srgbClr val="F2F7F5"/>
                    </a:solidFill>
                  </a:tcPr>
                </a:tc>
              </a:tr>
              <a:tr h="952500">
                <a:tc>
                  <a:txBody>
                    <a:bodyPr/>
                    <a:lstStyle/>
                    <a:p>
                      <a:r>
                        <a:rPr sz="1275" b="1">
                          <a:solidFill>
                            <a:srgbClr val="0C1715"/>
                          </a:solidFill>
                          <a:latin typeface="Helvetica Neue"/>
                          <a:ea typeface="Helvetica Neue"/>
                          <a:cs typeface="Helvetica Neue"/>
                        </a:rPr>
                        <a:t>Manifest</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Kubernetes YAML or JSON files</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Declared workloads, services, RBAC, namespaces, NetworkPolicies, and Secrets</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Security review before deployment without cluster access</a:t>
                      </a:r>
                    </a:p>
                  </a:txBody>
                  <a:tcPr marL="91440" marR="91440" marT="45720" marB="45720">
                    <a:solidFill>
                      <a:srgbClr val="FFFFFF"/>
                    </a:solidFill>
                  </a:tcPr>
                </a:tc>
              </a:tr>
            </a:tbl>
          </a:graphicData>
        </a:graphic>
      </p:graphicFrame>
      <p:sp>
        <p:nvSpPr>
          <p:cNvPr id="9" name="k8s-mode-note">
            <a:extLst xmlns:a="http://schemas.openxmlformats.org/drawingml/2006/main">
              <a:ext uri="{FF2B5EF4-FFF2-40B4-BE49-F238E27FC236}">
                <a16:creationId xmlns:a16="http://schemas.microsoft.com/office/drawing/2014/main" id="{71E5B461-1ADB-4D4C-A935-DAB8F1183E35}"/>
              </a:ext>
            </a:extLst>
          </p:cNvPr>
          <p:cNvSpPr>
            <a:spLocks xmlns:a="http://schemas.openxmlformats.org/drawingml/2006/main" noGrp="1"/>
          </p:cNvSpPr>
          <p:nvPr/>
        </p:nvSpPr>
        <p:spPr>
          <a:xfrm xmlns:a="http://schemas.openxmlformats.org/drawingml/2006/main">
            <a:off x="5334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C1715"/>
                </a:solidFill>
                <a:latin typeface="Helvetica Neue"/>
                <a:ea typeface="Helvetica Neue"/>
                <a:cs typeface="Helvetica Neue"/>
              </a:defRPr>
            </a:pPr>
            <a:r>
              <a:rPr sz="1725" b="1">
                <a:solidFill>
                  <a:srgbClr val="0C1715"/>
                </a:solidFill>
                <a:latin typeface="Helvetica Neue"/>
                <a:ea typeface="Helvetica Neue"/>
                <a:cs typeface="Helvetica Neue"/>
              </a:rPr>
              <a:t>Both modes produce the same finding structure, which makes live and pre-deployment results comparable.</a:t>
            </a:r>
          </a:p>
        </p:txBody>
      </p:sp>
    </p:spTree>
    <p:extLst>
      <p:ext uri="{BB962C8B-B14F-4D97-AF65-F5344CB8AC3E}">
        <p14:creationId xmlns:p14="http://schemas.microsoft.com/office/powerpoint/2010/main" val="5447418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7">
            <a:extLst xmlns:a="http://schemas.openxmlformats.org/drawingml/2006/main">
              <a:ext uri="{FF2B5EF4-FFF2-40B4-BE49-F238E27FC236}">
                <a16:creationId xmlns:a16="http://schemas.microsoft.com/office/drawing/2014/main" id="{49E6D357-A83C-4122-A33A-5EFD2D56F27E}"/>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17">
            <a:extLst xmlns:a="http://schemas.openxmlformats.org/drawingml/2006/main">
              <a:ext uri="{FF2B5EF4-FFF2-40B4-BE49-F238E27FC236}">
                <a16:creationId xmlns:a16="http://schemas.microsoft.com/office/drawing/2014/main" id="{51743C5D-22BD-43EE-9740-22AC95F2A8EF}"/>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the Kubernetes scanner inspects</a:t>
            </a:r>
          </a:p>
        </p:txBody>
      </p:sp>
      <p:sp>
        <p:nvSpPr>
          <p:cNvPr id="3" name="title-rule-17">
            <a:extLst xmlns:a="http://schemas.openxmlformats.org/drawingml/2006/main">
              <a:ext uri="{FF2B5EF4-FFF2-40B4-BE49-F238E27FC236}">
                <a16:creationId xmlns:a16="http://schemas.microsoft.com/office/drawing/2014/main" id="{FC9CC544-3FC5-448A-9747-DEE40BAA031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348328b18dc4f79"/>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7">
            <a:extLst xmlns:a="http://schemas.openxmlformats.org/drawingml/2006/main">
              <a:ext uri="{FF2B5EF4-FFF2-40B4-BE49-F238E27FC236}">
                <a16:creationId xmlns:a16="http://schemas.microsoft.com/office/drawing/2014/main" id="{2BA35ABA-936A-40F6-9D8C-727B43F40BD3}"/>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7">
            <a:extLst xmlns:a="http://schemas.openxmlformats.org/drawingml/2006/main">
              <a:ext uri="{FF2B5EF4-FFF2-40B4-BE49-F238E27FC236}">
                <a16:creationId xmlns:a16="http://schemas.microsoft.com/office/drawing/2014/main" id="{E8854958-E250-4CB5-990D-7147E05E5C7E}"/>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7">
            <a:extLst xmlns:a="http://schemas.openxmlformats.org/drawingml/2006/main">
              <a:ext uri="{FF2B5EF4-FFF2-40B4-BE49-F238E27FC236}">
                <a16:creationId xmlns:a16="http://schemas.microsoft.com/office/drawing/2014/main" id="{887BCCA8-F07B-4743-8F70-C2353832D309}"/>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17</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3714750"/>
                <a:gridCol w="5695950"/>
              </a:tblGrid>
              <a:tr h="819150">
                <a:tc>
                  <a:txBody>
                    <a:bodyPr/>
                    <a:lstStyle/>
                    <a:p>
                      <a:r>
                        <a:rPr sz="1125" b="1">
                          <a:solidFill>
                            <a:srgbClr val="FFFFFF"/>
                          </a:solidFill>
                          <a:latin typeface="Helvetica Neue"/>
                          <a:ea typeface="Helvetica Neue"/>
                          <a:cs typeface="Helvetica Neue"/>
                        </a:rPr>
                        <a:t>Layer</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Objects</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Security questions</a:t>
                      </a:r>
                    </a:p>
                  </a:txBody>
                  <a:tcPr marL="91440" marR="91440" marT="45720" marB="45720">
                    <a:solidFill>
                      <a:srgbClr val="326CE5"/>
                    </a:solidFill>
                  </a:tcPr>
                </a:tc>
              </a:tr>
              <a:tr h="819150">
                <a:tc>
                  <a:txBody>
                    <a:bodyPr/>
                    <a:lstStyle/>
                    <a:p>
                      <a:r>
                        <a:rPr sz="1200" b="1">
                          <a:solidFill>
                            <a:srgbClr val="0C1715"/>
                          </a:solidFill>
                          <a:latin typeface="Helvetica Neue"/>
                          <a:ea typeface="Helvetica Neue"/>
                          <a:cs typeface="Helvetica Neue"/>
                        </a:rPr>
                        <a:t>Workload</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Pod, Deployment, StatefulSet, DaemonSet, Job, CronJob</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Does the pod share host namespaces, run privileged, or allow escalation?</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ServiceAccount, RoleBinding, ClusterRoleBinding</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Does a workload receive unnecessary API access or cluster-admin?</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Exposure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Service and NetworkPolicy</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Can the workload receive public traffic or send unrestricted egress?</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Platform</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Namespace, EKS or GKE control plane, live-to-IaC comparison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Are guardrails enabled, and does live state match the declared configuration?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880587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8">
            <a:extLst xmlns:a="http://schemas.openxmlformats.org/drawingml/2006/main">
              <a:ext uri="{FF2B5EF4-FFF2-40B4-BE49-F238E27FC236}">
                <a16:creationId xmlns:a16="http://schemas.microsoft.com/office/drawing/2014/main" id="{B9757274-E5D0-4C94-A390-6E2A53E7D6E7}"/>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18">
            <a:extLst xmlns:a="http://schemas.openxmlformats.org/drawingml/2006/main">
              <a:ext uri="{FF2B5EF4-FFF2-40B4-BE49-F238E27FC236}">
                <a16:creationId xmlns:a16="http://schemas.microsoft.com/office/drawing/2014/main" id="{92C9291D-480E-452F-A857-C8F3AF2E59AA}"/>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findings in the workshop cluster</a:t>
            </a:r>
          </a:p>
        </p:txBody>
      </p:sp>
      <p:sp>
        <p:nvSpPr>
          <p:cNvPr id="3" name="title-rule-18">
            <a:extLst xmlns:a="http://schemas.openxmlformats.org/drawingml/2006/main">
              <a:ext uri="{FF2B5EF4-FFF2-40B4-BE49-F238E27FC236}">
                <a16:creationId xmlns:a16="http://schemas.microsoft.com/office/drawing/2014/main" id="{40ABB2C4-DDF1-487B-9814-22F69B284B4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66ce00a61974873"/>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8">
            <a:extLst xmlns:a="http://schemas.openxmlformats.org/drawingml/2006/main">
              <a:ext uri="{FF2B5EF4-FFF2-40B4-BE49-F238E27FC236}">
                <a16:creationId xmlns:a16="http://schemas.microsoft.com/office/drawing/2014/main" id="{A49DDFB9-E524-410F-939C-EB8147D7AF20}"/>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8">
            <a:extLst xmlns:a="http://schemas.openxmlformats.org/drawingml/2006/main">
              <a:ext uri="{FF2B5EF4-FFF2-40B4-BE49-F238E27FC236}">
                <a16:creationId xmlns:a16="http://schemas.microsoft.com/office/drawing/2014/main" id="{DFCB707F-1157-43E6-96E5-1131D977C746}"/>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8">
            <a:extLst xmlns:a="http://schemas.openxmlformats.org/drawingml/2006/main">
              <a:ext uri="{FF2B5EF4-FFF2-40B4-BE49-F238E27FC236}">
                <a16:creationId xmlns:a16="http://schemas.microsoft.com/office/drawing/2014/main" id="{BA8A3BC1-DDDC-4407-8775-348F1D31B239}"/>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18</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238375"/>
                <a:gridCol w="3714750"/>
                <a:gridCol w="3476625"/>
                <a:gridCol w="1695450"/>
              </a:tblGrid>
              <a:tr h="819150">
                <a:tc>
                  <a:txBody>
                    <a:bodyPr/>
                    <a:lstStyle/>
                    <a:p>
                      <a:r>
                        <a:rPr sz="1125" b="1">
                          <a:solidFill>
                            <a:srgbClr val="FFFFFF"/>
                          </a:solidFill>
                          <a:latin typeface="Helvetica Neue"/>
                          <a:ea typeface="Helvetica Neue"/>
                          <a:cs typeface="Helvetica Neue"/>
                        </a:rPr>
                        <a:t>Finding</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Evidence in the lab</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Security impact</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Severity</a:t>
                      </a:r>
                    </a:p>
                  </a:txBody>
                  <a:tcPr marL="91440" marR="91440" marT="45720" marB="45720">
                    <a:solidFill>
                      <a:srgbClr val="326CE5"/>
                    </a:solidFill>
                  </a:tcPr>
                </a:tc>
              </a:tr>
              <a:tr h="819150">
                <a:tc>
                  <a:txBody>
                    <a:bodyPr/>
                    <a:lstStyle/>
                    <a:p>
                      <a:r>
                        <a:rPr sz="1125" b="1">
                          <a:solidFill>
                            <a:srgbClr val="0C1715"/>
                          </a:solidFill>
                          <a:latin typeface="Helvetica Neue"/>
                          <a:ea typeface="Helvetica Neue"/>
                          <a:cs typeface="Helvetica Neue"/>
                        </a:rPr>
                        <a:t>Cluster-admin binding</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Service account bound to the cluster-admin ClusterRole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 compromised pod can control the cluster</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Privileged workload</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privileged: true with host namespace access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The container can reach host-level capabilities and devices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Critical or High</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Risky container settings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Privilege escalation, root execution, mutable image, dangerous capabilities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The workload is easier to compromise and harder to contain</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Medium or High</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Broad network exposure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NodePort, LoadBalancer, or 0.0.0.0/0 in NetworkPolicy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More systems can reach the workload or receive traffic from it</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Low or Medium</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631671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9">
            <a:extLst xmlns:a="http://schemas.openxmlformats.org/drawingml/2006/main">
              <a:ext uri="{FF2B5EF4-FFF2-40B4-BE49-F238E27FC236}">
                <a16:creationId xmlns:a16="http://schemas.microsoft.com/office/drawing/2014/main" id="{4B243FDD-C4F5-4A29-B10A-D294126D59E3}"/>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19">
            <a:extLst xmlns:a="http://schemas.openxmlformats.org/drawingml/2006/main">
              <a:ext uri="{FF2B5EF4-FFF2-40B4-BE49-F238E27FC236}">
                <a16:creationId xmlns:a16="http://schemas.microsoft.com/office/drawing/2014/main" id="{DE2332D4-7FBB-4BF3-8E8F-0E90E150FDB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3: Kubernetes scanner</a:t>
            </a:r>
          </a:p>
        </p:txBody>
      </p:sp>
      <p:sp>
        <p:nvSpPr>
          <p:cNvPr id="3" name="title-rule-19">
            <a:extLst xmlns:a="http://schemas.openxmlformats.org/drawingml/2006/main">
              <a:ext uri="{FF2B5EF4-FFF2-40B4-BE49-F238E27FC236}">
                <a16:creationId xmlns:a16="http://schemas.microsoft.com/office/drawing/2014/main" id="{36B2876A-DA78-4D0A-B06D-CA5F50E96C71}"/>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0c5058819874c4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9">
            <a:extLst xmlns:a="http://schemas.openxmlformats.org/drawingml/2006/main">
              <a:ext uri="{FF2B5EF4-FFF2-40B4-BE49-F238E27FC236}">
                <a16:creationId xmlns:a16="http://schemas.microsoft.com/office/drawing/2014/main" id="{5202D2A7-74A7-4545-B87B-E0D38695688E}"/>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9">
            <a:extLst xmlns:a="http://schemas.openxmlformats.org/drawingml/2006/main">
              <a:ext uri="{FF2B5EF4-FFF2-40B4-BE49-F238E27FC236}">
                <a16:creationId xmlns:a16="http://schemas.microsoft.com/office/drawing/2014/main" id="{C9E81CDA-BC4A-42B3-8CAA-5EE0F062796E}"/>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9">
            <a:extLst xmlns:a="http://schemas.openxmlformats.org/drawingml/2006/main">
              <a:ext uri="{FF2B5EF4-FFF2-40B4-BE49-F238E27FC236}">
                <a16:creationId xmlns:a16="http://schemas.microsoft.com/office/drawing/2014/main" id="{90E38125-D6BC-4B8D-85D6-B7EC438719FF}"/>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19</a:t>
            </a:r>
          </a:p>
        </p:txBody>
      </p:sp>
      <p:sp>
        <p:nvSpPr>
          <p:cNvPr id="8" name="lab-band-28">
            <a:extLst xmlns:a="http://schemas.openxmlformats.org/drawingml/2006/main">
              <a:ext uri="{FF2B5EF4-FFF2-40B4-BE49-F238E27FC236}">
                <a16:creationId xmlns:a16="http://schemas.microsoft.com/office/drawing/2014/main" id="{8F57993E-3EF8-4BCA-8602-DA50E40B7A00}"/>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326CE5"/>
          </a:solidFill>
          <a:ln xmlns:a="http://schemas.openxmlformats.org/drawingml/2006/main" w="0">
            <a:solidFill>
              <a:srgbClr val="326CE5"/>
            </a:solidFill>
            <a:prstDash val="solid"/>
          </a:ln>
        </p:spPr>
      </p:sp>
      <p:sp>
        <p:nvSpPr>
          <p:cNvPr id="9" name="lab-number-28">
            <a:extLst xmlns:a="http://schemas.openxmlformats.org/drawingml/2006/main">
              <a:ext uri="{FF2B5EF4-FFF2-40B4-BE49-F238E27FC236}">
                <a16:creationId xmlns:a16="http://schemas.microsoft.com/office/drawing/2014/main" id="{2BBA58E9-269A-4F55-B9BE-D7AE12092AD7}"/>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3</a:t>
            </a:r>
          </a:p>
        </p:txBody>
      </p:sp>
      <p:sp>
        <p:nvSpPr>
          <p:cNvPr id="10" name="lab-provider-28">
            <a:extLst xmlns:a="http://schemas.openxmlformats.org/drawingml/2006/main">
              <a:ext uri="{FF2B5EF4-FFF2-40B4-BE49-F238E27FC236}">
                <a16:creationId xmlns:a16="http://schemas.microsoft.com/office/drawing/2014/main" id="{CDDC62C4-55FD-4F4A-B50A-27CE19326949}"/>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Kubernetes</a:t>
            </a:r>
          </a:p>
        </p:txBody>
      </p:sp>
      <p:sp>
        <p:nvSpPr>
          <p:cNvPr id="11" name="lab-time-label-28">
            <a:extLst xmlns:a="http://schemas.openxmlformats.org/drawingml/2006/main">
              <a:ext uri="{FF2B5EF4-FFF2-40B4-BE49-F238E27FC236}">
                <a16:creationId xmlns:a16="http://schemas.microsoft.com/office/drawing/2014/main" id="{A2B44E2A-BDDE-4C81-B8EA-E86E51E3A369}"/>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28">
            <a:extLst xmlns:a="http://schemas.openxmlformats.org/drawingml/2006/main">
              <a:ext uri="{FF2B5EF4-FFF2-40B4-BE49-F238E27FC236}">
                <a16:creationId xmlns:a16="http://schemas.microsoft.com/office/drawing/2014/main" id="{ACF19D02-BCE9-4718-AF86-2EAA65DAF52C}"/>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8 minutes</a:t>
            </a:r>
          </a:p>
        </p:txBody>
      </p:sp>
      <p:sp>
        <p:nvSpPr>
          <p:cNvPr id="13" name="lab-goal-label-28">
            <a:extLst xmlns:a="http://schemas.openxmlformats.org/drawingml/2006/main">
              <a:ext uri="{FF2B5EF4-FFF2-40B4-BE49-F238E27FC236}">
                <a16:creationId xmlns:a16="http://schemas.microsoft.com/office/drawing/2014/main" id="{12914724-D073-4471-863D-8057B3FCDF76}"/>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Goal</a:t>
            </a:r>
          </a:p>
        </p:txBody>
      </p:sp>
      <p:sp>
        <p:nvSpPr>
          <p:cNvPr id="14" name="lab-goal-28">
            <a:extLst xmlns:a="http://schemas.openxmlformats.org/drawingml/2006/main">
              <a:ext uri="{FF2B5EF4-FFF2-40B4-BE49-F238E27FC236}">
                <a16:creationId xmlns:a16="http://schemas.microsoft.com/office/drawing/2014/main" id="{1244A0F3-6C0C-445B-A5B2-1C7B53F08302}"/>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Connect workload, identity, and exposure findings into one risk explanation.</a:t>
            </a:r>
          </a:p>
        </p:txBody>
      </p:sp>
      <p:sp>
        <p:nvSpPr>
          <p:cNvPr id="15" name="lab-task-label-28">
            <a:extLst xmlns:a="http://schemas.openxmlformats.org/drawingml/2006/main">
              <a:ext uri="{FF2B5EF4-FFF2-40B4-BE49-F238E27FC236}">
                <a16:creationId xmlns:a16="http://schemas.microsoft.com/office/drawing/2014/main" id="{7A875EFA-AA22-454D-8494-5679410C3864}"/>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Exercise</a:t>
            </a:r>
          </a:p>
        </p:txBody>
      </p:sp>
      <p:sp>
        <p:nvSpPr>
          <p:cNvPr id="16" name="lab-tasks-28">
            <a:extLst xmlns:a="http://schemas.openxmlformats.org/drawingml/2006/main">
              <a:ext uri="{FF2B5EF4-FFF2-40B4-BE49-F238E27FC236}">
                <a16:creationId xmlns:a16="http://schemas.microsoft.com/office/drawing/2014/main" id="{758E3E64-9057-4AF0-AC0F-B75BFCE29962}"/>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Use the assigned disposable cluster and cloudguard-test namespace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live Kubernetes scan with the provided kubeconfig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privileged workload and cluster-admin binding findings</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Delete the lab manifest after recording evidence</a:t>
            </a:r>
          </a:p>
        </p:txBody>
      </p:sp>
      <p:sp>
        <p:nvSpPr>
          <p:cNvPr id="17" name="lab-submit-label-28">
            <a:extLst xmlns:a="http://schemas.openxmlformats.org/drawingml/2006/main">
              <a:ext uri="{FF2B5EF4-FFF2-40B4-BE49-F238E27FC236}">
                <a16:creationId xmlns:a16="http://schemas.microsoft.com/office/drawing/2014/main" id="{61536CEC-1A5A-4B7F-9B2A-A4C09EA8A54E}"/>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Evidence to submit</a:t>
            </a:r>
          </a:p>
        </p:txBody>
      </p:sp>
      <p:sp>
        <p:nvSpPr>
          <p:cNvPr id="18" name="lab-submit-28">
            <a:extLst xmlns:a="http://schemas.openxmlformats.org/drawingml/2006/main">
              <a:ext uri="{FF2B5EF4-FFF2-40B4-BE49-F238E27FC236}">
                <a16:creationId xmlns:a16="http://schemas.microsoft.com/office/drawing/2014/main" id="{27C275CB-BD6F-470C-867F-AF45C32D6C80}"/>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IDs</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Workload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RBAC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Namespace deletion result</a:t>
            </a:r>
          </a:p>
        </p:txBody>
      </p:sp>
      <p:sp>
        <p:nvSpPr>
          <p:cNvPr id="19" name="lab-check-bg-28">
            <a:extLst xmlns:a="http://schemas.openxmlformats.org/drawingml/2006/main">
              <a:ext uri="{FF2B5EF4-FFF2-40B4-BE49-F238E27FC236}">
                <a16:creationId xmlns:a16="http://schemas.microsoft.com/office/drawing/2014/main" id="{F907BF79-6FA8-408D-8BB3-6B794DFE9DEB}"/>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28">
            <a:extLst xmlns:a="http://schemas.openxmlformats.org/drawingml/2006/main">
              <a:ext uri="{FF2B5EF4-FFF2-40B4-BE49-F238E27FC236}">
                <a16:creationId xmlns:a16="http://schemas.microsoft.com/office/drawing/2014/main" id="{00215163-C202-4E5A-8CCA-370DA6D87858}"/>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group explains the attack path and retains the cleanup event</a:t>
            </a:r>
          </a:p>
        </p:txBody>
      </p:sp>
    </p:spTree>
    <p:extLst>
      <p:ext uri="{BB962C8B-B14F-4D97-AF65-F5344CB8AC3E}">
        <p14:creationId xmlns:p14="http://schemas.microsoft.com/office/powerpoint/2010/main" val="21291484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20">
            <a:extLst xmlns:a="http://schemas.openxmlformats.org/drawingml/2006/main">
              <a:ext uri="{FF2B5EF4-FFF2-40B4-BE49-F238E27FC236}">
                <a16:creationId xmlns:a16="http://schemas.microsoft.com/office/drawing/2014/main" id="{9154D9D4-D88F-4631-A3C7-FC024DC2033A}"/>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20">
            <a:extLst xmlns:a="http://schemas.openxmlformats.org/drawingml/2006/main">
              <a:ext uri="{FF2B5EF4-FFF2-40B4-BE49-F238E27FC236}">
                <a16:creationId xmlns:a16="http://schemas.microsoft.com/office/drawing/2014/main" id="{67842FA2-187D-4182-B62D-E9578E74BDA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scanner coverage</a:t>
            </a:r>
          </a:p>
        </p:txBody>
      </p:sp>
      <p:sp>
        <p:nvSpPr>
          <p:cNvPr id="3" name="title-rule-20">
            <a:extLst xmlns:a="http://schemas.openxmlformats.org/drawingml/2006/main">
              <a:ext uri="{FF2B5EF4-FFF2-40B4-BE49-F238E27FC236}">
                <a16:creationId xmlns:a16="http://schemas.microsoft.com/office/drawing/2014/main" id="{F19C7896-BB98-4E45-B8D8-B4A4273B2940}"/>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6286e5f013b4d3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0">
            <a:extLst xmlns:a="http://schemas.openxmlformats.org/drawingml/2006/main">
              <a:ext uri="{FF2B5EF4-FFF2-40B4-BE49-F238E27FC236}">
                <a16:creationId xmlns:a16="http://schemas.microsoft.com/office/drawing/2014/main" id="{2DDC2BAA-1758-4C93-B0E1-FECC6A013D6A}"/>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0">
            <a:extLst xmlns:a="http://schemas.openxmlformats.org/drawingml/2006/main">
              <a:ext uri="{FF2B5EF4-FFF2-40B4-BE49-F238E27FC236}">
                <a16:creationId xmlns:a16="http://schemas.microsoft.com/office/drawing/2014/main" id="{8C002061-4FC8-4B36-9015-32EDDA4732C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0">
            <a:extLst xmlns:a="http://schemas.openxmlformats.org/drawingml/2006/main">
              <a:ext uri="{FF2B5EF4-FFF2-40B4-BE49-F238E27FC236}">
                <a16:creationId xmlns:a16="http://schemas.microsoft.com/office/drawing/2014/main" id="{1B754A3C-58C1-4F5D-82F8-CF458742376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20</a:t>
            </a:r>
          </a:p>
        </p:txBody>
      </p:sp>
      <p:graphicFrame>
        <p:nvGraphicFramePr>
          <p:cNvPr id="17" name=""/>
          <p:cNvGraphicFramePr/>
          <p:nvPr/>
        </p:nvGraphicFramePr>
        <p:xfrm>
          <a:off xmlns:a="http://schemas.openxmlformats.org/drawingml/2006/main" x="533400" y="1885950"/>
          <a:ext xmlns:a="http://schemas.openxmlformats.org/drawingml/2006/main" cx="11125200" cy="3333750"/>
        </p:xfrm>
        <a:graphic xmlns:a="http://schemas.openxmlformats.org/drawingml/2006/main">
          <a:graphicData uri="http://schemas.openxmlformats.org/drawingml/2006/table">
            <a:tbl>
              <a:tblPr/>
              <a:tblGrid>
                <a:gridCol w="2095500"/>
                <a:gridCol w="3143250"/>
                <a:gridCol w="5886450"/>
              </a:tblGrid>
              <a:tr h="833438">
                <a:tc>
                  <a:txBody>
                    <a:bodyPr/>
                    <a:lstStyle/>
                    <a:p>
                      <a:r>
                        <a:rPr sz="1125" b="1">
                          <a:solidFill>
                            <a:srgbClr val="FFFFFF"/>
                          </a:solidFill>
                          <a:latin typeface="Helvetica Neue"/>
                          <a:ea typeface="Helvetica Neue"/>
                          <a:cs typeface="Helvetica Neue"/>
                        </a:rPr>
                        <a:t>Template type</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How CloudGuard identifies it</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Examples of checks</a:t>
                      </a:r>
                    </a:p>
                  </a:txBody>
                  <a:tcPr marL="91440" marR="91440" marT="45720" marB="45720">
                    <a:solidFill>
                      <a:srgbClr val="7C3AED"/>
                    </a:solidFill>
                  </a:tcPr>
                </a:tc>
              </a:tr>
              <a:tr h="833438">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.tf, .tfvars, or .hcl content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S3 ACL, open security group, public database, missing encryption, wildcard IAM</a:t>
                      </a:r>
                    </a:p>
                  </a:txBody>
                  <a:tcPr marL="91440" marR="91440" marT="45720" marB="45720">
                    <a:solidFill>
                      <a:srgbClr val="F2F7F5"/>
                    </a:solidFill>
                  </a:tcPr>
                </a:tc>
              </a:tr>
              <a:tr h="833438">
                <a:tc>
                  <a:txBody>
                    <a:bodyPr/>
                    <a:lstStyle/>
                    <a:p>
                      <a:r>
                        <a:rPr sz="1200" b="1">
                          <a:solidFill>
                            <a:srgbClr val="0C1715"/>
                          </a:solidFill>
                          <a:latin typeface="Helvetica Neue"/>
                          <a:ea typeface="Helvetica Neue"/>
                          <a:cs typeface="Helvetica Neue"/>
                        </a:rPr>
                        <a:t>CloudFormation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AWS template Resources in YAML or JSON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bucket, missing public access block, open ingress, public RDS, broad IAM</a:t>
                      </a:r>
                    </a:p>
                  </a:txBody>
                  <a:tcPr marL="91440" marR="91440" marT="45720" marB="45720">
                    <a:solidFill>
                      <a:srgbClr val="FFFFFF"/>
                    </a:solidFill>
                  </a:tcPr>
                </a:tc>
              </a:tr>
              <a:tr h="833438">
                <a:tc>
                  <a:txBody>
                    <a:bodyPr/>
                    <a:lstStyle/>
                    <a:p>
                      <a:r>
                        <a:rPr sz="1200" b="1">
                          <a:solidFill>
                            <a:srgbClr val="0C1715"/>
                          </a:solidFill>
                          <a:latin typeface="Helvetica Neue"/>
                          <a:ea typeface="Helvetica Neue"/>
                          <a:cs typeface="Helvetica Neue"/>
                        </a:rPr>
                        <a:t>Kubernetes manifest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apiVersion and kind in YAML or JSON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Privileged workload, host access, mutable image, broad RBAC, exposed service, Secret in source</a:t>
                      </a:r>
                    </a:p>
                  </a:txBody>
                  <a:tcPr marL="91440" marR="91440" marT="45720" marB="45720">
                    <a:solidFill>
                      <a:srgbClr val="F2F7F5"/>
                    </a:solidFill>
                  </a:tcPr>
                </a:tc>
              </a:tr>
            </a:tbl>
          </a:graphicData>
        </a:graphic>
      </p:graphicFrame>
      <p:sp>
        <p:nvSpPr>
          <p:cNvPr id="9" name="iac-coverage-note">
            <a:extLst xmlns:a="http://schemas.openxmlformats.org/drawingml/2006/main">
              <a:ext uri="{FF2B5EF4-FFF2-40B4-BE49-F238E27FC236}">
                <a16:creationId xmlns:a16="http://schemas.microsoft.com/office/drawing/2014/main" id="{109C3F19-2AE4-4146-87F9-1EBC4371F1D3}"/>
              </a:ext>
            </a:extLst>
          </p:cNvPr>
          <p:cNvSpPr>
            <a:spLocks xmlns:a="http://schemas.openxmlformats.org/drawingml/2006/main" noGrp="1"/>
          </p:cNvSpPr>
          <p:nvPr/>
        </p:nvSpPr>
        <p:spPr>
          <a:xfrm xmlns:a="http://schemas.openxmlformats.org/drawingml/2006/main">
            <a:off x="533400" y="5562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The scan accepts uploaded files or a repository path. It reads configuration only and does not deploy the templates.</a:t>
            </a:r>
          </a:p>
        </p:txBody>
      </p:sp>
    </p:spTree>
    <p:extLst>
      <p:ext uri="{BB962C8B-B14F-4D97-AF65-F5344CB8AC3E}">
        <p14:creationId xmlns:p14="http://schemas.microsoft.com/office/powerpoint/2010/main" val="170940343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21">
            <a:extLst xmlns:a="http://schemas.openxmlformats.org/drawingml/2006/main">
              <a:ext uri="{FF2B5EF4-FFF2-40B4-BE49-F238E27FC236}">
                <a16:creationId xmlns:a16="http://schemas.microsoft.com/office/drawing/2014/main" id="{A48EA7C8-B4DE-4EFE-A25F-0CA1AD8AE3DB}"/>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21">
            <a:extLst xmlns:a="http://schemas.openxmlformats.org/drawingml/2006/main">
              <a:ext uri="{FF2B5EF4-FFF2-40B4-BE49-F238E27FC236}">
                <a16:creationId xmlns:a16="http://schemas.microsoft.com/office/drawing/2014/main" id="{978F4F41-7DCA-474E-B9B3-893E4966AC75}"/>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How IaC static analysis works</a:t>
            </a:r>
          </a:p>
        </p:txBody>
      </p:sp>
      <p:sp>
        <p:nvSpPr>
          <p:cNvPr id="3" name="title-rule-21">
            <a:extLst xmlns:a="http://schemas.openxmlformats.org/drawingml/2006/main">
              <a:ext uri="{FF2B5EF4-FFF2-40B4-BE49-F238E27FC236}">
                <a16:creationId xmlns:a16="http://schemas.microsoft.com/office/drawing/2014/main" id="{FC9632EB-B547-4693-B8B3-3BC611C1181A}"/>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df84b7e1fbc48a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1">
            <a:extLst xmlns:a="http://schemas.openxmlformats.org/drawingml/2006/main">
              <a:ext uri="{FF2B5EF4-FFF2-40B4-BE49-F238E27FC236}">
                <a16:creationId xmlns:a16="http://schemas.microsoft.com/office/drawing/2014/main" id="{ADABD4E9-47A1-4BAD-B78A-A3D0C6C4C2FA}"/>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1">
            <a:extLst xmlns:a="http://schemas.openxmlformats.org/drawingml/2006/main">
              <a:ext uri="{FF2B5EF4-FFF2-40B4-BE49-F238E27FC236}">
                <a16:creationId xmlns:a16="http://schemas.microsoft.com/office/drawing/2014/main" id="{FE88AA0C-BA7B-4791-B4B6-3D7C14B2B46E}"/>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1">
            <a:extLst xmlns:a="http://schemas.openxmlformats.org/drawingml/2006/main">
              <a:ext uri="{FF2B5EF4-FFF2-40B4-BE49-F238E27FC236}">
                <a16:creationId xmlns:a16="http://schemas.microsoft.com/office/drawing/2014/main" id="{0956462F-8065-4BF0-BBDC-D6B2ED3C8ECB}"/>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21</a:t>
            </a:r>
          </a:p>
        </p:txBody>
      </p:sp>
      <p:sp>
        <p:nvSpPr>
          <p:cNvPr id="8" name="part-num-31-0">
            <a:extLst xmlns:a="http://schemas.openxmlformats.org/drawingml/2006/main">
              <a:ext uri="{FF2B5EF4-FFF2-40B4-BE49-F238E27FC236}">
                <a16:creationId xmlns:a16="http://schemas.microsoft.com/office/drawing/2014/main" id="{0A49DC3C-E855-4370-B50F-C3F472EC5014}"/>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01</a:t>
            </a:r>
          </a:p>
        </p:txBody>
      </p:sp>
      <p:sp>
        <p:nvSpPr>
          <p:cNvPr id="9" name="part-rule-31-0">
            <a:extLst xmlns:a="http://schemas.openxmlformats.org/drawingml/2006/main">
              <a:ext uri="{FF2B5EF4-FFF2-40B4-BE49-F238E27FC236}">
                <a16:creationId xmlns:a16="http://schemas.microsoft.com/office/drawing/2014/main" id="{8C51D57A-2B45-4BCD-887E-F3455DFEBA7C}"/>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31-0">
            <a:extLst xmlns:a="http://schemas.openxmlformats.org/drawingml/2006/main">
              <a:ext uri="{FF2B5EF4-FFF2-40B4-BE49-F238E27FC236}">
                <a16:creationId xmlns:a16="http://schemas.microsoft.com/office/drawing/2014/main" id="{28600BF5-1CAC-4C08-B610-8AF8B9E2ED31}"/>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 files</a:t>
            </a:r>
          </a:p>
        </p:txBody>
      </p:sp>
      <p:sp>
        <p:nvSpPr>
          <p:cNvPr id="11" name="part-body-31-0">
            <a:extLst xmlns:a="http://schemas.openxmlformats.org/drawingml/2006/main">
              <a:ext uri="{FF2B5EF4-FFF2-40B4-BE49-F238E27FC236}">
                <a16:creationId xmlns:a16="http://schemas.microsoft.com/office/drawing/2014/main" id="{0E322FA8-9AF8-44B6-A9DD-7C3F492321F7}"/>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scanner walks the selected repository or accepts uploaded files while excluding build, dependency, and report directories.</a:t>
            </a:r>
          </a:p>
        </p:txBody>
      </p:sp>
      <p:sp>
        <p:nvSpPr>
          <p:cNvPr id="12" name="part-num-31-1">
            <a:extLst xmlns:a="http://schemas.openxmlformats.org/drawingml/2006/main">
              <a:ext uri="{FF2B5EF4-FFF2-40B4-BE49-F238E27FC236}">
                <a16:creationId xmlns:a16="http://schemas.microsoft.com/office/drawing/2014/main" id="{4C769548-DF93-4D5B-A884-D7DD98531A70}"/>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02</a:t>
            </a:r>
          </a:p>
        </p:txBody>
      </p:sp>
      <p:sp>
        <p:nvSpPr>
          <p:cNvPr id="13" name="part-rule-31-1">
            <a:extLst xmlns:a="http://schemas.openxmlformats.org/drawingml/2006/main">
              <a:ext uri="{FF2B5EF4-FFF2-40B4-BE49-F238E27FC236}">
                <a16:creationId xmlns:a16="http://schemas.microsoft.com/office/drawing/2014/main" id="{CC6AB7DD-E823-484B-A41B-605C1CDFF031}"/>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31-1">
            <a:extLst xmlns:a="http://schemas.openxmlformats.org/drawingml/2006/main">
              <a:ext uri="{FF2B5EF4-FFF2-40B4-BE49-F238E27FC236}">
                <a16:creationId xmlns:a16="http://schemas.microsoft.com/office/drawing/2014/main" id="{AC7B0425-C448-452F-ADC0-5E0335F0C761}"/>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Classify</a:t>
            </a:r>
          </a:p>
        </p:txBody>
      </p:sp>
      <p:sp>
        <p:nvSpPr>
          <p:cNvPr id="15" name="part-body-31-1">
            <a:extLst xmlns:a="http://schemas.openxmlformats.org/drawingml/2006/main">
              <a:ext uri="{FF2B5EF4-FFF2-40B4-BE49-F238E27FC236}">
                <a16:creationId xmlns:a16="http://schemas.microsoft.com/office/drawing/2014/main" id="{8637FB17-9DEF-442B-9F37-2A4EC2B647DA}"/>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Extensions and content identify Terraform, CloudFormation, or Kubernetes configuration.</a:t>
            </a:r>
          </a:p>
        </p:txBody>
      </p:sp>
      <p:sp>
        <p:nvSpPr>
          <p:cNvPr id="16" name="part-num-31-2">
            <a:extLst xmlns:a="http://schemas.openxmlformats.org/drawingml/2006/main">
              <a:ext uri="{FF2B5EF4-FFF2-40B4-BE49-F238E27FC236}">
                <a16:creationId xmlns:a16="http://schemas.microsoft.com/office/drawing/2014/main" id="{B6A04B8D-491A-489F-8824-0CCB7A328A0E}"/>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03</a:t>
            </a:r>
          </a:p>
        </p:txBody>
      </p:sp>
      <p:sp>
        <p:nvSpPr>
          <p:cNvPr id="17" name="part-rule-31-2">
            <a:extLst xmlns:a="http://schemas.openxmlformats.org/drawingml/2006/main">
              <a:ext uri="{FF2B5EF4-FFF2-40B4-BE49-F238E27FC236}">
                <a16:creationId xmlns:a16="http://schemas.microsoft.com/office/drawing/2014/main" id="{D6D4B1DE-46FE-4DAB-8C22-CDE6EB556E84}"/>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31-2">
            <a:extLst xmlns:a="http://schemas.openxmlformats.org/drawingml/2006/main">
              <a:ext uri="{FF2B5EF4-FFF2-40B4-BE49-F238E27FC236}">
                <a16:creationId xmlns:a16="http://schemas.microsoft.com/office/drawing/2014/main" id="{5D5B30EE-B676-4A4D-B87C-B4C6B46D329A}"/>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Match rules</a:t>
            </a:r>
          </a:p>
        </p:txBody>
      </p:sp>
      <p:sp>
        <p:nvSpPr>
          <p:cNvPr id="19" name="part-body-31-2">
            <a:extLst xmlns:a="http://schemas.openxmlformats.org/drawingml/2006/main">
              <a:ext uri="{FF2B5EF4-FFF2-40B4-BE49-F238E27FC236}">
                <a16:creationId xmlns:a16="http://schemas.microsoft.com/office/drawing/2014/main" id="{77FDD9F0-E8C8-4500-AC7F-CDCF63A5B5E4}"/>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Parsers and targeted patterns identify properties such as public access, wildcard permissions, or privileged execution.</a:t>
            </a:r>
          </a:p>
        </p:txBody>
      </p:sp>
      <p:sp>
        <p:nvSpPr>
          <p:cNvPr id="20" name="part-num-31-3">
            <a:extLst xmlns:a="http://schemas.openxmlformats.org/drawingml/2006/main">
              <a:ext uri="{FF2B5EF4-FFF2-40B4-BE49-F238E27FC236}">
                <a16:creationId xmlns:a16="http://schemas.microsoft.com/office/drawing/2014/main" id="{42CAE04A-E894-42C6-8065-C09771C99A05}"/>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04</a:t>
            </a:r>
          </a:p>
        </p:txBody>
      </p:sp>
      <p:sp>
        <p:nvSpPr>
          <p:cNvPr id="21" name="part-rule-31-3">
            <a:extLst xmlns:a="http://schemas.openxmlformats.org/drawingml/2006/main">
              <a:ext uri="{FF2B5EF4-FFF2-40B4-BE49-F238E27FC236}">
                <a16:creationId xmlns:a16="http://schemas.microsoft.com/office/drawing/2014/main" id="{38DAC615-FE63-4CE8-A1DC-A5E1C8BBB0DC}"/>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31-3">
            <a:extLst xmlns:a="http://schemas.openxmlformats.org/drawingml/2006/main">
              <a:ext uri="{FF2B5EF4-FFF2-40B4-BE49-F238E27FC236}">
                <a16:creationId xmlns:a16="http://schemas.microsoft.com/office/drawing/2014/main" id="{EEEF6437-19CB-4C51-B882-5731AD1B5C23}"/>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Return evidence</a:t>
            </a:r>
          </a:p>
        </p:txBody>
      </p:sp>
      <p:sp>
        <p:nvSpPr>
          <p:cNvPr id="23" name="part-body-31-3">
            <a:extLst xmlns:a="http://schemas.openxmlformats.org/drawingml/2006/main">
              <a:ext uri="{FF2B5EF4-FFF2-40B4-BE49-F238E27FC236}">
                <a16:creationId xmlns:a16="http://schemas.microsoft.com/office/drawing/2014/main" id="{061430A9-FF8F-4BE3-A883-5067995EB41B}"/>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finding includes the template file, issue, severity, explanation, recommendation, and compliance references.</a:t>
            </a:r>
          </a:p>
        </p:txBody>
      </p:sp>
    </p:spTree>
    <p:extLst>
      <p:ext uri="{BB962C8B-B14F-4D97-AF65-F5344CB8AC3E}">
        <p14:creationId xmlns:p14="http://schemas.microsoft.com/office/powerpoint/2010/main" val="170099916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22">
            <a:extLst xmlns:a="http://schemas.openxmlformats.org/drawingml/2006/main">
              <a:ext uri="{FF2B5EF4-FFF2-40B4-BE49-F238E27FC236}">
                <a16:creationId xmlns:a16="http://schemas.microsoft.com/office/drawing/2014/main" id="{B2007114-83DC-4A11-AC71-67615EFE1A33}"/>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22">
            <a:extLst xmlns:a="http://schemas.openxmlformats.org/drawingml/2006/main">
              <a:ext uri="{FF2B5EF4-FFF2-40B4-BE49-F238E27FC236}">
                <a16:creationId xmlns:a16="http://schemas.microsoft.com/office/drawing/2014/main" id="{45773027-4552-4E4B-B6A4-30E2E6BFA13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findings in the workshop fixtures</a:t>
            </a:r>
          </a:p>
        </p:txBody>
      </p:sp>
      <p:sp>
        <p:nvSpPr>
          <p:cNvPr id="3" name="title-rule-22">
            <a:extLst xmlns:a="http://schemas.openxmlformats.org/drawingml/2006/main">
              <a:ext uri="{FF2B5EF4-FFF2-40B4-BE49-F238E27FC236}">
                <a16:creationId xmlns:a16="http://schemas.microsoft.com/office/drawing/2014/main" id="{AEC6AFA3-99B9-4743-9344-114C2173567E}"/>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8647b1720a54b44"/>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2">
            <a:extLst xmlns:a="http://schemas.openxmlformats.org/drawingml/2006/main">
              <a:ext uri="{FF2B5EF4-FFF2-40B4-BE49-F238E27FC236}">
                <a16:creationId xmlns:a16="http://schemas.microsoft.com/office/drawing/2014/main" id="{B22E9045-88B3-44EC-A570-BB01C436AE0C}"/>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2">
            <a:extLst xmlns:a="http://schemas.openxmlformats.org/drawingml/2006/main">
              <a:ext uri="{FF2B5EF4-FFF2-40B4-BE49-F238E27FC236}">
                <a16:creationId xmlns:a16="http://schemas.microsoft.com/office/drawing/2014/main" id="{62B82C93-B0C5-4BF1-B982-69A52510619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2">
            <a:extLst xmlns:a="http://schemas.openxmlformats.org/drawingml/2006/main">
              <a:ext uri="{FF2B5EF4-FFF2-40B4-BE49-F238E27FC236}">
                <a16:creationId xmlns:a16="http://schemas.microsoft.com/office/drawing/2014/main" id="{008F0309-CB72-41AB-AA30-42F29C5AF44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22</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095500"/>
                <a:gridCol w="4476750"/>
                <a:gridCol w="4552950"/>
              </a:tblGrid>
              <a:tr h="819150">
                <a:tc>
                  <a:txBody>
                    <a:bodyPr/>
                    <a:lstStyle/>
                    <a:p>
                      <a:r>
                        <a:rPr sz="1125" b="1">
                          <a:solidFill>
                            <a:srgbClr val="FFFFFF"/>
                          </a:solidFill>
                          <a:latin typeface="Helvetica Neue"/>
                          <a:ea typeface="Helvetica Neue"/>
                          <a:cs typeface="Helvetica Neue"/>
                        </a:rPr>
                        <a:t>Template</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Vulnerable configuration</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Finding</a:t>
                      </a:r>
                    </a:p>
                  </a:txBody>
                  <a:tcPr marL="91440" marR="91440" marT="45720" marB="45720">
                    <a:solidFill>
                      <a:srgbClr val="7C3AED"/>
                    </a:solidFill>
                  </a:tcPr>
                </a:tc>
              </a:tr>
              <a:tr h="819150">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acl = public-read or ingress from 0.0.0.0/0</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S3 access or unrestricted network ingress</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publicly_accessible = true and no explicit encryption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or unencrypted database</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Terraform or CloudFormation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Action '*' with Resource '*'</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Wildcard IAM permission</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Kubernetes YAML</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privileged: true, cluster-admin, LoadBalancer, or Secret data</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Workload, RBAC, exposure, or secret-management risk</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1467960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23">
            <a:extLst xmlns:a="http://schemas.openxmlformats.org/drawingml/2006/main">
              <a:ext uri="{FF2B5EF4-FFF2-40B4-BE49-F238E27FC236}">
                <a16:creationId xmlns:a16="http://schemas.microsoft.com/office/drawing/2014/main" id="{8311E3C3-57C3-4DA6-95CB-230DB015A66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23">
            <a:extLst xmlns:a="http://schemas.openxmlformats.org/drawingml/2006/main">
              <a:ext uri="{FF2B5EF4-FFF2-40B4-BE49-F238E27FC236}">
                <a16:creationId xmlns:a16="http://schemas.microsoft.com/office/drawing/2014/main" id="{4C1116E1-8D52-430B-9E6C-B5327EB34152}"/>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4: Infrastructure as Code scanner</a:t>
            </a:r>
          </a:p>
        </p:txBody>
      </p:sp>
      <p:sp>
        <p:nvSpPr>
          <p:cNvPr id="3" name="title-rule-23">
            <a:extLst xmlns:a="http://schemas.openxmlformats.org/drawingml/2006/main">
              <a:ext uri="{FF2B5EF4-FFF2-40B4-BE49-F238E27FC236}">
                <a16:creationId xmlns:a16="http://schemas.microsoft.com/office/drawing/2014/main" id="{EF37CA5B-2386-4809-8633-2E3D7BC00452}"/>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fb9fe7cc08a48f1"/>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3">
            <a:extLst xmlns:a="http://schemas.openxmlformats.org/drawingml/2006/main">
              <a:ext uri="{FF2B5EF4-FFF2-40B4-BE49-F238E27FC236}">
                <a16:creationId xmlns:a16="http://schemas.microsoft.com/office/drawing/2014/main" id="{17CF05E0-DD69-4C17-8595-024DBB593C76}"/>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3">
            <a:extLst xmlns:a="http://schemas.openxmlformats.org/drawingml/2006/main">
              <a:ext uri="{FF2B5EF4-FFF2-40B4-BE49-F238E27FC236}">
                <a16:creationId xmlns:a16="http://schemas.microsoft.com/office/drawing/2014/main" id="{A9B5C050-7CFF-4713-8C4D-B1A7E24F4008}"/>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3">
            <a:extLst xmlns:a="http://schemas.openxmlformats.org/drawingml/2006/main">
              <a:ext uri="{FF2B5EF4-FFF2-40B4-BE49-F238E27FC236}">
                <a16:creationId xmlns:a16="http://schemas.microsoft.com/office/drawing/2014/main" id="{5895202A-FA4D-4D8E-B409-F3C24EF93B73}"/>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23</a:t>
            </a:r>
          </a:p>
        </p:txBody>
      </p:sp>
      <p:sp>
        <p:nvSpPr>
          <p:cNvPr id="8" name="lab-band-35">
            <a:extLst xmlns:a="http://schemas.openxmlformats.org/drawingml/2006/main">
              <a:ext uri="{FF2B5EF4-FFF2-40B4-BE49-F238E27FC236}">
                <a16:creationId xmlns:a16="http://schemas.microsoft.com/office/drawing/2014/main" id="{BE2154D1-4A9F-4CA0-B319-CEBD0FF222A0}"/>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prstDash val="solid"/>
          </a:ln>
        </p:spPr>
      </p:sp>
      <p:sp>
        <p:nvSpPr>
          <p:cNvPr id="9" name="lab-number-35">
            <a:extLst xmlns:a="http://schemas.openxmlformats.org/drawingml/2006/main">
              <a:ext uri="{FF2B5EF4-FFF2-40B4-BE49-F238E27FC236}">
                <a16:creationId xmlns:a16="http://schemas.microsoft.com/office/drawing/2014/main" id="{0088BE25-41AA-4515-85A1-B89F2904F4F0}"/>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4</a:t>
            </a:r>
          </a:p>
        </p:txBody>
      </p:sp>
      <p:sp>
        <p:nvSpPr>
          <p:cNvPr id="10" name="lab-provider-35">
            <a:extLst xmlns:a="http://schemas.openxmlformats.org/drawingml/2006/main">
              <a:ext uri="{FF2B5EF4-FFF2-40B4-BE49-F238E27FC236}">
                <a16:creationId xmlns:a16="http://schemas.microsoft.com/office/drawing/2014/main" id="{32B5AFFF-0F75-41FC-A592-05957759CBE3}"/>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IaC</a:t>
            </a:r>
          </a:p>
        </p:txBody>
      </p:sp>
      <p:sp>
        <p:nvSpPr>
          <p:cNvPr id="11" name="lab-time-label-35">
            <a:extLst xmlns:a="http://schemas.openxmlformats.org/drawingml/2006/main">
              <a:ext uri="{FF2B5EF4-FFF2-40B4-BE49-F238E27FC236}">
                <a16:creationId xmlns:a16="http://schemas.microsoft.com/office/drawing/2014/main" id="{1ACD937F-D5B6-425A-9C34-EB33B42A9659}"/>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35">
            <a:extLst xmlns:a="http://schemas.openxmlformats.org/drawingml/2006/main">
              <a:ext uri="{FF2B5EF4-FFF2-40B4-BE49-F238E27FC236}">
                <a16:creationId xmlns:a16="http://schemas.microsoft.com/office/drawing/2014/main" id="{C48E5048-CAAC-46C5-892B-DE67E8174D75}"/>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5 minutes</a:t>
            </a:r>
          </a:p>
        </p:txBody>
      </p:sp>
      <p:sp>
        <p:nvSpPr>
          <p:cNvPr id="13" name="lab-goal-label-35">
            <a:extLst xmlns:a="http://schemas.openxmlformats.org/drawingml/2006/main">
              <a:ext uri="{FF2B5EF4-FFF2-40B4-BE49-F238E27FC236}">
                <a16:creationId xmlns:a16="http://schemas.microsoft.com/office/drawing/2014/main" id="{BD02B0F9-6CC5-4975-84CF-9203D3261953}"/>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Goal</a:t>
            </a:r>
          </a:p>
        </p:txBody>
      </p:sp>
      <p:sp>
        <p:nvSpPr>
          <p:cNvPr id="14" name="lab-goal-35">
            <a:extLst xmlns:a="http://schemas.openxmlformats.org/drawingml/2006/main">
              <a:ext uri="{FF2B5EF4-FFF2-40B4-BE49-F238E27FC236}">
                <a16:creationId xmlns:a16="http://schemas.microsoft.com/office/drawing/2014/main" id="{C1B08DDC-84FC-4590-AC88-3FC2E243120B}"/>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Identify an unsafe design choice, correct it in source, and verify the change.</a:t>
            </a:r>
          </a:p>
        </p:txBody>
      </p:sp>
      <p:sp>
        <p:nvSpPr>
          <p:cNvPr id="15" name="lab-task-label-35">
            <a:extLst xmlns:a="http://schemas.openxmlformats.org/drawingml/2006/main">
              <a:ext uri="{FF2B5EF4-FFF2-40B4-BE49-F238E27FC236}">
                <a16:creationId xmlns:a16="http://schemas.microsoft.com/office/drawing/2014/main" id="{0FF587B1-FA7A-44B6-A0BB-37045B68C0E1}"/>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Exercise</a:t>
            </a:r>
          </a:p>
        </p:txBody>
      </p:sp>
      <p:sp>
        <p:nvSpPr>
          <p:cNvPr id="16" name="lab-tasks-35">
            <a:extLst xmlns:a="http://schemas.openxmlformats.org/drawingml/2006/main">
              <a:ext uri="{FF2B5EF4-FFF2-40B4-BE49-F238E27FC236}">
                <a16:creationId xmlns:a16="http://schemas.microsoft.com/office/drawing/2014/main" id="{62B4A926-1C8B-45E0-9C71-4E9146808BDA}"/>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provided IaC fixture folder without applying any template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Predict the findings in one Terraform, CloudFormation, or Kubernetes file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IaC scan and compare the findings with the prediction</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Correct one setting and run the scan again</a:t>
            </a:r>
          </a:p>
        </p:txBody>
      </p:sp>
      <p:sp>
        <p:nvSpPr>
          <p:cNvPr id="17" name="lab-submit-label-35">
            <a:extLst xmlns:a="http://schemas.openxmlformats.org/drawingml/2006/main">
              <a:ext uri="{FF2B5EF4-FFF2-40B4-BE49-F238E27FC236}">
                <a16:creationId xmlns:a16="http://schemas.microsoft.com/office/drawing/2014/main" id="{8CAEFAF6-D136-4A28-8A0B-D3FC96ED0B4C}"/>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Evidence to submit</a:t>
            </a:r>
          </a:p>
        </p:txBody>
      </p:sp>
      <p:sp>
        <p:nvSpPr>
          <p:cNvPr id="18" name="lab-submit-35">
            <a:extLst xmlns:a="http://schemas.openxmlformats.org/drawingml/2006/main">
              <a:ext uri="{FF2B5EF4-FFF2-40B4-BE49-F238E27FC236}">
                <a16:creationId xmlns:a16="http://schemas.microsoft.com/office/drawing/2014/main" id="{81CB161F-9C98-412C-9709-6F4F3B810031}"/>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Original finding</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File and matched setting</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Corrected value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Second scan result</a:t>
            </a:r>
          </a:p>
        </p:txBody>
      </p:sp>
      <p:sp>
        <p:nvSpPr>
          <p:cNvPr id="19" name="lab-check-bg-35">
            <a:extLst xmlns:a="http://schemas.openxmlformats.org/drawingml/2006/main">
              <a:ext uri="{FF2B5EF4-FFF2-40B4-BE49-F238E27FC236}">
                <a16:creationId xmlns:a16="http://schemas.microsoft.com/office/drawing/2014/main" id="{A1ED973C-3F9C-4B4D-BFC6-08DB812FBF14}"/>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35">
            <a:extLst xmlns:a="http://schemas.openxmlformats.org/drawingml/2006/main">
              <a:ext uri="{FF2B5EF4-FFF2-40B4-BE49-F238E27FC236}">
                <a16:creationId xmlns:a16="http://schemas.microsoft.com/office/drawing/2014/main" id="{2DDF7A80-E6A2-41A2-A034-4A736EFEC26D}"/>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one finding has a documented before-and-after result</a:t>
            </a:r>
          </a:p>
        </p:txBody>
      </p:sp>
    </p:spTree>
    <p:extLst>
      <p:ext uri="{BB962C8B-B14F-4D97-AF65-F5344CB8AC3E}">
        <p14:creationId xmlns:p14="http://schemas.microsoft.com/office/powerpoint/2010/main" val="571473599"/>
      </p:ext>
    </p:extLst>
  </p:cSld>
</p:sld>
</file>

<file path=ppt/slides/slide24.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b9d7a1d03ad490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24">
            <a:extLst xmlns:a="http://schemas.openxmlformats.org/drawingml/2006/main">
              <a:ext uri="{FF2B5EF4-FFF2-40B4-BE49-F238E27FC236}">
                <a16:creationId xmlns:a16="http://schemas.microsoft.com/office/drawing/2014/main" id="{7658C3FF-3EE6-42BF-A375-7C148AA1A2FF}"/>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24">
            <a:extLst xmlns:a="http://schemas.openxmlformats.org/drawingml/2006/main">
              <a:ext uri="{FF2B5EF4-FFF2-40B4-BE49-F238E27FC236}">
                <a16:creationId xmlns:a16="http://schemas.microsoft.com/office/drawing/2014/main" id="{ABD9627D-41F3-43D4-801B-A4C699C23BF3}"/>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6</a:t>
            </a:r>
          </a:p>
        </p:txBody>
      </p:sp>
      <p:sp>
        <p:nvSpPr>
          <p:cNvPr id="4" name="module-title-24">
            <a:extLst xmlns:a="http://schemas.openxmlformats.org/drawingml/2006/main">
              <a:ext uri="{FF2B5EF4-FFF2-40B4-BE49-F238E27FC236}">
                <a16:creationId xmlns:a16="http://schemas.microsoft.com/office/drawing/2014/main" id="{7C1FA978-FC6C-497A-A27C-082B130F8F43}"/>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Governance, risk,</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and compliance</a:t>
            </a:r>
          </a:p>
        </p:txBody>
      </p:sp>
      <p:sp>
        <p:nvSpPr>
          <p:cNvPr id="5" name="module-purpose-24">
            <a:extLst xmlns:a="http://schemas.openxmlformats.org/drawingml/2006/main">
              <a:ext uri="{FF2B5EF4-FFF2-40B4-BE49-F238E27FC236}">
                <a16:creationId xmlns:a16="http://schemas.microsoft.com/office/drawing/2014/main" id="{1752FBD2-078B-434A-8D15-45F7DD42EFFD}"/>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GRC connects technical findings to controls, business risk, accountable ownership, approval, and auditable closure.</a:t>
            </a:r>
          </a:p>
        </p:txBody>
      </p:sp>
      <p:sp>
        <p:nvSpPr>
          <p:cNvPr id="6" name="module-time-24">
            <a:extLst xmlns:a="http://schemas.openxmlformats.org/drawingml/2006/main">
              <a:ext uri="{FF2B5EF4-FFF2-40B4-BE49-F238E27FC236}">
                <a16:creationId xmlns:a16="http://schemas.microsoft.com/office/drawing/2014/main" id="{B4BC7219-2FA8-4938-AE72-B188C279DAA4}"/>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35 minutes</a:t>
            </a:r>
          </a:p>
        </p:txBody>
      </p:sp>
      <p:sp>
        <p:nvSpPr>
          <p:cNvPr id="7" name="module-rule-24">
            <a:extLst xmlns:a="http://schemas.openxmlformats.org/drawingml/2006/main">
              <a:ext uri="{FF2B5EF4-FFF2-40B4-BE49-F238E27FC236}">
                <a16:creationId xmlns:a16="http://schemas.microsoft.com/office/drawing/2014/main" id="{49595C1F-8855-4D4B-A2A9-F37399BC1B15}"/>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24">
            <a:extLst xmlns:a="http://schemas.openxmlformats.org/drawingml/2006/main">
              <a:ext uri="{FF2B5EF4-FFF2-40B4-BE49-F238E27FC236}">
                <a16:creationId xmlns:a16="http://schemas.microsoft.com/office/drawing/2014/main" id="{D6C8AE95-880B-45E7-8DC4-972F8DAD5045}"/>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24">
            <a:extLst xmlns:a="http://schemas.openxmlformats.org/drawingml/2006/main">
              <a:ext uri="{FF2B5EF4-FFF2-40B4-BE49-F238E27FC236}">
                <a16:creationId xmlns:a16="http://schemas.microsoft.com/office/drawing/2014/main" id="{FC9D5467-6F46-4852-B7C1-EA4549D951CF}"/>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24</a:t>
            </a:r>
          </a:p>
        </p:txBody>
      </p:sp>
    </p:spTree>
    <p:extLst>
      <p:ext uri="{BB962C8B-B14F-4D97-AF65-F5344CB8AC3E}">
        <p14:creationId xmlns:p14="http://schemas.microsoft.com/office/powerpoint/2010/main" val="107887154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25">
            <a:extLst xmlns:a="http://schemas.openxmlformats.org/drawingml/2006/main">
              <a:ext uri="{FF2B5EF4-FFF2-40B4-BE49-F238E27FC236}">
                <a16:creationId xmlns:a16="http://schemas.microsoft.com/office/drawing/2014/main" id="{6A39E827-9A74-4D9D-A317-17251A4AE306}"/>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5">
            <a:extLst xmlns:a="http://schemas.openxmlformats.org/drawingml/2006/main">
              <a:ext uri="{FF2B5EF4-FFF2-40B4-BE49-F238E27FC236}">
                <a16:creationId xmlns:a16="http://schemas.microsoft.com/office/drawing/2014/main" id="{27754BE2-263D-4D0C-8584-FEC8FD19B78F}"/>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GRC adds to scanner results</a:t>
            </a:r>
          </a:p>
        </p:txBody>
      </p:sp>
      <p:sp>
        <p:nvSpPr>
          <p:cNvPr id="3" name="title-rule-25">
            <a:extLst xmlns:a="http://schemas.openxmlformats.org/drawingml/2006/main">
              <a:ext uri="{FF2B5EF4-FFF2-40B4-BE49-F238E27FC236}">
                <a16:creationId xmlns:a16="http://schemas.microsoft.com/office/drawing/2014/main" id="{06043BC5-5F91-4919-B1F4-19422F1F737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5de0d7f4f4b4113"/>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5">
            <a:extLst xmlns:a="http://schemas.openxmlformats.org/drawingml/2006/main">
              <a:ext uri="{FF2B5EF4-FFF2-40B4-BE49-F238E27FC236}">
                <a16:creationId xmlns:a16="http://schemas.microsoft.com/office/drawing/2014/main" id="{7558AC13-7147-4021-9668-F31E393D7557}"/>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5">
            <a:extLst xmlns:a="http://schemas.openxmlformats.org/drawingml/2006/main">
              <a:ext uri="{FF2B5EF4-FFF2-40B4-BE49-F238E27FC236}">
                <a16:creationId xmlns:a16="http://schemas.microsoft.com/office/drawing/2014/main" id="{5C583CC2-FE49-4FDD-9BE2-6BF6873FF38B}"/>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5">
            <a:extLst xmlns:a="http://schemas.openxmlformats.org/drawingml/2006/main">
              <a:ext uri="{FF2B5EF4-FFF2-40B4-BE49-F238E27FC236}">
                <a16:creationId xmlns:a16="http://schemas.microsoft.com/office/drawing/2014/main" id="{E4C472FD-7ABB-4015-8F62-DD83E0DB6E8C}"/>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25</a:t>
            </a:r>
          </a:p>
        </p:txBody>
      </p:sp>
      <p:sp>
        <p:nvSpPr>
          <p:cNvPr id="8" name="pair-left-title-25">
            <a:extLst xmlns:a="http://schemas.openxmlformats.org/drawingml/2006/main">
              <a:ext uri="{FF2B5EF4-FFF2-40B4-BE49-F238E27FC236}">
                <a16:creationId xmlns:a16="http://schemas.microsoft.com/office/drawing/2014/main" id="{63F5CA9A-D225-468D-A4BD-7823F029C1D8}"/>
              </a:ext>
            </a:extLst>
          </p:cNvPr>
          <p:cNvSpPr>
            <a:spLocks xmlns:a="http://schemas.openxmlformats.org/drawingml/2006/main" noGrp="1"/>
          </p:cNvSpPr>
          <p:nvPr/>
        </p:nvSpPr>
        <p:spPr>
          <a:xfrm xmlns:a="http://schemas.openxmlformats.org/drawingml/2006/main">
            <a:off x="533400" y="18097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Scanner result</a:t>
            </a:r>
          </a:p>
        </p:txBody>
      </p:sp>
      <p:sp>
        <p:nvSpPr>
          <p:cNvPr id="9" name="pair-left-25">
            <a:extLst xmlns:a="http://schemas.openxmlformats.org/drawingml/2006/main">
              <a:ext uri="{FF2B5EF4-FFF2-40B4-BE49-F238E27FC236}">
                <a16:creationId xmlns:a16="http://schemas.microsoft.com/office/drawing/2014/main" id="{E04FC4BA-1387-4BE8-8E8F-1440C866B589}"/>
              </a:ext>
            </a:extLst>
          </p:cNvPr>
          <p:cNvSpPr>
            <a:spLocks xmlns:a="http://schemas.openxmlformats.org/drawingml/2006/main" noGrp="1"/>
          </p:cNvSpPr>
          <p:nvPr/>
        </p:nvSpPr>
        <p:spPr>
          <a:xfrm xmlns:a="http://schemas.openxmlformats.org/drawingml/2006/main">
            <a:off x="476250" y="23622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technical observation captured at a point in time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provider-specific asset, severity, evidence, and recommendation</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starting point for investigation and engineering correction</a:t>
            </a:r>
          </a:p>
        </p:txBody>
      </p:sp>
      <p:sp>
        <p:nvSpPr>
          <p:cNvPr id="10" name="pair-divider-25">
            <a:extLst xmlns:a="http://schemas.openxmlformats.org/drawingml/2006/main">
              <a:ext uri="{FF2B5EF4-FFF2-40B4-BE49-F238E27FC236}">
                <a16:creationId xmlns:a16="http://schemas.microsoft.com/office/drawing/2014/main" id="{B9EEA90C-5D9E-4DBF-8052-3BBE1FF00962}"/>
              </a:ext>
            </a:extLst>
          </p:cNvPr>
          <p:cNvSpPr>
            <a:spLocks xmlns:a="http://schemas.openxmlformats.org/drawingml/2006/main" noGrp="1"/>
          </p:cNvSpPr>
          <p:nvPr/>
        </p:nvSpPr>
        <p:spPr>
          <a:xfrm xmlns:a="http://schemas.openxmlformats.org/drawingml/2006/main">
            <a:off x="6000750" y="177165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1" name="pair-right-title-25">
            <a:extLst xmlns:a="http://schemas.openxmlformats.org/drawingml/2006/main">
              <a:ext uri="{FF2B5EF4-FFF2-40B4-BE49-F238E27FC236}">
                <a16:creationId xmlns:a16="http://schemas.microsoft.com/office/drawing/2014/main" id="{77301DD3-9CD5-4E8B-A42C-74B1FFCBC813}"/>
              </a:ext>
            </a:extLst>
          </p:cNvPr>
          <p:cNvSpPr>
            <a:spLocks xmlns:a="http://schemas.openxmlformats.org/drawingml/2006/main" noGrp="1"/>
          </p:cNvSpPr>
          <p:nvPr/>
        </p:nvSpPr>
        <p:spPr>
          <a:xfrm xmlns:a="http://schemas.openxmlformats.org/drawingml/2006/main">
            <a:off x="6572250" y="180975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GRC context</a:t>
            </a:r>
          </a:p>
        </p:txBody>
      </p:sp>
      <p:sp>
        <p:nvSpPr>
          <p:cNvPr id="12" name="pair-right-25">
            <a:extLst xmlns:a="http://schemas.openxmlformats.org/drawingml/2006/main">
              <a:ext uri="{FF2B5EF4-FFF2-40B4-BE49-F238E27FC236}">
                <a16:creationId xmlns:a16="http://schemas.microsoft.com/office/drawing/2014/main" id="{9971218C-56CD-4833-A2B6-1BD8E0042BB4}"/>
              </a:ext>
            </a:extLst>
          </p:cNvPr>
          <p:cNvSpPr>
            <a:spLocks xmlns:a="http://schemas.openxmlformats.org/drawingml/2006/main" noGrp="1"/>
          </p:cNvSpPr>
          <p:nvPr/>
        </p:nvSpPr>
        <p:spPr>
          <a:xfrm xmlns:a="http://schemas.openxmlformats.org/drawingml/2006/main">
            <a:off x="6515100" y="23622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control objective and compliance obligation behind the finding</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business service, risk owner, due date, and current status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exception, approval, and decision history needed for governance</a:t>
            </a:r>
          </a:p>
        </p:txBody>
      </p:sp>
      <p:sp>
        <p:nvSpPr>
          <p:cNvPr id="13" name="grc-purpose-bg">
            <a:extLst xmlns:a="http://schemas.openxmlformats.org/drawingml/2006/main">
              <a:ext uri="{FF2B5EF4-FFF2-40B4-BE49-F238E27FC236}">
                <a16:creationId xmlns:a16="http://schemas.microsoft.com/office/drawing/2014/main" id="{93346CD1-E994-41E6-8672-D59EB3685338}"/>
              </a:ext>
            </a:extLst>
          </p:cNvPr>
          <p:cNvSpPr>
            <a:spLocks xmlns:a="http://schemas.openxmlformats.org/drawingml/2006/main" noGrp="1"/>
          </p:cNvSpPr>
          <p:nvPr/>
        </p:nvSpPr>
        <p:spPr>
          <a:xfrm xmlns:a="http://schemas.openxmlformats.org/drawingml/2006/main">
            <a:off x="533400" y="5657850"/>
            <a:ext cx="11125200" cy="552450"/>
          </a:xfrm>
          <a:prstGeom xmlns:a="http://schemas.openxmlformats.org/drawingml/2006/main" prst="rect">
            <a:avLst/>
          </a:prstGeom>
          <a:solidFill xmlns:a="http://schemas.openxmlformats.org/drawingml/2006/main">
            <a:srgbClr val="DDF7EF"/>
          </a:solidFill>
          <a:ln xmlns:a="http://schemas.openxmlformats.org/drawingml/2006/main" w="0">
            <a:solidFill>
              <a:srgbClr val="DDF7EF"/>
            </a:solidFill>
            <a:prstDash val="solid"/>
          </a:ln>
        </p:spPr>
      </p:sp>
      <p:sp>
        <p:nvSpPr>
          <p:cNvPr id="14" name="grc-purpose-note">
            <a:extLst xmlns:a="http://schemas.openxmlformats.org/drawingml/2006/main">
              <a:ext uri="{FF2B5EF4-FFF2-40B4-BE49-F238E27FC236}">
                <a16:creationId xmlns:a16="http://schemas.microsoft.com/office/drawing/2014/main" id="{D7BCC2DC-E4A2-439F-B630-3A257A97B606}"/>
              </a:ext>
            </a:extLst>
          </p:cNvPr>
          <p:cNvSpPr>
            <a:spLocks xmlns:a="http://schemas.openxmlformats.org/drawingml/2006/main" noGrp="1"/>
          </p:cNvSpPr>
          <p:nvPr/>
        </p:nvSpPr>
        <p:spPr>
          <a:xfrm xmlns:a="http://schemas.openxmlformats.org/drawingml/2006/main">
            <a:off x="781050" y="5819775"/>
            <a:ext cx="1062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GRC preserves the technical evidence while adding accountability and decision history.</a:t>
            </a:r>
          </a:p>
        </p:txBody>
      </p:sp>
    </p:spTree>
    <p:extLst>
      <p:ext uri="{BB962C8B-B14F-4D97-AF65-F5344CB8AC3E}">
        <p14:creationId xmlns:p14="http://schemas.microsoft.com/office/powerpoint/2010/main" val="15383496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26">
            <a:extLst xmlns:a="http://schemas.openxmlformats.org/drawingml/2006/main">
              <a:ext uri="{FF2B5EF4-FFF2-40B4-BE49-F238E27FC236}">
                <a16:creationId xmlns:a16="http://schemas.microsoft.com/office/drawing/2014/main" id="{EE852F0B-4BE1-4A6D-99D2-F4BA47948669}"/>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6">
            <a:extLst xmlns:a="http://schemas.openxmlformats.org/drawingml/2006/main">
              <a:ext uri="{FF2B5EF4-FFF2-40B4-BE49-F238E27FC236}">
                <a16:creationId xmlns:a16="http://schemas.microsoft.com/office/drawing/2014/main" id="{C0157874-545B-40C8-93EC-1447052CE46F}"/>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Core GRC records</a:t>
            </a:r>
          </a:p>
        </p:txBody>
      </p:sp>
      <p:sp>
        <p:nvSpPr>
          <p:cNvPr id="3" name="title-rule-26">
            <a:extLst xmlns:a="http://schemas.openxmlformats.org/drawingml/2006/main">
              <a:ext uri="{FF2B5EF4-FFF2-40B4-BE49-F238E27FC236}">
                <a16:creationId xmlns:a16="http://schemas.microsoft.com/office/drawing/2014/main" id="{8A3D6C3D-C3A5-4F8E-93A1-F400948DAFC4}"/>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42c200f01ab4269"/>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6">
            <a:extLst xmlns:a="http://schemas.openxmlformats.org/drawingml/2006/main">
              <a:ext uri="{FF2B5EF4-FFF2-40B4-BE49-F238E27FC236}">
                <a16:creationId xmlns:a16="http://schemas.microsoft.com/office/drawing/2014/main" id="{FEECAE42-5665-44AA-B6DF-23916EF6F401}"/>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6">
            <a:extLst xmlns:a="http://schemas.openxmlformats.org/drawingml/2006/main">
              <a:ext uri="{FF2B5EF4-FFF2-40B4-BE49-F238E27FC236}">
                <a16:creationId xmlns:a16="http://schemas.microsoft.com/office/drawing/2014/main" id="{5533EADA-22F4-4F9A-BD53-64C2C5A833F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6">
            <a:extLst xmlns:a="http://schemas.openxmlformats.org/drawingml/2006/main">
              <a:ext uri="{FF2B5EF4-FFF2-40B4-BE49-F238E27FC236}">
                <a16:creationId xmlns:a16="http://schemas.microsoft.com/office/drawing/2014/main" id="{A2E4ACB6-7554-47A1-966F-13F209257AD0}"/>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26</a:t>
            </a:r>
          </a:p>
        </p:txBody>
      </p:sp>
      <p:graphicFrame>
        <p:nvGraphicFramePr>
          <p:cNvPr id="18" name=""/>
          <p:cNvGraphicFramePr/>
          <p:nvPr/>
        </p:nvGraphicFramePr>
        <p:xfrm>
          <a:off xmlns:a="http://schemas.openxmlformats.org/drawingml/2006/main" x="533400" y="1752600"/>
          <a:ext xmlns:a="http://schemas.openxmlformats.org/drawingml/2006/main" cx="11125200" cy="4000500"/>
        </p:xfrm>
        <a:graphic xmlns:a="http://schemas.openxmlformats.org/drawingml/2006/main">
          <a:graphicData uri="http://schemas.openxmlformats.org/drawingml/2006/table">
            <a:tbl>
              <a:tblPr/>
              <a:tblGrid>
                <a:gridCol w="1714500"/>
                <a:gridCol w="4095750"/>
                <a:gridCol w="5314950"/>
              </a:tblGrid>
              <a:tr h="666750">
                <a:tc>
                  <a:txBody>
                    <a:bodyPr/>
                    <a:lstStyle/>
                    <a:p>
                      <a:r>
                        <a:rPr sz="1125" b="1">
                          <a:solidFill>
                            <a:srgbClr val="FFFFFF"/>
                          </a:solidFill>
                          <a:latin typeface="Helvetica Neue"/>
                          <a:ea typeface="Helvetica Neue"/>
                          <a:cs typeface="Helvetica Neue"/>
                        </a:rPr>
                        <a:t>Record</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Purpose</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Key information</a:t>
                      </a:r>
                    </a:p>
                  </a:txBody>
                  <a:tcPr marL="91440" marR="91440" marT="45720" marB="45720">
                    <a:solidFill>
                      <a:srgbClr val="11856E"/>
                    </a:solidFill>
                  </a:tcPr>
                </a:tc>
              </a:tr>
              <a:tr h="666750">
                <a:tc>
                  <a:txBody>
                    <a:bodyPr/>
                    <a:lstStyle/>
                    <a:p>
                      <a:r>
                        <a:rPr sz="1125" b="1">
                          <a:solidFill>
                            <a:srgbClr val="0C1715"/>
                          </a:solidFill>
                          <a:latin typeface="Helvetica Neue"/>
                          <a:ea typeface="Helvetica Neue"/>
                          <a:cs typeface="Helvetica Neue"/>
                        </a:rPr>
                        <a:t>Control</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Defines the security outcome the organization expects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Owner, framework reference, test frequency, status</a:t>
                      </a:r>
                    </a:p>
                  </a:txBody>
                  <a:tcPr marL="91440" marR="91440" marT="45720" marB="45720">
                    <a:solidFill>
                      <a:srgbClr val="F2F7F5"/>
                    </a:solidFill>
                  </a:tcPr>
                </a:tc>
              </a:tr>
              <a:tr h="666750">
                <a:tc>
                  <a:txBody>
                    <a:bodyPr/>
                    <a:lstStyle/>
                    <a:p>
                      <a:r>
                        <a:rPr sz="1125" b="1">
                          <a:solidFill>
                            <a:srgbClr val="0C1715"/>
                          </a:solidFill>
                          <a:latin typeface="Helvetica Neue"/>
                          <a:ea typeface="Helvetica Neue"/>
                          <a:cs typeface="Helvetica Neue"/>
                        </a:rPr>
                        <a:t>Evidence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Proves how the control operated at a point in time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Source, asset, timestamp, checksum or lineage, reviewer</a:t>
                      </a:r>
                    </a:p>
                  </a:txBody>
                  <a:tcPr marL="91440" marR="91440" marT="45720" marB="45720">
                    <a:solidFill>
                      <a:srgbClr val="FFFFFF"/>
                    </a:solidFill>
                  </a:tcPr>
                </a:tc>
              </a:tr>
              <a:tr h="666750">
                <a:tc>
                  <a:txBody>
                    <a:bodyPr/>
                    <a:lstStyle/>
                    <a:p>
                      <a:r>
                        <a:rPr sz="1125" b="1">
                          <a:solidFill>
                            <a:srgbClr val="0C1715"/>
                          </a:solidFill>
                          <a:latin typeface="Helvetica Neue"/>
                          <a:ea typeface="Helvetica Neue"/>
                          <a:cs typeface="Helvetica Neue"/>
                        </a:rPr>
                        <a:t>Risk</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Expresses business impact and likelihood</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Affected service, exposure, impact, treatment decision</a:t>
                      </a:r>
                    </a:p>
                  </a:txBody>
                  <a:tcPr marL="91440" marR="91440" marT="45720" marB="45720">
                    <a:solidFill>
                      <a:srgbClr val="F2F7F5"/>
                    </a:solidFill>
                  </a:tcPr>
                </a:tc>
              </a:tr>
              <a:tr h="666750">
                <a:tc>
                  <a:txBody>
                    <a:bodyPr/>
                    <a:lstStyle/>
                    <a:p>
                      <a:r>
                        <a:rPr sz="1125" b="1">
                          <a:solidFill>
                            <a:srgbClr val="0C1715"/>
                          </a:solidFill>
                          <a:latin typeface="Helvetica Neue"/>
                          <a:ea typeface="Helvetica Neue"/>
                          <a:cs typeface="Helvetica Neue"/>
                        </a:rPr>
                        <a:t>Issue or action</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Tracks the work needed to correct a gap</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Finding, assignee, due date, remediation plan, status</a:t>
                      </a:r>
                    </a:p>
                  </a:txBody>
                  <a:tcPr marL="91440" marR="91440" marT="45720" marB="45720">
                    <a:solidFill>
                      <a:srgbClr val="FFFFFF"/>
                    </a:solidFill>
                  </a:tcPr>
                </a:tc>
              </a:tr>
              <a:tr h="666750">
                <a:tc>
                  <a:txBody>
                    <a:bodyPr/>
                    <a:lstStyle/>
                    <a:p>
                      <a:r>
                        <a:rPr sz="1125" b="1">
                          <a:solidFill>
                            <a:srgbClr val="0C1715"/>
                          </a:solidFill>
                          <a:latin typeface="Helvetica Neue"/>
                          <a:ea typeface="Helvetica Neue"/>
                          <a:cs typeface="Helvetica Neue"/>
                        </a:rPr>
                        <a:t>Audit history</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Preserves decisions and state changes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Reviewer comments, approvals, exceptions, closure proof</a:t>
                      </a:r>
                    </a:p>
                  </a:txBody>
                  <a:tcPr marL="91440" marR="91440" marT="45720" marB="45720">
                    <a:solidFill>
                      <a:srgbClr val="F2F7F5"/>
                    </a:solidFill>
                  </a:tcPr>
                </a:tc>
              </a:tr>
            </a:tbl>
          </a:graphicData>
        </a:graphic>
      </p:graphicFrame>
      <p:sp>
        <p:nvSpPr>
          <p:cNvPr id="9" name="grc-records-bg">
            <a:extLst xmlns:a="http://schemas.openxmlformats.org/drawingml/2006/main">
              <a:ext uri="{FF2B5EF4-FFF2-40B4-BE49-F238E27FC236}">
                <a16:creationId xmlns:a16="http://schemas.microsoft.com/office/drawing/2014/main" id="{AD413F14-FEF4-43F8-B278-33640AD51EE3}"/>
              </a:ext>
            </a:extLst>
          </p:cNvPr>
          <p:cNvSpPr>
            <a:spLocks xmlns:a="http://schemas.openxmlformats.org/drawingml/2006/main" noGrp="1"/>
          </p:cNvSpPr>
          <p:nvPr/>
        </p:nvSpPr>
        <p:spPr>
          <a:xfrm xmlns:a="http://schemas.openxmlformats.org/drawingml/2006/main">
            <a:off x="533400" y="5905500"/>
            <a:ext cx="11125200" cy="3810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10" name="grc-records-note">
            <a:extLst xmlns:a="http://schemas.openxmlformats.org/drawingml/2006/main">
              <a:ext uri="{FF2B5EF4-FFF2-40B4-BE49-F238E27FC236}">
                <a16:creationId xmlns:a16="http://schemas.microsoft.com/office/drawing/2014/main" id="{FD1A19C4-BF0B-4474-93EB-69DE8AD886F3}"/>
              </a:ext>
            </a:extLst>
          </p:cNvPr>
          <p:cNvSpPr>
            <a:spLocks xmlns:a="http://schemas.openxmlformats.org/drawingml/2006/main" noGrp="1"/>
          </p:cNvSpPr>
          <p:nvPr/>
        </p:nvSpPr>
        <p:spPr>
          <a:xfrm xmlns:a="http://schemas.openxmlformats.org/drawingml/2006/main">
            <a:off x="723900" y="598170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0C1715"/>
                </a:solidFill>
                <a:latin typeface="Helvetica Neue"/>
                <a:ea typeface="Helvetica Neue"/>
                <a:cs typeface="Helvetica Neue"/>
              </a:defRPr>
            </a:pPr>
            <a:r>
              <a:rPr sz="1275" b="1">
                <a:solidFill>
                  <a:srgbClr val="0C1715"/>
                </a:solidFill>
                <a:latin typeface="Helvetica Neue"/>
                <a:ea typeface="Helvetica Neue"/>
                <a:cs typeface="Helvetica Neue"/>
              </a:rPr>
              <a:t>These records keep the technical fact, the business decision, and the proof of closure connected.</a:t>
            </a:r>
          </a:p>
        </p:txBody>
      </p:sp>
    </p:spTree>
    <p:extLst>
      <p:ext uri="{BB962C8B-B14F-4D97-AF65-F5344CB8AC3E}">
        <p14:creationId xmlns:p14="http://schemas.microsoft.com/office/powerpoint/2010/main" val="163986670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27">
            <a:extLst xmlns:a="http://schemas.openxmlformats.org/drawingml/2006/main">
              <a:ext uri="{FF2B5EF4-FFF2-40B4-BE49-F238E27FC236}">
                <a16:creationId xmlns:a16="http://schemas.microsoft.com/office/drawing/2014/main" id="{9DFF8AC7-F910-44AC-A201-AA5742CA47BF}"/>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7">
            <a:extLst xmlns:a="http://schemas.openxmlformats.org/drawingml/2006/main">
              <a:ext uri="{FF2B5EF4-FFF2-40B4-BE49-F238E27FC236}">
                <a16:creationId xmlns:a16="http://schemas.microsoft.com/office/drawing/2014/main" id="{325A0A8A-7E73-4540-BA93-B90452B5461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Mapping a finding to a control</a:t>
            </a:r>
          </a:p>
        </p:txBody>
      </p:sp>
      <p:sp>
        <p:nvSpPr>
          <p:cNvPr id="3" name="title-rule-27">
            <a:extLst xmlns:a="http://schemas.openxmlformats.org/drawingml/2006/main">
              <a:ext uri="{FF2B5EF4-FFF2-40B4-BE49-F238E27FC236}">
                <a16:creationId xmlns:a16="http://schemas.microsoft.com/office/drawing/2014/main" id="{4BD6B588-AEB0-4164-B24B-6DD0350B7EF3}"/>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7e9fee8f32a4d9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7">
            <a:extLst xmlns:a="http://schemas.openxmlformats.org/drawingml/2006/main">
              <a:ext uri="{FF2B5EF4-FFF2-40B4-BE49-F238E27FC236}">
                <a16:creationId xmlns:a16="http://schemas.microsoft.com/office/drawing/2014/main" id="{5919FB18-2228-4E96-A477-90A992C75330}"/>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7">
            <a:extLst xmlns:a="http://schemas.openxmlformats.org/drawingml/2006/main">
              <a:ext uri="{FF2B5EF4-FFF2-40B4-BE49-F238E27FC236}">
                <a16:creationId xmlns:a16="http://schemas.microsoft.com/office/drawing/2014/main" id="{3566E0D4-DAFF-4ACA-9181-D4EEC7CE54B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7">
            <a:extLst xmlns:a="http://schemas.openxmlformats.org/drawingml/2006/main">
              <a:ext uri="{FF2B5EF4-FFF2-40B4-BE49-F238E27FC236}">
                <a16:creationId xmlns:a16="http://schemas.microsoft.com/office/drawing/2014/main" id="{975E01DE-7FE5-4981-ACEA-DFEF2FDDFF8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27</a:t>
            </a:r>
          </a:p>
        </p:txBody>
      </p:sp>
      <p:graphicFrame>
        <p:nvGraphicFramePr>
          <p:cNvPr id="18" name=""/>
          <p:cNvGraphicFramePr/>
          <p:nvPr/>
        </p:nvGraphicFramePr>
        <p:xfrm>
          <a:off xmlns:a="http://schemas.openxmlformats.org/drawingml/2006/main" x="533400" y="1752600"/>
          <a:ext xmlns:a="http://schemas.openxmlformats.org/drawingml/2006/main" cx="11125200" cy="4000500"/>
        </p:xfrm>
        <a:graphic xmlns:a="http://schemas.openxmlformats.org/drawingml/2006/main">
          <a:graphicData uri="http://schemas.openxmlformats.org/drawingml/2006/table">
            <a:tbl>
              <a:tblPr/>
              <a:tblGrid>
                <a:gridCol w="2857500"/>
                <a:gridCol w="8267700"/>
              </a:tblGrid>
              <a:tr h="571500">
                <a:tc>
                  <a:txBody>
                    <a:bodyPr/>
                    <a:lstStyle/>
                    <a:p>
                      <a:r>
                        <a:rPr sz="1125" b="1">
                          <a:solidFill>
                            <a:srgbClr val="FFFFFF"/>
                          </a:solidFill>
                          <a:latin typeface="Helvetica Neue"/>
                          <a:ea typeface="Helvetica Neue"/>
                          <a:cs typeface="Helvetica Neue"/>
                        </a:rPr>
                        <a:t>GRC question</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Workshop example</a:t>
                      </a:r>
                    </a:p>
                  </a:txBody>
                  <a:tcPr marL="91440" marR="91440" marT="45720" marB="45720">
                    <a:solidFill>
                      <a:srgbClr val="11856E"/>
                    </a:solidFill>
                  </a:tcPr>
                </a:tc>
              </a:tr>
              <a:tr h="571500">
                <a:tc>
                  <a:txBody>
                    <a:bodyPr/>
                    <a:lstStyle/>
                    <a:p>
                      <a:r>
                        <a:rPr sz="1200" b="1">
                          <a:solidFill>
                            <a:srgbClr val="0C1715"/>
                          </a:solidFill>
                          <a:latin typeface="Helvetica Neue"/>
                          <a:ea typeface="Helvetica Neue"/>
                          <a:cs typeface="Helvetica Neue"/>
                        </a:rPr>
                        <a:t>What failed?</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object storage allows access outside the approved boundary</a:t>
                      </a:r>
                    </a:p>
                  </a:txBody>
                  <a:tcPr marL="91440" marR="91440" marT="45720" marB="45720">
                    <a:solidFill>
                      <a:srgbClr val="F2F7F5"/>
                    </a:solidFill>
                  </a:tcPr>
                </a:tc>
              </a:tr>
              <a:tr h="571500">
                <a:tc>
                  <a:txBody>
                    <a:bodyPr/>
                    <a:lstStyle/>
                    <a:p>
                      <a:r>
                        <a:rPr sz="1200" b="1">
                          <a:solidFill>
                            <a:srgbClr val="0C1715"/>
                          </a:solidFill>
                          <a:latin typeface="Helvetica Neue"/>
                          <a:ea typeface="Helvetica Neue"/>
                          <a:cs typeface="Helvetica Neue"/>
                        </a:rPr>
                        <a:t>Which control?</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Storage access must remain restricted to authorized identities</a:t>
                      </a:r>
                    </a:p>
                  </a:txBody>
                  <a:tcPr marL="91440" marR="91440" marT="45720" marB="45720">
                    <a:solidFill>
                      <a:srgbClr val="FFFFFF"/>
                    </a:solidFill>
                  </a:tcPr>
                </a:tc>
              </a:tr>
              <a:tr h="571500">
                <a:tc>
                  <a:txBody>
                    <a:bodyPr/>
                    <a:lstStyle/>
                    <a:p>
                      <a:r>
                        <a:rPr sz="1200" b="1">
                          <a:solidFill>
                            <a:srgbClr val="0C1715"/>
                          </a:solidFill>
                          <a:latin typeface="Helvetica Neue"/>
                          <a:ea typeface="Helvetica Neue"/>
                          <a:cs typeface="Helvetica Neue"/>
                        </a:rPr>
                        <a:t>What proves it?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Bucket IAM or policy, scanner observation, and collection timestamp</a:t>
                      </a:r>
                    </a:p>
                  </a:txBody>
                  <a:tcPr marL="91440" marR="91440" marT="45720" marB="45720">
                    <a:solidFill>
                      <a:srgbClr val="F2F7F5"/>
                    </a:solidFill>
                  </a:tcPr>
                </a:tc>
              </a:tr>
              <a:tr h="571500">
                <a:tc>
                  <a:txBody>
                    <a:bodyPr/>
                    <a:lstStyle/>
                    <a:p>
                      <a:r>
                        <a:rPr sz="1200" b="1">
                          <a:solidFill>
                            <a:srgbClr val="0C1715"/>
                          </a:solidFill>
                          <a:latin typeface="Helvetica Neue"/>
                          <a:ea typeface="Helvetica Neue"/>
                          <a:cs typeface="Helvetica Neue"/>
                        </a:rPr>
                        <a:t>What is the risk?</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Unauthorized access to data and loss of confidentiality</a:t>
                      </a:r>
                    </a:p>
                  </a:txBody>
                  <a:tcPr marL="91440" marR="91440" marT="45720" marB="45720">
                    <a:solidFill>
                      <a:srgbClr val="FFFFFF"/>
                    </a:solidFill>
                  </a:tcPr>
                </a:tc>
              </a:tr>
              <a:tr h="571500">
                <a:tc>
                  <a:txBody>
                    <a:bodyPr/>
                    <a:lstStyle/>
                    <a:p>
                      <a:r>
                        <a:rPr sz="1200" b="1">
                          <a:solidFill>
                            <a:srgbClr val="0C1715"/>
                          </a:solidFill>
                          <a:latin typeface="Helvetica Neue"/>
                          <a:ea typeface="Helvetica Neue"/>
                          <a:cs typeface="Helvetica Neue"/>
                        </a:rPr>
                        <a:t>Who owns the response?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accountable cloud platform or application owner</a:t>
                      </a:r>
                    </a:p>
                  </a:txBody>
                  <a:tcPr marL="91440" marR="91440" marT="45720" marB="45720">
                    <a:solidFill>
                      <a:srgbClr val="F2F7F5"/>
                    </a:solidFill>
                  </a:tcPr>
                </a:tc>
              </a:tr>
              <a:tr h="571500">
                <a:tc>
                  <a:txBody>
                    <a:bodyPr/>
                    <a:lstStyle/>
                    <a:p>
                      <a:r>
                        <a:rPr sz="1200" b="1">
                          <a:solidFill>
                            <a:srgbClr val="0C1715"/>
                          </a:solidFill>
                          <a:latin typeface="Helvetica Neue"/>
                          <a:ea typeface="Helvetica Neue"/>
                          <a:cs typeface="Helvetica Neue"/>
                        </a:rPr>
                        <a:t>What proves closure?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Restricted policy, approved change record, and clean rescan</a:t>
                      </a:r>
                    </a:p>
                  </a:txBody>
                  <a:tcPr marL="91440" marR="91440" marT="45720" marB="45720">
                    <a:solidFill>
                      <a:srgbClr val="FFFFFF"/>
                    </a:solidFill>
                  </a:tcPr>
                </a:tc>
              </a:tr>
            </a:tbl>
          </a:graphicData>
        </a:graphic>
      </p:graphicFrame>
      <p:sp>
        <p:nvSpPr>
          <p:cNvPr id="9" name="finding-control-bg">
            <a:extLst xmlns:a="http://schemas.openxmlformats.org/drawingml/2006/main">
              <a:ext uri="{FF2B5EF4-FFF2-40B4-BE49-F238E27FC236}">
                <a16:creationId xmlns:a16="http://schemas.microsoft.com/office/drawing/2014/main" id="{B3ADF903-83DB-45DB-BDCD-6EE36604281A}"/>
              </a:ext>
            </a:extLst>
          </p:cNvPr>
          <p:cNvSpPr>
            <a:spLocks xmlns:a="http://schemas.openxmlformats.org/drawingml/2006/main" noGrp="1"/>
          </p:cNvSpPr>
          <p:nvPr/>
        </p:nvSpPr>
        <p:spPr>
          <a:xfrm xmlns:a="http://schemas.openxmlformats.org/drawingml/2006/main">
            <a:off x="533400" y="5905500"/>
            <a:ext cx="11125200" cy="381000"/>
          </a:xfrm>
          <a:prstGeom xmlns:a="http://schemas.openxmlformats.org/drawingml/2006/main" prst="rect">
            <a:avLst/>
          </a:prstGeom>
          <a:solidFill xmlns:a="http://schemas.openxmlformats.org/drawingml/2006/main">
            <a:srgbClr val="DDF7EF"/>
          </a:solidFill>
          <a:ln xmlns:a="http://schemas.openxmlformats.org/drawingml/2006/main" w="0">
            <a:solidFill>
              <a:srgbClr val="DDF7EF"/>
            </a:solidFill>
            <a:prstDash val="solid"/>
          </a:ln>
        </p:spPr>
      </p:sp>
      <p:sp>
        <p:nvSpPr>
          <p:cNvPr id="10" name="finding-control-note">
            <a:extLst xmlns:a="http://schemas.openxmlformats.org/drawingml/2006/main">
              <a:ext uri="{FF2B5EF4-FFF2-40B4-BE49-F238E27FC236}">
                <a16:creationId xmlns:a16="http://schemas.microsoft.com/office/drawing/2014/main" id="{F371C9F6-B40D-4736-8949-B59AD0E3F304}"/>
              </a:ext>
            </a:extLst>
          </p:cNvPr>
          <p:cNvSpPr>
            <a:spLocks xmlns:a="http://schemas.openxmlformats.org/drawingml/2006/main" noGrp="1"/>
          </p:cNvSpPr>
          <p:nvPr/>
        </p:nvSpPr>
        <p:spPr>
          <a:xfrm xmlns:a="http://schemas.openxmlformats.org/drawingml/2006/main">
            <a:off x="723900" y="598170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0C1715"/>
                </a:solidFill>
                <a:latin typeface="Helvetica Neue"/>
                <a:ea typeface="Helvetica Neue"/>
                <a:cs typeface="Helvetica Neue"/>
              </a:defRPr>
            </a:pPr>
            <a:r>
              <a:rPr sz="1275" b="1">
                <a:solidFill>
                  <a:srgbClr val="0C1715"/>
                </a:solidFill>
                <a:latin typeface="Helvetica Neue"/>
                <a:ea typeface="Helvetica Neue"/>
                <a:cs typeface="Helvetica Neue"/>
              </a:rPr>
              <a:t>The finding is one piece of evidence about control performance; it does not replace the control.</a:t>
            </a:r>
          </a:p>
        </p:txBody>
      </p:sp>
    </p:spTree>
    <p:extLst>
      <p:ext uri="{BB962C8B-B14F-4D97-AF65-F5344CB8AC3E}">
        <p14:creationId xmlns:p14="http://schemas.microsoft.com/office/powerpoint/2010/main" val="29936536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28">
            <a:extLst xmlns:a="http://schemas.openxmlformats.org/drawingml/2006/main">
              <a:ext uri="{FF2B5EF4-FFF2-40B4-BE49-F238E27FC236}">
                <a16:creationId xmlns:a16="http://schemas.microsoft.com/office/drawing/2014/main" id="{11316384-E69F-4D7E-A5D7-D1B3EB7D09CD}"/>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8">
            <a:extLst xmlns:a="http://schemas.openxmlformats.org/drawingml/2006/main">
              <a:ext uri="{FF2B5EF4-FFF2-40B4-BE49-F238E27FC236}">
                <a16:creationId xmlns:a16="http://schemas.microsoft.com/office/drawing/2014/main" id="{95AEDB97-4566-42D0-8E4C-1BAED3091CDD}"/>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Evidence lifecycle in GRC</a:t>
            </a:r>
          </a:p>
        </p:txBody>
      </p:sp>
      <p:sp>
        <p:nvSpPr>
          <p:cNvPr id="3" name="title-rule-28">
            <a:extLst xmlns:a="http://schemas.openxmlformats.org/drawingml/2006/main">
              <a:ext uri="{FF2B5EF4-FFF2-40B4-BE49-F238E27FC236}">
                <a16:creationId xmlns:a16="http://schemas.microsoft.com/office/drawing/2014/main" id="{0B3DB58F-53DE-49D6-94FB-B7C194C9A87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eb6befac5274807"/>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8">
            <a:extLst xmlns:a="http://schemas.openxmlformats.org/drawingml/2006/main">
              <a:ext uri="{FF2B5EF4-FFF2-40B4-BE49-F238E27FC236}">
                <a16:creationId xmlns:a16="http://schemas.microsoft.com/office/drawing/2014/main" id="{853CDC24-C53D-4BCE-B12F-773F259BA77F}"/>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8">
            <a:extLst xmlns:a="http://schemas.openxmlformats.org/drawingml/2006/main">
              <a:ext uri="{FF2B5EF4-FFF2-40B4-BE49-F238E27FC236}">
                <a16:creationId xmlns:a16="http://schemas.microsoft.com/office/drawing/2014/main" id="{57F67E5B-8A7D-4506-98FE-D17DE7D9DC1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8">
            <a:extLst xmlns:a="http://schemas.openxmlformats.org/drawingml/2006/main">
              <a:ext uri="{FF2B5EF4-FFF2-40B4-BE49-F238E27FC236}">
                <a16:creationId xmlns:a16="http://schemas.microsoft.com/office/drawing/2014/main" id="{A3BC5DEC-5433-457D-868F-0DAE52960227}"/>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28</a:t>
            </a:r>
          </a:p>
        </p:txBody>
      </p:sp>
      <p:sp>
        <p:nvSpPr>
          <p:cNvPr id="8" name="evidence-frame">
            <a:extLst xmlns:a="http://schemas.openxmlformats.org/drawingml/2006/main">
              <a:ext uri="{FF2B5EF4-FFF2-40B4-BE49-F238E27FC236}">
                <a16:creationId xmlns:a16="http://schemas.microsoft.com/office/drawing/2014/main" id="{C6D98817-D135-4946-BB90-42EAF36BFE07}"/>
              </a:ext>
            </a:extLst>
          </p:cNvPr>
          <p:cNvSpPr>
            <a:spLocks xmlns:a="http://schemas.openxmlformats.org/drawingml/2006/main" noGrp="1"/>
          </p:cNvSpPr>
          <p:nvPr/>
        </p:nvSpPr>
        <p:spPr>
          <a:xfrm xmlns:a="http://schemas.openxmlformats.org/drawingml/2006/main">
            <a:off x="533400" y="1752600"/>
            <a:ext cx="7429500" cy="4095750"/>
          </a:xfrm>
          <a:prstGeom xmlns:a="http://schemas.openxmlformats.org/drawingml/2006/main" prst="rect">
            <a:avLst/>
          </a:prstGeom>
          <a:solidFill xmlns:a="http://schemas.openxmlformats.org/drawingml/2006/main">
            <a:srgbClr val="F2F7F5"/>
          </a:solidFill>
          <a:ln xmlns:a="http://schemas.openxmlformats.org/drawingml/2006/main" w="9525">
            <a:solidFill>
              <a:srgbClr val="B9C9C5"/>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472fe432d6e485f"/>
          <a:stretch xmlns:a="http://schemas.openxmlformats.org/drawingml/2006/main"/>
        </p:blipFill>
        <p:spPr>
          <a:xfrm xmlns:a="http://schemas.openxmlformats.org/drawingml/2006/main">
            <a:off x="878417" y="1905000"/>
            <a:ext cx="6739467" cy="3790950"/>
          </a:xfrm>
          <a:prstGeom xmlns:a="http://schemas.openxmlformats.org/drawingml/2006/main" prst="roundRect">
            <a:avLst>
              <a:gd name="adj" fmla="val 1005"/>
            </a:avLst>
          </a:prstGeom>
        </p:spPr>
      </p:pic>
      <p:sp>
        <p:nvSpPr>
          <p:cNvPr id="10" name="evidence-title">
            <a:extLst xmlns:a="http://schemas.openxmlformats.org/drawingml/2006/main">
              <a:ext uri="{FF2B5EF4-FFF2-40B4-BE49-F238E27FC236}">
                <a16:creationId xmlns:a16="http://schemas.microsoft.com/office/drawing/2014/main" id="{F68D688F-EAD3-4CEE-976F-4E3322123A0B}"/>
              </a:ext>
            </a:extLst>
          </p:cNvPr>
          <p:cNvSpPr>
            <a:spLocks xmlns:a="http://schemas.openxmlformats.org/drawingml/2006/main" noGrp="1"/>
          </p:cNvSpPr>
          <p:nvPr/>
        </p:nvSpPr>
        <p:spPr>
          <a:xfrm xmlns:a="http://schemas.openxmlformats.org/drawingml/2006/main">
            <a:off x="8382000" y="18859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From collection to closure</a:t>
            </a:r>
          </a:p>
        </p:txBody>
      </p:sp>
      <p:sp>
        <p:nvSpPr>
          <p:cNvPr id="11" name="evidence-list">
            <a:extLst xmlns:a="http://schemas.openxmlformats.org/drawingml/2006/main">
              <a:ext uri="{FF2B5EF4-FFF2-40B4-BE49-F238E27FC236}">
                <a16:creationId xmlns:a16="http://schemas.microsoft.com/office/drawing/2014/main" id="{6540AEE5-EFFE-47FE-A46D-0A4C7BBC6759}"/>
              </a:ext>
            </a:extLst>
          </p:cNvPr>
          <p:cNvSpPr>
            <a:spLocks xmlns:a="http://schemas.openxmlformats.org/drawingml/2006/main" noGrp="1"/>
          </p:cNvSpPr>
          <p:nvPr/>
        </p:nvSpPr>
        <p:spPr>
          <a:xfrm xmlns:a="http://schemas.openxmlformats.org/drawingml/2006/main">
            <a:off x="8305800" y="2628900"/>
            <a:ext cx="30480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Collect the original scanner payload and asset context</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Preserve source, timestamp, checksum, and lineage</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Review evidence quality and map it to the control</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Attach remediation, rescan, or cleanup proof</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Retain the complete history for audit and future testing</a:t>
            </a:r>
          </a:p>
        </p:txBody>
      </p:sp>
    </p:spTree>
    <p:extLst>
      <p:ext uri="{BB962C8B-B14F-4D97-AF65-F5344CB8AC3E}">
        <p14:creationId xmlns:p14="http://schemas.microsoft.com/office/powerpoint/2010/main" val="10672305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29">
            <a:extLst xmlns:a="http://schemas.openxmlformats.org/drawingml/2006/main">
              <a:ext uri="{FF2B5EF4-FFF2-40B4-BE49-F238E27FC236}">
                <a16:creationId xmlns:a16="http://schemas.microsoft.com/office/drawing/2014/main" id="{B1D0EDEF-585B-45B1-8431-1634ACBAFB7D}"/>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9">
            <a:extLst xmlns:a="http://schemas.openxmlformats.org/drawingml/2006/main">
              <a:ext uri="{FF2B5EF4-FFF2-40B4-BE49-F238E27FC236}">
                <a16:creationId xmlns:a16="http://schemas.microsoft.com/office/drawing/2014/main" id="{C1A11FA4-B210-4E14-97B9-176E73F90A5C}"/>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Risk, remediation, and approval</a:t>
            </a:r>
          </a:p>
        </p:txBody>
      </p:sp>
      <p:sp>
        <p:nvSpPr>
          <p:cNvPr id="3" name="title-rule-29">
            <a:extLst xmlns:a="http://schemas.openxmlformats.org/drawingml/2006/main">
              <a:ext uri="{FF2B5EF4-FFF2-40B4-BE49-F238E27FC236}">
                <a16:creationId xmlns:a16="http://schemas.microsoft.com/office/drawing/2014/main" id="{615EADAD-714F-4176-88B9-64035BD97E3C}"/>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800f00f52f448ec"/>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9">
            <a:extLst xmlns:a="http://schemas.openxmlformats.org/drawingml/2006/main">
              <a:ext uri="{FF2B5EF4-FFF2-40B4-BE49-F238E27FC236}">
                <a16:creationId xmlns:a16="http://schemas.microsoft.com/office/drawing/2014/main" id="{214321B8-C02B-4A0C-B05C-77CCAB4E7CB0}"/>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9">
            <a:extLst xmlns:a="http://schemas.openxmlformats.org/drawingml/2006/main">
              <a:ext uri="{FF2B5EF4-FFF2-40B4-BE49-F238E27FC236}">
                <a16:creationId xmlns:a16="http://schemas.microsoft.com/office/drawing/2014/main" id="{17CA84E4-32AB-4839-AB83-F2586F78ECF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9">
            <a:extLst xmlns:a="http://schemas.openxmlformats.org/drawingml/2006/main">
              <a:ext uri="{FF2B5EF4-FFF2-40B4-BE49-F238E27FC236}">
                <a16:creationId xmlns:a16="http://schemas.microsoft.com/office/drawing/2014/main" id="{7E2D54FC-9303-40B8-A131-0F44FEAF3D98}"/>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29</a:t>
            </a:r>
          </a:p>
        </p:txBody>
      </p:sp>
      <p:sp>
        <p:nvSpPr>
          <p:cNvPr id="8" name="reason-frame">
            <a:extLst xmlns:a="http://schemas.openxmlformats.org/drawingml/2006/main">
              <a:ext uri="{FF2B5EF4-FFF2-40B4-BE49-F238E27FC236}">
                <a16:creationId xmlns:a16="http://schemas.microsoft.com/office/drawing/2014/main" id="{58C8D486-23A2-4426-8F5C-01AE0FE1A9B7}"/>
              </a:ext>
            </a:extLst>
          </p:cNvPr>
          <p:cNvSpPr>
            <a:spLocks xmlns:a="http://schemas.openxmlformats.org/drawingml/2006/main" noGrp="1"/>
          </p:cNvSpPr>
          <p:nvPr/>
        </p:nvSpPr>
        <p:spPr>
          <a:xfrm xmlns:a="http://schemas.openxmlformats.org/drawingml/2006/main">
            <a:off x="533400" y="1752600"/>
            <a:ext cx="7239000" cy="4095750"/>
          </a:xfrm>
          <a:prstGeom xmlns:a="http://schemas.openxmlformats.org/drawingml/2006/main" prst="rect">
            <a:avLst/>
          </a:prstGeom>
          <a:solidFill xmlns:a="http://schemas.openxmlformats.org/drawingml/2006/main">
            <a:srgbClr val="0B1D19"/>
          </a:solidFill>
          <a:ln xmlns:a="http://schemas.openxmlformats.org/drawingml/2006/main" w="0">
            <a:solidFill>
              <a:srgbClr val="0B1D19"/>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eeab4a1c38f4e3e"/>
          <a:srcRect xmlns:a="http://schemas.openxmlformats.org/drawingml/2006/main" l="0" t="1404" r="0" b="1404"/>
          <a:stretch xmlns:a="http://schemas.openxmlformats.org/drawingml/2006/main">
            <a:fillRect l="0" t="0" r="0" b="0"/>
          </a:stretch>
        </p:blipFill>
        <p:spPr>
          <a:xfrm xmlns:a="http://schemas.openxmlformats.org/drawingml/2006/main">
            <a:off x="685800" y="1905000"/>
            <a:ext cx="6934200" cy="3790950"/>
          </a:xfrm>
          <a:prstGeom xmlns:a="http://schemas.openxmlformats.org/drawingml/2006/main" prst="roundRect">
            <a:avLst>
              <a:gd name="adj" fmla="val 1508"/>
            </a:avLst>
          </a:prstGeom>
        </p:spPr>
      </p:pic>
      <p:sp>
        <p:nvSpPr>
          <p:cNvPr id="10" name="reason-num-0">
            <a:extLst xmlns:a="http://schemas.openxmlformats.org/drawingml/2006/main">
              <a:ext uri="{FF2B5EF4-FFF2-40B4-BE49-F238E27FC236}">
                <a16:creationId xmlns:a16="http://schemas.microsoft.com/office/drawing/2014/main" id="{B6D4B093-86D1-406F-BF67-2C42DC79A7D6}"/>
              </a:ext>
            </a:extLst>
          </p:cNvPr>
          <p:cNvSpPr>
            <a:spLocks xmlns:a="http://schemas.openxmlformats.org/drawingml/2006/main" noGrp="1"/>
          </p:cNvSpPr>
          <p:nvPr/>
        </p:nvSpPr>
        <p:spPr>
          <a:xfrm xmlns:a="http://schemas.openxmlformats.org/drawingml/2006/main">
            <a:off x="8115300" y="18859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1</a:t>
            </a:r>
          </a:p>
        </p:txBody>
      </p:sp>
      <p:sp>
        <p:nvSpPr>
          <p:cNvPr id="11" name="reason-title-0">
            <a:extLst xmlns:a="http://schemas.openxmlformats.org/drawingml/2006/main">
              <a:ext uri="{FF2B5EF4-FFF2-40B4-BE49-F238E27FC236}">
                <a16:creationId xmlns:a16="http://schemas.microsoft.com/office/drawing/2014/main" id="{B693A30E-33A3-43BE-91B3-51C5C13EBED8}"/>
              </a:ext>
            </a:extLst>
          </p:cNvPr>
          <p:cNvSpPr>
            <a:spLocks xmlns:a="http://schemas.openxmlformats.org/drawingml/2006/main" noGrp="1"/>
          </p:cNvSpPr>
          <p:nvPr/>
        </p:nvSpPr>
        <p:spPr>
          <a:xfrm xmlns:a="http://schemas.openxmlformats.org/drawingml/2006/main">
            <a:off x="8591550" y="1847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Assess</a:t>
            </a:r>
          </a:p>
        </p:txBody>
      </p:sp>
      <p:sp>
        <p:nvSpPr>
          <p:cNvPr id="12" name="reason-body-0">
            <a:extLst xmlns:a="http://schemas.openxmlformats.org/drawingml/2006/main">
              <a:ext uri="{FF2B5EF4-FFF2-40B4-BE49-F238E27FC236}">
                <a16:creationId xmlns:a16="http://schemas.microsoft.com/office/drawing/2014/main" id="{DC1A4EF3-15EA-4083-AA22-65F9A5276508}"/>
              </a:ext>
            </a:extLst>
          </p:cNvPr>
          <p:cNvSpPr>
            <a:spLocks xmlns:a="http://schemas.openxmlformats.org/drawingml/2006/main" noGrp="1"/>
          </p:cNvSpPr>
          <p:nvPr/>
        </p:nvSpPr>
        <p:spPr>
          <a:xfrm xmlns:a="http://schemas.openxmlformats.org/drawingml/2006/main">
            <a:off x="8591550" y="21145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Combine severity with exposure, identity, and business criticality</a:t>
            </a:r>
          </a:p>
        </p:txBody>
      </p:sp>
      <p:sp>
        <p:nvSpPr>
          <p:cNvPr id="13" name="reason-num-1">
            <a:extLst xmlns:a="http://schemas.openxmlformats.org/drawingml/2006/main">
              <a:ext uri="{FF2B5EF4-FFF2-40B4-BE49-F238E27FC236}">
                <a16:creationId xmlns:a16="http://schemas.microsoft.com/office/drawing/2014/main" id="{C3BAADAB-DC3A-4937-91FA-6FD15D73A6CB}"/>
              </a:ext>
            </a:extLst>
          </p:cNvPr>
          <p:cNvSpPr>
            <a:spLocks xmlns:a="http://schemas.openxmlformats.org/drawingml/2006/main" noGrp="1"/>
          </p:cNvSpPr>
          <p:nvPr/>
        </p:nvSpPr>
        <p:spPr>
          <a:xfrm xmlns:a="http://schemas.openxmlformats.org/drawingml/2006/main">
            <a:off x="8115300" y="25717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2</a:t>
            </a:r>
          </a:p>
        </p:txBody>
      </p:sp>
      <p:sp>
        <p:nvSpPr>
          <p:cNvPr id="14" name="reason-title-1">
            <a:extLst xmlns:a="http://schemas.openxmlformats.org/drawingml/2006/main">
              <a:ext uri="{FF2B5EF4-FFF2-40B4-BE49-F238E27FC236}">
                <a16:creationId xmlns:a16="http://schemas.microsoft.com/office/drawing/2014/main" id="{7963582A-C4A4-4508-AF19-05B793BB2FE8}"/>
              </a:ext>
            </a:extLst>
          </p:cNvPr>
          <p:cNvSpPr>
            <a:spLocks xmlns:a="http://schemas.openxmlformats.org/drawingml/2006/main" noGrp="1"/>
          </p:cNvSpPr>
          <p:nvPr/>
        </p:nvSpPr>
        <p:spPr>
          <a:xfrm xmlns:a="http://schemas.openxmlformats.org/drawingml/2006/main">
            <a:off x="8591550" y="25336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Assign</a:t>
            </a:r>
          </a:p>
        </p:txBody>
      </p:sp>
      <p:sp>
        <p:nvSpPr>
          <p:cNvPr id="15" name="reason-body-1">
            <a:extLst xmlns:a="http://schemas.openxmlformats.org/drawingml/2006/main">
              <a:ext uri="{FF2B5EF4-FFF2-40B4-BE49-F238E27FC236}">
                <a16:creationId xmlns:a16="http://schemas.microsoft.com/office/drawing/2014/main" id="{43220C42-4ADC-4E42-8DB1-D9BB3BB0812C}"/>
              </a:ext>
            </a:extLst>
          </p:cNvPr>
          <p:cNvSpPr>
            <a:spLocks xmlns:a="http://schemas.openxmlformats.org/drawingml/2006/main" noGrp="1"/>
          </p:cNvSpPr>
          <p:nvPr/>
        </p:nvSpPr>
        <p:spPr>
          <a:xfrm xmlns:a="http://schemas.openxmlformats.org/drawingml/2006/main">
            <a:off x="8591550" y="28003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Choose the accountable owner and target date</a:t>
            </a:r>
          </a:p>
        </p:txBody>
      </p:sp>
      <p:sp>
        <p:nvSpPr>
          <p:cNvPr id="16" name="reason-num-2">
            <a:extLst xmlns:a="http://schemas.openxmlformats.org/drawingml/2006/main">
              <a:ext uri="{FF2B5EF4-FFF2-40B4-BE49-F238E27FC236}">
                <a16:creationId xmlns:a16="http://schemas.microsoft.com/office/drawing/2014/main" id="{7EA1AED7-896D-4256-A00D-6710FB37D071}"/>
              </a:ext>
            </a:extLst>
          </p:cNvPr>
          <p:cNvSpPr>
            <a:spLocks xmlns:a="http://schemas.openxmlformats.org/drawingml/2006/main" noGrp="1"/>
          </p:cNvSpPr>
          <p:nvPr/>
        </p:nvSpPr>
        <p:spPr>
          <a:xfrm xmlns:a="http://schemas.openxmlformats.org/drawingml/2006/main">
            <a:off x="8115300" y="32575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3</a:t>
            </a:r>
          </a:p>
        </p:txBody>
      </p:sp>
      <p:sp>
        <p:nvSpPr>
          <p:cNvPr id="17" name="reason-title-2">
            <a:extLst xmlns:a="http://schemas.openxmlformats.org/drawingml/2006/main">
              <a:ext uri="{FF2B5EF4-FFF2-40B4-BE49-F238E27FC236}">
                <a16:creationId xmlns:a16="http://schemas.microsoft.com/office/drawing/2014/main" id="{602E43C5-4EF1-4D40-979C-2CD25621F104}"/>
              </a:ext>
            </a:extLst>
          </p:cNvPr>
          <p:cNvSpPr>
            <a:spLocks xmlns:a="http://schemas.openxmlformats.org/drawingml/2006/main" noGrp="1"/>
          </p:cNvSpPr>
          <p:nvPr/>
        </p:nvSpPr>
        <p:spPr>
          <a:xfrm xmlns:a="http://schemas.openxmlformats.org/drawingml/2006/main">
            <a:off x="8591550" y="3219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Plan</a:t>
            </a:r>
          </a:p>
        </p:txBody>
      </p:sp>
      <p:sp>
        <p:nvSpPr>
          <p:cNvPr id="18" name="reason-body-2">
            <a:extLst xmlns:a="http://schemas.openxmlformats.org/drawingml/2006/main">
              <a:ext uri="{FF2B5EF4-FFF2-40B4-BE49-F238E27FC236}">
                <a16:creationId xmlns:a16="http://schemas.microsoft.com/office/drawing/2014/main" id="{AE61E1C5-7733-45B2-B553-16B7E244B75B}"/>
              </a:ext>
            </a:extLst>
          </p:cNvPr>
          <p:cNvSpPr>
            <a:spLocks xmlns:a="http://schemas.openxmlformats.org/drawingml/2006/main" noGrp="1"/>
          </p:cNvSpPr>
          <p:nvPr/>
        </p:nvSpPr>
        <p:spPr>
          <a:xfrm xmlns:a="http://schemas.openxmlformats.org/drawingml/2006/main">
            <a:off x="8591550" y="3486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Document remediation, rollback, and validation</a:t>
            </a:r>
          </a:p>
        </p:txBody>
      </p:sp>
      <p:sp>
        <p:nvSpPr>
          <p:cNvPr id="19" name="reason-num-3">
            <a:extLst xmlns:a="http://schemas.openxmlformats.org/drawingml/2006/main">
              <a:ext uri="{FF2B5EF4-FFF2-40B4-BE49-F238E27FC236}">
                <a16:creationId xmlns:a16="http://schemas.microsoft.com/office/drawing/2014/main" id="{0D9E6623-B919-4268-B25D-330376D113C5}"/>
              </a:ext>
            </a:extLst>
          </p:cNvPr>
          <p:cNvSpPr>
            <a:spLocks xmlns:a="http://schemas.openxmlformats.org/drawingml/2006/main" noGrp="1"/>
          </p:cNvSpPr>
          <p:nvPr/>
        </p:nvSpPr>
        <p:spPr>
          <a:xfrm xmlns:a="http://schemas.openxmlformats.org/drawingml/2006/main">
            <a:off x="8115300" y="39433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4</a:t>
            </a:r>
          </a:p>
        </p:txBody>
      </p:sp>
      <p:sp>
        <p:nvSpPr>
          <p:cNvPr id="20" name="reason-title-3">
            <a:extLst xmlns:a="http://schemas.openxmlformats.org/drawingml/2006/main">
              <a:ext uri="{FF2B5EF4-FFF2-40B4-BE49-F238E27FC236}">
                <a16:creationId xmlns:a16="http://schemas.microsoft.com/office/drawing/2014/main" id="{A204D1B4-B7B7-4449-B747-0879114E3E76}"/>
              </a:ext>
            </a:extLst>
          </p:cNvPr>
          <p:cNvSpPr>
            <a:spLocks xmlns:a="http://schemas.openxmlformats.org/drawingml/2006/main" noGrp="1"/>
          </p:cNvSpPr>
          <p:nvPr/>
        </p:nvSpPr>
        <p:spPr>
          <a:xfrm xmlns:a="http://schemas.openxmlformats.org/drawingml/2006/main">
            <a:off x="8591550" y="3905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Approve</a:t>
            </a:r>
          </a:p>
        </p:txBody>
      </p:sp>
      <p:sp>
        <p:nvSpPr>
          <p:cNvPr id="21" name="reason-body-3">
            <a:extLst xmlns:a="http://schemas.openxmlformats.org/drawingml/2006/main">
              <a:ext uri="{FF2B5EF4-FFF2-40B4-BE49-F238E27FC236}">
                <a16:creationId xmlns:a16="http://schemas.microsoft.com/office/drawing/2014/main" id="{7B89FB16-2543-4109-8051-D69A889BCC58}"/>
              </a:ext>
            </a:extLst>
          </p:cNvPr>
          <p:cNvSpPr>
            <a:spLocks xmlns:a="http://schemas.openxmlformats.org/drawingml/2006/main" noGrp="1"/>
          </p:cNvSpPr>
          <p:nvPr/>
        </p:nvSpPr>
        <p:spPr>
          <a:xfrm xmlns:a="http://schemas.openxmlformats.org/drawingml/2006/main">
            <a:off x="859155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A human authorizes the production-impacting change</a:t>
            </a:r>
          </a:p>
        </p:txBody>
      </p:sp>
      <p:sp>
        <p:nvSpPr>
          <p:cNvPr id="22" name="reason-num-4">
            <a:extLst xmlns:a="http://schemas.openxmlformats.org/drawingml/2006/main">
              <a:ext uri="{FF2B5EF4-FFF2-40B4-BE49-F238E27FC236}">
                <a16:creationId xmlns:a16="http://schemas.microsoft.com/office/drawing/2014/main" id="{F74287D7-D7DA-4E30-B239-118FF3C37EE0}"/>
              </a:ext>
            </a:extLst>
          </p:cNvPr>
          <p:cNvSpPr>
            <a:spLocks xmlns:a="http://schemas.openxmlformats.org/drawingml/2006/main" noGrp="1"/>
          </p:cNvSpPr>
          <p:nvPr/>
        </p:nvSpPr>
        <p:spPr>
          <a:xfrm xmlns:a="http://schemas.openxmlformats.org/drawingml/2006/main">
            <a:off x="8115300" y="46291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5</a:t>
            </a:r>
          </a:p>
        </p:txBody>
      </p:sp>
      <p:sp>
        <p:nvSpPr>
          <p:cNvPr id="23" name="reason-title-4">
            <a:extLst xmlns:a="http://schemas.openxmlformats.org/drawingml/2006/main">
              <a:ext uri="{FF2B5EF4-FFF2-40B4-BE49-F238E27FC236}">
                <a16:creationId xmlns:a16="http://schemas.microsoft.com/office/drawing/2014/main" id="{15EB254D-B9BD-4184-AAA0-881FCA5D6821}"/>
              </a:ext>
            </a:extLst>
          </p:cNvPr>
          <p:cNvSpPr>
            <a:spLocks xmlns:a="http://schemas.openxmlformats.org/drawingml/2006/main" noGrp="1"/>
          </p:cNvSpPr>
          <p:nvPr/>
        </p:nvSpPr>
        <p:spPr>
          <a:xfrm xmlns:a="http://schemas.openxmlformats.org/drawingml/2006/main">
            <a:off x="8591550" y="4591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Verify</a:t>
            </a:r>
          </a:p>
        </p:txBody>
      </p:sp>
      <p:sp>
        <p:nvSpPr>
          <p:cNvPr id="24" name="reason-body-4">
            <a:extLst xmlns:a="http://schemas.openxmlformats.org/drawingml/2006/main">
              <a:ext uri="{FF2B5EF4-FFF2-40B4-BE49-F238E27FC236}">
                <a16:creationId xmlns:a16="http://schemas.microsoft.com/office/drawing/2014/main" id="{72D0C9C8-8D7C-4DE4-924D-C9471F26DB23}"/>
              </a:ext>
            </a:extLst>
          </p:cNvPr>
          <p:cNvSpPr>
            <a:spLocks xmlns:a="http://schemas.openxmlformats.org/drawingml/2006/main" noGrp="1"/>
          </p:cNvSpPr>
          <p:nvPr/>
        </p:nvSpPr>
        <p:spPr>
          <a:xfrm xmlns:a="http://schemas.openxmlformats.org/drawingml/2006/main">
            <a:off x="8591550" y="4857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A rescan or validation record proves closure</a:t>
            </a:r>
          </a:p>
        </p:txBody>
      </p:sp>
    </p:spTree>
    <p:extLst>
      <p:ext uri="{BB962C8B-B14F-4D97-AF65-F5344CB8AC3E}">
        <p14:creationId xmlns:p14="http://schemas.microsoft.com/office/powerpoint/2010/main" val="1873762799"/>
      </p:ext>
    </p:extLst>
  </p:cSld>
</p:sld>
</file>

<file path=ppt/slides/slide30.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c6faab749ee4cd6"/>
          <a:stretch xmlns:a="http://schemas.openxmlformats.org/drawingml/2006/main"/>
        </p:blipFill>
        <p:spPr>
          <a:xfrm xmlns:a="http://schemas.openxmlformats.org/drawingml/2006/main">
            <a:off x="10287000" y="590550"/>
            <a:ext cx="1047750" cy="1047750"/>
          </a:xfrm>
          <a:prstGeom xmlns:a="http://schemas.openxmlformats.org/drawingml/2006/main" prst="rect">
            <a:avLst/>
          </a:prstGeom>
        </p:spPr>
      </p:pic>
      <p:sp>
        <p:nvSpPr>
          <p:cNvPr id="2" name="close-brand">
            <a:extLst xmlns:a="http://schemas.openxmlformats.org/drawingml/2006/main">
              <a:ext uri="{FF2B5EF4-FFF2-40B4-BE49-F238E27FC236}">
                <a16:creationId xmlns:a16="http://schemas.microsoft.com/office/drawing/2014/main" id="{6496D44F-7CBF-46E1-A9CB-079C9C9EAFCF}"/>
              </a:ext>
            </a:extLst>
          </p:cNvPr>
          <p:cNvSpPr>
            <a:spLocks xmlns:a="http://schemas.openxmlformats.org/drawingml/2006/main" noGrp="1"/>
          </p:cNvSpPr>
          <p:nvPr/>
        </p:nvSpPr>
        <p:spPr>
          <a:xfrm xmlns:a="http://schemas.openxmlformats.org/drawingml/2006/main">
            <a:off x="9353550" y="175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DeepTrustxAI</a:t>
            </a:r>
          </a:p>
        </p:txBody>
      </p:sp>
      <p:sp>
        <p:nvSpPr>
          <p:cNvPr id="3" name="close-title">
            <a:extLst xmlns:a="http://schemas.openxmlformats.org/drawingml/2006/main">
              <a:ext uri="{FF2B5EF4-FFF2-40B4-BE49-F238E27FC236}">
                <a16:creationId xmlns:a16="http://schemas.microsoft.com/office/drawing/2014/main" id="{63D70A34-3DF3-4F06-AAAB-8A940C451BBF}"/>
              </a:ext>
            </a:extLst>
          </p:cNvPr>
          <p:cNvSpPr>
            <a:spLocks xmlns:a="http://schemas.openxmlformats.org/drawingml/2006/main" noGrp="1"/>
          </p:cNvSpPr>
          <p:nvPr/>
        </p:nvSpPr>
        <p:spPr>
          <a:xfrm xmlns:a="http://schemas.openxmlformats.org/drawingml/2006/main">
            <a:off x="609600" y="7620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Audit-ready</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closure</a:t>
            </a:r>
          </a:p>
        </p:txBody>
      </p:sp>
      <p:sp>
        <p:nvSpPr>
          <p:cNvPr id="4" name="close-sub">
            <a:extLst xmlns:a="http://schemas.openxmlformats.org/drawingml/2006/main">
              <a:ext uri="{FF2B5EF4-FFF2-40B4-BE49-F238E27FC236}">
                <a16:creationId xmlns:a16="http://schemas.microsoft.com/office/drawing/2014/main" id="{B02908B2-8CBE-4F61-A970-CBC3542A66B6}"/>
              </a:ext>
            </a:extLst>
          </p:cNvPr>
          <p:cNvSpPr>
            <a:spLocks xmlns:a="http://schemas.openxmlformats.org/drawingml/2006/main" noGrp="1"/>
          </p:cNvSpPr>
          <p:nvPr/>
        </p:nvSpPr>
        <p:spPr>
          <a:xfrm xmlns:a="http://schemas.openxmlformats.org/drawingml/2006/main">
            <a:off x="628650" y="2514600"/>
            <a:ext cx="752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7CBC5"/>
                </a:solidFill>
                <a:latin typeface="Helvetica Neue"/>
                <a:ea typeface="Helvetica Neue"/>
                <a:cs typeface="Helvetica Neue"/>
              </a:defRPr>
            </a:pPr>
            <a:r>
              <a:rPr sz="1800" b="0">
                <a:solidFill>
                  <a:srgbClr val="B7CBC5"/>
                </a:solidFill>
                <a:latin typeface="Helvetica Neue"/>
                <a:ea typeface="Helvetica Neue"/>
                <a:cs typeface="Helvetica Neue"/>
              </a:rPr>
              <a:t>A closed issue keeps the technical proof and the governance decision together.</a:t>
            </a:r>
          </a:p>
        </p:txBody>
      </p:sp>
      <p:sp>
        <p:nvSpPr>
          <p:cNvPr id="5" name="close-list">
            <a:extLst xmlns:a="http://schemas.openxmlformats.org/drawingml/2006/main">
              <a:ext uri="{FF2B5EF4-FFF2-40B4-BE49-F238E27FC236}">
                <a16:creationId xmlns:a16="http://schemas.microsoft.com/office/drawing/2014/main" id="{8F37B0D4-DAA1-4975-B6FD-0911993269CD}"/>
              </a:ext>
            </a:extLst>
          </p:cNvPr>
          <p:cNvSpPr>
            <a:spLocks xmlns:a="http://schemas.openxmlformats.org/drawingml/2006/main" noGrp="1"/>
          </p:cNvSpPr>
          <p:nvPr/>
        </p:nvSpPr>
        <p:spPr>
          <a:xfrm xmlns:a="http://schemas.openxmlformats.org/drawingml/2006/main">
            <a:off x="552450" y="3257550"/>
            <a:ext cx="771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The finding identifies the exact asset and unsafe condition</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The control mapping explains the expected security outcome</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The risk record captures business impact and treatment decision</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The owner and approval history show accountability</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A rescan, code change, or cleanup event proves the final state</a:t>
            </a:r>
          </a:p>
        </p:txBody>
      </p:sp>
      <p:sp>
        <p:nvSpPr>
          <p:cNvPr id="6" name="close-quote-bg">
            <a:extLst xmlns:a="http://schemas.openxmlformats.org/drawingml/2006/main">
              <a:ext uri="{FF2B5EF4-FFF2-40B4-BE49-F238E27FC236}">
                <a16:creationId xmlns:a16="http://schemas.microsoft.com/office/drawing/2014/main" id="{0FB78C13-ADD5-48EC-A32D-40D5166B0D87}"/>
              </a:ext>
            </a:extLst>
          </p:cNvPr>
          <p:cNvSpPr>
            <a:spLocks xmlns:a="http://schemas.openxmlformats.org/drawingml/2006/main" noGrp="1"/>
          </p:cNvSpPr>
          <p:nvPr/>
        </p:nvSpPr>
        <p:spPr>
          <a:xfrm xmlns:a="http://schemas.openxmlformats.org/drawingml/2006/main">
            <a:off x="8858250" y="3143250"/>
            <a:ext cx="2571750" cy="2381250"/>
          </a:xfrm>
          <a:prstGeom xmlns:a="http://schemas.openxmlformats.org/drawingml/2006/main" prst="rect">
            <a:avLst/>
          </a:prstGeom>
          <a:solidFill xmlns:a="http://schemas.openxmlformats.org/drawingml/2006/main">
            <a:srgbClr val="42D7B0"/>
          </a:solidFill>
          <a:ln xmlns:a="http://schemas.openxmlformats.org/drawingml/2006/main" w="0">
            <a:solidFill>
              <a:srgbClr val="42D7B0"/>
            </a:solidFill>
            <a:prstDash val="solid"/>
          </a:ln>
        </p:spPr>
      </p:sp>
      <p:sp>
        <p:nvSpPr>
          <p:cNvPr id="7" name="close-quote-label">
            <a:extLst xmlns:a="http://schemas.openxmlformats.org/drawingml/2006/main">
              <a:ext uri="{FF2B5EF4-FFF2-40B4-BE49-F238E27FC236}">
                <a16:creationId xmlns:a16="http://schemas.microsoft.com/office/drawing/2014/main" id="{40569083-0A81-4812-9DA8-C6A3B7BFA911}"/>
              </a:ext>
            </a:extLst>
          </p:cNvPr>
          <p:cNvSpPr>
            <a:spLocks xmlns:a="http://schemas.openxmlformats.org/drawingml/2006/main" noGrp="1"/>
          </p:cNvSpPr>
          <p:nvPr/>
        </p:nvSpPr>
        <p:spPr>
          <a:xfrm xmlns:a="http://schemas.openxmlformats.org/drawingml/2006/main">
            <a:off x="9144000" y="34290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0B1D19"/>
                </a:solidFill>
                <a:latin typeface="Helvetica Neue"/>
                <a:ea typeface="Helvetica Neue"/>
                <a:cs typeface="Helvetica Neue"/>
              </a:defRPr>
            </a:pPr>
            <a:r>
              <a:rPr sz="1050" b="1">
                <a:solidFill>
                  <a:srgbClr val="0B1D19"/>
                </a:solidFill>
                <a:latin typeface="Helvetica Neue"/>
                <a:ea typeface="Helvetica Neue"/>
                <a:cs typeface="Helvetica Neue"/>
              </a:rPr>
              <a:t>GRC RESULT</a:t>
            </a:r>
          </a:p>
        </p:txBody>
      </p:sp>
      <p:sp>
        <p:nvSpPr>
          <p:cNvPr id="8" name="close-quote">
            <a:extLst xmlns:a="http://schemas.openxmlformats.org/drawingml/2006/main">
              <a:ext uri="{FF2B5EF4-FFF2-40B4-BE49-F238E27FC236}">
                <a16:creationId xmlns:a16="http://schemas.microsoft.com/office/drawing/2014/main" id="{2755EB2C-0574-4DBE-BA00-3AB09C3B6750}"/>
              </a:ext>
            </a:extLst>
          </p:cNvPr>
          <p:cNvSpPr>
            <a:spLocks xmlns:a="http://schemas.openxmlformats.org/drawingml/2006/main" noGrp="1"/>
          </p:cNvSpPr>
          <p:nvPr/>
        </p:nvSpPr>
        <p:spPr>
          <a:xfrm xmlns:a="http://schemas.openxmlformats.org/drawingml/2006/main">
            <a:off x="9144000" y="3943350"/>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B1D19"/>
                </a:solidFill>
                <a:latin typeface="Helvetica Neue"/>
                <a:ea typeface="Helvetica Neue"/>
                <a:cs typeface="Helvetica Neue"/>
              </a:defRPr>
            </a:pPr>
            <a:r>
              <a:rPr sz="1800" b="1">
                <a:solidFill>
                  <a:srgbClr val="0B1D19"/>
                </a:solidFill>
                <a:latin typeface="Helvetica Neue"/>
                <a:ea typeface="Helvetica Neue"/>
                <a:cs typeface="Helvetica Neue"/>
              </a:rPr>
              <a:t>Evidence,</a:t>
            </a:r>
          </a:p>
          <a:p xmlns:a="http://schemas.openxmlformats.org/drawingml/2006/main">
            <a:pPr algn="l">
              <a:defRPr sz="1800" b="1">
                <a:solidFill>
                  <a:srgbClr val="0B1D19"/>
                </a:solidFill>
                <a:latin typeface="Helvetica Neue"/>
                <a:ea typeface="Helvetica Neue"/>
                <a:cs typeface="Helvetica Neue"/>
              </a:defRPr>
            </a:pPr>
            <a:r>
              <a:rPr sz="1800" b="1">
                <a:solidFill>
                  <a:srgbClr val="0B1D19"/>
                </a:solidFill>
                <a:latin typeface="Helvetica Neue"/>
                <a:ea typeface="Helvetica Neue"/>
                <a:cs typeface="Helvetica Neue"/>
              </a:rPr>
              <a:t>ownership,</a:t>
            </a:r>
          </a:p>
          <a:p xmlns:a="http://schemas.openxmlformats.org/drawingml/2006/main">
            <a:pPr algn="l">
              <a:defRPr sz="1800" b="1">
                <a:solidFill>
                  <a:srgbClr val="0B1D19"/>
                </a:solidFill>
                <a:latin typeface="Helvetica Neue"/>
                <a:ea typeface="Helvetica Neue"/>
                <a:cs typeface="Helvetica Neue"/>
              </a:defRPr>
            </a:pPr>
            <a:r>
              <a:rPr sz="1800" b="1">
                <a:solidFill>
                  <a:srgbClr val="0B1D19"/>
                </a:solidFill>
                <a:latin typeface="Helvetica Neue"/>
                <a:ea typeface="Helvetica Neue"/>
                <a:cs typeface="Helvetica Neue"/>
              </a:rPr>
              <a:t>decision history,</a:t>
            </a:r>
          </a:p>
          <a:p xmlns:a="http://schemas.openxmlformats.org/drawingml/2006/main">
            <a:pPr algn="l">
              <a:defRPr sz="1800" b="1">
                <a:solidFill>
                  <a:srgbClr val="0B1D19"/>
                </a:solidFill>
                <a:latin typeface="Helvetica Neue"/>
                <a:ea typeface="Helvetica Neue"/>
                <a:cs typeface="Helvetica Neue"/>
              </a:defRPr>
            </a:pPr>
            <a:r>
              <a:rPr sz="1800" b="1">
                <a:solidFill>
                  <a:srgbClr val="0B1D19"/>
                </a:solidFill>
                <a:latin typeface="Helvetica Neue"/>
                <a:ea typeface="Helvetica Neue"/>
                <a:cs typeface="Helvetica Neue"/>
              </a:rPr>
              <a:t>and verified closure</a:t>
            </a:r>
          </a:p>
        </p:txBody>
      </p:sp>
      <p:sp>
        <p:nvSpPr>
          <p:cNvPr id="9" name="close-footer">
            <a:extLst xmlns:a="http://schemas.openxmlformats.org/drawingml/2006/main">
              <a:ext uri="{FF2B5EF4-FFF2-40B4-BE49-F238E27FC236}">
                <a16:creationId xmlns:a16="http://schemas.microsoft.com/office/drawing/2014/main" id="{49669925-5D2F-4566-9A8C-3F0E5A96A85F}"/>
              </a:ext>
            </a:extLst>
          </p:cNvPr>
          <p:cNvSpPr>
            <a:spLocks xmlns:a="http://schemas.openxmlformats.org/drawingml/2006/main" noGrp="1"/>
          </p:cNvSpPr>
          <p:nvPr/>
        </p:nvSpPr>
        <p:spPr>
          <a:xfrm xmlns:a="http://schemas.openxmlformats.org/drawingml/2006/main">
            <a:off x="609600" y="62103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42D7B0"/>
                </a:solidFill>
                <a:latin typeface="Helvetica Neue"/>
                <a:ea typeface="Helvetica Neue"/>
                <a:cs typeface="Helvetica Neue"/>
              </a:defRPr>
            </a:pPr>
            <a:r>
              <a:rPr sz="1200" b="1">
                <a:solidFill>
                  <a:srgbClr val="42D7B0"/>
                </a:solidFill>
                <a:latin typeface="Helvetica Neue"/>
                <a:ea typeface="Helvetica Neue"/>
                <a:cs typeface="Helvetica Neue"/>
              </a:rPr>
              <a:t>Questions and discussion</a:t>
            </a:r>
          </a:p>
        </p:txBody>
      </p:sp>
    </p:spTree>
    <p:extLst>
      <p:ext uri="{BB962C8B-B14F-4D97-AF65-F5344CB8AC3E}">
        <p14:creationId xmlns:p14="http://schemas.microsoft.com/office/powerpoint/2010/main" val="18091550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2026-09-05T13:41:21.4610000Z</dcterms:created>
  <dcterms:modified xsi:type="dcterms:W3CDTF">2026-09-05T13:41:21.4610000Z</dcterms:modified>
</coreProperties>
</file>