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91be62096f4add" /><Relationship Type="http://schemas.openxmlformats.org/officeDocument/2006/relationships/extended-properties" Target="/docProps/app.xml" Id="R0d76762601374ca5" /><Relationship Type="http://schemas.openxmlformats.org/officeDocument/2006/relationships/officeDocument" Target="/ppt/presentation.xml" Id="R3f166c02612244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201d4b4b8b46a8"/>
  </p:sldMasterIdLst>
  <p:notesMasterIdLst>
    <p:notesMasterId xmlns:r="http://schemas.openxmlformats.org/officeDocument/2006/relationships" r:id="Rdaa4e94fa98746bb"/>
  </p:notesMasterIdLst>
  <p:sldIdLst>
    <p:sldId xmlns:r="http://schemas.openxmlformats.org/officeDocument/2006/relationships" id="256" r:id="R93e1a5cb4bc74feb"/>
    <p:sldId xmlns:r="http://schemas.openxmlformats.org/officeDocument/2006/relationships" id="257" r:id="R73b189a7bca0430c"/>
    <p:sldId xmlns:r="http://schemas.openxmlformats.org/officeDocument/2006/relationships" id="258" r:id="R409cc54dbdc34420"/>
    <p:sldId xmlns:r="http://schemas.openxmlformats.org/officeDocument/2006/relationships" id="259" r:id="Rf2f752be5838495c"/>
    <p:sldId xmlns:r="http://schemas.openxmlformats.org/officeDocument/2006/relationships" id="260" r:id="Rcaa22eb3b3ad46d0"/>
    <p:sldId xmlns:r="http://schemas.openxmlformats.org/officeDocument/2006/relationships" id="261" r:id="Ra885742ddbf0429a"/>
    <p:sldId xmlns:r="http://schemas.openxmlformats.org/officeDocument/2006/relationships" id="262" r:id="Rc4188ebf4f4f4133"/>
    <p:sldId xmlns:r="http://schemas.openxmlformats.org/officeDocument/2006/relationships" id="263" r:id="R5d6d9bce84614caf"/>
    <p:sldId xmlns:r="http://schemas.openxmlformats.org/officeDocument/2006/relationships" id="264" r:id="Rb419ff1723f64475"/>
    <p:sldId xmlns:r="http://schemas.openxmlformats.org/officeDocument/2006/relationships" id="265" r:id="Rf8f13c2366814cb5"/>
    <p:sldId xmlns:r="http://schemas.openxmlformats.org/officeDocument/2006/relationships" id="266" r:id="R9e0ca3f807594459"/>
    <p:sldId xmlns:r="http://schemas.openxmlformats.org/officeDocument/2006/relationships" id="267" r:id="Re4979c42114e40a2"/>
    <p:sldId xmlns:r="http://schemas.openxmlformats.org/officeDocument/2006/relationships" id="268" r:id="R7adb6d854dec4ff9"/>
    <p:sldId xmlns:r="http://schemas.openxmlformats.org/officeDocument/2006/relationships" id="269" r:id="R32211981078c4422"/>
    <p:sldId xmlns:r="http://schemas.openxmlformats.org/officeDocument/2006/relationships" id="270" r:id="Rda7c0559550d414c"/>
    <p:sldId xmlns:r="http://schemas.openxmlformats.org/officeDocument/2006/relationships" id="271" r:id="R5785d6972bff4d88"/>
    <p:sldId xmlns:r="http://schemas.openxmlformats.org/officeDocument/2006/relationships" id="272" r:id="Rbb17e8c667674bf4"/>
    <p:sldId xmlns:r="http://schemas.openxmlformats.org/officeDocument/2006/relationships" id="273" r:id="R50753a7a7e4b4b45"/>
    <p:sldId xmlns:r="http://schemas.openxmlformats.org/officeDocument/2006/relationships" id="274" r:id="R43ca2dfeb9654dcc"/>
    <p:sldId xmlns:r="http://schemas.openxmlformats.org/officeDocument/2006/relationships" id="275" r:id="R04280886c28845af"/>
    <p:sldId xmlns:r="http://schemas.openxmlformats.org/officeDocument/2006/relationships" id="276" r:id="Rea1ddbce79b140c6"/>
    <p:sldId xmlns:r="http://schemas.openxmlformats.org/officeDocument/2006/relationships" id="277" r:id="R359c8a3959414c3e"/>
    <p:sldId xmlns:r="http://schemas.openxmlformats.org/officeDocument/2006/relationships" id="278" r:id="Raf685cb0ba67458c"/>
    <p:sldId xmlns:r="http://schemas.openxmlformats.org/officeDocument/2006/relationships" id="279" r:id="R96911b64724a4193"/>
    <p:sldId xmlns:r="http://schemas.openxmlformats.org/officeDocument/2006/relationships" id="280" r:id="Rb0f1254ad6ff4f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3123889b914aa0" /><Relationship Type="http://schemas.openxmlformats.org/officeDocument/2006/relationships/slideMaster" Target="/ppt/slideMasters/slideMaster1.xml" Id="R6b201d4b4b8b46a8" /><Relationship Type="http://schemas.openxmlformats.org/officeDocument/2006/relationships/notesMaster" Target="/ppt/notesMasters/notesMaster1.xml" Id="Rdaa4e94fa98746bb" /><Relationship Type="http://schemas.openxmlformats.org/officeDocument/2006/relationships/presProps" Target="/ppt/presProps.xml" Id="R444ababf41854dc1" /><Relationship Type="http://schemas.openxmlformats.org/officeDocument/2006/relationships/tableStyles" Target="/ppt/tableStyles.xml" Id="R0304414071b44154" /><Relationship Type="http://schemas.openxmlformats.org/officeDocument/2006/relationships/slide" Target="/ppt/slides/slide1.xml" Id="R93e1a5cb4bc74feb" /><Relationship Type="http://schemas.openxmlformats.org/officeDocument/2006/relationships/slide" Target="/ppt/slides/slide2.xml" Id="R73b189a7bca0430c" /><Relationship Type="http://schemas.openxmlformats.org/officeDocument/2006/relationships/slide" Target="/ppt/slides/slide3.xml" Id="R409cc54dbdc34420" /><Relationship Type="http://schemas.openxmlformats.org/officeDocument/2006/relationships/slide" Target="/ppt/slides/slide4.xml" Id="Rf2f752be5838495c" /><Relationship Type="http://schemas.openxmlformats.org/officeDocument/2006/relationships/slide" Target="/ppt/slides/slide5.xml" Id="Rcaa22eb3b3ad46d0" /><Relationship Type="http://schemas.openxmlformats.org/officeDocument/2006/relationships/slide" Target="/ppt/slides/slide6.xml" Id="Ra885742ddbf0429a" /><Relationship Type="http://schemas.openxmlformats.org/officeDocument/2006/relationships/slide" Target="/ppt/slides/slide7.xml" Id="Rc4188ebf4f4f4133" /><Relationship Type="http://schemas.openxmlformats.org/officeDocument/2006/relationships/slide" Target="/ppt/slides/slide8.xml" Id="R5d6d9bce84614caf" /><Relationship Type="http://schemas.openxmlformats.org/officeDocument/2006/relationships/slide" Target="/ppt/slides/slide9.xml" Id="Rb419ff1723f64475" /><Relationship Type="http://schemas.openxmlformats.org/officeDocument/2006/relationships/slide" Target="/ppt/slides/slide10.xml" Id="Rf8f13c2366814cb5" /><Relationship Type="http://schemas.openxmlformats.org/officeDocument/2006/relationships/slide" Target="/ppt/slides/slide11.xml" Id="R9e0ca3f807594459" /><Relationship Type="http://schemas.openxmlformats.org/officeDocument/2006/relationships/slide" Target="/ppt/slides/slide12.xml" Id="Re4979c42114e40a2" /><Relationship Type="http://schemas.openxmlformats.org/officeDocument/2006/relationships/slide" Target="/ppt/slides/slide13.xml" Id="R7adb6d854dec4ff9" /><Relationship Type="http://schemas.openxmlformats.org/officeDocument/2006/relationships/slide" Target="/ppt/slides/slide14.xml" Id="R32211981078c4422" /><Relationship Type="http://schemas.openxmlformats.org/officeDocument/2006/relationships/slide" Target="/ppt/slides/slide15.xml" Id="Rda7c0559550d414c" /><Relationship Type="http://schemas.openxmlformats.org/officeDocument/2006/relationships/slide" Target="/ppt/slides/slide16.xml" Id="R5785d6972bff4d88" /><Relationship Type="http://schemas.openxmlformats.org/officeDocument/2006/relationships/slide" Target="/ppt/slides/slide17.xml" Id="Rbb17e8c667674bf4" /><Relationship Type="http://schemas.openxmlformats.org/officeDocument/2006/relationships/slide" Target="/ppt/slides/slide18.xml" Id="R50753a7a7e4b4b45" /><Relationship Type="http://schemas.openxmlformats.org/officeDocument/2006/relationships/slide" Target="/ppt/slides/slide19.xml" Id="R43ca2dfeb9654dcc" /><Relationship Type="http://schemas.openxmlformats.org/officeDocument/2006/relationships/slide" Target="/ppt/slides/slide20.xml" Id="R04280886c28845af" /><Relationship Type="http://schemas.openxmlformats.org/officeDocument/2006/relationships/slide" Target="/ppt/slides/slide21.xml" Id="Rea1ddbce79b140c6" /><Relationship Type="http://schemas.openxmlformats.org/officeDocument/2006/relationships/slide" Target="/ppt/slides/slide22.xml" Id="R359c8a3959414c3e" /><Relationship Type="http://schemas.openxmlformats.org/officeDocument/2006/relationships/slide" Target="/ppt/slides/slide23.xml" Id="Raf685cb0ba67458c" /><Relationship Type="http://schemas.openxmlformats.org/officeDocument/2006/relationships/slide" Target="/ppt/slides/slide24.xml" Id="R96911b64724a4193" /><Relationship Type="http://schemas.openxmlformats.org/officeDocument/2006/relationships/slide" Target="/ppt/slides/slide25.xml" Id="Rb0f1254ad6ff4f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ff0b046fa943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42684e01d54b2e" /><Relationship Type="http://schemas.openxmlformats.org/officeDocument/2006/relationships/notesMaster" Target="/ppt/notesMasters/notesMaster1.xml" Id="Ra4f9d0fe3b5a4d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16e08af38e4856" /><Relationship Type="http://schemas.openxmlformats.org/officeDocument/2006/relationships/notesMaster" Target="/ppt/notesMasters/notesMaster1.xml" Id="R999c4e04e42445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3ce9c5f4c14fa4" /><Relationship Type="http://schemas.openxmlformats.org/officeDocument/2006/relationships/notesMaster" Target="/ppt/notesMasters/notesMaster1.xml" Id="Rba49cc42e28645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32a53dad704d73" /><Relationship Type="http://schemas.openxmlformats.org/officeDocument/2006/relationships/notesMaster" Target="/ppt/notesMasters/notesMaster1.xml" Id="Rc61a705b3d0f4b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449d6138304f46" /><Relationship Type="http://schemas.openxmlformats.org/officeDocument/2006/relationships/notesMaster" Target="/ppt/notesMasters/notesMaster1.xml" Id="Rbdd8f509c1504f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2f5ced87dc4240" /><Relationship Type="http://schemas.openxmlformats.org/officeDocument/2006/relationships/notesMaster" Target="/ppt/notesMasters/notesMaster1.xml" Id="Rcadf1bbb2fce42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676ccec7184bd6" /><Relationship Type="http://schemas.openxmlformats.org/officeDocument/2006/relationships/notesMaster" Target="/ppt/notesMasters/notesMaster1.xml" Id="R6d8fc2e298f24c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631c3d80a84550" /><Relationship Type="http://schemas.openxmlformats.org/officeDocument/2006/relationships/notesMaster" Target="/ppt/notesMasters/notesMaster1.xml" Id="R5db5baa11eac4b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c09bca5421473b" /><Relationship Type="http://schemas.openxmlformats.org/officeDocument/2006/relationships/notesMaster" Target="/ppt/notesMasters/notesMaster1.xml" Id="Rfa0061d421eb49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779ab0a94b4f2e" /><Relationship Type="http://schemas.openxmlformats.org/officeDocument/2006/relationships/notesMaster" Target="/ppt/notesMasters/notesMaster1.xml" Id="R718bc2b1754042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8765ee869c4cab" /><Relationship Type="http://schemas.openxmlformats.org/officeDocument/2006/relationships/notesMaster" Target="/ppt/notesMasters/notesMaster1.xml" Id="Rdd642ba1ac054d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ca76fc3369463f" /><Relationship Type="http://schemas.openxmlformats.org/officeDocument/2006/relationships/notesMaster" Target="/ppt/notesMasters/notesMaster1.xml" Id="R3e7585caa6eb493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f2a7860f034d8b" /><Relationship Type="http://schemas.openxmlformats.org/officeDocument/2006/relationships/notesMaster" Target="/ppt/notesMasters/notesMaster1.xml" Id="Raa33b584187a4a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4ed079baf6423d" /><Relationship Type="http://schemas.openxmlformats.org/officeDocument/2006/relationships/notesMaster" Target="/ppt/notesMasters/notesMaster1.xml" Id="R92bfd424cb2341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30f6c0dbc434c98" /><Relationship Type="http://schemas.openxmlformats.org/officeDocument/2006/relationships/notesMaster" Target="/ppt/notesMasters/notesMaster1.xml" Id="Rd1a2599ed89749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66cda69f7547f4" /><Relationship Type="http://schemas.openxmlformats.org/officeDocument/2006/relationships/notesMaster" Target="/ppt/notesMasters/notesMaster1.xml" Id="R847bc990bdda4e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8b46cfa35b4ea6" /><Relationship Type="http://schemas.openxmlformats.org/officeDocument/2006/relationships/notesMaster" Target="/ppt/notesMasters/notesMaster1.xml" Id="Re022f1fb1978489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ec2aed00f2a43b7" /><Relationship Type="http://schemas.openxmlformats.org/officeDocument/2006/relationships/notesMaster" Target="/ppt/notesMasters/notesMaster1.xml" Id="R92cdd61315234f7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b839065cc084ce4" /><Relationship Type="http://schemas.openxmlformats.org/officeDocument/2006/relationships/notesMaster" Target="/ppt/notesMasters/notesMaster1.xml" Id="R3f03d229635b4ff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744d47fd9854d10" /><Relationship Type="http://schemas.openxmlformats.org/officeDocument/2006/relationships/notesMaster" Target="/ppt/notesMasters/notesMaster1.xml" Id="R756516da631f49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807b6177cb64ffa" /><Relationship Type="http://schemas.openxmlformats.org/officeDocument/2006/relationships/notesMaster" Target="/ppt/notesMasters/notesMaster1.xml" Id="Redd6aa7bd5714f3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0ed5f2ae97c4a9b" /><Relationship Type="http://schemas.openxmlformats.org/officeDocument/2006/relationships/notesMaster" Target="/ppt/notesMasters/notesMaster1.xml" Id="R238ebf7ef4f9457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8d1a909e1bb420a" /><Relationship Type="http://schemas.openxmlformats.org/officeDocument/2006/relationships/notesMaster" Target="/ppt/notesMasters/notesMaster1.xml" Id="Rf3912a52b14f47c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220b37369074715" /><Relationship Type="http://schemas.openxmlformats.org/officeDocument/2006/relationships/notesMaster" Target="/ppt/notesMasters/notesMaster1.xml" Id="R726da2cf7b64475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19e9d8a1c2c41e9" /><Relationship Type="http://schemas.openxmlformats.org/officeDocument/2006/relationships/notesMaster" Target="/ppt/notesMasters/notesMaster1.xml" Id="R4a919391a5d641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>Welcome participants, confirm that all activity stays inside approved lab environments, and introduce the four scanner streams.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/Users/anjali/Cloud_Vulnerabilities/workshop/marp-demo/images/deeptrustxai-logo.png</a:t>
            </a:r>
          </a:p>
          <a:p xmlns:a="http://schemas.openxmlformats.org/drawingml/2006/main">
            <a:r>
              <a:t>- /Users/anjali/Cloud_Vulnerabilities/README.md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Set the success criteria before discussing tools. Ask participants to keep one finding throughout the session and use it in the final evidence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/Users/anjali/Cloud_Vulnerabilities/workshop/deeptrustxai-cloud-security-module-wise-syllabus.md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</a:t>
            </a:r>
          </a:p>
          <a:p xmlns:a="http://schemas.openxmlformats.org/drawingml/2006/main">
            <a:r>
              <a:t>Explain the pace and the warm-live approach. The workshop remains within two and a half hours if each exercise stops at its stated completion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/Users/anjali/Cloud_Vulnerabilities/workshop/deeptrustxai-cloud-security-module-wise-syllabus.md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</a:t>
            </a:r>
          </a:p>
          <a:p xmlns:a="http://schemas.openxmlformats.org/drawingml/2006/main">
            <a:r>
              <a:t>Introduce the first module and state that the workshop uses vulnerable resources inside isolated environments.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Trace one scan from the portal to a worker, then to evidence storage and the GRC view. Avoid discussing deployment internals that do not affect the workshop.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/Users/anjali/Cloud_Vulnerabilities/handoff/grc-compliance-governance/setup-dokploy-cloudguard-stack.png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 minutes</a:t>
            </a:r>
          </a:p>
          <a:p xmlns:a="http://schemas.openxmlformats.org/drawingml/2006/main">
            <a:r>
              <a:t>Confirm written authorization, stop conditions, and who owns cleanup. Make it explicit that the lab creates insecure resources, not insecure production accounts.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 minutes</a:t>
            </a:r>
          </a:p>
          <a:p xmlns:a="http://schemas.openxmlformats.org/drawingml/2006/main">
            <a:r>
              <a:t>Walk through the participant rules, point out the stop signal, and confirm how each group will submit its job ID, finding ID, evidence, and cleanup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</a:t>
            </a:r>
          </a:p>
          <a:p xmlns:a="http://schemas.openxmlformats.org/drawingml/2006/main">
            <a:r>
              <a:t>Tell participants that each demonstration follows the same sequence so they can compare scanner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Explain that participants will see a fresh job launch and a completed result. Use the completed result for the detailed walkthrough if the live scan is still running.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/Users/anjali/Cloud_Vulnerabilities/docs/sandbox-lab-workflow.md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</a:t>
            </a:r>
          </a:p>
          <a:p xmlns:a="http://schemas.openxmlformats.org/drawingml/2006/main">
            <a:r>
              <a:t>Use the pre-provisioned AWS lab. Show the account boundary before launching the scan, then select one finding that can later be mapped to GRC.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/Users/anjali/Cloud_Vulnerabilities/grc-platform/cloudguard-test-labs/aws/main.tf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</a:t>
            </a:r>
          </a:p>
          <a:p xmlns:a="http://schemas.openxmlformats.org/drawingml/2006/main">
            <a:r>
              <a:t>If the optional test principal is configured, show the broad editor binding. Otherwise focus on storage, firewall, and VM posture.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/Users/anjali/Cloud_Vulnerabilities/grc-platform/cloudguard-test-labs/gcp/main.tf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</a:t>
            </a:r>
          </a:p>
          <a:p xmlns:a="http://schemas.openxmlformats.org/drawingml/2006/main">
            <a:r>
              <a:t>Keep the workload benign even though its configuration is unsafe. Do not place real secrets or data inside the namespace.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/Users/anjali/Cloud_Vulnerabilities/grc-platform/cloudguard-test-labs/kubernetes/vulnerable-k8s.yaml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</a:t>
            </a:r>
          </a:p>
          <a:p xmlns:a="http://schemas.openxmlformats.org/drawingml/2006/main">
            <a:r>
              <a:t>Do not apply the IaC fixtures. Show the original file, the scanner finding with line evidence, one corrected setting, and the clean or reduced rescan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/Users/anjali/Cloud_Vulnerabilities/grc-platform/cloudguard-test-labs/iac/terraform/vulnerable-aws.tf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Ask the audience to prioritize one finding. Require them to state the asset value, exposure path, identity impact, and available closure proof.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/Users/anjali/Cloud_Vulnerabilities/workshop/deeptrustxai-cloud-security-module-wise-syllabus.md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</a:t>
            </a:r>
          </a:p>
          <a:p xmlns:a="http://schemas.openxmlformats.org/drawingml/2006/main">
            <a:r>
              <a:t>Split participants into pairs if access is limited. State the completion check for each exercise before the timer starts.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11 minutes</a:t>
            </a:r>
          </a:p>
          <a:p xmlns:a="http://schemas.openxmlformats.org/drawingml/2006/main">
            <a:r>
              <a:t>The facilitator should pre-provision the AWS lab. Participants scan and analyze it; they should not create new accounts or make destructive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/Users/anjali/Cloud_Vulnerabilities/grc-platform/cloudguard-test-labs/aws/main.tf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11 minutes</a:t>
            </a:r>
          </a:p>
          <a:p xmlns:a="http://schemas.openxmlformats.org/drawingml/2006/main">
            <a:r>
              <a:t>Use only the instructor-provided project. If cloud quota or latency blocks the live job, use the completed scan while keeping the fresh job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/Users/anjali/Cloud_Vulnerabilities/grc-platform/cloudguard-test-labs/gcp/main.tf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</a:t>
            </a:r>
          </a:p>
          <a:p xmlns:a="http://schemas.openxmlformats.org/drawingml/2006/main">
            <a:r>
              <a:t>Apply only to a disposable cluster. Keep the payload benign, verify the namespace name before deletion, and capture cleanup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/Users/anjali/Cloud_Vulnerabilities/grc-platform/cloudguard-test-labs/kubernetes/vulnerable-k8s.yaml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</a:t>
            </a:r>
          </a:p>
          <a:p xmlns:a="http://schemas.openxmlformats.org/drawingml/2006/main">
            <a:r>
              <a:t>This exercise does not need cloud credentials. If time is short, use it as the mandatory participant exercise and treat the live cloud labs as guided demonstrations.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/Users/anjali/Cloud_Vulnerabilities/grc-platform/cloudguard-test-labs/iac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</a:t>
            </a:r>
          </a:p>
          <a:p xmlns:a="http://schemas.openxmlformats.org/drawingml/2006/main">
            <a:r>
              <a:t>Collect one record from each group. Use the selected records in Module 4 to demonstrate GRC mapping and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/Users/anjali/Cloud_Vulnerabilities/workshop/deeptrustxai-cloud-security-module-wise-syllabus.md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</a:t>
            </a:r>
          </a:p>
          <a:p xmlns:a="http://schemas.openxmlformats.org/drawingml/2006/main">
            <a:r>
              <a:t>Use the lab report-out as the input for the governance walkthrough.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/Users/anjali/Cloud_Vulnerabilities/docs/grc-platform-merge.md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</a:t>
            </a:r>
          </a:p>
          <a:p xmlns:a="http://schemas.openxmlformats.org/drawingml/2006/main">
            <a:r>
              <a:t>Take one lab finding and identify its source, asset, proof, control mapping, and owner. Emphasize checksum and lineage when evidence moves through a connector.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/Users/anjali/Cloud_Vulnerabilities/handoff/grc-compliance-governance/architecture-grc-evidence-flow.png</a:t>
            </a:r>
          </a:p>
          <a:p xmlns:a="http://schemas.openxmlformats.org/drawingml/2006/main">
            <a:r>
              <a:t>- /Users/anjali/Cloud_Vulnerabilities/docs/grc-platform-merge.md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Map the selected lab finding to a control. Assign the owner and identify the evidence or rescan needed to change the control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/Users/anjali/Cloud_Vulnerabilities/grc-platform/frontend/e2e/__snapshots__/visual.spec.ts/controls-list.png</a:t>
            </a:r>
          </a:p>
          <a:p xmlns:a="http://schemas.openxmlformats.org/drawingml/2006/main">
            <a:r>
              <a:t>- /Users/anjali/Cloud_Vulnerabilities/docs/grc-platform-merge.md</a:t>
            </a:r>
          </a:p>
          <a:p xmlns:a="http://schemas.openxmlformats.org/drawingml/2006/main">
            <a:r>
              <a:t>- /Users/anjali/Cloud_Vulnerabilities/grc-platform/README.md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Demonstrate validation and approval. Do not execute production-changing automation during the workshop.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/Users/anjali/Cloud_Vulnerabilities/output/playwright/cloudguard-reason-act.png</a:t>
            </a:r>
          </a:p>
          <a:p xmlns:a="http://schemas.openxmlformats.org/drawingml/2006/main">
            <a:r>
              <a:t>- /Users/anjali/Cloud_Vulnerabilities/docs/vendor-neutral-reason-act-architecture.md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</a:t>
            </a:r>
          </a:p>
          <a:p xmlns:a="http://schemas.openxmlformats.org/drawingml/2006/main">
            <a:r>
              <a:t>Verify cleanup before questions. Assign any unresolved cleanup action to a named owner and keep the session open until the owner confirms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/Users/anjali/Cloud_Vulnerabilities/grc-platform/cloudguard-test-labs/README.md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799b4991446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abda8e594c44a6" /><Relationship Type="http://schemas.openxmlformats.org/officeDocument/2006/relationships/slideLayout" Target="/ppt/slideLayouts/slideLayout1.xml" Id="Rca92b53a543841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92b53a543841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fbc6d431f437c" /><Relationship Type="http://schemas.openxmlformats.org/officeDocument/2006/relationships/image" Target="/ppt/media/image.png" Id="Rf04054a34f6744b7" /><Relationship Type="http://schemas.openxmlformats.org/officeDocument/2006/relationships/notesSlide" Target="/ppt/notesSlides/notesSlide1.xml" Id="R08f96f5b361647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7392a7b844f22" /><Relationship Type="http://schemas.openxmlformats.org/officeDocument/2006/relationships/image" Target="/ppt/media/image2.png" Id="R601d42e0069d4d3e" /><Relationship Type="http://schemas.openxmlformats.org/officeDocument/2006/relationships/notesSlide" Target="/ppt/notesSlides/notesSlide2.xml" Id="R4800d387bb1f40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47164bc6a4028" /><Relationship Type="http://schemas.openxmlformats.org/officeDocument/2006/relationships/image" Target="/ppt/media/image3.png" Id="Rd9ceac4e43834928" /><Relationship Type="http://schemas.openxmlformats.org/officeDocument/2006/relationships/notesSlide" Target="/ppt/notesSlides/notesSlide3.xml" Id="Rcc617af304134f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f06bd68b7458c" /><Relationship Type="http://schemas.openxmlformats.org/officeDocument/2006/relationships/image" Target="/ppt/media/image4.png" Id="R6f60dcdbdbc54963" /><Relationship Type="http://schemas.openxmlformats.org/officeDocument/2006/relationships/notesSlide" Target="/ppt/notesSlides/notesSlide4.xml" Id="Rfa53999e83e049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dfeda8ee0471e" /><Relationship Type="http://schemas.openxmlformats.org/officeDocument/2006/relationships/image" Target="/ppt/media/image5.png" Id="R2475b0e576df4abb" /><Relationship Type="http://schemas.openxmlformats.org/officeDocument/2006/relationships/image" Target="/ppt/media/image6.png" Id="Ra61b4b0c7bfb47a3" /><Relationship Type="http://schemas.openxmlformats.org/officeDocument/2006/relationships/notesSlide" Target="/ppt/notesSlides/notesSlide5.xml" Id="Rc2972a10729949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05ca560564dde" /><Relationship Type="http://schemas.openxmlformats.org/officeDocument/2006/relationships/image" Target="/ppt/media/image7.png" Id="Rbbb56b71342e4d06" /><Relationship Type="http://schemas.openxmlformats.org/officeDocument/2006/relationships/notesSlide" Target="/ppt/notesSlides/notesSlide6.xml" Id="R3cf973b86f044c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14d1dcc7d4e0c" /><Relationship Type="http://schemas.openxmlformats.org/officeDocument/2006/relationships/image" Target="/ppt/media/image8.png" Id="R4cf65556b64d49ae" /><Relationship Type="http://schemas.openxmlformats.org/officeDocument/2006/relationships/notesSlide" Target="/ppt/notesSlides/notesSlide7.xml" Id="R802cfb4646a744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2f782f7404ec1" /><Relationship Type="http://schemas.openxmlformats.org/officeDocument/2006/relationships/image" Target="/ppt/media/image9.png" Id="R54901195283b4f57" /><Relationship Type="http://schemas.openxmlformats.org/officeDocument/2006/relationships/notesSlide" Target="/ppt/notesSlides/notesSlide8.xml" Id="R190e85b07bb24c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2c7db5e0e4424" /><Relationship Type="http://schemas.openxmlformats.org/officeDocument/2006/relationships/image" Target="/ppt/media/image10.png" Id="R3e0b1f2b85124193" /><Relationship Type="http://schemas.openxmlformats.org/officeDocument/2006/relationships/notesSlide" Target="/ppt/notesSlides/notesSlide9.xml" Id="R2da74c215ba54c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cd7f4ade34b66" /><Relationship Type="http://schemas.openxmlformats.org/officeDocument/2006/relationships/image" Target="/ppt/media/image11.png" Id="R683b52a151594924" /><Relationship Type="http://schemas.openxmlformats.org/officeDocument/2006/relationships/notesSlide" Target="/ppt/notesSlides/notesSlide10.xml" Id="Rb3c8ac72232941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94db950bb41e3" /><Relationship Type="http://schemas.openxmlformats.org/officeDocument/2006/relationships/image" Target="/ppt/media/image12.png" Id="R3cbc1f89de79480c" /><Relationship Type="http://schemas.openxmlformats.org/officeDocument/2006/relationships/notesSlide" Target="/ppt/notesSlides/notesSlide11.xml" Id="R4ca1fb149e1247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2fa937fff4215" /><Relationship Type="http://schemas.openxmlformats.org/officeDocument/2006/relationships/image" Target="/ppt/media/image13.png" Id="R9c076f62c7c74cf1" /><Relationship Type="http://schemas.openxmlformats.org/officeDocument/2006/relationships/notesSlide" Target="/ppt/notesSlides/notesSlide12.xml" Id="Rdf5ec00a99a540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ef6f1b9294fd9" /><Relationship Type="http://schemas.openxmlformats.org/officeDocument/2006/relationships/image" Target="/ppt/media/image14.png" Id="Rab11b204e5624c5a" /><Relationship Type="http://schemas.openxmlformats.org/officeDocument/2006/relationships/notesSlide" Target="/ppt/notesSlides/notesSlide13.xml" Id="R4104a0c685cb4d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1493759e14f66" /><Relationship Type="http://schemas.openxmlformats.org/officeDocument/2006/relationships/image" Target="/ppt/media/image15.png" Id="R5871f4551e204220" /><Relationship Type="http://schemas.openxmlformats.org/officeDocument/2006/relationships/notesSlide" Target="/ppt/notesSlides/notesSlide14.xml" Id="R4d3f7cf3ab5b45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440938a0a4e2a" /><Relationship Type="http://schemas.openxmlformats.org/officeDocument/2006/relationships/image" Target="/ppt/media/image16.png" Id="R1ac7809d50a24300" /><Relationship Type="http://schemas.openxmlformats.org/officeDocument/2006/relationships/notesSlide" Target="/ppt/notesSlides/notesSlide15.xml" Id="R89710af70eac46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48691670e4a7e" /><Relationship Type="http://schemas.openxmlformats.org/officeDocument/2006/relationships/image" Target="/ppt/media/image17.png" Id="R5474486814114646" /><Relationship Type="http://schemas.openxmlformats.org/officeDocument/2006/relationships/notesSlide" Target="/ppt/notesSlides/notesSlide16.xml" Id="R28f635a698c3460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4f1e9448b486c" /><Relationship Type="http://schemas.openxmlformats.org/officeDocument/2006/relationships/image" Target="/ppt/media/image18.png" Id="Rb6ada466c4614a69" /><Relationship Type="http://schemas.openxmlformats.org/officeDocument/2006/relationships/notesSlide" Target="/ppt/notesSlides/notesSlide17.xml" Id="Ra330e1f9328144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d48f00fe14360" /><Relationship Type="http://schemas.openxmlformats.org/officeDocument/2006/relationships/image" Target="/ppt/media/image19.png" Id="R7ec066aced52407f" /><Relationship Type="http://schemas.openxmlformats.org/officeDocument/2006/relationships/notesSlide" Target="/ppt/notesSlides/notesSlide18.xml" Id="Rd064f9fc42c443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42860c0eb4ab4" /><Relationship Type="http://schemas.openxmlformats.org/officeDocument/2006/relationships/image" Target="/ppt/media/image20.png" Id="R58a25979144d4394" /><Relationship Type="http://schemas.openxmlformats.org/officeDocument/2006/relationships/notesSlide" Target="/ppt/notesSlides/notesSlide19.xml" Id="R46a3429398d049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64cffeaad4f85" /><Relationship Type="http://schemas.openxmlformats.org/officeDocument/2006/relationships/image" Target="/ppt/media/image21.png" Id="R5535051871eb4316" /><Relationship Type="http://schemas.openxmlformats.org/officeDocument/2006/relationships/notesSlide" Target="/ppt/notesSlides/notesSlide20.xml" Id="R2f2d904ba0e84de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44a8b0dc24e9c" /><Relationship Type="http://schemas.openxmlformats.org/officeDocument/2006/relationships/image" Target="/ppt/media/image22.png" Id="R7f16ca83984b47af" /><Relationship Type="http://schemas.openxmlformats.org/officeDocument/2006/relationships/notesSlide" Target="/ppt/notesSlides/notesSlide21.xml" Id="Ra2540d8798ea4fa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1f3a0f5e84c2f" /><Relationship Type="http://schemas.openxmlformats.org/officeDocument/2006/relationships/image" Target="/ppt/media/image23.png" Id="Rf9fc277ae3f449f1" /><Relationship Type="http://schemas.openxmlformats.org/officeDocument/2006/relationships/image" Target="/ppt/media/image24.png" Id="R8c513628f2424ad7" /><Relationship Type="http://schemas.openxmlformats.org/officeDocument/2006/relationships/notesSlide" Target="/ppt/notesSlides/notesSlide22.xml" Id="R6465952d77af4e2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c1c206c934e46" /><Relationship Type="http://schemas.openxmlformats.org/officeDocument/2006/relationships/image" Target="/ppt/media/image25.png" Id="R703022c1d92c4d67" /><Relationship Type="http://schemas.openxmlformats.org/officeDocument/2006/relationships/image" Target="/ppt/media/image26.png" Id="R0542e44ebeee4d0b" /><Relationship Type="http://schemas.openxmlformats.org/officeDocument/2006/relationships/notesSlide" Target="/ppt/notesSlides/notesSlide23.xml" Id="Re42c8063893e49d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92068c3604ba6" /><Relationship Type="http://schemas.openxmlformats.org/officeDocument/2006/relationships/image" Target="/ppt/media/image27.png" Id="Re1187905a6a740be" /><Relationship Type="http://schemas.openxmlformats.org/officeDocument/2006/relationships/image" Target="/ppt/media/image28.png" Id="R35d52c211393414a" /><Relationship Type="http://schemas.openxmlformats.org/officeDocument/2006/relationships/notesSlide" Target="/ppt/notesSlides/notesSlide24.xml" Id="R236ef7ba8c824a7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0ce9860af4da5" /><Relationship Type="http://schemas.openxmlformats.org/officeDocument/2006/relationships/image" Target="/ppt/media/image29.png" Id="R1149697b8ec24c27" /><Relationship Type="http://schemas.openxmlformats.org/officeDocument/2006/relationships/notesSlide" Target="/ppt/notesSlides/notesSlide25.xml" Id="Recc3b1ab807542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054a34f6744b7"/>
          <a:stretch xmlns:a="http://schemas.openxmlformats.org/drawingml/2006/main"/>
        </p:blipFill>
        <p:spPr>
          <a:xfrm xmlns:a="http://schemas.openxmlformats.org/drawingml/2006/main">
            <a:off x="647700" y="4953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2" name="cover-brand">
            <a:extLst xmlns:a="http://schemas.openxmlformats.org/drawingml/2006/main">
              <a:ext uri="{FF2B5EF4-FFF2-40B4-BE49-F238E27FC236}">
                <a16:creationId xmlns:a16="http://schemas.microsoft.com/office/drawing/2014/main" id="{173B8E78-E8C1-419C-8D79-5282E83A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762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53E43C5-98A4-4D4A-B884-95CB25AD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CloudGuard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Security Workshop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0EE3089-3C92-41FB-A114-3A0FA253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Four scanner demonstrations with separate practical labs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60F73E4E-0319-4453-9FF6-186D30D8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56E"/>
          </a:solidFill>
          <a:ln xmlns:a="http://schemas.openxmlformats.org/drawingml/2006/main" w="0">
            <a:solidFill>
              <a:srgbClr val="11856E"/>
            </a:solidFill>
            <a:prstDash val="solid"/>
          </a:ln>
        </p:spPr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BB14BD72-A810-4246-9E7D-4BE1062F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CB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7CBC5"/>
                </a:solidFill>
                <a:latin typeface="Helvetica Neue"/>
                <a:ea typeface="Helvetica Neue"/>
                <a:cs typeface="Helvetica Neue"/>
              </a:rPr>
              <a:t>AWS     GCP     Kubernetes     Infrastructure as Code</a:t>
            </a:r>
          </a:p>
        </p:txBody>
      </p:sp>
      <p:sp>
        <p:nvSpPr>
          <p:cNvPr id="7" name="cover-duration">
            <a:extLst xmlns:a="http://schemas.openxmlformats.org/drawingml/2006/main">
              <a:ext uri="{FF2B5EF4-FFF2-40B4-BE49-F238E27FC236}">
                <a16:creationId xmlns:a16="http://schemas.microsoft.com/office/drawing/2014/main" id="{719DFB01-DF52-4F86-9894-D3411679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150-minute participant workshop</a:t>
            </a:r>
          </a:p>
        </p:txBody>
      </p:sp>
    </p:spTree>
    <p:extLst>
      <p:ext uri="{BB962C8B-B14F-4D97-AF65-F5344CB8AC3E}">
        <p14:creationId xmlns:p14="http://schemas.microsoft.com/office/powerpoint/2010/main" val="12288073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2">
            <a:extLst xmlns:a="http://schemas.openxmlformats.org/drawingml/2006/main">
              <a:ext uri="{FF2B5EF4-FFF2-40B4-BE49-F238E27FC236}">
                <a16:creationId xmlns:a16="http://schemas.microsoft.com/office/drawing/2014/main" id="{8A866007-7DAB-470B-8745-D74BCA49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WORKSHOP OPENING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40FA21A-E8DE-471D-9F96-60DDE0F4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Learning outcomes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55948D98-C216-4403-AD0E-DFD56196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d42e0069d4d3e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2">
            <a:extLst xmlns:a="http://schemas.openxmlformats.org/drawingml/2006/main">
              <a:ext uri="{FF2B5EF4-FFF2-40B4-BE49-F238E27FC236}">
                <a16:creationId xmlns:a16="http://schemas.microsoft.com/office/drawing/2014/main" id="{387881CC-327E-49BF-AB07-FCC3D1C1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2">
            <a:extLst xmlns:a="http://schemas.openxmlformats.org/drawingml/2006/main">
              <a:ext uri="{FF2B5EF4-FFF2-40B4-BE49-F238E27FC236}">
                <a16:creationId xmlns:a16="http://schemas.microsoft.com/office/drawing/2014/main" id="{C1FCCEEB-4760-408F-B878-58BFA13C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74D4DBB2-CE71-43F0-B524-856368B7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outcome-lead">
            <a:extLst xmlns:a="http://schemas.openxmlformats.org/drawingml/2006/main">
              <a:ext uri="{FF2B5EF4-FFF2-40B4-BE49-F238E27FC236}">
                <a16:creationId xmlns:a16="http://schemas.microsoft.com/office/drawing/2014/main" id="{DC841AFB-7B2E-453B-8635-4A9F175D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Participants finish with a complete finding story, not only a scan report.</a:t>
            </a:r>
          </a:p>
        </p:txBody>
      </p:sp>
      <p:sp>
        <p:nvSpPr>
          <p:cNvPr id="9" name="outcome-left-title">
            <a:extLst xmlns:a="http://schemas.openxmlformats.org/drawingml/2006/main">
              <a:ext uri="{FF2B5EF4-FFF2-40B4-BE49-F238E27FC236}">
                <a16:creationId xmlns:a16="http://schemas.microsoft.com/office/drawing/2014/main" id="{6E09EFA0-0C43-4216-A219-5475C32F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Participants will be able to</a:t>
            </a:r>
          </a:p>
        </p:txBody>
      </p:sp>
      <p:sp>
        <p:nvSpPr>
          <p:cNvPr id="10" name="outcome-left">
            <a:extLst xmlns:a="http://schemas.openxmlformats.org/drawingml/2006/main">
              <a:ext uri="{FF2B5EF4-FFF2-40B4-BE49-F238E27FC236}">
                <a16:creationId xmlns:a16="http://schemas.microsoft.com/office/drawing/2014/main" id="{4A1D223F-9D14-4F0E-A3E6-3004002C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6705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Explain what each scanner checks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Identify unsafe identity, storage, network, workload, and IaC settings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Collect evidence without exposing real credentials or data</a:t>
            </a:r>
          </a:p>
        </p:txBody>
      </p:sp>
      <p:sp>
        <p:nvSpPr>
          <p:cNvPr id="11" name="outcome-divider">
            <a:extLst xmlns:a="http://schemas.openxmlformats.org/drawingml/2006/main">
              <a:ext uri="{FF2B5EF4-FFF2-40B4-BE49-F238E27FC236}">
                <a16:creationId xmlns:a16="http://schemas.microsoft.com/office/drawing/2014/main" id="{94BAA82F-D6BB-41CC-833A-0648BAF9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28900"/>
            <a:ext cx="95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12" name="outcome-right-title">
            <a:extLst xmlns:a="http://schemas.openxmlformats.org/drawingml/2006/main">
              <a:ext uri="{FF2B5EF4-FFF2-40B4-BE49-F238E27FC236}">
                <a16:creationId xmlns:a16="http://schemas.microsoft.com/office/drawing/2014/main" id="{4EA79A09-90AE-4A26-8AD5-BD442301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Workshop output</a:t>
            </a:r>
          </a:p>
        </p:txBody>
      </p:sp>
      <p:sp>
        <p:nvSpPr>
          <p:cNvPr id="13" name="outcome-right">
            <a:extLst xmlns:a="http://schemas.openxmlformats.org/drawingml/2006/main">
              <a:ext uri="{FF2B5EF4-FFF2-40B4-BE49-F238E27FC236}">
                <a16:creationId xmlns:a16="http://schemas.microsoft.com/office/drawing/2014/main" id="{39A1D726-4B9A-45B8-9217-D6BCAFBD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One finding mapped to an asset and control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 named remediation owner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 cleanup event or rescan that proves closure</a:t>
            </a:r>
          </a:p>
        </p:txBody>
      </p:sp>
    </p:spTree>
    <p:extLst>
      <p:ext uri="{BB962C8B-B14F-4D97-AF65-F5344CB8AC3E}">
        <p14:creationId xmlns:p14="http://schemas.microsoft.com/office/powerpoint/2010/main" val="11310617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3">
            <a:extLst xmlns:a="http://schemas.openxmlformats.org/drawingml/2006/main">
              <a:ext uri="{FF2B5EF4-FFF2-40B4-BE49-F238E27FC236}">
                <a16:creationId xmlns:a16="http://schemas.microsoft.com/office/drawing/2014/main" id="{9645AF4F-3730-4184-A9AE-BA6CBAB1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WORKSHOP OPENING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770EA77-C8F6-4D61-AEE4-21F1AE49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150-minute agenda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3C2FA655-3B92-4C10-BDE9-93B87C83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eac4e43834928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3">
            <a:extLst xmlns:a="http://schemas.openxmlformats.org/drawingml/2006/main">
              <a:ext uri="{FF2B5EF4-FFF2-40B4-BE49-F238E27FC236}">
                <a16:creationId xmlns:a16="http://schemas.microsoft.com/office/drawing/2014/main" id="{E3553DF2-4E32-406F-A538-8469D429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3">
            <a:extLst xmlns:a="http://schemas.openxmlformats.org/drawingml/2006/main">
              <a:ext uri="{FF2B5EF4-FFF2-40B4-BE49-F238E27FC236}">
                <a16:creationId xmlns:a16="http://schemas.microsoft.com/office/drawing/2014/main" id="{2E309399-10E6-43B9-A523-86102D7A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8BA87BB1-1673-4F0F-A650-C75E2229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33400" y="1752600"/>
          <a:ext xmlns:a="http://schemas.openxmlformats.org/drawingml/2006/main" cx="111252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428750"/>
                <a:gridCol w="7886700"/>
              </a:tblGrid>
              <a:tr h="585107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Focus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Opening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min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Outcomes, scope, and lab rules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Module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Foundations and safe lab design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Module 2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 min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 demonstrations of all four scanners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Module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practical lab exercises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Module 4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 min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Evidence, GRC, and approval workflow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min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Cleanup proof, questions, and next steps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3625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0dcdbdbc54963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brand-name-4">
            <a:extLst xmlns:a="http://schemas.openxmlformats.org/drawingml/2006/main">
              <a:ext uri="{FF2B5EF4-FFF2-40B4-BE49-F238E27FC236}">
                <a16:creationId xmlns:a16="http://schemas.microsoft.com/office/drawing/2014/main" id="{BA4EE9B5-D1F3-4F0F-A1C8-DB360319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module-label-4">
            <a:extLst xmlns:a="http://schemas.openxmlformats.org/drawingml/2006/main">
              <a:ext uri="{FF2B5EF4-FFF2-40B4-BE49-F238E27FC236}">
                <a16:creationId xmlns:a16="http://schemas.microsoft.com/office/drawing/2014/main" id="{04583CBD-6534-4E8E-BB69-EDB8155E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4" name="module-title-4">
            <a:extLst xmlns:a="http://schemas.openxmlformats.org/drawingml/2006/main">
              <a:ext uri="{FF2B5EF4-FFF2-40B4-BE49-F238E27FC236}">
                <a16:creationId xmlns:a16="http://schemas.microsoft.com/office/drawing/2014/main" id="{F1D702D7-6021-410B-8B5B-CD9FCDEB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Foundations and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 lab practice</a:t>
            </a:r>
          </a:p>
        </p:txBody>
      </p:sp>
      <p:sp>
        <p:nvSpPr>
          <p:cNvPr id="5" name="module-purpose-4">
            <a:extLst xmlns:a="http://schemas.openxmlformats.org/drawingml/2006/main">
              <a:ext uri="{FF2B5EF4-FFF2-40B4-BE49-F238E27FC236}">
                <a16:creationId xmlns:a16="http://schemas.microsoft.com/office/drawing/2014/main" id="{A49E4732-BE39-4AFB-88DB-11D83C18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rPr>
              <a:t>Understand the platform, the authorization boundary, and the lab rules before any scan begins.</a:t>
            </a:r>
          </a:p>
        </p:txBody>
      </p:sp>
      <p:sp>
        <p:nvSpPr>
          <p:cNvPr id="6" name="module-time-4">
            <a:extLst xmlns:a="http://schemas.openxmlformats.org/drawingml/2006/main">
              <a:ext uri="{FF2B5EF4-FFF2-40B4-BE49-F238E27FC236}">
                <a16:creationId xmlns:a16="http://schemas.microsoft.com/office/drawing/2014/main" id="{A5E65CCA-EA07-4B6B-AC10-3B8549F1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20 minutes</a:t>
            </a:r>
          </a:p>
        </p:txBody>
      </p:sp>
      <p:sp>
        <p:nvSpPr>
          <p:cNvPr id="7" name="module-rule-4">
            <a:extLst xmlns:a="http://schemas.openxmlformats.org/drawingml/2006/main">
              <a:ext uri="{FF2B5EF4-FFF2-40B4-BE49-F238E27FC236}">
                <a16:creationId xmlns:a16="http://schemas.microsoft.com/office/drawing/2014/main" id="{AA939A20-69EB-4328-A839-7BF21FC7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56E"/>
          </a:solidFill>
          <a:ln xmlns:a="http://schemas.openxmlformats.org/drawingml/2006/main" w="0">
            <a:solidFill>
              <a:srgbClr val="11856E"/>
            </a:solidFill>
            <a:prstDash val="solid"/>
          </a:ln>
        </p:spPr>
      </p:sp>
      <p:sp>
        <p:nvSpPr>
          <p:cNvPr id="8" name="module-footer-4">
            <a:extLst xmlns:a="http://schemas.openxmlformats.org/drawingml/2006/main">
              <a:ext uri="{FF2B5EF4-FFF2-40B4-BE49-F238E27FC236}">
                <a16:creationId xmlns:a16="http://schemas.microsoft.com/office/drawing/2014/main" id="{CF5FEB37-979E-45E1-89EF-A0481949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DeepTrustxAI CloudGuard workshop</a:t>
            </a:r>
          </a:p>
        </p:txBody>
      </p:sp>
      <p:sp>
        <p:nvSpPr>
          <p:cNvPr id="9" name="module-page-4">
            <a:extLst xmlns:a="http://schemas.openxmlformats.org/drawingml/2006/main">
              <a:ext uri="{FF2B5EF4-FFF2-40B4-BE49-F238E27FC236}">
                <a16:creationId xmlns:a16="http://schemas.microsoft.com/office/drawing/2014/main" id="{5FAEE475-B076-450B-8967-3DBE7AA1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8483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7194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5">
            <a:extLst xmlns:a="http://schemas.openxmlformats.org/drawingml/2006/main">
              <a:ext uri="{FF2B5EF4-FFF2-40B4-BE49-F238E27FC236}">
                <a16:creationId xmlns:a16="http://schemas.microsoft.com/office/drawing/2014/main" id="{34471100-55D2-4203-B186-475DF7E3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193B7BC-9C0A-4291-802C-3BB3A7A8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CloudGuard platform architecture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E3E37463-FB12-4655-B8E6-5518C724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5b0e576df4abb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5">
            <a:extLst xmlns:a="http://schemas.openxmlformats.org/drawingml/2006/main">
              <a:ext uri="{FF2B5EF4-FFF2-40B4-BE49-F238E27FC236}">
                <a16:creationId xmlns:a16="http://schemas.microsoft.com/office/drawing/2014/main" id="{C306FB33-3F75-4280-8542-9FE374AE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5">
            <a:extLst xmlns:a="http://schemas.openxmlformats.org/drawingml/2006/main">
              <a:ext uri="{FF2B5EF4-FFF2-40B4-BE49-F238E27FC236}">
                <a16:creationId xmlns:a16="http://schemas.microsoft.com/office/drawing/2014/main" id="{C390330F-415D-416E-A4EA-6E2978B2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7C928A59-5637-4D28-BD2D-24B406F5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8" name="arch-copy">
            <a:extLst xmlns:a="http://schemas.openxmlformats.org/drawingml/2006/main">
              <a:ext uri="{FF2B5EF4-FFF2-40B4-BE49-F238E27FC236}">
                <a16:creationId xmlns:a16="http://schemas.microsoft.com/office/drawing/2014/main" id="{4C8B3ADC-41BE-46DA-9080-FC692345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619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The portal records scope and scan status. Separate workers collect provider-specific findings, and the evidence layer keeps the governance view available.</a:t>
            </a:r>
          </a:p>
        </p:txBody>
      </p:sp>
      <p:sp>
        <p:nvSpPr>
          <p:cNvPr id="9" name="arch-bullets">
            <a:extLst xmlns:a="http://schemas.openxmlformats.org/drawingml/2006/main">
              <a:ext uri="{FF2B5EF4-FFF2-40B4-BE49-F238E27FC236}">
                <a16:creationId xmlns:a16="http://schemas.microsoft.com/office/drawing/2014/main" id="{9F3953BE-AFE2-41B4-8A54-359FB4AC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3905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Portal for targets, credential references, and job state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Workers for AWS, GCP, Kubernetes, and IaC analysis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Evidence records with source, asset, proof, and checksum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GRC records with owner, action, and audit history</a:t>
            </a:r>
          </a:p>
        </p:txBody>
      </p:sp>
      <p:sp>
        <p:nvSpPr>
          <p:cNvPr id="10" name="arch-frame">
            <a:extLst xmlns:a="http://schemas.openxmlformats.org/drawingml/2006/main">
              <a:ext uri="{FF2B5EF4-FFF2-40B4-BE49-F238E27FC236}">
                <a16:creationId xmlns:a16="http://schemas.microsoft.com/office/drawing/2014/main" id="{72D74920-AF4D-47DC-899E-0140E098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896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9525">
            <a:solidFill>
              <a:srgbClr val="B9C9C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b4b0c7bfb47a3"/>
          <a:stretch xmlns:a="http://schemas.openxmlformats.org/drawingml/2006/main"/>
        </p:blipFill>
        <p:spPr>
          <a:xfrm xmlns:a="http://schemas.openxmlformats.org/drawingml/2006/main">
            <a:off x="4914900" y="1946672"/>
            <a:ext cx="6591300" cy="3707606"/>
          </a:xfrm>
          <a:prstGeom xmlns:a="http://schemas.openxmlformats.org/drawingml/2006/main" prst="roundRect">
            <a:avLst>
              <a:gd name="adj" fmla="val 1005"/>
            </a:avLst>
          </a:prstGeom>
        </p:spPr>
      </p:pic>
    </p:spTree>
    <p:extLst>
      <p:ext uri="{BB962C8B-B14F-4D97-AF65-F5344CB8AC3E}">
        <p14:creationId xmlns:p14="http://schemas.microsoft.com/office/powerpoint/2010/main" val="19072034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6">
            <a:extLst xmlns:a="http://schemas.openxmlformats.org/drawingml/2006/main">
              <a:ext uri="{FF2B5EF4-FFF2-40B4-BE49-F238E27FC236}">
                <a16:creationId xmlns:a16="http://schemas.microsoft.com/office/drawing/2014/main" id="{3788EDD0-C62C-43A7-9A10-040FCD28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14D1FCF-4842-438C-BD09-78A381CE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Authorized lab boundaries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336A07FD-ACFC-47C6-B549-F54CB838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56b71342e4d06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6">
            <a:extLst xmlns:a="http://schemas.openxmlformats.org/drawingml/2006/main">
              <a:ext uri="{FF2B5EF4-FFF2-40B4-BE49-F238E27FC236}">
                <a16:creationId xmlns:a16="http://schemas.microsoft.com/office/drawing/2014/main" id="{2A6D4F01-2033-428A-9760-D979E2A7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6">
            <a:extLst xmlns:a="http://schemas.openxmlformats.org/drawingml/2006/main">
              <a:ext uri="{FF2B5EF4-FFF2-40B4-BE49-F238E27FC236}">
                <a16:creationId xmlns:a16="http://schemas.microsoft.com/office/drawing/2014/main" id="{1F437D95-5E1A-44F9-A0EB-5E477EDF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6">
            <a:extLst xmlns:a="http://schemas.openxmlformats.org/drawingml/2006/main">
              <a:ext uri="{FF2B5EF4-FFF2-40B4-BE49-F238E27FC236}">
                <a16:creationId xmlns:a16="http://schemas.microsoft.com/office/drawing/2014/main" id="{4FA6C559-5B5A-4779-9C09-366243D5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8" name="safety-callout">
            <a:extLst xmlns:a="http://schemas.openxmlformats.org/drawingml/2006/main">
              <a:ext uri="{FF2B5EF4-FFF2-40B4-BE49-F238E27FC236}">
                <a16:creationId xmlns:a16="http://schemas.microsoft.com/office/drawing/2014/main" id="{F4305FBA-3962-4939-B54D-5CB16377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5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D95D4B"/>
                </a:solidFill>
                <a:latin typeface="Helvetica Neue"/>
                <a:ea typeface="Helvetica Neue"/>
                <a:cs typeface="Helvetica Neue"/>
              </a:rPr>
              <a:t>Use vulnerable resources inside approved sandboxes. Do not weaken production accounts.</a:t>
            </a:r>
          </a:p>
        </p:txBody>
      </p:sp>
      <p:sp>
        <p:nvSpPr>
          <p:cNvPr id="9" name="safety-scope-title">
            <a:extLst xmlns:a="http://schemas.openxmlformats.org/drawingml/2006/main">
              <a:ext uri="{FF2B5EF4-FFF2-40B4-BE49-F238E27FC236}">
                <a16:creationId xmlns:a16="http://schemas.microsoft.com/office/drawing/2014/main" id="{6DEDFF60-5483-4E5E-B1CE-1D4D9118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Allowed scope</a:t>
            </a:r>
          </a:p>
        </p:txBody>
      </p:sp>
      <p:sp>
        <p:nvSpPr>
          <p:cNvPr id="10" name="safety-scope">
            <a:extLst xmlns:a="http://schemas.openxmlformats.org/drawingml/2006/main">
              <a:ext uri="{FF2B5EF4-FFF2-40B4-BE49-F238E27FC236}">
                <a16:creationId xmlns:a16="http://schemas.microsoft.com/office/drawing/2014/main" id="{D7F5A171-67F9-43E1-8A62-4C4C7176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Disposable AWS account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Disposable GCP project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Disposable cluster or namespace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Local IaC fixture that will never be applied</a:t>
            </a:r>
          </a:p>
        </p:txBody>
      </p:sp>
      <p:sp>
        <p:nvSpPr>
          <p:cNvPr id="11" name="safety-controls-title">
            <a:extLst xmlns:a="http://schemas.openxmlformats.org/drawingml/2006/main">
              <a:ext uri="{FF2B5EF4-FFF2-40B4-BE49-F238E27FC236}">
                <a16:creationId xmlns:a16="http://schemas.microsoft.com/office/drawing/2014/main" id="{A6378BCE-A039-4B53-A0A2-65A0C541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Required controls</a:t>
            </a:r>
          </a:p>
        </p:txBody>
      </p:sp>
      <p:sp>
        <p:nvSpPr>
          <p:cNvPr id="12" name="safety-controls">
            <a:extLst xmlns:a="http://schemas.openxmlformats.org/drawingml/2006/main">
              <a:ext uri="{FF2B5EF4-FFF2-40B4-BE49-F238E27FC236}">
                <a16:creationId xmlns:a16="http://schemas.microsoft.com/office/drawing/2014/main" id="{76C37CF4-F3F4-4E43-B174-8221E89E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Dummy data and dummy secrets only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cloudguard-test tag or label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Budget alert, expiry, and named cleanup owner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Destroy command tested before the workshop</a:t>
            </a:r>
          </a:p>
        </p:txBody>
      </p:sp>
    </p:spTree>
    <p:extLst>
      <p:ext uri="{BB962C8B-B14F-4D97-AF65-F5344CB8AC3E}">
        <p14:creationId xmlns:p14="http://schemas.microsoft.com/office/powerpoint/2010/main" val="486224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7">
            <a:extLst xmlns:a="http://schemas.openxmlformats.org/drawingml/2006/main">
              <a:ext uri="{FF2B5EF4-FFF2-40B4-BE49-F238E27FC236}">
                <a16:creationId xmlns:a16="http://schemas.microsoft.com/office/drawing/2014/main" id="{C025E288-A217-4BC2-A109-E3F03BA4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1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5E0FBF0-447E-489D-8DEF-98C038EE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participation guide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EE10B6CD-56B0-4F88-A66A-4E32F7F8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65556b64d49ae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7">
            <a:extLst xmlns:a="http://schemas.openxmlformats.org/drawingml/2006/main">
              <a:ext uri="{FF2B5EF4-FFF2-40B4-BE49-F238E27FC236}">
                <a16:creationId xmlns:a16="http://schemas.microsoft.com/office/drawing/2014/main" id="{9584A743-0B3C-44A0-9F2E-136A4E23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7">
            <a:extLst xmlns:a="http://schemas.openxmlformats.org/drawingml/2006/main">
              <a:ext uri="{FF2B5EF4-FFF2-40B4-BE49-F238E27FC236}">
                <a16:creationId xmlns:a16="http://schemas.microsoft.com/office/drawing/2014/main" id="{604ED1B7-D7DC-4D47-AA77-04AF82FC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7">
            <a:extLst xmlns:a="http://schemas.openxmlformats.org/drawingml/2006/main">
              <a:ext uri="{FF2B5EF4-FFF2-40B4-BE49-F238E27FC236}">
                <a16:creationId xmlns:a16="http://schemas.microsoft.com/office/drawing/2014/main" id="{94D1E70C-3560-4C8E-9045-1CDD790D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695700"/>
              </a:tblGrid>
              <a:tr h="7429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Before the labs</a:t>
                      </a:r>
                    </a:p>
                  </a:txBody>
                  <a:tcPr marL="91440" marR="91440" marT="45720" marB="45720">
                    <a:solidFill>
                      <a:srgbClr val="1185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During each activity</a:t>
                      </a:r>
                    </a:p>
                  </a:txBody>
                  <a:tcPr marL="91440" marR="91440" marT="45720" marB="45720">
                    <a:solidFill>
                      <a:srgbClr val="1185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Before you finish</a:t>
                      </a:r>
                    </a:p>
                  </a:txBody>
                  <a:tcPr marL="91440" marR="91440" marT="45720" marB="45720">
                    <a:solidFill>
                      <a:srgbClr val="11856E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 your assigned sandbox or cluster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only inside the stated lab scope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Delete the resources you created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 credentials and tokens private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the scan job and finding IDs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Submit the cleanup or rescan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Choose one finding to follow throughout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 screenshots free of secrets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Return or revoke temporary access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Know the stop signal and support channel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the prepared result when directed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 your group deliverables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adiness-note-bg">
            <a:extLst xmlns:a="http://schemas.openxmlformats.org/drawingml/2006/main">
              <a:ext uri="{FF2B5EF4-FFF2-40B4-BE49-F238E27FC236}">
                <a16:creationId xmlns:a16="http://schemas.microsoft.com/office/drawing/2014/main" id="{F10F175F-CCF9-429F-80A6-06173320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1125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F"/>
          </a:solidFill>
          <a:ln xmlns:a="http://schemas.openxmlformats.org/drawingml/2006/main" w="0">
            <a:solidFill>
              <a:srgbClr val="DDF7EF"/>
            </a:solidFill>
            <a:prstDash val="solid"/>
          </a:ln>
        </p:spPr>
      </p:sp>
      <p:sp>
        <p:nvSpPr>
          <p:cNvPr id="10" name="readiness-note">
            <a:extLst xmlns:a="http://schemas.openxmlformats.org/drawingml/2006/main">
              <a:ext uri="{FF2B5EF4-FFF2-40B4-BE49-F238E27FC236}">
                <a16:creationId xmlns:a16="http://schemas.microsoft.com/office/drawing/2014/main" id="{D1A7925B-F035-4D03-BB33-F6904092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959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Use only the sandbox targets provided for this workshop.</a:t>
            </a:r>
          </a:p>
        </p:txBody>
      </p:sp>
    </p:spTree>
    <p:extLst>
      <p:ext uri="{BB962C8B-B14F-4D97-AF65-F5344CB8AC3E}">
        <p14:creationId xmlns:p14="http://schemas.microsoft.com/office/powerpoint/2010/main" val="2950481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01195283b4f57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brand-name-8">
            <a:extLst xmlns:a="http://schemas.openxmlformats.org/drawingml/2006/main">
              <a:ext uri="{FF2B5EF4-FFF2-40B4-BE49-F238E27FC236}">
                <a16:creationId xmlns:a16="http://schemas.microsoft.com/office/drawing/2014/main" id="{4F64F23C-F780-4860-B60E-BD5DB381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module-label-8">
            <a:extLst xmlns:a="http://schemas.openxmlformats.org/drawingml/2006/main">
              <a:ext uri="{FF2B5EF4-FFF2-40B4-BE49-F238E27FC236}">
                <a16:creationId xmlns:a16="http://schemas.microsoft.com/office/drawing/2014/main" id="{B33576B7-5082-4D0A-8ECF-4C746390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4" name="module-title-8">
            <a:extLst xmlns:a="http://schemas.openxmlformats.org/drawingml/2006/main">
              <a:ext uri="{FF2B5EF4-FFF2-40B4-BE49-F238E27FC236}">
                <a16:creationId xmlns:a16="http://schemas.microsoft.com/office/drawing/2014/main" id="{1CA13160-1BAF-4C57-A756-7C0551BD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Four scanner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demonstrations</a:t>
            </a:r>
          </a:p>
        </p:txBody>
      </p:sp>
      <p:sp>
        <p:nvSpPr>
          <p:cNvPr id="5" name="module-purpose-8">
            <a:extLst xmlns:a="http://schemas.openxmlformats.org/drawingml/2006/main">
              <a:ext uri="{FF2B5EF4-FFF2-40B4-BE49-F238E27FC236}">
                <a16:creationId xmlns:a16="http://schemas.microsoft.com/office/drawing/2014/main" id="{7564F0DB-5374-4141-9DB1-F0DC1716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rPr>
              <a:t>Show the full path from authorized target to finding, evidence, and the next action.</a:t>
            </a:r>
          </a:p>
        </p:txBody>
      </p:sp>
      <p:sp>
        <p:nvSpPr>
          <p:cNvPr id="6" name="module-time-8">
            <a:extLst xmlns:a="http://schemas.openxmlformats.org/drawingml/2006/main">
              <a:ext uri="{FF2B5EF4-FFF2-40B4-BE49-F238E27FC236}">
                <a16:creationId xmlns:a16="http://schemas.microsoft.com/office/drawing/2014/main" id="{24C7818D-688B-4498-BE85-470954FE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55 minutes</a:t>
            </a:r>
          </a:p>
        </p:txBody>
      </p:sp>
      <p:sp>
        <p:nvSpPr>
          <p:cNvPr id="7" name="module-rule-8">
            <a:extLst xmlns:a="http://schemas.openxmlformats.org/drawingml/2006/main">
              <a:ext uri="{FF2B5EF4-FFF2-40B4-BE49-F238E27FC236}">
                <a16:creationId xmlns:a16="http://schemas.microsoft.com/office/drawing/2014/main" id="{7ABE7706-B15A-4EF0-80DF-640EBDBC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56E"/>
          </a:solidFill>
          <a:ln xmlns:a="http://schemas.openxmlformats.org/drawingml/2006/main" w="0">
            <a:solidFill>
              <a:srgbClr val="11856E"/>
            </a:solidFill>
            <a:prstDash val="solid"/>
          </a:ln>
        </p:spPr>
      </p:sp>
      <p:sp>
        <p:nvSpPr>
          <p:cNvPr id="8" name="module-footer-8">
            <a:extLst xmlns:a="http://schemas.openxmlformats.org/drawingml/2006/main">
              <a:ext uri="{FF2B5EF4-FFF2-40B4-BE49-F238E27FC236}">
                <a16:creationId xmlns:a16="http://schemas.microsoft.com/office/drawing/2014/main" id="{5F125487-04F6-4FA3-87C2-24B0CDD6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DeepTrustxAI CloudGuard workshop</a:t>
            </a:r>
          </a:p>
        </p:txBody>
      </p:sp>
      <p:sp>
        <p:nvSpPr>
          <p:cNvPr id="9" name="module-page-8">
            <a:extLst xmlns:a="http://schemas.openxmlformats.org/drawingml/2006/main">
              <a:ext uri="{FF2B5EF4-FFF2-40B4-BE49-F238E27FC236}">
                <a16:creationId xmlns:a16="http://schemas.microsoft.com/office/drawing/2014/main" id="{A6859555-BAF9-4431-8E6F-E990EE1F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8483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03549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9">
            <a:extLst xmlns:a="http://schemas.openxmlformats.org/drawingml/2006/main">
              <a:ext uri="{FF2B5EF4-FFF2-40B4-BE49-F238E27FC236}">
                <a16:creationId xmlns:a16="http://schemas.microsoft.com/office/drawing/2014/main" id="{F05722D2-7E93-49E6-A88F-A1326FF0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625357C-2A18-495D-A05A-F38DF33E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Live demonstration flow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591C8EB8-12E2-483A-9C3B-DA2CA1AE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b1f2b85124193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9">
            <a:extLst xmlns:a="http://schemas.openxmlformats.org/drawingml/2006/main">
              <a:ext uri="{FF2B5EF4-FFF2-40B4-BE49-F238E27FC236}">
                <a16:creationId xmlns:a16="http://schemas.microsoft.com/office/drawing/2014/main" id="{F2401590-1FD9-42AB-9F68-3EEF9B97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9">
            <a:extLst xmlns:a="http://schemas.openxmlformats.org/drawingml/2006/main">
              <a:ext uri="{FF2B5EF4-FFF2-40B4-BE49-F238E27FC236}">
                <a16:creationId xmlns:a16="http://schemas.microsoft.com/office/drawing/2014/main" id="{799CF4A2-A860-42C1-A55A-0E69208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9">
            <a:extLst xmlns:a="http://schemas.openxmlformats.org/drawingml/2006/main">
              <a:ext uri="{FF2B5EF4-FFF2-40B4-BE49-F238E27FC236}">
                <a16:creationId xmlns:a16="http://schemas.microsoft.com/office/drawing/2014/main" id="{F108C30C-8ECC-4F07-8380-2E1B58FA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8" name="warm-num-0">
            <a:extLst xmlns:a="http://schemas.openxmlformats.org/drawingml/2006/main">
              <a:ext uri="{FF2B5EF4-FFF2-40B4-BE49-F238E27FC236}">
                <a16:creationId xmlns:a16="http://schemas.microsoft.com/office/drawing/2014/main" id="{58DAF41A-764D-4C41-895F-AA62AC38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warm-rule-0">
            <a:extLst xmlns:a="http://schemas.openxmlformats.org/drawingml/2006/main">
              <a:ext uri="{FF2B5EF4-FFF2-40B4-BE49-F238E27FC236}">
                <a16:creationId xmlns:a16="http://schemas.microsoft.com/office/drawing/2014/main" id="{55CEF925-374D-47DC-9D9B-2EC13D40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10" name="warm-title-0">
            <a:extLst xmlns:a="http://schemas.openxmlformats.org/drawingml/2006/main">
              <a:ext uri="{FF2B5EF4-FFF2-40B4-BE49-F238E27FC236}">
                <a16:creationId xmlns:a16="http://schemas.microsoft.com/office/drawing/2014/main" id="{7CF6DD59-72E3-46B2-841A-291C5555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Orient</a:t>
            </a:r>
          </a:p>
        </p:txBody>
      </p:sp>
      <p:sp>
        <p:nvSpPr>
          <p:cNvPr id="11" name="warm-body-0">
            <a:extLst xmlns:a="http://schemas.openxmlformats.org/drawingml/2006/main">
              <a:ext uri="{FF2B5EF4-FFF2-40B4-BE49-F238E27FC236}">
                <a16:creationId xmlns:a16="http://schemas.microsoft.com/office/drawing/2014/main" id="{90C801B5-22A2-4655-9E73-C7BFC431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2362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Review the target, its lab boundary, and the risk we expect to find.</a:t>
            </a:r>
          </a:p>
        </p:txBody>
      </p:sp>
      <p:sp>
        <p:nvSpPr>
          <p:cNvPr id="12" name="warm-num-1">
            <a:extLst xmlns:a="http://schemas.openxmlformats.org/drawingml/2006/main">
              <a:ext uri="{FF2B5EF4-FFF2-40B4-BE49-F238E27FC236}">
                <a16:creationId xmlns:a16="http://schemas.microsoft.com/office/drawing/2014/main" id="{83F4EE55-9F6B-4CB4-B281-22A64B7D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43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warm-rule-1">
            <a:extLst xmlns:a="http://schemas.openxmlformats.org/drawingml/2006/main">
              <a:ext uri="{FF2B5EF4-FFF2-40B4-BE49-F238E27FC236}">
                <a16:creationId xmlns:a16="http://schemas.microsoft.com/office/drawing/2014/main" id="{D07594EA-D1BD-4A4A-8A30-A70BC480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717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14" name="warm-title-1">
            <a:extLst xmlns:a="http://schemas.openxmlformats.org/drawingml/2006/main">
              <a:ext uri="{FF2B5EF4-FFF2-40B4-BE49-F238E27FC236}">
                <a16:creationId xmlns:a16="http://schemas.microsoft.com/office/drawing/2014/main" id="{200C94DE-584A-4F3C-9CE0-1934E651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Launch</a:t>
            </a:r>
          </a:p>
        </p:txBody>
      </p:sp>
      <p:sp>
        <p:nvSpPr>
          <p:cNvPr id="15" name="warm-body-1">
            <a:extLst xmlns:a="http://schemas.openxmlformats.org/drawingml/2006/main">
              <a:ext uri="{FF2B5EF4-FFF2-40B4-BE49-F238E27FC236}">
                <a16:creationId xmlns:a16="http://schemas.microsoft.com/office/drawing/2014/main" id="{13C01306-EBEE-4A1A-AAAF-7F62258A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52800"/>
            <a:ext cx="2362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Watch a new scan enter the queue and move through its job states.</a:t>
            </a:r>
          </a:p>
        </p:txBody>
      </p:sp>
      <p:sp>
        <p:nvSpPr>
          <p:cNvPr id="16" name="warm-num-2">
            <a:extLst xmlns:a="http://schemas.openxmlformats.org/drawingml/2006/main">
              <a:ext uri="{FF2B5EF4-FFF2-40B4-BE49-F238E27FC236}">
                <a16:creationId xmlns:a16="http://schemas.microsoft.com/office/drawing/2014/main" id="{3D4B168E-4793-4CC7-B391-46EA7A65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warm-rule-2">
            <a:extLst xmlns:a="http://schemas.openxmlformats.org/drawingml/2006/main">
              <a:ext uri="{FF2B5EF4-FFF2-40B4-BE49-F238E27FC236}">
                <a16:creationId xmlns:a16="http://schemas.microsoft.com/office/drawing/2014/main" id="{9E36AE67-151F-4875-86C6-EE7413A9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18" name="warm-title-2">
            <a:extLst xmlns:a="http://schemas.openxmlformats.org/drawingml/2006/main">
              <a:ext uri="{FF2B5EF4-FFF2-40B4-BE49-F238E27FC236}">
                <a16:creationId xmlns:a16="http://schemas.microsoft.com/office/drawing/2014/main" id="{ECE4A411-A1E4-4035-B7EA-D1F33898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Inspect</a:t>
            </a:r>
          </a:p>
        </p:txBody>
      </p:sp>
      <p:sp>
        <p:nvSpPr>
          <p:cNvPr id="19" name="warm-body-2">
            <a:extLst xmlns:a="http://schemas.openxmlformats.org/drawingml/2006/main">
              <a:ext uri="{FF2B5EF4-FFF2-40B4-BE49-F238E27FC236}">
                <a16:creationId xmlns:a16="http://schemas.microsoft.com/office/drawing/2014/main" id="{7D616931-1CC0-4AA1-8508-B1D76D31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362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Follow one completed result from the finding to its evidence.</a:t>
            </a:r>
          </a:p>
        </p:txBody>
      </p:sp>
      <p:sp>
        <p:nvSpPr>
          <p:cNvPr id="20" name="warm-num-3">
            <a:extLst xmlns:a="http://schemas.openxmlformats.org/drawingml/2006/main">
              <a:ext uri="{FF2B5EF4-FFF2-40B4-BE49-F238E27FC236}">
                <a16:creationId xmlns:a16="http://schemas.microsoft.com/office/drawing/2014/main" id="{DA1E6A3F-2CD9-42C6-A84B-D240B151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431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warm-rule-3">
            <a:extLst xmlns:a="http://schemas.openxmlformats.org/drawingml/2006/main">
              <a:ext uri="{FF2B5EF4-FFF2-40B4-BE49-F238E27FC236}">
                <a16:creationId xmlns:a16="http://schemas.microsoft.com/office/drawing/2014/main" id="{26B4462F-E024-4AF3-9B76-460F2E89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sp>
        <p:nvSpPr>
          <p:cNvPr id="22" name="warm-title-3">
            <a:extLst xmlns:a="http://schemas.openxmlformats.org/drawingml/2006/main">
              <a:ext uri="{FF2B5EF4-FFF2-40B4-BE49-F238E27FC236}">
                <a16:creationId xmlns:a16="http://schemas.microsoft.com/office/drawing/2014/main" id="{0513FD23-5CFB-4994-AE3A-797F213D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57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Close</a:t>
            </a:r>
          </a:p>
        </p:txBody>
      </p:sp>
      <p:sp>
        <p:nvSpPr>
          <p:cNvPr id="23" name="warm-body-3">
            <a:extLst xmlns:a="http://schemas.openxmlformats.org/drawingml/2006/main">
              <a:ext uri="{FF2B5EF4-FFF2-40B4-BE49-F238E27FC236}">
                <a16:creationId xmlns:a16="http://schemas.microsoft.com/office/drawing/2014/main" id="{D70C51B8-EBC7-4550-912D-1599C400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52800"/>
            <a:ext cx="23622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Compare the fix, cleanup evidence, and the final rescan result.</a:t>
            </a:r>
          </a:p>
        </p:txBody>
      </p:sp>
      <p:sp>
        <p:nvSpPr>
          <p:cNvPr id="24" name="warm-note-bg">
            <a:extLst xmlns:a="http://schemas.openxmlformats.org/drawingml/2006/main">
              <a:ext uri="{FF2B5EF4-FFF2-40B4-BE49-F238E27FC236}">
                <a16:creationId xmlns:a16="http://schemas.microsoft.com/office/drawing/2014/main" id="{962517E2-7F90-4B9C-958F-B60D3C16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706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F"/>
          </a:solidFill>
          <a:ln xmlns:a="http://schemas.openxmlformats.org/drawingml/2006/main" w="0">
            <a:solidFill>
              <a:srgbClr val="DDF7EF"/>
            </a:solidFill>
            <a:prstDash val="solid"/>
          </a:ln>
        </p:spPr>
      </p:sp>
      <p:sp>
        <p:nvSpPr>
          <p:cNvPr id="25" name="warm-note">
            <a:extLst xmlns:a="http://schemas.openxmlformats.org/drawingml/2006/main">
              <a:ext uri="{FF2B5EF4-FFF2-40B4-BE49-F238E27FC236}">
                <a16:creationId xmlns:a16="http://schemas.microsoft.com/office/drawing/2014/main" id="{8BC5F0AC-9606-4F19-B70A-9599C0B4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Ask questions during the evidence step. Separate lab instructions follow the demonstrations.</a:t>
            </a:r>
          </a:p>
        </p:txBody>
      </p:sp>
    </p:spTree>
    <p:extLst>
      <p:ext uri="{BB962C8B-B14F-4D97-AF65-F5344CB8AC3E}">
        <p14:creationId xmlns:p14="http://schemas.microsoft.com/office/powerpoint/2010/main" val="4763883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0">
            <a:extLst xmlns:a="http://schemas.openxmlformats.org/drawingml/2006/main">
              <a:ext uri="{FF2B5EF4-FFF2-40B4-BE49-F238E27FC236}">
                <a16:creationId xmlns:a16="http://schemas.microsoft.com/office/drawing/2014/main" id="{AFF287D8-4494-468E-A728-C0A4D212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5F25C87-E4F9-4F6F-8C8D-A4BD74B4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AWS scanner walkthrough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F174D586-3EBA-47EA-8E81-6474D880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b52a151594924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0">
            <a:extLst xmlns:a="http://schemas.openxmlformats.org/drawingml/2006/main">
              <a:ext uri="{FF2B5EF4-FFF2-40B4-BE49-F238E27FC236}">
                <a16:creationId xmlns:a16="http://schemas.microsoft.com/office/drawing/2014/main" id="{66742AFE-53B0-46C7-84AB-1E4714B3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0">
            <a:extLst xmlns:a="http://schemas.openxmlformats.org/drawingml/2006/main">
              <a:ext uri="{FF2B5EF4-FFF2-40B4-BE49-F238E27FC236}">
                <a16:creationId xmlns:a16="http://schemas.microsoft.com/office/drawing/2014/main" id="{229296F0-FAD2-4273-86EF-C0CE1D39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0">
            <a:extLst xmlns:a="http://schemas.openxmlformats.org/drawingml/2006/main">
              <a:ext uri="{FF2B5EF4-FFF2-40B4-BE49-F238E27FC236}">
                <a16:creationId xmlns:a16="http://schemas.microsoft.com/office/drawing/2014/main" id="{CF6016AE-A5CB-43DA-B466-93427A4F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8" name="provider-band-10">
            <a:extLst xmlns:a="http://schemas.openxmlformats.org/drawingml/2006/main">
              <a:ext uri="{FF2B5EF4-FFF2-40B4-BE49-F238E27FC236}">
                <a16:creationId xmlns:a16="http://schemas.microsoft.com/office/drawing/2014/main" id="{1183059B-4096-4A02-9D17-BDBA66C8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286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" name="provider-name-10">
            <a:extLst xmlns:a="http://schemas.openxmlformats.org/drawingml/2006/main">
              <a:ext uri="{FF2B5EF4-FFF2-40B4-BE49-F238E27FC236}">
                <a16:creationId xmlns:a16="http://schemas.microsoft.com/office/drawing/2014/main" id="{DD452851-0FBA-4039-8052-A5985A24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AWS</a:t>
            </a:r>
          </a:p>
        </p:txBody>
      </p:sp>
      <p:sp>
        <p:nvSpPr>
          <p:cNvPr id="10" name="provider-target-label-10">
            <a:extLst xmlns:a="http://schemas.openxmlformats.org/drawingml/2006/main">
              <a:ext uri="{FF2B5EF4-FFF2-40B4-BE49-F238E27FC236}">
                <a16:creationId xmlns:a16="http://schemas.microsoft.com/office/drawing/2014/main" id="{B30B3ECE-D0F6-4E17-8075-C6D3EC71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Prepared targets</a:t>
            </a:r>
          </a:p>
        </p:txBody>
      </p:sp>
      <p:sp>
        <p:nvSpPr>
          <p:cNvPr id="11" name="provider-targets-10">
            <a:extLst xmlns:a="http://schemas.openxmlformats.org/drawingml/2006/main">
              <a:ext uri="{FF2B5EF4-FFF2-40B4-BE49-F238E27FC236}">
                <a16:creationId xmlns:a16="http://schemas.microsoft.com/office/drawing/2014/main" id="{7228B581-859A-4523-B638-B52865A6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66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Public S3 bucket with dummy content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Internet-facing SSH and RDP rules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IAM user with wildcard permissions</a:t>
            </a:r>
          </a:p>
        </p:txBody>
      </p:sp>
      <p:sp>
        <p:nvSpPr>
          <p:cNvPr id="12" name="provider-run-label-10">
            <a:extLst xmlns:a="http://schemas.openxmlformats.org/drawingml/2006/main">
              <a:ext uri="{FF2B5EF4-FFF2-40B4-BE49-F238E27FC236}">
                <a16:creationId xmlns:a16="http://schemas.microsoft.com/office/drawing/2014/main" id="{E3DF47FC-4EA8-4C48-BC22-92B70737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Demonstration sequence</a:t>
            </a:r>
          </a:p>
        </p:txBody>
      </p:sp>
      <p:sp>
        <p:nvSpPr>
          <p:cNvPr id="13" name="provider-run-num-10-0">
            <a:extLst xmlns:a="http://schemas.openxmlformats.org/drawingml/2006/main">
              <a:ext uri="{FF2B5EF4-FFF2-40B4-BE49-F238E27FC236}">
                <a16:creationId xmlns:a16="http://schemas.microsoft.com/office/drawing/2014/main" id="{C981F731-E2FB-40F5-B10D-265547D1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provider-run-10-0">
            <a:extLst xmlns:a="http://schemas.openxmlformats.org/drawingml/2006/main">
              <a:ext uri="{FF2B5EF4-FFF2-40B4-BE49-F238E27FC236}">
                <a16:creationId xmlns:a16="http://schemas.microsoft.com/office/drawing/2014/main" id="{EE0BC195-B978-479E-8EC1-AAE9A338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Confirm the sandbox account and cloudguard-test tags</a:t>
            </a:r>
          </a:p>
        </p:txBody>
      </p:sp>
      <p:sp>
        <p:nvSpPr>
          <p:cNvPr id="15" name="provider-run-num-10-1">
            <a:extLst xmlns:a="http://schemas.openxmlformats.org/drawingml/2006/main">
              <a:ext uri="{FF2B5EF4-FFF2-40B4-BE49-F238E27FC236}">
                <a16:creationId xmlns:a16="http://schemas.microsoft.com/office/drawing/2014/main" id="{02E316CA-EA3D-4F65-9ED0-395B694E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provider-run-10-1">
            <a:extLst xmlns:a="http://schemas.openxmlformats.org/drawingml/2006/main">
              <a:ext uri="{FF2B5EF4-FFF2-40B4-BE49-F238E27FC236}">
                <a16:creationId xmlns:a16="http://schemas.microsoft.com/office/drawing/2014/main" id="{CA708224-8B2E-43EB-89F7-E84E3BA2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718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Launch the AWS scan and show job status</a:t>
            </a:r>
          </a:p>
        </p:txBody>
      </p:sp>
      <p:sp>
        <p:nvSpPr>
          <p:cNvPr id="17" name="provider-run-num-10-2">
            <a:extLst xmlns:a="http://schemas.openxmlformats.org/drawingml/2006/main">
              <a:ext uri="{FF2B5EF4-FFF2-40B4-BE49-F238E27FC236}">
                <a16:creationId xmlns:a16="http://schemas.microsoft.com/office/drawing/2014/main" id="{4AD676A1-F4F9-40C5-91E8-5A11ED77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provider-run-10-2">
            <a:extLst xmlns:a="http://schemas.openxmlformats.org/drawingml/2006/main">
              <a:ext uri="{FF2B5EF4-FFF2-40B4-BE49-F238E27FC236}">
                <a16:creationId xmlns:a16="http://schemas.microsoft.com/office/drawing/2014/main" id="{2C9BCA32-D958-48B5-82B3-EE4C4384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004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Open one storage finding and one identity finding</a:t>
            </a:r>
          </a:p>
        </p:txBody>
      </p:sp>
      <p:sp>
        <p:nvSpPr>
          <p:cNvPr id="19" name="provider-run-num-10-3">
            <a:extLst xmlns:a="http://schemas.openxmlformats.org/drawingml/2006/main">
              <a:ext uri="{FF2B5EF4-FFF2-40B4-BE49-F238E27FC236}">
                <a16:creationId xmlns:a16="http://schemas.microsoft.com/office/drawing/2014/main" id="{ACA20A1D-606C-4825-8586-520E82D5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provider-run-10-3">
            <a:extLst xmlns:a="http://schemas.openxmlformats.org/drawingml/2006/main">
              <a:ext uri="{FF2B5EF4-FFF2-40B4-BE49-F238E27FC236}">
                <a16:creationId xmlns:a16="http://schemas.microsoft.com/office/drawing/2014/main" id="{343F4AA5-6D6A-42AE-8AE0-0C74B622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291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Select one finding for the evidence workflow</a:t>
            </a:r>
          </a:p>
        </p:txBody>
      </p:sp>
      <p:sp>
        <p:nvSpPr>
          <p:cNvPr id="21" name="provider-takeaway-bg-10">
            <a:extLst xmlns:a="http://schemas.openxmlformats.org/drawingml/2006/main">
              <a:ext uri="{FF2B5EF4-FFF2-40B4-BE49-F238E27FC236}">
                <a16:creationId xmlns:a16="http://schemas.microsoft.com/office/drawing/2014/main" id="{232EA750-878E-4BA5-AB51-F5F043F9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695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2" name="provider-takeaway-10">
            <a:extLst xmlns:a="http://schemas.openxmlformats.org/drawingml/2006/main">
              <a:ext uri="{FF2B5EF4-FFF2-40B4-BE49-F238E27FC236}">
                <a16:creationId xmlns:a16="http://schemas.microsoft.com/office/drawing/2014/main" id="{74CC6C2D-5723-4405-A91F-3380C1D4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673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Explain severity with the affected asset, exposure, and identity impact.</a:t>
            </a:r>
          </a:p>
        </p:txBody>
      </p:sp>
    </p:spTree>
    <p:extLst>
      <p:ext uri="{BB962C8B-B14F-4D97-AF65-F5344CB8AC3E}">
        <p14:creationId xmlns:p14="http://schemas.microsoft.com/office/powerpoint/2010/main" val="8320833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1">
            <a:extLst xmlns:a="http://schemas.openxmlformats.org/drawingml/2006/main">
              <a:ext uri="{FF2B5EF4-FFF2-40B4-BE49-F238E27FC236}">
                <a16:creationId xmlns:a16="http://schemas.microsoft.com/office/drawing/2014/main" id="{0CDBE2E2-FDCE-407B-8D6A-3A1E374B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FD9912BE-3886-48DC-880D-1B089F64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GCP scanner walkthrough</a:t>
            </a:r>
          </a:p>
        </p:txBody>
      </p:sp>
      <p:sp>
        <p:nvSpPr>
          <p:cNvPr id="3" name="title-rule-11">
            <a:extLst xmlns:a="http://schemas.openxmlformats.org/drawingml/2006/main">
              <a:ext uri="{FF2B5EF4-FFF2-40B4-BE49-F238E27FC236}">
                <a16:creationId xmlns:a16="http://schemas.microsoft.com/office/drawing/2014/main" id="{B0532A32-CB87-4833-810B-00B4CC29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c1f89de79480c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1">
            <a:extLst xmlns:a="http://schemas.openxmlformats.org/drawingml/2006/main">
              <a:ext uri="{FF2B5EF4-FFF2-40B4-BE49-F238E27FC236}">
                <a16:creationId xmlns:a16="http://schemas.microsoft.com/office/drawing/2014/main" id="{014E2263-0714-4546-A683-DCB3ECEF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1">
            <a:extLst xmlns:a="http://schemas.openxmlformats.org/drawingml/2006/main">
              <a:ext uri="{FF2B5EF4-FFF2-40B4-BE49-F238E27FC236}">
                <a16:creationId xmlns:a16="http://schemas.microsoft.com/office/drawing/2014/main" id="{BE4A7A60-D0F2-44A4-AA4C-EEA12A2A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1">
            <a:extLst xmlns:a="http://schemas.openxmlformats.org/drawingml/2006/main">
              <a:ext uri="{FF2B5EF4-FFF2-40B4-BE49-F238E27FC236}">
                <a16:creationId xmlns:a16="http://schemas.microsoft.com/office/drawing/2014/main" id="{F70102DD-8283-4E55-9D71-CF04FBD6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8" name="provider-band-11">
            <a:extLst xmlns:a="http://schemas.openxmlformats.org/drawingml/2006/main">
              <a:ext uri="{FF2B5EF4-FFF2-40B4-BE49-F238E27FC236}">
                <a16:creationId xmlns:a16="http://schemas.microsoft.com/office/drawing/2014/main" id="{E52BB79E-821E-4911-A80A-3CCB28EB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286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9" name="provider-name-11">
            <a:extLst xmlns:a="http://schemas.openxmlformats.org/drawingml/2006/main">
              <a:ext uri="{FF2B5EF4-FFF2-40B4-BE49-F238E27FC236}">
                <a16:creationId xmlns:a16="http://schemas.microsoft.com/office/drawing/2014/main" id="{FC2CA034-459A-4122-A08C-42B3DE9C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GCP</a:t>
            </a:r>
          </a:p>
        </p:txBody>
      </p:sp>
      <p:sp>
        <p:nvSpPr>
          <p:cNvPr id="10" name="provider-target-label-11">
            <a:extLst xmlns:a="http://schemas.openxmlformats.org/drawingml/2006/main">
              <a:ext uri="{FF2B5EF4-FFF2-40B4-BE49-F238E27FC236}">
                <a16:creationId xmlns:a16="http://schemas.microsoft.com/office/drawing/2014/main" id="{46A188D6-DBF8-4581-8F8D-E9533C0C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Prepared targets</a:t>
            </a:r>
          </a:p>
        </p:txBody>
      </p:sp>
      <p:sp>
        <p:nvSpPr>
          <p:cNvPr id="11" name="provider-targets-11">
            <a:extLst xmlns:a="http://schemas.openxmlformats.org/drawingml/2006/main">
              <a:ext uri="{FF2B5EF4-FFF2-40B4-BE49-F238E27FC236}">
                <a16:creationId xmlns:a16="http://schemas.microsoft.com/office/drawing/2014/main" id="{121C2BE3-7B12-4728-82BF-4ED54B26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66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Public Cloud Storage bucket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Firewall rules open to the internet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Public VM with weak hardening</a:t>
            </a:r>
          </a:p>
        </p:txBody>
      </p:sp>
      <p:sp>
        <p:nvSpPr>
          <p:cNvPr id="12" name="provider-run-label-11">
            <a:extLst xmlns:a="http://schemas.openxmlformats.org/drawingml/2006/main">
              <a:ext uri="{FF2B5EF4-FFF2-40B4-BE49-F238E27FC236}">
                <a16:creationId xmlns:a16="http://schemas.microsoft.com/office/drawing/2014/main" id="{D4C70164-4571-4ABD-9347-9F4D7F23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Demonstration sequence</a:t>
            </a:r>
          </a:p>
        </p:txBody>
      </p:sp>
      <p:sp>
        <p:nvSpPr>
          <p:cNvPr id="13" name="provider-run-num-11-0">
            <a:extLst xmlns:a="http://schemas.openxmlformats.org/drawingml/2006/main">
              <a:ext uri="{FF2B5EF4-FFF2-40B4-BE49-F238E27FC236}">
                <a16:creationId xmlns:a16="http://schemas.microsoft.com/office/drawing/2014/main" id="{AD3F8CF0-5CFB-4CDD-A33A-D02F6D34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provider-run-11-0">
            <a:extLst xmlns:a="http://schemas.openxmlformats.org/drawingml/2006/main">
              <a:ext uri="{FF2B5EF4-FFF2-40B4-BE49-F238E27FC236}">
                <a16:creationId xmlns:a16="http://schemas.microsoft.com/office/drawing/2014/main" id="{2F65C717-3D32-43E0-9490-E401AC38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Confirm the project, region, and cloudguard-test labels</a:t>
            </a:r>
          </a:p>
        </p:txBody>
      </p:sp>
      <p:sp>
        <p:nvSpPr>
          <p:cNvPr id="15" name="provider-run-num-11-1">
            <a:extLst xmlns:a="http://schemas.openxmlformats.org/drawingml/2006/main">
              <a:ext uri="{FF2B5EF4-FFF2-40B4-BE49-F238E27FC236}">
                <a16:creationId xmlns:a16="http://schemas.microsoft.com/office/drawing/2014/main" id="{DBB62C31-1E26-4467-8576-9D8D6780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provider-run-11-1">
            <a:extLst xmlns:a="http://schemas.openxmlformats.org/drawingml/2006/main">
              <a:ext uri="{FF2B5EF4-FFF2-40B4-BE49-F238E27FC236}">
                <a16:creationId xmlns:a16="http://schemas.microsoft.com/office/drawing/2014/main" id="{27253049-CDE6-4789-A66B-B94BB4A4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718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Launch the GCP scan and show the job lifecycle</a:t>
            </a:r>
          </a:p>
        </p:txBody>
      </p:sp>
      <p:sp>
        <p:nvSpPr>
          <p:cNvPr id="17" name="provider-run-num-11-2">
            <a:extLst xmlns:a="http://schemas.openxmlformats.org/drawingml/2006/main">
              <a:ext uri="{FF2B5EF4-FFF2-40B4-BE49-F238E27FC236}">
                <a16:creationId xmlns:a16="http://schemas.microsoft.com/office/drawing/2014/main" id="{1D8A270F-AD6D-4504-A774-09A5ABF5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provider-run-11-2">
            <a:extLst xmlns:a="http://schemas.openxmlformats.org/drawingml/2006/main">
              <a:ext uri="{FF2B5EF4-FFF2-40B4-BE49-F238E27FC236}">
                <a16:creationId xmlns:a16="http://schemas.microsoft.com/office/drawing/2014/main" id="{7BFFC054-BB7A-4E33-9C36-17A62BCD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004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Compare storage, network, and identity results with AWS</a:t>
            </a:r>
          </a:p>
        </p:txBody>
      </p:sp>
      <p:sp>
        <p:nvSpPr>
          <p:cNvPr id="19" name="provider-run-num-11-3">
            <a:extLst xmlns:a="http://schemas.openxmlformats.org/drawingml/2006/main">
              <a:ext uri="{FF2B5EF4-FFF2-40B4-BE49-F238E27FC236}">
                <a16:creationId xmlns:a16="http://schemas.microsoft.com/office/drawing/2014/main" id="{C6F8A297-B1F0-4CC9-A463-43C22C35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provider-run-11-3">
            <a:extLst xmlns:a="http://schemas.openxmlformats.org/drawingml/2006/main">
              <a:ext uri="{FF2B5EF4-FFF2-40B4-BE49-F238E27FC236}">
                <a16:creationId xmlns:a16="http://schemas.microsoft.com/office/drawing/2014/main" id="{C13DE0A3-97DD-4D76-9789-1B047040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291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Map one result to the same business risk category</a:t>
            </a:r>
          </a:p>
        </p:txBody>
      </p:sp>
      <p:sp>
        <p:nvSpPr>
          <p:cNvPr id="21" name="provider-takeaway-bg-11">
            <a:extLst xmlns:a="http://schemas.openxmlformats.org/drawingml/2006/main">
              <a:ext uri="{FF2B5EF4-FFF2-40B4-BE49-F238E27FC236}">
                <a16:creationId xmlns:a16="http://schemas.microsoft.com/office/drawing/2014/main" id="{CA8D7285-A668-4106-B9D2-9E0874F9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695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2" name="provider-takeaway-11">
            <a:extLst xmlns:a="http://schemas.openxmlformats.org/drawingml/2006/main">
              <a:ext uri="{FF2B5EF4-FFF2-40B4-BE49-F238E27FC236}">
                <a16:creationId xmlns:a16="http://schemas.microsoft.com/office/drawing/2014/main" id="{503E5567-0968-4644-BBB4-A3F8AD0F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673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Normalize equivalent risks so teams can compare cloud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2016194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2">
            <a:extLst xmlns:a="http://schemas.openxmlformats.org/drawingml/2006/main">
              <a:ext uri="{FF2B5EF4-FFF2-40B4-BE49-F238E27FC236}">
                <a16:creationId xmlns:a16="http://schemas.microsoft.com/office/drawing/2014/main" id="{55506AA9-C933-4173-A3CD-BB0C6246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57093B07-9BAA-422F-8FED-73524D73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Kubernetes scanner walkthrough</a:t>
            </a:r>
          </a:p>
        </p:txBody>
      </p:sp>
      <p:sp>
        <p:nvSpPr>
          <p:cNvPr id="3" name="title-rule-12">
            <a:extLst xmlns:a="http://schemas.openxmlformats.org/drawingml/2006/main">
              <a:ext uri="{FF2B5EF4-FFF2-40B4-BE49-F238E27FC236}">
                <a16:creationId xmlns:a16="http://schemas.microsoft.com/office/drawing/2014/main" id="{A238DD33-F67C-4691-8835-42DDE116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76f62c7c74cf1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2">
            <a:extLst xmlns:a="http://schemas.openxmlformats.org/drawingml/2006/main">
              <a:ext uri="{FF2B5EF4-FFF2-40B4-BE49-F238E27FC236}">
                <a16:creationId xmlns:a16="http://schemas.microsoft.com/office/drawing/2014/main" id="{9D40B676-E1CE-4FA3-8727-9570A200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2">
            <a:extLst xmlns:a="http://schemas.openxmlformats.org/drawingml/2006/main">
              <a:ext uri="{FF2B5EF4-FFF2-40B4-BE49-F238E27FC236}">
                <a16:creationId xmlns:a16="http://schemas.microsoft.com/office/drawing/2014/main" id="{9F8ECF64-8308-43F9-868A-4B5B6884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2">
            <a:extLst xmlns:a="http://schemas.openxmlformats.org/drawingml/2006/main">
              <a:ext uri="{FF2B5EF4-FFF2-40B4-BE49-F238E27FC236}">
                <a16:creationId xmlns:a16="http://schemas.microsoft.com/office/drawing/2014/main" id="{44CD3FE6-0ADD-4C2E-A891-0C4591EB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8" name="provider-band-12">
            <a:extLst xmlns:a="http://schemas.openxmlformats.org/drawingml/2006/main">
              <a:ext uri="{FF2B5EF4-FFF2-40B4-BE49-F238E27FC236}">
                <a16:creationId xmlns:a16="http://schemas.microsoft.com/office/drawing/2014/main" id="{1B854580-E726-43DE-90F3-5E64512F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32861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E5"/>
          </a:solidFill>
          <a:ln xmlns:a="http://schemas.openxmlformats.org/drawingml/2006/main" w="0">
            <a:solidFill>
              <a:srgbClr val="326CE5"/>
            </a:solidFill>
            <a:prstDash val="solid"/>
          </a:ln>
        </p:spPr>
      </p:sp>
      <p:sp>
        <p:nvSpPr>
          <p:cNvPr id="9" name="provider-name-12">
            <a:extLst xmlns:a="http://schemas.openxmlformats.org/drawingml/2006/main">
              <a:ext uri="{FF2B5EF4-FFF2-40B4-BE49-F238E27FC236}">
                <a16:creationId xmlns:a16="http://schemas.microsoft.com/office/drawing/2014/main" id="{83907C69-BE47-4108-9746-E36A769E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Kubernetes</a:t>
            </a:r>
          </a:p>
        </p:txBody>
      </p:sp>
      <p:sp>
        <p:nvSpPr>
          <p:cNvPr id="10" name="provider-target-label-12">
            <a:extLst xmlns:a="http://schemas.openxmlformats.org/drawingml/2006/main">
              <a:ext uri="{FF2B5EF4-FFF2-40B4-BE49-F238E27FC236}">
                <a16:creationId xmlns:a16="http://schemas.microsoft.com/office/drawing/2014/main" id="{56561D5D-DA0C-4290-A67F-17014622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Prepared targets</a:t>
            </a:r>
          </a:p>
        </p:txBody>
      </p:sp>
      <p:sp>
        <p:nvSpPr>
          <p:cNvPr id="11" name="provider-targets-12">
            <a:extLst xmlns:a="http://schemas.openxmlformats.org/drawingml/2006/main">
              <a:ext uri="{FF2B5EF4-FFF2-40B4-BE49-F238E27FC236}">
                <a16:creationId xmlns:a16="http://schemas.microsoft.com/office/drawing/2014/main" id="{321B0947-A9C1-4CF3-A0AE-00111BEF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66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Cluster-admin service account binding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Privileged workload with host access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NodePort, LoadBalancer, and broad ingress</a:t>
            </a:r>
          </a:p>
        </p:txBody>
      </p:sp>
      <p:sp>
        <p:nvSpPr>
          <p:cNvPr id="12" name="provider-run-label-12">
            <a:extLst xmlns:a="http://schemas.openxmlformats.org/drawingml/2006/main">
              <a:ext uri="{FF2B5EF4-FFF2-40B4-BE49-F238E27FC236}">
                <a16:creationId xmlns:a16="http://schemas.microsoft.com/office/drawing/2014/main" id="{E6C97B88-4659-4E10-8F1B-425E2DF7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Demonstration sequence</a:t>
            </a:r>
          </a:p>
        </p:txBody>
      </p:sp>
      <p:sp>
        <p:nvSpPr>
          <p:cNvPr id="13" name="provider-run-num-12-0">
            <a:extLst xmlns:a="http://schemas.openxmlformats.org/drawingml/2006/main">
              <a:ext uri="{FF2B5EF4-FFF2-40B4-BE49-F238E27FC236}">
                <a16:creationId xmlns:a16="http://schemas.microsoft.com/office/drawing/2014/main" id="{8511424B-C557-440B-97BF-D07A5CF3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00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4" name="provider-run-12-0">
            <a:extLst xmlns:a="http://schemas.openxmlformats.org/drawingml/2006/main">
              <a:ext uri="{FF2B5EF4-FFF2-40B4-BE49-F238E27FC236}">
                <a16:creationId xmlns:a16="http://schemas.microsoft.com/office/drawing/2014/main" id="{D31CA5D4-9642-4CC1-B9A9-79AA1134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Confirm the disposable cluster and cloudguard-test namespace</a:t>
            </a:r>
          </a:p>
        </p:txBody>
      </p:sp>
      <p:sp>
        <p:nvSpPr>
          <p:cNvPr id="15" name="provider-run-num-12-1">
            <a:extLst xmlns:a="http://schemas.openxmlformats.org/drawingml/2006/main">
              <a:ext uri="{FF2B5EF4-FFF2-40B4-BE49-F238E27FC236}">
                <a16:creationId xmlns:a16="http://schemas.microsoft.com/office/drawing/2014/main" id="{1EFD40FF-949E-433F-93DB-8005373B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6" name="provider-run-12-1">
            <a:extLst xmlns:a="http://schemas.openxmlformats.org/drawingml/2006/main">
              <a:ext uri="{FF2B5EF4-FFF2-40B4-BE49-F238E27FC236}">
                <a16:creationId xmlns:a16="http://schemas.microsoft.com/office/drawing/2014/main" id="{C1C2D89A-C001-4114-86A5-9F83DB65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718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Launch the Kubernetes scan with the assigned kubeconfig</a:t>
            </a:r>
          </a:p>
        </p:txBody>
      </p:sp>
      <p:sp>
        <p:nvSpPr>
          <p:cNvPr id="17" name="provider-run-num-12-2">
            <a:extLst xmlns:a="http://schemas.openxmlformats.org/drawingml/2006/main">
              <a:ext uri="{FF2B5EF4-FFF2-40B4-BE49-F238E27FC236}">
                <a16:creationId xmlns:a16="http://schemas.microsoft.com/office/drawing/2014/main" id="{BA5CCBE2-1204-4111-92F4-F3C696D5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576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provider-run-12-2">
            <a:extLst xmlns:a="http://schemas.openxmlformats.org/drawingml/2006/main">
              <a:ext uri="{FF2B5EF4-FFF2-40B4-BE49-F238E27FC236}">
                <a16:creationId xmlns:a16="http://schemas.microsoft.com/office/drawing/2014/main" id="{F576A350-229D-46D6-9C93-DDFC222E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004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Inspect workload, RBAC, service, and network findings</a:t>
            </a:r>
          </a:p>
        </p:txBody>
      </p:sp>
      <p:sp>
        <p:nvSpPr>
          <p:cNvPr id="19" name="provider-run-num-12-3">
            <a:extLst xmlns:a="http://schemas.openxmlformats.org/drawingml/2006/main">
              <a:ext uri="{FF2B5EF4-FFF2-40B4-BE49-F238E27FC236}">
                <a16:creationId xmlns:a16="http://schemas.microsoft.com/office/drawing/2014/main" id="{8404C8FD-777F-4F1B-A3F2-57D7C903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provider-run-12-3">
            <a:extLst xmlns:a="http://schemas.openxmlformats.org/drawingml/2006/main">
              <a:ext uri="{FF2B5EF4-FFF2-40B4-BE49-F238E27FC236}">
                <a16:creationId xmlns:a16="http://schemas.microsoft.com/office/drawing/2014/main" id="{F993D28F-6B5D-43A6-BC8F-4E8E56C1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291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Compare the manifest with the live cluster state</a:t>
            </a:r>
          </a:p>
        </p:txBody>
      </p:sp>
      <p:sp>
        <p:nvSpPr>
          <p:cNvPr id="21" name="provider-takeaway-bg-12">
            <a:extLst xmlns:a="http://schemas.openxmlformats.org/drawingml/2006/main">
              <a:ext uri="{FF2B5EF4-FFF2-40B4-BE49-F238E27FC236}">
                <a16:creationId xmlns:a16="http://schemas.microsoft.com/office/drawing/2014/main" id="{AD9360DF-8679-4D09-9FF8-AF4EA176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695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2" name="provider-takeaway-12">
            <a:extLst xmlns:a="http://schemas.openxmlformats.org/drawingml/2006/main">
              <a:ext uri="{FF2B5EF4-FFF2-40B4-BE49-F238E27FC236}">
                <a16:creationId xmlns:a16="http://schemas.microsoft.com/office/drawing/2014/main" id="{C66E3E78-8BE3-4E7B-8953-B766189B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67325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Prioritize the finding that creates the largest cluster blast radius.</a:t>
            </a:r>
          </a:p>
        </p:txBody>
      </p:sp>
    </p:spTree>
    <p:extLst>
      <p:ext uri="{BB962C8B-B14F-4D97-AF65-F5344CB8AC3E}">
        <p14:creationId xmlns:p14="http://schemas.microsoft.com/office/powerpoint/2010/main" val="771768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13">
            <a:extLst xmlns:a="http://schemas.openxmlformats.org/drawingml/2006/main">
              <a:ext uri="{FF2B5EF4-FFF2-40B4-BE49-F238E27FC236}">
                <a16:creationId xmlns:a16="http://schemas.microsoft.com/office/drawing/2014/main" id="{5816D342-B5D8-45B7-A8FB-7ED57B31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0100A5BD-BDED-4985-A1C8-C5C347EB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Infrastructure as Code scanner walkthrough</a:t>
            </a:r>
          </a:p>
        </p:txBody>
      </p:sp>
      <p:sp>
        <p:nvSpPr>
          <p:cNvPr id="3" name="title-rule-13">
            <a:extLst xmlns:a="http://schemas.openxmlformats.org/drawingml/2006/main">
              <a:ext uri="{FF2B5EF4-FFF2-40B4-BE49-F238E27FC236}">
                <a16:creationId xmlns:a16="http://schemas.microsoft.com/office/drawing/2014/main" id="{03FF688A-55E0-4D7C-A906-8267E20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11b204e5624c5a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3">
            <a:extLst xmlns:a="http://schemas.openxmlformats.org/drawingml/2006/main">
              <a:ext uri="{FF2B5EF4-FFF2-40B4-BE49-F238E27FC236}">
                <a16:creationId xmlns:a16="http://schemas.microsoft.com/office/drawing/2014/main" id="{1DD14E31-C2EE-496F-BEDC-D448A6CF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3">
            <a:extLst xmlns:a="http://schemas.openxmlformats.org/drawingml/2006/main">
              <a:ext uri="{FF2B5EF4-FFF2-40B4-BE49-F238E27FC236}">
                <a16:creationId xmlns:a16="http://schemas.microsoft.com/office/drawing/2014/main" id="{E3EE855A-9088-4831-B990-B2D53E6B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3">
            <a:extLst xmlns:a="http://schemas.openxmlformats.org/drawingml/2006/main">
              <a:ext uri="{FF2B5EF4-FFF2-40B4-BE49-F238E27FC236}">
                <a16:creationId xmlns:a16="http://schemas.microsoft.com/office/drawing/2014/main" id="{CAF3CC14-401B-4F18-A265-1BA0D3E2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8" name="iac-code-bg">
            <a:extLst xmlns:a="http://schemas.openxmlformats.org/drawingml/2006/main">
              <a:ext uri="{FF2B5EF4-FFF2-40B4-BE49-F238E27FC236}">
                <a16:creationId xmlns:a16="http://schemas.microsoft.com/office/drawing/2014/main" id="{365ED3C7-DD21-4C4F-9CEB-DDF97317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9"/>
          </a:solidFill>
          <a:ln xmlns:a="http://schemas.openxmlformats.org/drawingml/2006/main" w="0">
            <a:solidFill>
              <a:srgbClr val="0B1D19"/>
            </a:solidFill>
            <a:prstDash val="solid"/>
          </a:ln>
        </p:spPr>
      </p:sp>
      <p:sp>
        <p:nvSpPr>
          <p:cNvPr id="9" name="iac-code-label">
            <a:extLst xmlns:a="http://schemas.openxmlformats.org/drawingml/2006/main">
              <a:ext uri="{FF2B5EF4-FFF2-40B4-BE49-F238E27FC236}">
                <a16:creationId xmlns:a16="http://schemas.microsoft.com/office/drawing/2014/main" id="{03EE5483-9775-4E95-8FDC-30998614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7B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42D7B0"/>
                </a:solidFill>
                <a:latin typeface="Menlo"/>
                <a:ea typeface="Menlo"/>
                <a:cs typeface="Menlo"/>
              </a:rPr>
              <a:t>vulnerable-aws.tf</a:t>
            </a:r>
          </a:p>
        </p:txBody>
      </p:sp>
      <p:sp>
        <p:nvSpPr>
          <p:cNvPr id="10" name="iac-code">
            <a:extLst xmlns:a="http://schemas.openxmlformats.org/drawingml/2006/main">
              <a:ext uri="{FF2B5EF4-FFF2-40B4-BE49-F238E27FC236}">
                <a16:creationId xmlns:a16="http://schemas.microsoft.com/office/drawing/2014/main" id="{FF7A07B9-C184-4CC3-AAD9-E7500DE4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476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public bucket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open ingress from 0.0.0.0/0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public unencrypted database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wildcard IAM policy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Workshop rule: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scan the files, never apply them</a:t>
            </a:r>
          </a:p>
        </p:txBody>
      </p:sp>
      <p:sp>
        <p:nvSpPr>
          <p:cNvPr id="11" name="iac-predict">
            <a:extLst xmlns:a="http://schemas.openxmlformats.org/drawingml/2006/main">
              <a:ext uri="{FF2B5EF4-FFF2-40B4-BE49-F238E27FC236}">
                <a16:creationId xmlns:a16="http://schemas.microsoft.com/office/drawing/2014/main" id="{46F0BCA9-B87D-416F-A948-F5A789BA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431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Predict before scanning</a:t>
            </a:r>
          </a:p>
        </p:txBody>
      </p:sp>
      <p:sp>
        <p:nvSpPr>
          <p:cNvPr id="12" name="iac-steps">
            <a:extLst xmlns:a="http://schemas.openxmlformats.org/drawingml/2006/main">
              <a:ext uri="{FF2B5EF4-FFF2-40B4-BE49-F238E27FC236}">
                <a16:creationId xmlns:a16="http://schemas.microsoft.com/office/drawing/2014/main" id="{4D960C9A-EEF9-44CE-BC34-D04C0E4C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Upload the Terraform, CloudFormation, and Kubernetes fixtures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Record the findings participants expect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Run the local IaC scan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Compare file and line evidence with the predictions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Correct one setting and rescan</a:t>
            </a:r>
          </a:p>
        </p:txBody>
      </p:sp>
      <p:sp>
        <p:nvSpPr>
          <p:cNvPr id="13" name="iac-note-bg">
            <a:extLst xmlns:a="http://schemas.openxmlformats.org/drawingml/2006/main">
              <a:ext uri="{FF2B5EF4-FFF2-40B4-BE49-F238E27FC236}">
                <a16:creationId xmlns:a16="http://schemas.microsoft.com/office/drawing/2014/main" id="{C7B29D27-9374-4AF9-B00A-5AC62DB3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38750"/>
            <a:ext cx="4705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F"/>
          </a:solidFill>
          <a:ln xmlns:a="http://schemas.openxmlformats.org/drawingml/2006/main" w="0">
            <a:solidFill>
              <a:srgbClr val="DDF7EF"/>
            </a:solidFill>
            <a:prstDash val="solid"/>
          </a:ln>
        </p:spPr>
      </p:sp>
      <p:sp>
        <p:nvSpPr>
          <p:cNvPr id="14" name="iac-note">
            <a:extLst xmlns:a="http://schemas.openxmlformats.org/drawingml/2006/main">
              <a:ext uri="{FF2B5EF4-FFF2-40B4-BE49-F238E27FC236}">
                <a16:creationId xmlns:a16="http://schemas.microsoft.com/office/drawing/2014/main" id="{2ED44741-1FF8-4038-8EC9-8376E729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10200"/>
            <a:ext cx="430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This scanner is the fastest live fallback because it has no cloud dependency.</a:t>
            </a:r>
          </a:p>
        </p:txBody>
      </p:sp>
    </p:spTree>
    <p:extLst>
      <p:ext uri="{BB962C8B-B14F-4D97-AF65-F5344CB8AC3E}">
        <p14:creationId xmlns:p14="http://schemas.microsoft.com/office/powerpoint/2010/main" val="296177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4">
            <a:extLst xmlns:a="http://schemas.openxmlformats.org/drawingml/2006/main">
              <a:ext uri="{FF2B5EF4-FFF2-40B4-BE49-F238E27FC236}">
                <a16:creationId xmlns:a16="http://schemas.microsoft.com/office/drawing/2014/main" id="{79C06F8C-E261-47EC-920E-292F94B7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B2893821-EF0E-4213-8F73-9AB86AA0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Cross-scanner comparison</a:t>
            </a:r>
          </a:p>
        </p:txBody>
      </p:sp>
      <p:sp>
        <p:nvSpPr>
          <p:cNvPr id="3" name="title-rule-14">
            <a:extLst xmlns:a="http://schemas.openxmlformats.org/drawingml/2006/main">
              <a:ext uri="{FF2B5EF4-FFF2-40B4-BE49-F238E27FC236}">
                <a16:creationId xmlns:a16="http://schemas.microsoft.com/office/drawing/2014/main" id="{89C519F6-F0A4-473A-B7EC-EE985238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71f4551e204220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4">
            <a:extLst xmlns:a="http://schemas.openxmlformats.org/drawingml/2006/main">
              <a:ext uri="{FF2B5EF4-FFF2-40B4-BE49-F238E27FC236}">
                <a16:creationId xmlns:a16="http://schemas.microsoft.com/office/drawing/2014/main" id="{11612BF2-ECA1-49C6-AFE4-9F4ACF2F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4">
            <a:extLst xmlns:a="http://schemas.openxmlformats.org/drawingml/2006/main">
              <a:ext uri="{FF2B5EF4-FFF2-40B4-BE49-F238E27FC236}">
                <a16:creationId xmlns:a16="http://schemas.microsoft.com/office/drawing/2014/main" id="{17BF6C25-B308-47EF-9FA7-95F1E1B4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4">
            <a:extLst xmlns:a="http://schemas.openxmlformats.org/drawingml/2006/main">
              <a:ext uri="{FF2B5EF4-FFF2-40B4-BE49-F238E27FC236}">
                <a16:creationId xmlns:a16="http://schemas.microsoft.com/office/drawing/2014/main" id="{FFA7D6A0-513A-47A7-9050-A05A4B22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111252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667000"/>
                <a:gridCol w="2381250"/>
                <a:gridCol w="2000250"/>
                <a:gridCol w="2457450"/>
              </a:tblGrid>
              <a:tr h="71247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Scanner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Example finding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proof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Likely owner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Closure</a:t>
                      </a:r>
                    </a:p>
                  </a:txBody>
                  <a:tcPr marL="91440" marR="91440" marT="45720" marB="45720">
                    <a:solidFill>
                      <a:srgbClr val="0B1D19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AWS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 storage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Bucket policy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Cloud team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Policy change and rescan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GCP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 IAM binding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IAM policy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Cloud team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Binding removed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Kubernetes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Privileged workload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Pod and RBAC spec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Platform team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Manifest change and rescan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7124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IaC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Broad ingress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File and 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DevOps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Corrected code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omparison-prompt">
            <a:extLst xmlns:a="http://schemas.openxmlformats.org/drawingml/2006/main">
              <a:ext uri="{FF2B5EF4-FFF2-40B4-BE49-F238E27FC236}">
                <a16:creationId xmlns:a16="http://schemas.microsoft.com/office/drawing/2014/main" id="{056EE241-FBA9-408C-ADF6-DB1F16F6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Discussion: Which finding should be fixed first, and what context would change the answer?</a:t>
            </a:r>
          </a:p>
        </p:txBody>
      </p:sp>
    </p:spTree>
    <p:extLst>
      <p:ext uri="{BB962C8B-B14F-4D97-AF65-F5344CB8AC3E}">
        <p14:creationId xmlns:p14="http://schemas.microsoft.com/office/powerpoint/2010/main" val="2255739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7809d50a24300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brand-name-15">
            <a:extLst xmlns:a="http://schemas.openxmlformats.org/drawingml/2006/main">
              <a:ext uri="{FF2B5EF4-FFF2-40B4-BE49-F238E27FC236}">
                <a16:creationId xmlns:a16="http://schemas.microsoft.com/office/drawing/2014/main" id="{989C3DCA-78C5-4E4C-B8F8-33D0D2D7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module-label-15">
            <a:extLst xmlns:a="http://schemas.openxmlformats.org/drawingml/2006/main">
              <a:ext uri="{FF2B5EF4-FFF2-40B4-BE49-F238E27FC236}">
                <a16:creationId xmlns:a16="http://schemas.microsoft.com/office/drawing/2014/main" id="{720E0BA4-B2E7-4F28-8935-007A6F07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4" name="module-title-15">
            <a:extLst xmlns:a="http://schemas.openxmlformats.org/drawingml/2006/main">
              <a:ext uri="{FF2B5EF4-FFF2-40B4-BE49-F238E27FC236}">
                <a16:creationId xmlns:a16="http://schemas.microsoft.com/office/drawing/2014/main" id="{08700A8A-012E-4BB9-AF8A-BBE339DA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Practical lab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exercises</a:t>
            </a:r>
          </a:p>
        </p:txBody>
      </p:sp>
      <p:sp>
        <p:nvSpPr>
          <p:cNvPr id="5" name="module-purpose-15">
            <a:extLst xmlns:a="http://schemas.openxmlformats.org/drawingml/2006/main">
              <a:ext uri="{FF2B5EF4-FFF2-40B4-BE49-F238E27FC236}">
                <a16:creationId xmlns:a16="http://schemas.microsoft.com/office/drawing/2014/main" id="{62EBF587-6D55-4CCB-9D71-7F2C313A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rPr>
              <a:t>Participants use the four scanners in separate exercises and submit evidence from each one.</a:t>
            </a:r>
          </a:p>
        </p:txBody>
      </p:sp>
      <p:sp>
        <p:nvSpPr>
          <p:cNvPr id="6" name="module-time-15">
            <a:extLst xmlns:a="http://schemas.openxmlformats.org/drawingml/2006/main">
              <a:ext uri="{FF2B5EF4-FFF2-40B4-BE49-F238E27FC236}">
                <a16:creationId xmlns:a16="http://schemas.microsoft.com/office/drawing/2014/main" id="{8AD55CB6-FAC3-4E35-A473-629FD852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45 minutes</a:t>
            </a:r>
          </a:p>
        </p:txBody>
      </p:sp>
      <p:sp>
        <p:nvSpPr>
          <p:cNvPr id="7" name="module-rule-15">
            <a:extLst xmlns:a="http://schemas.openxmlformats.org/drawingml/2006/main">
              <a:ext uri="{FF2B5EF4-FFF2-40B4-BE49-F238E27FC236}">
                <a16:creationId xmlns:a16="http://schemas.microsoft.com/office/drawing/2014/main" id="{35D8FC0E-A355-4BCC-B6C6-DD37C00F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56E"/>
          </a:solidFill>
          <a:ln xmlns:a="http://schemas.openxmlformats.org/drawingml/2006/main" w="0">
            <a:solidFill>
              <a:srgbClr val="11856E"/>
            </a:solidFill>
            <a:prstDash val="solid"/>
          </a:ln>
        </p:spPr>
      </p:sp>
      <p:sp>
        <p:nvSpPr>
          <p:cNvPr id="8" name="module-footer-15">
            <a:extLst xmlns:a="http://schemas.openxmlformats.org/drawingml/2006/main">
              <a:ext uri="{FF2B5EF4-FFF2-40B4-BE49-F238E27FC236}">
                <a16:creationId xmlns:a16="http://schemas.microsoft.com/office/drawing/2014/main" id="{4647A3DB-3DBC-4EF9-9AAF-96460107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DeepTrustxAI CloudGuard workshop</a:t>
            </a:r>
          </a:p>
        </p:txBody>
      </p:sp>
      <p:sp>
        <p:nvSpPr>
          <p:cNvPr id="9" name="module-page-15">
            <a:extLst xmlns:a="http://schemas.openxmlformats.org/drawingml/2006/main">
              <a:ext uri="{FF2B5EF4-FFF2-40B4-BE49-F238E27FC236}">
                <a16:creationId xmlns:a16="http://schemas.microsoft.com/office/drawing/2014/main" id="{BCF9B2A0-22E6-4DD3-A3A3-1B153998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8483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858601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6">
            <a:extLst xmlns:a="http://schemas.openxmlformats.org/drawingml/2006/main">
              <a:ext uri="{FF2B5EF4-FFF2-40B4-BE49-F238E27FC236}">
                <a16:creationId xmlns:a16="http://schemas.microsoft.com/office/drawing/2014/main" id="{DDE9C6A0-6E75-444F-BCB8-6BECD84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49A84584-8C19-4A3F-AD31-82FD8414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1: AWS scanner</a:t>
            </a:r>
          </a:p>
        </p:txBody>
      </p:sp>
      <p:sp>
        <p:nvSpPr>
          <p:cNvPr id="3" name="title-rule-16">
            <a:extLst xmlns:a="http://schemas.openxmlformats.org/drawingml/2006/main">
              <a:ext uri="{FF2B5EF4-FFF2-40B4-BE49-F238E27FC236}">
                <a16:creationId xmlns:a16="http://schemas.microsoft.com/office/drawing/2014/main" id="{7A7C564D-04D8-472A-9DBF-9FA62215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4486814114646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6">
            <a:extLst xmlns:a="http://schemas.openxmlformats.org/drawingml/2006/main">
              <a:ext uri="{FF2B5EF4-FFF2-40B4-BE49-F238E27FC236}">
                <a16:creationId xmlns:a16="http://schemas.microsoft.com/office/drawing/2014/main" id="{C4D5CCBB-1988-4F84-89FE-37854FD1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6">
            <a:extLst xmlns:a="http://schemas.openxmlformats.org/drawingml/2006/main">
              <a:ext uri="{FF2B5EF4-FFF2-40B4-BE49-F238E27FC236}">
                <a16:creationId xmlns:a16="http://schemas.microsoft.com/office/drawing/2014/main" id="{56239067-4BC4-4ED9-8AA8-2611BCB6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6">
            <a:extLst xmlns:a="http://schemas.openxmlformats.org/drawingml/2006/main">
              <a:ext uri="{FF2B5EF4-FFF2-40B4-BE49-F238E27FC236}">
                <a16:creationId xmlns:a16="http://schemas.microsoft.com/office/drawing/2014/main" id="{8C22D1EB-8828-42DE-BA16-F7E2CEB8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8" name="lab-band-16">
            <a:extLst xmlns:a="http://schemas.openxmlformats.org/drawingml/2006/main">
              <a:ext uri="{FF2B5EF4-FFF2-40B4-BE49-F238E27FC236}">
                <a16:creationId xmlns:a16="http://schemas.microsoft.com/office/drawing/2014/main" id="{3132F4A2-33C0-4CB1-9F30-D6B29872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38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" name="lab-number-16">
            <a:extLst xmlns:a="http://schemas.openxmlformats.org/drawingml/2006/main">
              <a:ext uri="{FF2B5EF4-FFF2-40B4-BE49-F238E27FC236}">
                <a16:creationId xmlns:a16="http://schemas.microsoft.com/office/drawing/2014/main" id="{09A1CD47-EB3F-4D1B-B7AA-31A3E35D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 1</a:t>
            </a:r>
          </a:p>
        </p:txBody>
      </p:sp>
      <p:sp>
        <p:nvSpPr>
          <p:cNvPr id="10" name="lab-provider-16">
            <a:extLst xmlns:a="http://schemas.openxmlformats.org/drawingml/2006/main">
              <a:ext uri="{FF2B5EF4-FFF2-40B4-BE49-F238E27FC236}">
                <a16:creationId xmlns:a16="http://schemas.microsoft.com/office/drawing/2014/main" id="{57207D11-A97B-438B-8909-C0D43ABF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AWS</a:t>
            </a:r>
          </a:p>
        </p:txBody>
      </p:sp>
      <p:sp>
        <p:nvSpPr>
          <p:cNvPr id="11" name="lab-time-label-16">
            <a:extLst xmlns:a="http://schemas.openxmlformats.org/drawingml/2006/main">
              <a:ext uri="{FF2B5EF4-FFF2-40B4-BE49-F238E27FC236}">
                <a16:creationId xmlns:a16="http://schemas.microsoft.com/office/drawing/2014/main" id="{E4BA013D-3358-4F14-99AF-8BAFB139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Participant time</a:t>
            </a:r>
          </a:p>
        </p:txBody>
      </p:sp>
      <p:sp>
        <p:nvSpPr>
          <p:cNvPr id="12" name="lab-time-16">
            <a:extLst xmlns:a="http://schemas.openxmlformats.org/drawingml/2006/main">
              <a:ext uri="{FF2B5EF4-FFF2-40B4-BE49-F238E27FC236}">
                <a16:creationId xmlns:a16="http://schemas.microsoft.com/office/drawing/2014/main" id="{4CB38F95-E35E-4054-BADB-4BAFEB3C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 minutes</a:t>
            </a:r>
          </a:p>
        </p:txBody>
      </p:sp>
      <p:sp>
        <p:nvSpPr>
          <p:cNvPr id="13" name="lab-setup-label-16">
            <a:extLst xmlns:a="http://schemas.openxmlformats.org/drawingml/2006/main">
              <a:ext uri="{FF2B5EF4-FFF2-40B4-BE49-F238E27FC236}">
                <a16:creationId xmlns:a16="http://schemas.microsoft.com/office/drawing/2014/main" id="{672E9EBB-17BE-4036-908F-5839DED1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Starting point</a:t>
            </a:r>
          </a:p>
        </p:txBody>
      </p:sp>
      <p:sp>
        <p:nvSpPr>
          <p:cNvPr id="14" name="lab-setup-16">
            <a:extLst xmlns:a="http://schemas.openxmlformats.org/drawingml/2006/main">
              <a:ext uri="{FF2B5EF4-FFF2-40B4-BE49-F238E27FC236}">
                <a16:creationId xmlns:a16="http://schemas.microsoft.com/office/drawing/2014/main" id="{74E937F6-CA3B-47DC-84E4-07D37887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Use the assigned AWS sandbox with the pre-created CloudGuard test resources.</a:t>
            </a:r>
          </a:p>
        </p:txBody>
      </p:sp>
      <p:sp>
        <p:nvSpPr>
          <p:cNvPr id="15" name="lab-task-label-16">
            <a:extLst xmlns:a="http://schemas.openxmlformats.org/drawingml/2006/main">
              <a:ext uri="{FF2B5EF4-FFF2-40B4-BE49-F238E27FC236}">
                <a16:creationId xmlns:a16="http://schemas.microsoft.com/office/drawing/2014/main" id="{E8C055C6-1CBA-4980-8D1B-4708A2B3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Participant tasks</a:t>
            </a:r>
          </a:p>
        </p:txBody>
      </p:sp>
      <p:sp>
        <p:nvSpPr>
          <p:cNvPr id="16" name="lab-tasks-16">
            <a:extLst xmlns:a="http://schemas.openxmlformats.org/drawingml/2006/main">
              <a:ext uri="{FF2B5EF4-FFF2-40B4-BE49-F238E27FC236}">
                <a16:creationId xmlns:a16="http://schemas.microsoft.com/office/drawing/2014/main" id="{BA0DBA95-45B6-4EC4-9AC0-F2A1976B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Confirm the account ID and tagged lab resources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Run the AWS scan from the portal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Identify one storage and one IAM or network finding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Choose the higher-risk finding and explain why</a:t>
            </a:r>
          </a:p>
        </p:txBody>
      </p:sp>
      <p:sp>
        <p:nvSpPr>
          <p:cNvPr id="17" name="lab-evidence-label-16">
            <a:extLst xmlns:a="http://schemas.openxmlformats.org/drawingml/2006/main">
              <a:ext uri="{FF2B5EF4-FFF2-40B4-BE49-F238E27FC236}">
                <a16:creationId xmlns:a16="http://schemas.microsoft.com/office/drawing/2014/main" id="{1DAAE97F-9B44-426A-8518-A2643F1E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18" name="lab-evidence-16">
            <a:extLst xmlns:a="http://schemas.openxmlformats.org/drawingml/2006/main">
              <a:ext uri="{FF2B5EF4-FFF2-40B4-BE49-F238E27FC236}">
                <a16:creationId xmlns:a16="http://schemas.microsoft.com/office/drawing/2014/main" id="{7F5E7204-5FB3-4B66-A2E6-520D3037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Scan job 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Finding 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One evidence screenshot</a:t>
            </a:r>
          </a:p>
        </p:txBody>
      </p:sp>
      <p:sp>
        <p:nvSpPr>
          <p:cNvPr id="19" name="lab-finish-bg-16">
            <a:extLst xmlns:a="http://schemas.openxmlformats.org/drawingml/2006/main">
              <a:ext uri="{FF2B5EF4-FFF2-40B4-BE49-F238E27FC236}">
                <a16:creationId xmlns:a16="http://schemas.microsoft.com/office/drawing/2014/main" id="{388DEF09-1FBB-4E16-BAB8-C274BE5A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784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0" name="lab-finish-16">
            <a:extLst xmlns:a="http://schemas.openxmlformats.org/drawingml/2006/main">
              <a:ext uri="{FF2B5EF4-FFF2-40B4-BE49-F238E27FC236}">
                <a16:creationId xmlns:a16="http://schemas.microsoft.com/office/drawing/2014/main" id="{B78F90DF-D180-44A5-A63E-15D99C69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02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Completion check: the chosen finding includes an asset, proof, severity, and owner</a:t>
            </a:r>
          </a:p>
        </p:txBody>
      </p:sp>
    </p:spTree>
    <p:extLst>
      <p:ext uri="{BB962C8B-B14F-4D97-AF65-F5344CB8AC3E}">
        <p14:creationId xmlns:p14="http://schemas.microsoft.com/office/powerpoint/2010/main" val="4316073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7">
            <a:extLst xmlns:a="http://schemas.openxmlformats.org/drawingml/2006/main">
              <a:ext uri="{FF2B5EF4-FFF2-40B4-BE49-F238E27FC236}">
                <a16:creationId xmlns:a16="http://schemas.microsoft.com/office/drawing/2014/main" id="{739B6BDA-43D8-4187-B5A8-945AE1D5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A421F34B-FCC2-4D3F-90B3-39334862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2: GCP scanner</a:t>
            </a:r>
          </a:p>
        </p:txBody>
      </p:sp>
      <p:sp>
        <p:nvSpPr>
          <p:cNvPr id="3" name="title-rule-17">
            <a:extLst xmlns:a="http://schemas.openxmlformats.org/drawingml/2006/main">
              <a:ext uri="{FF2B5EF4-FFF2-40B4-BE49-F238E27FC236}">
                <a16:creationId xmlns:a16="http://schemas.microsoft.com/office/drawing/2014/main" id="{2C6786DA-DFF7-446C-AD9C-5867FC67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da466c4614a69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7">
            <a:extLst xmlns:a="http://schemas.openxmlformats.org/drawingml/2006/main">
              <a:ext uri="{FF2B5EF4-FFF2-40B4-BE49-F238E27FC236}">
                <a16:creationId xmlns:a16="http://schemas.microsoft.com/office/drawing/2014/main" id="{7A3ADD2F-C0C8-44B4-9263-C5BC2546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7">
            <a:extLst xmlns:a="http://schemas.openxmlformats.org/drawingml/2006/main">
              <a:ext uri="{FF2B5EF4-FFF2-40B4-BE49-F238E27FC236}">
                <a16:creationId xmlns:a16="http://schemas.microsoft.com/office/drawing/2014/main" id="{2AC7F4D3-6322-4374-8CA2-FA71DFE4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7">
            <a:extLst xmlns:a="http://schemas.openxmlformats.org/drawingml/2006/main">
              <a:ext uri="{FF2B5EF4-FFF2-40B4-BE49-F238E27FC236}">
                <a16:creationId xmlns:a16="http://schemas.microsoft.com/office/drawing/2014/main" id="{E0CF0228-8E32-462C-9439-3B83DB26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8" name="lab-band-17">
            <a:extLst xmlns:a="http://schemas.openxmlformats.org/drawingml/2006/main">
              <a:ext uri="{FF2B5EF4-FFF2-40B4-BE49-F238E27FC236}">
                <a16:creationId xmlns:a16="http://schemas.microsoft.com/office/drawing/2014/main" id="{9C657DCB-B7CC-4397-8A2D-F9C222CB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38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9" name="lab-number-17">
            <a:extLst xmlns:a="http://schemas.openxmlformats.org/drawingml/2006/main">
              <a:ext uri="{FF2B5EF4-FFF2-40B4-BE49-F238E27FC236}">
                <a16:creationId xmlns:a16="http://schemas.microsoft.com/office/drawing/2014/main" id="{92E6FCFA-DB74-4A7B-BDE6-206784ED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 2</a:t>
            </a:r>
          </a:p>
        </p:txBody>
      </p:sp>
      <p:sp>
        <p:nvSpPr>
          <p:cNvPr id="10" name="lab-provider-17">
            <a:extLst xmlns:a="http://schemas.openxmlformats.org/drawingml/2006/main">
              <a:ext uri="{FF2B5EF4-FFF2-40B4-BE49-F238E27FC236}">
                <a16:creationId xmlns:a16="http://schemas.microsoft.com/office/drawing/2014/main" id="{C04C5F09-3C91-4F43-94F1-74A3B820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GCP</a:t>
            </a:r>
          </a:p>
        </p:txBody>
      </p:sp>
      <p:sp>
        <p:nvSpPr>
          <p:cNvPr id="11" name="lab-time-label-17">
            <a:extLst xmlns:a="http://schemas.openxmlformats.org/drawingml/2006/main">
              <a:ext uri="{FF2B5EF4-FFF2-40B4-BE49-F238E27FC236}">
                <a16:creationId xmlns:a16="http://schemas.microsoft.com/office/drawing/2014/main" id="{0B8145A2-5039-4585-BE76-F5F88813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Participant time</a:t>
            </a:r>
          </a:p>
        </p:txBody>
      </p:sp>
      <p:sp>
        <p:nvSpPr>
          <p:cNvPr id="12" name="lab-time-17">
            <a:extLst xmlns:a="http://schemas.openxmlformats.org/drawingml/2006/main">
              <a:ext uri="{FF2B5EF4-FFF2-40B4-BE49-F238E27FC236}">
                <a16:creationId xmlns:a16="http://schemas.microsoft.com/office/drawing/2014/main" id="{003A252D-3B27-4167-BB9E-CE429FEE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 minutes</a:t>
            </a:r>
          </a:p>
        </p:txBody>
      </p:sp>
      <p:sp>
        <p:nvSpPr>
          <p:cNvPr id="13" name="lab-setup-label-17">
            <a:extLst xmlns:a="http://schemas.openxmlformats.org/drawingml/2006/main">
              <a:ext uri="{FF2B5EF4-FFF2-40B4-BE49-F238E27FC236}">
                <a16:creationId xmlns:a16="http://schemas.microsoft.com/office/drawing/2014/main" id="{A45955F3-2305-4FAF-A3EE-BEACEB92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Starting point</a:t>
            </a:r>
          </a:p>
        </p:txBody>
      </p:sp>
      <p:sp>
        <p:nvSpPr>
          <p:cNvPr id="14" name="lab-setup-17">
            <a:extLst xmlns:a="http://schemas.openxmlformats.org/drawingml/2006/main">
              <a:ext uri="{FF2B5EF4-FFF2-40B4-BE49-F238E27FC236}">
                <a16:creationId xmlns:a16="http://schemas.microsoft.com/office/drawing/2014/main" id="{4D7278F5-3F31-4DB9-944A-BC2340AE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Use the assigned disposable project and the pre-created CloudGuard test resources.</a:t>
            </a:r>
          </a:p>
        </p:txBody>
      </p:sp>
      <p:sp>
        <p:nvSpPr>
          <p:cNvPr id="15" name="lab-task-label-17">
            <a:extLst xmlns:a="http://schemas.openxmlformats.org/drawingml/2006/main">
              <a:ext uri="{FF2B5EF4-FFF2-40B4-BE49-F238E27FC236}">
                <a16:creationId xmlns:a16="http://schemas.microsoft.com/office/drawing/2014/main" id="{AB50E5C4-6F25-45BE-875F-7050CBA3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Participant tasks</a:t>
            </a:r>
          </a:p>
        </p:txBody>
      </p:sp>
      <p:sp>
        <p:nvSpPr>
          <p:cNvPr id="16" name="lab-tasks-17">
            <a:extLst xmlns:a="http://schemas.openxmlformats.org/drawingml/2006/main">
              <a:ext uri="{FF2B5EF4-FFF2-40B4-BE49-F238E27FC236}">
                <a16:creationId xmlns:a16="http://schemas.microsoft.com/office/drawing/2014/main" id="{3B4A982A-04A8-4000-90F7-110E3DF1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Confirm the project ID and resource labels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Run the GCP scan from the portal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Find the public bucket and one network weakness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Compare the result with the equivalent AWS risk</a:t>
            </a:r>
          </a:p>
        </p:txBody>
      </p:sp>
      <p:sp>
        <p:nvSpPr>
          <p:cNvPr id="17" name="lab-evidence-label-17">
            <a:extLst xmlns:a="http://schemas.openxmlformats.org/drawingml/2006/main">
              <a:ext uri="{FF2B5EF4-FFF2-40B4-BE49-F238E27FC236}">
                <a16:creationId xmlns:a16="http://schemas.microsoft.com/office/drawing/2014/main" id="{7131FD9A-EC74-4DCF-82D1-F232ADEB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85F4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18" name="lab-evidence-17">
            <a:extLst xmlns:a="http://schemas.openxmlformats.org/drawingml/2006/main">
              <a:ext uri="{FF2B5EF4-FFF2-40B4-BE49-F238E27FC236}">
                <a16:creationId xmlns:a16="http://schemas.microsoft.com/office/drawing/2014/main" id="{8F4BBBEE-2137-4C31-A2B7-092A3C0A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Scan job 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Finding 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Cross-cloud comparison note</a:t>
            </a:r>
          </a:p>
        </p:txBody>
      </p:sp>
      <p:sp>
        <p:nvSpPr>
          <p:cNvPr id="19" name="lab-finish-bg-17">
            <a:extLst xmlns:a="http://schemas.openxmlformats.org/drawingml/2006/main">
              <a:ext uri="{FF2B5EF4-FFF2-40B4-BE49-F238E27FC236}">
                <a16:creationId xmlns:a16="http://schemas.microsoft.com/office/drawing/2014/main" id="{AD71CF53-2DEC-4175-9BF9-2787A900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784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0" name="lab-finish-17">
            <a:extLst xmlns:a="http://schemas.openxmlformats.org/drawingml/2006/main">
              <a:ext uri="{FF2B5EF4-FFF2-40B4-BE49-F238E27FC236}">
                <a16:creationId xmlns:a16="http://schemas.microsoft.com/office/drawing/2014/main" id="{90C02566-C61B-4B8E-B685-0997FEAE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02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Completion check: the finding maps to a provider-neutral risk category</a:t>
            </a:r>
          </a:p>
        </p:txBody>
      </p:sp>
    </p:spTree>
    <p:extLst>
      <p:ext uri="{BB962C8B-B14F-4D97-AF65-F5344CB8AC3E}">
        <p14:creationId xmlns:p14="http://schemas.microsoft.com/office/powerpoint/2010/main" val="13879498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8">
            <a:extLst xmlns:a="http://schemas.openxmlformats.org/drawingml/2006/main">
              <a:ext uri="{FF2B5EF4-FFF2-40B4-BE49-F238E27FC236}">
                <a16:creationId xmlns:a16="http://schemas.microsoft.com/office/drawing/2014/main" id="{EC9B5659-9242-49B8-A878-34492C3D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A73F9F87-66BB-48C7-B587-699A3154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3: Kubernetes scanner</a:t>
            </a:r>
          </a:p>
        </p:txBody>
      </p:sp>
      <p:sp>
        <p:nvSpPr>
          <p:cNvPr id="3" name="title-rule-18">
            <a:extLst xmlns:a="http://schemas.openxmlformats.org/drawingml/2006/main">
              <a:ext uri="{FF2B5EF4-FFF2-40B4-BE49-F238E27FC236}">
                <a16:creationId xmlns:a16="http://schemas.microsoft.com/office/drawing/2014/main" id="{DD687C73-2E99-4629-9129-C3BABAA9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066aced52407f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8">
            <a:extLst xmlns:a="http://schemas.openxmlformats.org/drawingml/2006/main">
              <a:ext uri="{FF2B5EF4-FFF2-40B4-BE49-F238E27FC236}">
                <a16:creationId xmlns:a16="http://schemas.microsoft.com/office/drawing/2014/main" id="{E00438F6-F696-4774-A936-D52E18F5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8">
            <a:extLst xmlns:a="http://schemas.openxmlformats.org/drawingml/2006/main">
              <a:ext uri="{FF2B5EF4-FFF2-40B4-BE49-F238E27FC236}">
                <a16:creationId xmlns:a16="http://schemas.microsoft.com/office/drawing/2014/main" id="{12779D5A-7A1D-47EC-8CF4-56B2B37A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8">
            <a:extLst xmlns:a="http://schemas.openxmlformats.org/drawingml/2006/main">
              <a:ext uri="{FF2B5EF4-FFF2-40B4-BE49-F238E27FC236}">
                <a16:creationId xmlns:a16="http://schemas.microsoft.com/office/drawing/2014/main" id="{A0CFFE83-094A-4E55-9F5B-BA4CCDA3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8" name="lab-band-18">
            <a:extLst xmlns:a="http://schemas.openxmlformats.org/drawingml/2006/main">
              <a:ext uri="{FF2B5EF4-FFF2-40B4-BE49-F238E27FC236}">
                <a16:creationId xmlns:a16="http://schemas.microsoft.com/office/drawing/2014/main" id="{ED59FF30-5508-41D2-9F76-96A27B3A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38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CE5"/>
          </a:solidFill>
          <a:ln xmlns:a="http://schemas.openxmlformats.org/drawingml/2006/main" w="0">
            <a:solidFill>
              <a:srgbClr val="326CE5"/>
            </a:solidFill>
            <a:prstDash val="solid"/>
          </a:ln>
        </p:spPr>
      </p:sp>
      <p:sp>
        <p:nvSpPr>
          <p:cNvPr id="9" name="lab-number-18">
            <a:extLst xmlns:a="http://schemas.openxmlformats.org/drawingml/2006/main">
              <a:ext uri="{FF2B5EF4-FFF2-40B4-BE49-F238E27FC236}">
                <a16:creationId xmlns:a16="http://schemas.microsoft.com/office/drawing/2014/main" id="{36FA3E8F-46A0-42AB-97B6-81B12E13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 3</a:t>
            </a:r>
          </a:p>
        </p:txBody>
      </p:sp>
      <p:sp>
        <p:nvSpPr>
          <p:cNvPr id="10" name="lab-provider-18">
            <a:extLst xmlns:a="http://schemas.openxmlformats.org/drawingml/2006/main">
              <a:ext uri="{FF2B5EF4-FFF2-40B4-BE49-F238E27FC236}">
                <a16:creationId xmlns:a16="http://schemas.microsoft.com/office/drawing/2014/main" id="{B52436C1-D3E3-41E7-83D5-6D77160A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Kubernetes</a:t>
            </a:r>
          </a:p>
        </p:txBody>
      </p:sp>
      <p:sp>
        <p:nvSpPr>
          <p:cNvPr id="11" name="lab-time-label-18">
            <a:extLst xmlns:a="http://schemas.openxmlformats.org/drawingml/2006/main">
              <a:ext uri="{FF2B5EF4-FFF2-40B4-BE49-F238E27FC236}">
                <a16:creationId xmlns:a16="http://schemas.microsoft.com/office/drawing/2014/main" id="{A38A33B9-6268-4716-B163-75C99509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Participant time</a:t>
            </a:r>
          </a:p>
        </p:txBody>
      </p:sp>
      <p:sp>
        <p:nvSpPr>
          <p:cNvPr id="12" name="lab-time-18">
            <a:extLst xmlns:a="http://schemas.openxmlformats.org/drawingml/2006/main">
              <a:ext uri="{FF2B5EF4-FFF2-40B4-BE49-F238E27FC236}">
                <a16:creationId xmlns:a16="http://schemas.microsoft.com/office/drawing/2014/main" id="{D48D5435-6DCD-4BDB-9539-0F36DC51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 minutes</a:t>
            </a:r>
          </a:p>
        </p:txBody>
      </p:sp>
      <p:sp>
        <p:nvSpPr>
          <p:cNvPr id="13" name="lab-setup-label-18">
            <a:extLst xmlns:a="http://schemas.openxmlformats.org/drawingml/2006/main">
              <a:ext uri="{FF2B5EF4-FFF2-40B4-BE49-F238E27FC236}">
                <a16:creationId xmlns:a16="http://schemas.microsoft.com/office/drawing/2014/main" id="{BE627D25-2697-4070-B29F-38C79087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Starting point</a:t>
            </a:r>
          </a:p>
        </p:txBody>
      </p:sp>
      <p:sp>
        <p:nvSpPr>
          <p:cNvPr id="14" name="lab-setup-18">
            <a:extLst xmlns:a="http://schemas.openxmlformats.org/drawingml/2006/main">
              <a:ext uri="{FF2B5EF4-FFF2-40B4-BE49-F238E27FC236}">
                <a16:creationId xmlns:a16="http://schemas.microsoft.com/office/drawing/2014/main" id="{8E3DE642-D285-4E10-96BA-3AC1EC8E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Use a disposable kind, k3s, minikube, or instructor-provided cluster.</a:t>
            </a:r>
          </a:p>
        </p:txBody>
      </p:sp>
      <p:sp>
        <p:nvSpPr>
          <p:cNvPr id="15" name="lab-task-label-18">
            <a:extLst xmlns:a="http://schemas.openxmlformats.org/drawingml/2006/main">
              <a:ext uri="{FF2B5EF4-FFF2-40B4-BE49-F238E27FC236}">
                <a16:creationId xmlns:a16="http://schemas.microsoft.com/office/drawing/2014/main" id="{F5761968-5C99-42AB-920D-CD7FB7D7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Participant tasks</a:t>
            </a:r>
          </a:p>
        </p:txBody>
      </p:sp>
      <p:sp>
        <p:nvSpPr>
          <p:cNvPr id="16" name="lab-tasks-18">
            <a:extLst xmlns:a="http://schemas.openxmlformats.org/drawingml/2006/main">
              <a:ext uri="{FF2B5EF4-FFF2-40B4-BE49-F238E27FC236}">
                <a16:creationId xmlns:a16="http://schemas.microsoft.com/office/drawing/2014/main" id="{AC6BFC08-05F7-4732-947B-0BEFAFAF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Apply vulnerable-k8s.yaml to the cloudguard-test namespace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Run the Kubernetes scan with the assigned kubeconfig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Identify the cluster-admin binding and privileged workload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Delete the manifest after evidence collection</a:t>
            </a:r>
          </a:p>
        </p:txBody>
      </p:sp>
      <p:sp>
        <p:nvSpPr>
          <p:cNvPr id="17" name="lab-evidence-label-18">
            <a:extLst xmlns:a="http://schemas.openxmlformats.org/drawingml/2006/main">
              <a:ext uri="{FF2B5EF4-FFF2-40B4-BE49-F238E27FC236}">
                <a16:creationId xmlns:a16="http://schemas.microsoft.com/office/drawing/2014/main" id="{6A9159EF-0BBC-4B51-9D98-683A15EC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26CE5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18" name="lab-evidence-18">
            <a:extLst xmlns:a="http://schemas.openxmlformats.org/drawingml/2006/main">
              <a:ext uri="{FF2B5EF4-FFF2-40B4-BE49-F238E27FC236}">
                <a16:creationId xmlns:a16="http://schemas.microsoft.com/office/drawing/2014/main" id="{D57CB14F-A994-4447-89C9-8B571653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Finding ID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RBAC or workload proof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kubectl delete result</a:t>
            </a:r>
          </a:p>
        </p:txBody>
      </p:sp>
      <p:sp>
        <p:nvSpPr>
          <p:cNvPr id="19" name="lab-finish-bg-18">
            <a:extLst xmlns:a="http://schemas.openxmlformats.org/drawingml/2006/main">
              <a:ext uri="{FF2B5EF4-FFF2-40B4-BE49-F238E27FC236}">
                <a16:creationId xmlns:a16="http://schemas.microsoft.com/office/drawing/2014/main" id="{DF8039A7-B658-4C8A-8D87-289D2BF2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784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0" name="lab-finish-18">
            <a:extLst xmlns:a="http://schemas.openxmlformats.org/drawingml/2006/main">
              <a:ext uri="{FF2B5EF4-FFF2-40B4-BE49-F238E27FC236}">
                <a16:creationId xmlns:a16="http://schemas.microsoft.com/office/drawing/2014/main" id="{B943B953-FB37-42C2-9B9F-33F478EB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02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Completion check: the namespace is deleted and the cleanup event is retained</a:t>
            </a:r>
          </a:p>
        </p:txBody>
      </p:sp>
    </p:spTree>
    <p:extLst>
      <p:ext uri="{BB962C8B-B14F-4D97-AF65-F5344CB8AC3E}">
        <p14:creationId xmlns:p14="http://schemas.microsoft.com/office/powerpoint/2010/main" val="16850102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9">
            <a:extLst xmlns:a="http://schemas.openxmlformats.org/drawingml/2006/main">
              <a:ext uri="{FF2B5EF4-FFF2-40B4-BE49-F238E27FC236}">
                <a16:creationId xmlns:a16="http://schemas.microsoft.com/office/drawing/2014/main" id="{6C8D8A83-8A77-487F-892E-812C148D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9DE1D8FD-5013-407D-95F1-AEAD5183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4: Infrastructure as Code scanner</a:t>
            </a:r>
          </a:p>
        </p:txBody>
      </p:sp>
      <p:sp>
        <p:nvSpPr>
          <p:cNvPr id="3" name="title-rule-19">
            <a:extLst xmlns:a="http://schemas.openxmlformats.org/drawingml/2006/main">
              <a:ext uri="{FF2B5EF4-FFF2-40B4-BE49-F238E27FC236}">
                <a16:creationId xmlns:a16="http://schemas.microsoft.com/office/drawing/2014/main" id="{D3734F7B-D700-4C33-92DE-96B3FC97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25979144d4394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19">
            <a:extLst xmlns:a="http://schemas.openxmlformats.org/drawingml/2006/main">
              <a:ext uri="{FF2B5EF4-FFF2-40B4-BE49-F238E27FC236}">
                <a16:creationId xmlns:a16="http://schemas.microsoft.com/office/drawing/2014/main" id="{3A8D7DFE-CA6F-4150-BC37-EB601580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19">
            <a:extLst xmlns:a="http://schemas.openxmlformats.org/drawingml/2006/main">
              <a:ext uri="{FF2B5EF4-FFF2-40B4-BE49-F238E27FC236}">
                <a16:creationId xmlns:a16="http://schemas.microsoft.com/office/drawing/2014/main" id="{FE201AA1-87DC-41F3-A191-FE2F83A3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19">
            <a:extLst xmlns:a="http://schemas.openxmlformats.org/drawingml/2006/main">
              <a:ext uri="{FF2B5EF4-FFF2-40B4-BE49-F238E27FC236}">
                <a16:creationId xmlns:a16="http://schemas.microsoft.com/office/drawing/2014/main" id="{07F5FE3D-5211-4BDA-96BC-99A24409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8" name="lab-band-19">
            <a:extLst xmlns:a="http://schemas.openxmlformats.org/drawingml/2006/main">
              <a:ext uri="{FF2B5EF4-FFF2-40B4-BE49-F238E27FC236}">
                <a16:creationId xmlns:a16="http://schemas.microsoft.com/office/drawing/2014/main" id="{D394C7CA-F333-4914-9A48-DE92B5AC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38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9" name="lab-number-19">
            <a:extLst xmlns:a="http://schemas.openxmlformats.org/drawingml/2006/main">
              <a:ext uri="{FF2B5EF4-FFF2-40B4-BE49-F238E27FC236}">
                <a16:creationId xmlns:a16="http://schemas.microsoft.com/office/drawing/2014/main" id="{93FAC404-BE30-49C0-89DC-9DC15A0C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LAB 4</a:t>
            </a:r>
          </a:p>
        </p:txBody>
      </p:sp>
      <p:sp>
        <p:nvSpPr>
          <p:cNvPr id="10" name="lab-provider-19">
            <a:extLst xmlns:a="http://schemas.openxmlformats.org/drawingml/2006/main">
              <a:ext uri="{FF2B5EF4-FFF2-40B4-BE49-F238E27FC236}">
                <a16:creationId xmlns:a16="http://schemas.microsoft.com/office/drawing/2014/main" id="{A002A0CB-977F-4C84-A6BD-DB6F84CB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IaC</a:t>
            </a:r>
          </a:p>
        </p:txBody>
      </p:sp>
      <p:sp>
        <p:nvSpPr>
          <p:cNvPr id="11" name="lab-time-label-19">
            <a:extLst xmlns:a="http://schemas.openxmlformats.org/drawingml/2006/main">
              <a:ext uri="{FF2B5EF4-FFF2-40B4-BE49-F238E27FC236}">
                <a16:creationId xmlns:a16="http://schemas.microsoft.com/office/drawing/2014/main" id="{783B589D-26E9-4E37-8968-3079C26B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Participant time</a:t>
            </a:r>
          </a:p>
        </p:txBody>
      </p:sp>
      <p:sp>
        <p:nvSpPr>
          <p:cNvPr id="12" name="lab-time-19">
            <a:extLst xmlns:a="http://schemas.openxmlformats.org/drawingml/2006/main">
              <a:ext uri="{FF2B5EF4-FFF2-40B4-BE49-F238E27FC236}">
                <a16:creationId xmlns:a16="http://schemas.microsoft.com/office/drawing/2014/main" id="{B96E2619-35A5-4929-A7B3-0F5FEF77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 minutes</a:t>
            </a:r>
          </a:p>
        </p:txBody>
      </p:sp>
      <p:sp>
        <p:nvSpPr>
          <p:cNvPr id="13" name="lab-setup-label-19">
            <a:extLst xmlns:a="http://schemas.openxmlformats.org/drawingml/2006/main">
              <a:ext uri="{FF2B5EF4-FFF2-40B4-BE49-F238E27FC236}">
                <a16:creationId xmlns:a16="http://schemas.microsoft.com/office/drawing/2014/main" id="{D5C12286-5603-47E4-9A01-807C5241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47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Starting point</a:t>
            </a:r>
          </a:p>
        </p:txBody>
      </p:sp>
      <p:sp>
        <p:nvSpPr>
          <p:cNvPr id="14" name="lab-setup-19">
            <a:extLst xmlns:a="http://schemas.openxmlformats.org/drawingml/2006/main">
              <a:ext uri="{FF2B5EF4-FFF2-40B4-BE49-F238E27FC236}">
                <a16:creationId xmlns:a16="http://schemas.microsoft.com/office/drawing/2014/main" id="{A8579383-9DE9-44EA-9595-75D86A1D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Use the local grc-platform/cloudguard-test-labs/iac folder. Do not apply any file.</a:t>
            </a:r>
          </a:p>
        </p:txBody>
      </p:sp>
      <p:sp>
        <p:nvSpPr>
          <p:cNvPr id="15" name="lab-task-label-19">
            <a:extLst xmlns:a="http://schemas.openxmlformats.org/drawingml/2006/main">
              <a:ext uri="{FF2B5EF4-FFF2-40B4-BE49-F238E27FC236}">
                <a16:creationId xmlns:a16="http://schemas.microsoft.com/office/drawing/2014/main" id="{926569DA-3F22-4888-9AE5-253ACEF0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Participant tasks</a:t>
            </a:r>
          </a:p>
        </p:txBody>
      </p:sp>
      <p:sp>
        <p:nvSpPr>
          <p:cNvPr id="16" name="lab-tasks-19">
            <a:extLst xmlns:a="http://schemas.openxmlformats.org/drawingml/2006/main">
              <a:ext uri="{FF2B5EF4-FFF2-40B4-BE49-F238E27FC236}">
                <a16:creationId xmlns:a16="http://schemas.microsoft.com/office/drawing/2014/main" id="{1C4BED96-9DEF-43EC-ABBB-59A19FEB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Predict three findings before the scan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Upload or select the IaC fixture folder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Run the scanner and compare results with the prediction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Correct one setting and run the scan again</a:t>
            </a:r>
          </a:p>
        </p:txBody>
      </p:sp>
      <p:sp>
        <p:nvSpPr>
          <p:cNvPr id="17" name="lab-evidence-label-19">
            <a:extLst xmlns:a="http://schemas.openxmlformats.org/drawingml/2006/main">
              <a:ext uri="{FF2B5EF4-FFF2-40B4-BE49-F238E27FC236}">
                <a16:creationId xmlns:a16="http://schemas.microsoft.com/office/drawing/2014/main" id="{21DBF5AF-982C-4A36-B82A-284568C2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C3AED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18" name="lab-evidence-19">
            <a:extLst xmlns:a="http://schemas.openxmlformats.org/drawingml/2006/main">
              <a:ext uri="{FF2B5EF4-FFF2-40B4-BE49-F238E27FC236}">
                <a16:creationId xmlns:a16="http://schemas.microsoft.com/office/drawing/2014/main" id="{FD7F1F52-ABD8-4691-AA54-B5A4C48C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Original finding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File and line evidence</a:t>
            </a:r>
          </a:p>
          <a:p xmlns:a="http://schemas.openxmlformats.org/drawingml/2006/main">
            <a:pPr marL="228600" indent="-114300">
              <a:spcAft>
                <a:spcPts val="600"/>
              </a:spcAft>
              <a:buChar char="•"/>
              <a:def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Corrected scan result</a:t>
            </a:r>
          </a:p>
        </p:txBody>
      </p:sp>
      <p:sp>
        <p:nvSpPr>
          <p:cNvPr id="19" name="lab-finish-bg-19">
            <a:extLst xmlns:a="http://schemas.openxmlformats.org/drawingml/2006/main">
              <a:ext uri="{FF2B5EF4-FFF2-40B4-BE49-F238E27FC236}">
                <a16:creationId xmlns:a16="http://schemas.microsoft.com/office/drawing/2014/main" id="{81E203D0-DC32-42F4-AF37-FF2A7237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7848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0">
            <a:solidFill>
              <a:srgbClr val="F2F7F5"/>
            </a:solidFill>
            <a:prstDash val="solid"/>
          </a:ln>
        </p:spPr>
      </p:sp>
      <p:sp>
        <p:nvSpPr>
          <p:cNvPr id="20" name="lab-finish-19">
            <a:extLst xmlns:a="http://schemas.openxmlformats.org/drawingml/2006/main">
              <a:ext uri="{FF2B5EF4-FFF2-40B4-BE49-F238E27FC236}">
                <a16:creationId xmlns:a16="http://schemas.microsoft.com/office/drawing/2014/main" id="{3CA391EC-51C7-4AB6-B51F-459FE137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0200"/>
            <a:ext cx="739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Completion check: one unsafe setting has a documented before and after result</a:t>
            </a:r>
          </a:p>
        </p:txBody>
      </p:sp>
    </p:spTree>
    <p:extLst>
      <p:ext uri="{BB962C8B-B14F-4D97-AF65-F5344CB8AC3E}">
        <p14:creationId xmlns:p14="http://schemas.microsoft.com/office/powerpoint/2010/main" val="9607562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20">
            <a:extLst xmlns:a="http://schemas.openxmlformats.org/drawingml/2006/main">
              <a:ext uri="{FF2B5EF4-FFF2-40B4-BE49-F238E27FC236}">
                <a16:creationId xmlns:a16="http://schemas.microsoft.com/office/drawing/2014/main" id="{D39479BC-97FC-4AFD-B573-D211C84A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3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2220BE73-6B95-49B5-AC2F-1AD14B66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Lab report-out</a:t>
            </a:r>
          </a:p>
        </p:txBody>
      </p:sp>
      <p:sp>
        <p:nvSpPr>
          <p:cNvPr id="3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8A82F4C2-A49C-4941-8204-7FB27A01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5051871eb4316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20">
            <a:extLst xmlns:a="http://schemas.openxmlformats.org/drawingml/2006/main">
              <a:ext uri="{FF2B5EF4-FFF2-40B4-BE49-F238E27FC236}">
                <a16:creationId xmlns:a16="http://schemas.microsoft.com/office/drawing/2014/main" id="{4E9F73E2-274E-4533-A6C0-C4B95F11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20">
            <a:extLst xmlns:a="http://schemas.openxmlformats.org/drawingml/2006/main">
              <a:ext uri="{FF2B5EF4-FFF2-40B4-BE49-F238E27FC236}">
                <a16:creationId xmlns:a16="http://schemas.microsoft.com/office/drawing/2014/main" id="{363179BC-F823-43D8-99FB-647D3BCA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20">
            <a:extLst xmlns:a="http://schemas.openxmlformats.org/drawingml/2006/main">
              <a:ext uri="{FF2B5EF4-FFF2-40B4-BE49-F238E27FC236}">
                <a16:creationId xmlns:a16="http://schemas.microsoft.com/office/drawing/2014/main" id="{8E8CF516-2062-4FC9-ADD1-8328E806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8" name="report-instruction">
            <a:extLst xmlns:a="http://schemas.openxmlformats.org/drawingml/2006/main">
              <a:ext uri="{FF2B5EF4-FFF2-40B4-BE49-F238E27FC236}">
                <a16:creationId xmlns:a16="http://schemas.microsoft.com/office/drawing/2014/main" id="{B39DEB38-CA24-4B61-B0FD-B4F3F80D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Each group records one complete finding. Use provider-specific detail only in the evidence field.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33400" y="2476500"/>
          <a:ext xmlns:a="http://schemas.openxmlformats.org/drawingml/2006/main" cx="111252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743950"/>
              </a:tblGrid>
              <a:tr h="539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</a:t>
                      </a:r>
                    </a:p>
                  </a:txBody>
                  <a:tcPr marL="91440" marR="91440" marT="45720" marB="45720">
                    <a:solidFill>
                      <a:srgbClr val="1185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group should record</a:t>
                      </a:r>
                    </a:p>
                  </a:txBody>
                  <a:tcPr marL="91440" marR="91440" marT="45720" marB="45720">
                    <a:solidFill>
                      <a:srgbClr val="11856E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 category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Identity, storage, network, workload, or IaC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Affected asset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resource or file reference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Policy, configuration, screenshot, file and line, or cleanup output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Team responsible for the change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Closure proof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C171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Rescan result, corrected code, or deletion event</a:t>
                      </a:r>
                    </a:p>
                  </a:txBody>
                  <a:tcPr marL="91440" marR="91440" marT="45720" marB="45720">
                    <a:solidFill>
                      <a:srgbClr val="F2F7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64537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6ca83984b47af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2" name="brand-name-21">
            <a:extLst xmlns:a="http://schemas.openxmlformats.org/drawingml/2006/main">
              <a:ext uri="{FF2B5EF4-FFF2-40B4-BE49-F238E27FC236}">
                <a16:creationId xmlns:a16="http://schemas.microsoft.com/office/drawing/2014/main" id="{B0C677E6-387C-4B0D-9C4E-59CB2DE1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module-label-21">
            <a:extLst xmlns:a="http://schemas.openxmlformats.org/drawingml/2006/main">
              <a:ext uri="{FF2B5EF4-FFF2-40B4-BE49-F238E27FC236}">
                <a16:creationId xmlns:a16="http://schemas.microsoft.com/office/drawing/2014/main" id="{5C5FFC14-A5A7-4289-84D6-E3311997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4" name="module-title-21">
            <a:extLst xmlns:a="http://schemas.openxmlformats.org/drawingml/2006/main">
              <a:ext uri="{FF2B5EF4-FFF2-40B4-BE49-F238E27FC236}">
                <a16:creationId xmlns:a16="http://schemas.microsoft.com/office/drawing/2014/main" id="{5A86B02A-0CB0-488C-9D79-D43B5EE4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838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Evidence, GRC,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and closure</a:t>
            </a:r>
          </a:p>
        </p:txBody>
      </p:sp>
      <p:sp>
        <p:nvSpPr>
          <p:cNvPr id="5" name="module-purpose-21">
            <a:extLst xmlns:a="http://schemas.openxmlformats.org/drawingml/2006/main">
              <a:ext uri="{FF2B5EF4-FFF2-40B4-BE49-F238E27FC236}">
                <a16:creationId xmlns:a16="http://schemas.microsoft.com/office/drawing/2014/main" id="{1274E7B9-E8AA-43B2-BFED-54863A4B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BC6"/>
                </a:solidFill>
                <a:latin typeface="Helvetica Neue"/>
                <a:ea typeface="Helvetica Neue"/>
                <a:cs typeface="Helvetica Neue"/>
              </a:rPr>
              <a:t>Convert scanner output into proof, ownership, and an approval-based remediation workflow.</a:t>
            </a:r>
          </a:p>
        </p:txBody>
      </p:sp>
      <p:sp>
        <p:nvSpPr>
          <p:cNvPr id="6" name="module-time-21">
            <a:extLst xmlns:a="http://schemas.openxmlformats.org/drawingml/2006/main">
              <a:ext uri="{FF2B5EF4-FFF2-40B4-BE49-F238E27FC236}">
                <a16:creationId xmlns:a16="http://schemas.microsoft.com/office/drawing/2014/main" id="{3D3337A5-E414-416F-9207-A10A6CA4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15 minutes</a:t>
            </a:r>
          </a:p>
        </p:txBody>
      </p:sp>
      <p:sp>
        <p:nvSpPr>
          <p:cNvPr id="7" name="module-rule-21">
            <a:extLst xmlns:a="http://schemas.openxmlformats.org/drawingml/2006/main">
              <a:ext uri="{FF2B5EF4-FFF2-40B4-BE49-F238E27FC236}">
                <a16:creationId xmlns:a16="http://schemas.microsoft.com/office/drawing/2014/main" id="{B6CED419-5E9C-46BA-8717-F5E3D165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56E"/>
          </a:solidFill>
          <a:ln xmlns:a="http://schemas.openxmlformats.org/drawingml/2006/main" w="0">
            <a:solidFill>
              <a:srgbClr val="11856E"/>
            </a:solidFill>
            <a:prstDash val="solid"/>
          </a:ln>
        </p:spPr>
      </p:sp>
      <p:sp>
        <p:nvSpPr>
          <p:cNvPr id="8" name="module-footer-21">
            <a:extLst xmlns:a="http://schemas.openxmlformats.org/drawingml/2006/main">
              <a:ext uri="{FF2B5EF4-FFF2-40B4-BE49-F238E27FC236}">
                <a16:creationId xmlns:a16="http://schemas.microsoft.com/office/drawing/2014/main" id="{683FB2F3-84F8-4F36-8B1B-32D06DC9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DeepTrustxAI CloudGuard workshop</a:t>
            </a:r>
          </a:p>
        </p:txBody>
      </p:sp>
      <p:sp>
        <p:nvSpPr>
          <p:cNvPr id="9" name="module-page-21">
            <a:extLst xmlns:a="http://schemas.openxmlformats.org/drawingml/2006/main">
              <a:ext uri="{FF2B5EF4-FFF2-40B4-BE49-F238E27FC236}">
                <a16:creationId xmlns:a16="http://schemas.microsoft.com/office/drawing/2014/main" id="{EA9888D7-415F-4BE4-8CA1-EBB87FC3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8483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6A39C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839261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22">
            <a:extLst xmlns:a="http://schemas.openxmlformats.org/drawingml/2006/main">
              <a:ext uri="{FF2B5EF4-FFF2-40B4-BE49-F238E27FC236}">
                <a16:creationId xmlns:a16="http://schemas.microsoft.com/office/drawing/2014/main" id="{3060A9B4-74B3-4809-A05A-67100E2A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FCE71191-B654-45D8-961E-1F79DAB9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Evidence pipeline</a:t>
            </a:r>
          </a:p>
        </p:txBody>
      </p:sp>
      <p:sp>
        <p:nvSpPr>
          <p:cNvPr id="3" name="title-rule-22">
            <a:extLst xmlns:a="http://schemas.openxmlformats.org/drawingml/2006/main">
              <a:ext uri="{FF2B5EF4-FFF2-40B4-BE49-F238E27FC236}">
                <a16:creationId xmlns:a16="http://schemas.microsoft.com/office/drawing/2014/main" id="{DAC85ACE-F762-4E4E-A8C8-2EEFB6DE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fc277ae3f449f1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22">
            <a:extLst xmlns:a="http://schemas.openxmlformats.org/drawingml/2006/main">
              <a:ext uri="{FF2B5EF4-FFF2-40B4-BE49-F238E27FC236}">
                <a16:creationId xmlns:a16="http://schemas.microsoft.com/office/drawing/2014/main" id="{F810A773-9BE9-448E-B043-56987A24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22">
            <a:extLst xmlns:a="http://schemas.openxmlformats.org/drawingml/2006/main">
              <a:ext uri="{FF2B5EF4-FFF2-40B4-BE49-F238E27FC236}">
                <a16:creationId xmlns:a16="http://schemas.microsoft.com/office/drawing/2014/main" id="{2DD74DAB-062A-44AF-9402-F4744B3C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22">
            <a:extLst xmlns:a="http://schemas.openxmlformats.org/drawingml/2006/main">
              <a:ext uri="{FF2B5EF4-FFF2-40B4-BE49-F238E27FC236}">
                <a16:creationId xmlns:a16="http://schemas.microsoft.com/office/drawing/2014/main" id="{60278D0D-EF7C-4E1C-B273-8941E1FF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8" name="evidence-frame">
            <a:extLst xmlns:a="http://schemas.openxmlformats.org/drawingml/2006/main">
              <a:ext uri="{FF2B5EF4-FFF2-40B4-BE49-F238E27FC236}">
                <a16:creationId xmlns:a16="http://schemas.microsoft.com/office/drawing/2014/main" id="{A318E753-6A76-4E96-8EC4-E6074327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81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5"/>
          </a:solidFill>
          <a:ln xmlns:a="http://schemas.openxmlformats.org/drawingml/2006/main" w="9525">
            <a:solidFill>
              <a:srgbClr val="B9C9C5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13628f2424ad7"/>
          <a:stretch xmlns:a="http://schemas.openxmlformats.org/drawingml/2006/main"/>
        </p:blipFill>
        <p:spPr>
          <a:xfrm xmlns:a="http://schemas.openxmlformats.org/drawingml/2006/main">
            <a:off x="1068917" y="1905000"/>
            <a:ext cx="6739467" cy="3790950"/>
          </a:xfrm>
          <a:prstGeom xmlns:a="http://schemas.openxmlformats.org/drawingml/2006/main" prst="roundRect">
            <a:avLst>
              <a:gd name="adj" fmla="val 1005"/>
            </a:avLst>
          </a:prstGeom>
        </p:spPr>
      </p:pic>
      <p:sp>
        <p:nvSpPr>
          <p:cNvPr id="10" name="evidence-question-title">
            <a:extLst xmlns:a="http://schemas.openxmlformats.org/drawingml/2006/main">
              <a:ext uri="{FF2B5EF4-FFF2-40B4-BE49-F238E27FC236}">
                <a16:creationId xmlns:a16="http://schemas.microsoft.com/office/drawing/2014/main" id="{0F6DFAC9-C711-4D60-B442-1E9D3636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Every evidence record should answer</a:t>
            </a:r>
          </a:p>
        </p:txBody>
      </p:sp>
      <p:sp>
        <p:nvSpPr>
          <p:cNvPr id="11" name="evidence-questions">
            <a:extLst xmlns:a="http://schemas.openxmlformats.org/drawingml/2006/main">
              <a:ext uri="{FF2B5EF4-FFF2-40B4-BE49-F238E27FC236}">
                <a16:creationId xmlns:a16="http://schemas.microsoft.com/office/drawing/2014/main" id="{2497FA6B-2DD4-498D-B47D-70424442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28194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Where did it come from?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Which asset does it describe?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What proof was retained?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Which control does it affect?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Who must act next?</a:t>
            </a:r>
          </a:p>
        </p:txBody>
      </p:sp>
    </p:spTree>
    <p:extLst>
      <p:ext uri="{BB962C8B-B14F-4D97-AF65-F5344CB8AC3E}">
        <p14:creationId xmlns:p14="http://schemas.microsoft.com/office/powerpoint/2010/main" val="4534215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23">
            <a:extLst xmlns:a="http://schemas.openxmlformats.org/drawingml/2006/main">
              <a:ext uri="{FF2B5EF4-FFF2-40B4-BE49-F238E27FC236}">
                <a16:creationId xmlns:a16="http://schemas.microsoft.com/office/drawing/2014/main" id="{364ECE2D-DE24-4B54-AA07-82D7E67E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BC48A4E0-2843-4C08-963D-D1CFA204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GRC control mapping</a:t>
            </a:r>
          </a:p>
        </p:txBody>
      </p:sp>
      <p:sp>
        <p:nvSpPr>
          <p:cNvPr id="3" name="title-rule-23">
            <a:extLst xmlns:a="http://schemas.openxmlformats.org/drawingml/2006/main">
              <a:ext uri="{FF2B5EF4-FFF2-40B4-BE49-F238E27FC236}">
                <a16:creationId xmlns:a16="http://schemas.microsoft.com/office/drawing/2014/main" id="{3BBA0A28-1077-48BA-82F3-F70C37EF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022c1d92c4d67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23">
            <a:extLst xmlns:a="http://schemas.openxmlformats.org/drawingml/2006/main">
              <a:ext uri="{FF2B5EF4-FFF2-40B4-BE49-F238E27FC236}">
                <a16:creationId xmlns:a16="http://schemas.microsoft.com/office/drawing/2014/main" id="{AF3CEEC1-281E-4B18-AACA-BB56F9A1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23">
            <a:extLst xmlns:a="http://schemas.openxmlformats.org/drawingml/2006/main">
              <a:ext uri="{FF2B5EF4-FFF2-40B4-BE49-F238E27FC236}">
                <a16:creationId xmlns:a16="http://schemas.microsoft.com/office/drawing/2014/main" id="{13F6922B-4BDF-408C-9B91-FF21F986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23">
            <a:extLst xmlns:a="http://schemas.openxmlformats.org/drawingml/2006/main">
              <a:ext uri="{FF2B5EF4-FFF2-40B4-BE49-F238E27FC236}">
                <a16:creationId xmlns:a16="http://schemas.microsoft.com/office/drawing/2014/main" id="{906C00C7-5CBE-44A7-A563-8596C4A4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8" name="grc-copy">
            <a:extLst xmlns:a="http://schemas.openxmlformats.org/drawingml/2006/main">
              <a:ext uri="{FF2B5EF4-FFF2-40B4-BE49-F238E27FC236}">
                <a16:creationId xmlns:a16="http://schemas.microsoft.com/office/drawing/2014/main" id="{1220DA5B-40E9-4778-9C5A-C1D2892E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The governance view should show what failed, who owns the response, and what will prove closure.</a:t>
            </a:r>
          </a:p>
        </p:txBody>
      </p:sp>
      <p:sp>
        <p:nvSpPr>
          <p:cNvPr id="9" name="grc-bullets">
            <a:extLst xmlns:a="http://schemas.openxmlformats.org/drawingml/2006/main">
              <a:ext uri="{FF2B5EF4-FFF2-40B4-BE49-F238E27FC236}">
                <a16:creationId xmlns:a16="http://schemas.microsoft.com/office/drawing/2014/main" id="{ADA8E874-759D-40BB-B3F5-8EC6EAE4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Control and framework mapping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Evidence review and audit history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Risk and remediation tracking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Leadership and auditor visibility</a:t>
            </a:r>
          </a:p>
        </p:txBody>
      </p:sp>
      <p:sp>
        <p:nvSpPr>
          <p:cNvPr id="10" name="grc-frame">
            <a:extLst xmlns:a="http://schemas.openxmlformats.org/drawingml/2006/main">
              <a:ext uri="{FF2B5EF4-FFF2-40B4-BE49-F238E27FC236}">
                <a16:creationId xmlns:a16="http://schemas.microsoft.com/office/drawing/2014/main" id="{A4360677-77F3-4629-9051-03E8E5A2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52600"/>
            <a:ext cx="6896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9"/>
          </a:solidFill>
          <a:ln xmlns:a="http://schemas.openxmlformats.org/drawingml/2006/main" w="0">
            <a:solidFill>
              <a:srgbClr val="0B1D19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2e44ebeee4d0b"/>
          <a:srcRect xmlns:a="http://schemas.openxmlformats.org/drawingml/2006/main" l="1099" t="0" r="10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4900" y="1905000"/>
            <a:ext cx="6591300" cy="3790950"/>
          </a:xfrm>
          <a:prstGeom xmlns:a="http://schemas.openxmlformats.org/drawingml/2006/main" prst="roundRect">
            <a:avLst>
              <a:gd name="adj" fmla="val 1005"/>
            </a:avLst>
          </a:prstGeom>
        </p:spPr>
      </p:pic>
    </p:spTree>
    <p:extLst>
      <p:ext uri="{BB962C8B-B14F-4D97-AF65-F5344CB8AC3E}">
        <p14:creationId xmlns:p14="http://schemas.microsoft.com/office/powerpoint/2010/main" val="8305515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24">
            <a:extLst xmlns:a="http://schemas.openxmlformats.org/drawingml/2006/main">
              <a:ext uri="{FF2B5EF4-FFF2-40B4-BE49-F238E27FC236}">
                <a16:creationId xmlns:a16="http://schemas.microsoft.com/office/drawing/2014/main" id="{776949A1-415F-4871-9B77-716C8104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856E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8EDEB50F-6B46-4765-9211-97EFDA00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Reason and Act workflow</a:t>
            </a:r>
          </a:p>
        </p:txBody>
      </p:sp>
      <p:sp>
        <p:nvSpPr>
          <p:cNvPr id="3" name="title-rule-24">
            <a:extLst xmlns:a="http://schemas.openxmlformats.org/drawingml/2006/main">
              <a:ext uri="{FF2B5EF4-FFF2-40B4-BE49-F238E27FC236}">
                <a16:creationId xmlns:a16="http://schemas.microsoft.com/office/drawing/2014/main" id="{A663CA00-18A8-4D71-87EC-F5AB475F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9C5"/>
          </a:solidFill>
          <a:ln xmlns:a="http://schemas.openxmlformats.org/drawingml/2006/main" w="0">
            <a:solidFill>
              <a:srgbClr val="B9C9C5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87905a6a740be"/>
          <a:stretch xmlns:a="http://schemas.openxmlformats.org/drawingml/2006/main"/>
        </p:blipFill>
        <p:spPr>
          <a:xfrm xmlns:a="http://schemas.openxmlformats.org/drawingml/2006/main">
            <a:off x="10858500" y="2667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5" name="brand-name-24">
            <a:extLst xmlns:a="http://schemas.openxmlformats.org/drawingml/2006/main">
              <a:ext uri="{FF2B5EF4-FFF2-40B4-BE49-F238E27FC236}">
                <a16:creationId xmlns:a16="http://schemas.microsoft.com/office/drawing/2014/main" id="{5880A582-6C4F-4719-9666-DA0AD219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6" name="footer-24">
            <a:extLst xmlns:a="http://schemas.openxmlformats.org/drawingml/2006/main">
              <a:ext uri="{FF2B5EF4-FFF2-40B4-BE49-F238E27FC236}">
                <a16:creationId xmlns:a16="http://schemas.microsoft.com/office/drawing/2014/main" id="{6DF387F1-0F3F-49F1-A86A-94643082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CloudGuard workshop</a:t>
            </a:r>
          </a:p>
        </p:txBody>
      </p:sp>
      <p:sp>
        <p:nvSpPr>
          <p:cNvPr id="7" name="page-24">
            <a:extLst xmlns:a="http://schemas.openxmlformats.org/drawingml/2006/main">
              <a:ext uri="{FF2B5EF4-FFF2-40B4-BE49-F238E27FC236}">
                <a16:creationId xmlns:a16="http://schemas.microsoft.com/office/drawing/2014/main" id="{72286459-1F6C-4D4F-9ACE-21AC5B7D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0716D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8" name="reason-frame">
            <a:extLst xmlns:a="http://schemas.openxmlformats.org/drawingml/2006/main">
              <a:ext uri="{FF2B5EF4-FFF2-40B4-BE49-F238E27FC236}">
                <a16:creationId xmlns:a16="http://schemas.microsoft.com/office/drawing/2014/main" id="{83375D5A-ADB3-42CD-BFFC-2F2E7F25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23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D19"/>
          </a:solidFill>
          <a:ln xmlns:a="http://schemas.openxmlformats.org/drawingml/2006/main" w="0">
            <a:solidFill>
              <a:srgbClr val="0B1D19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52c211393414a"/>
          <a:srcRect xmlns:a="http://schemas.openxmlformats.org/drawingml/2006/main" l="0" t="1404" r="0" b="14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05000"/>
            <a:ext cx="6934200" cy="3790950"/>
          </a:xfrm>
          <a:prstGeom xmlns:a="http://schemas.openxmlformats.org/drawingml/2006/main" prst="roundRect">
            <a:avLst>
              <a:gd name="adj" fmla="val 1508"/>
            </a:avLst>
          </a:prstGeom>
        </p:spPr>
      </p:pic>
      <p:sp>
        <p:nvSpPr>
          <p:cNvPr id="10" name="reason-num-0">
            <a:extLst xmlns:a="http://schemas.openxmlformats.org/drawingml/2006/main">
              <a:ext uri="{FF2B5EF4-FFF2-40B4-BE49-F238E27FC236}">
                <a16:creationId xmlns:a16="http://schemas.microsoft.com/office/drawing/2014/main" id="{2666DF99-0F5E-4379-8123-D4C72841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reason-step-0">
            <a:extLst xmlns:a="http://schemas.openxmlformats.org/drawingml/2006/main">
              <a:ext uri="{FF2B5EF4-FFF2-40B4-BE49-F238E27FC236}">
                <a16:creationId xmlns:a16="http://schemas.microsoft.com/office/drawing/2014/main" id="{5361D3F1-D6E5-478C-8C51-9FE29721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431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Discover</a:t>
            </a:r>
          </a:p>
        </p:txBody>
      </p:sp>
      <p:sp>
        <p:nvSpPr>
          <p:cNvPr id="12" name="reason-num-1">
            <a:extLst xmlns:a="http://schemas.openxmlformats.org/drawingml/2006/main">
              <a:ext uri="{FF2B5EF4-FFF2-40B4-BE49-F238E27FC236}">
                <a16:creationId xmlns:a16="http://schemas.microsoft.com/office/drawing/2014/main" id="{EC59D65E-D0AB-48DB-89D9-F8769295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reason-step-1">
            <a:extLst xmlns:a="http://schemas.openxmlformats.org/drawingml/2006/main">
              <a:ext uri="{FF2B5EF4-FFF2-40B4-BE49-F238E27FC236}">
                <a16:creationId xmlns:a16="http://schemas.microsoft.com/office/drawing/2014/main" id="{D149FD31-59B7-477F-9A69-689D53FD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527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Prioritize</a:t>
            </a:r>
          </a:p>
        </p:txBody>
      </p:sp>
      <p:sp>
        <p:nvSpPr>
          <p:cNvPr id="14" name="reason-num-2">
            <a:extLst xmlns:a="http://schemas.openxmlformats.org/drawingml/2006/main">
              <a:ext uri="{FF2B5EF4-FFF2-40B4-BE49-F238E27FC236}">
                <a16:creationId xmlns:a16="http://schemas.microsoft.com/office/drawing/2014/main" id="{CFA5CD28-1C6E-4240-96D4-2F1A9D21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reason-step-2">
            <a:extLst xmlns:a="http://schemas.openxmlformats.org/drawingml/2006/main">
              <a:ext uri="{FF2B5EF4-FFF2-40B4-BE49-F238E27FC236}">
                <a16:creationId xmlns:a16="http://schemas.microsoft.com/office/drawing/2014/main" id="{F085B64D-6607-4EB6-B21E-2075B131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623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</p:txBody>
      </p:sp>
      <p:sp>
        <p:nvSpPr>
          <p:cNvPr id="16" name="reason-num-3">
            <a:extLst xmlns:a="http://schemas.openxmlformats.org/drawingml/2006/main">
              <a:ext uri="{FF2B5EF4-FFF2-40B4-BE49-F238E27FC236}">
                <a16:creationId xmlns:a16="http://schemas.microsoft.com/office/drawing/2014/main" id="{65C4B336-40F9-46A7-B0F7-F08D983E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reason-step-3">
            <a:extLst xmlns:a="http://schemas.openxmlformats.org/drawingml/2006/main">
              <a:ext uri="{FF2B5EF4-FFF2-40B4-BE49-F238E27FC236}">
                <a16:creationId xmlns:a16="http://schemas.microsoft.com/office/drawing/2014/main" id="{D0998F6A-CB60-40DD-AB55-9A80C7C1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71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Approve</a:t>
            </a:r>
          </a:p>
        </p:txBody>
      </p:sp>
      <p:sp>
        <p:nvSpPr>
          <p:cNvPr id="18" name="reason-num-4">
            <a:extLst xmlns:a="http://schemas.openxmlformats.org/drawingml/2006/main">
              <a:ext uri="{FF2B5EF4-FFF2-40B4-BE49-F238E27FC236}">
                <a16:creationId xmlns:a16="http://schemas.microsoft.com/office/drawing/2014/main" id="{8B2ECDA1-C5FF-4BDD-AE48-3AF3DD96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9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9" name="reason-step-4">
            <a:extLst xmlns:a="http://schemas.openxmlformats.org/drawingml/2006/main">
              <a:ext uri="{FF2B5EF4-FFF2-40B4-BE49-F238E27FC236}">
                <a16:creationId xmlns:a16="http://schemas.microsoft.com/office/drawing/2014/main" id="{20EEBAC4-C6B2-47D3-A103-D55F5DD6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81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C1715"/>
                </a:solidFill>
                <a:latin typeface="Helvetica Neue"/>
                <a:ea typeface="Helvetica Neue"/>
                <a:cs typeface="Helvetica Neue"/>
              </a:rPr>
              <a:t>Govern</a:t>
            </a:r>
          </a:p>
        </p:txBody>
      </p:sp>
      <p:sp>
        <p:nvSpPr>
          <p:cNvPr id="20" name="reason-warning">
            <a:extLst xmlns:a="http://schemas.openxmlformats.org/drawingml/2006/main">
              <a:ext uri="{FF2B5EF4-FFF2-40B4-BE49-F238E27FC236}">
                <a16:creationId xmlns:a16="http://schemas.microsoft.com/office/drawing/2014/main" id="{29EC65D1-B158-4B54-9D00-3B3F066D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1970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5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95D4B"/>
                </a:solidFill>
                <a:latin typeface="Helvetica Neue"/>
                <a:ea typeface="Helvetica Neue"/>
                <a:cs typeface="Helvetica Neue"/>
              </a:rPr>
              <a:t>Production changes remain approval-gated until rollback and guardrails have been reviewed.</a:t>
            </a:r>
          </a:p>
        </p:txBody>
      </p:sp>
    </p:spTree>
    <p:extLst>
      <p:ext uri="{BB962C8B-B14F-4D97-AF65-F5344CB8AC3E}">
        <p14:creationId xmlns:p14="http://schemas.microsoft.com/office/powerpoint/2010/main" val="152294115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9697b8ec24c27"/>
          <a:stretch xmlns:a="http://schemas.openxmlformats.org/drawingml/2006/main"/>
        </p:blipFill>
        <p:spPr>
          <a:xfrm xmlns:a="http://schemas.openxmlformats.org/drawingml/2006/main">
            <a:off x="10287000" y="59055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2" name="close-brand">
            <a:extLst xmlns:a="http://schemas.openxmlformats.org/drawingml/2006/main">
              <a:ext uri="{FF2B5EF4-FFF2-40B4-BE49-F238E27FC236}">
                <a16:creationId xmlns:a16="http://schemas.microsoft.com/office/drawing/2014/main" id="{837ACF22-4FEA-4790-B346-90B9FA3D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52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DeepTrustxAI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B615DAA-B2F1-4D7C-B0E2-241A8FEC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Cleanup and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workshop close</a:t>
            </a:r>
          </a:p>
        </p:txBody>
      </p:sp>
      <p:sp>
        <p:nvSpPr>
          <p:cNvPr id="4" name="close-sub">
            <a:extLst xmlns:a="http://schemas.openxmlformats.org/drawingml/2006/main">
              <a:ext uri="{FF2B5EF4-FFF2-40B4-BE49-F238E27FC236}">
                <a16:creationId xmlns:a16="http://schemas.microsoft.com/office/drawing/2014/main" id="{EBF480B9-0D9D-454C-ACBF-C96F7A55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CB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7CBC5"/>
                </a:solidFill>
                <a:latin typeface="Helvetica Neue"/>
                <a:ea typeface="Helvetica Neue"/>
                <a:cs typeface="Helvetica Neue"/>
              </a:rPr>
              <a:t>Before anyone leaves, confirm these conditions.</a:t>
            </a:r>
          </a:p>
        </p:txBody>
      </p:sp>
      <p:sp>
        <p:nvSpPr>
          <p:cNvPr id="5" name="close-list">
            <a:extLst xmlns:a="http://schemas.openxmlformats.org/drawingml/2006/main">
              <a:ext uri="{FF2B5EF4-FFF2-40B4-BE49-F238E27FC236}">
                <a16:creationId xmlns:a16="http://schemas.microsoft.com/office/drawing/2014/main" id="{7314F7C2-A33A-4E51-9DA3-29979548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790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All four scanner streams produced a result or documented fallback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finding has evidence, a control, an owner, and a closure action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AWS, GCP, and Kubernetes lab resources have been destroyed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Temporary credentials and access have been revoked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Cleanup events and the final rescan or validation result have been retained</a:t>
            </a:r>
          </a:p>
        </p:txBody>
      </p:sp>
      <p:sp>
        <p:nvSpPr>
          <p:cNvPr id="6" name="close-quote-bg">
            <a:extLst xmlns:a="http://schemas.openxmlformats.org/drawingml/2006/main">
              <a:ext uri="{FF2B5EF4-FFF2-40B4-BE49-F238E27FC236}">
                <a16:creationId xmlns:a16="http://schemas.microsoft.com/office/drawing/2014/main" id="{0FB3C866-5121-4709-8EB0-4F0C3ABC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D7B0"/>
          </a:solidFill>
          <a:ln xmlns:a="http://schemas.openxmlformats.org/drawingml/2006/main" w="0">
            <a:solidFill>
              <a:srgbClr val="42D7B0"/>
            </a:solidFill>
            <a:prstDash val="solid"/>
          </a:ln>
        </p:spPr>
      </p:sp>
      <p:sp>
        <p:nvSpPr>
          <p:cNvPr id="7" name="close-quote-label">
            <a:extLst xmlns:a="http://schemas.openxmlformats.org/drawingml/2006/main">
              <a:ext uri="{FF2B5EF4-FFF2-40B4-BE49-F238E27FC236}">
                <a16:creationId xmlns:a16="http://schemas.microsoft.com/office/drawing/2014/main" id="{9B339873-7911-40F5-8A0B-FF45B72A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rPr>
              <a:t>WORKSHOP RESULT</a:t>
            </a:r>
          </a:p>
        </p:txBody>
      </p:sp>
      <p:sp>
        <p:nvSpPr>
          <p:cNvPr id="8" name="close-quote">
            <a:extLst xmlns:a="http://schemas.openxmlformats.org/drawingml/2006/main">
              <a:ext uri="{FF2B5EF4-FFF2-40B4-BE49-F238E27FC236}">
                <a16:creationId xmlns:a16="http://schemas.microsoft.com/office/drawing/2014/main" id="{23E33D81-27CD-47C9-AAB9-DF6B3B9D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rPr>
              <a:t>A finding with</a:t>
            </a:r>
          </a:p>
          <a:p xmlns:a="http://schemas.openxmlformats.org/drawingml/2006/main">
            <a:pPr algn="l">
              <a:defRPr sz="19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rPr>
              <a:t>proof, ownership,</a:t>
            </a:r>
          </a:p>
          <a:p xmlns:a="http://schemas.openxmlformats.org/drawingml/2006/main">
            <a:pPr algn="l">
              <a:defRPr sz="19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1D19"/>
                </a:solidFill>
                <a:latin typeface="Helvetica Neue"/>
                <a:ea typeface="Helvetica Neue"/>
                <a:cs typeface="Helvetica Neue"/>
              </a:rPr>
              <a:t>and a verified fix</a:t>
            </a:r>
          </a:p>
        </p:txBody>
      </p:sp>
      <p:sp>
        <p:nvSpPr>
          <p:cNvPr id="9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6E0A1D2D-A403-4C65-A554-CF226451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2D7B0"/>
                </a:solidFill>
                <a:latin typeface="Helvetica Neue"/>
                <a:ea typeface="Helvetica Neue"/>
                <a:cs typeface="Helvetica Neue"/>
              </a:rPr>
              <a:t>Questions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111367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2026-09-05T13:06:23.5130000Z</dcterms:created>
  <dcterms:modified xsi:type="dcterms:W3CDTF">2026-09-05T13:06:23.5130000Z</dcterms:modified>
</coreProperties>
</file>