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f425de178204ac4" /><Relationship Type="http://schemas.openxmlformats.org/officeDocument/2006/relationships/extended-properties" Target="/docProps/app.xml" Id="Rfbb5ff7c1d20488c" /><Relationship Type="http://schemas.openxmlformats.org/officeDocument/2006/relationships/officeDocument" Target="/ppt/presentation.xml" Id="R9710f7c5251f4d59" /></Relationships>
</file>

<file path=ppt/presentation.xml><?xml version="1.0" encoding="utf-8"?>
<p:presentation xmlns:p="http://schemas.openxmlformats.org/presentationml/2006/main">
  <p:sldMasterIdLst>
    <p:sldMasterId xmlns:r="http://schemas.openxmlformats.org/officeDocument/2006/relationships" id="2147483648" r:id="R86c717574c724501"/>
  </p:sldMasterIdLst>
  <p:notesMasterIdLst>
    <p:notesMasterId xmlns:r="http://schemas.openxmlformats.org/officeDocument/2006/relationships" r:id="R111a0f2d744945be"/>
  </p:notesMasterIdLst>
  <p:sldIdLst>
    <p:sldId xmlns:r="http://schemas.openxmlformats.org/officeDocument/2006/relationships" id="256" r:id="R678ba0beac2b4312"/>
    <p:sldId xmlns:r="http://schemas.openxmlformats.org/officeDocument/2006/relationships" id="257" r:id="Rb897af3736a643d6"/>
    <p:sldId xmlns:r="http://schemas.openxmlformats.org/officeDocument/2006/relationships" id="258" r:id="R5454b668f2774e98"/>
    <p:sldId xmlns:r="http://schemas.openxmlformats.org/officeDocument/2006/relationships" id="259" r:id="R5c8fabff599549da"/>
    <p:sldId xmlns:r="http://schemas.openxmlformats.org/officeDocument/2006/relationships" id="260" r:id="R05704c41b51a416c"/>
    <p:sldId xmlns:r="http://schemas.openxmlformats.org/officeDocument/2006/relationships" id="261" r:id="R0683484c98774b98"/>
    <p:sldId xmlns:r="http://schemas.openxmlformats.org/officeDocument/2006/relationships" id="262" r:id="R608008221026457c"/>
    <p:sldId xmlns:r="http://schemas.openxmlformats.org/officeDocument/2006/relationships" id="263" r:id="Rfd83c814d3b84dcb"/>
    <p:sldId xmlns:r="http://schemas.openxmlformats.org/officeDocument/2006/relationships" id="264" r:id="R3e9e3445c4184921"/>
    <p:sldId xmlns:r="http://schemas.openxmlformats.org/officeDocument/2006/relationships" id="265" r:id="Rfe2b115e3d9e4797"/>
    <p:sldId xmlns:r="http://schemas.openxmlformats.org/officeDocument/2006/relationships" id="266" r:id="Re3f00fad54eb48f3"/>
    <p:sldId xmlns:r="http://schemas.openxmlformats.org/officeDocument/2006/relationships" id="267" r:id="Rb7c4d19d61f74aea"/>
    <p:sldId xmlns:r="http://schemas.openxmlformats.org/officeDocument/2006/relationships" id="268" r:id="Rdb142351d32b4fe9"/>
    <p:sldId xmlns:r="http://schemas.openxmlformats.org/officeDocument/2006/relationships" id="269" r:id="R31186f2c60e0466a"/>
    <p:sldId xmlns:r="http://schemas.openxmlformats.org/officeDocument/2006/relationships" id="270" r:id="R4c935bb5c5c24815"/>
    <p:sldId xmlns:r="http://schemas.openxmlformats.org/officeDocument/2006/relationships" id="271" r:id="R43352c6c958c411c"/>
    <p:sldId xmlns:r="http://schemas.openxmlformats.org/officeDocument/2006/relationships" id="272" r:id="Ra748c2d8886148aa"/>
    <p:sldId xmlns:r="http://schemas.openxmlformats.org/officeDocument/2006/relationships" id="273" r:id="Rd9f1a67a9420452f"/>
    <p:sldId xmlns:r="http://schemas.openxmlformats.org/officeDocument/2006/relationships" id="274" r:id="Rf533747f19bf428b"/>
    <p:sldId xmlns:r="http://schemas.openxmlformats.org/officeDocument/2006/relationships" id="275" r:id="R77489e4388f843d3"/>
    <p:sldId xmlns:r="http://schemas.openxmlformats.org/officeDocument/2006/relationships" id="276" r:id="Rba8547e0fa88452f"/>
    <p:sldId xmlns:r="http://schemas.openxmlformats.org/officeDocument/2006/relationships" id="277" r:id="Rcb33c10d98ff47ad"/>
    <p:sldId xmlns:r="http://schemas.openxmlformats.org/officeDocument/2006/relationships" id="278" r:id="R291f795cd1d74756"/>
    <p:sldId xmlns:r="http://schemas.openxmlformats.org/officeDocument/2006/relationships" id="279" r:id="R752fefad78e449ce"/>
    <p:sldId xmlns:r="http://schemas.openxmlformats.org/officeDocument/2006/relationships" id="280" r:id="R83ebb4a1616d419c"/>
    <p:sldId xmlns:r="http://schemas.openxmlformats.org/officeDocument/2006/relationships" id="281" r:id="R461666b0c1f1447c"/>
    <p:sldId xmlns:r="http://schemas.openxmlformats.org/officeDocument/2006/relationships" id="282" r:id="Ra83c825eb81b4c18"/>
    <p:sldId xmlns:r="http://schemas.openxmlformats.org/officeDocument/2006/relationships" id="283" r:id="Rc4b726ee39134915"/>
    <p:sldId xmlns:r="http://schemas.openxmlformats.org/officeDocument/2006/relationships" id="284" r:id="Rd435f8833cd2417e"/>
    <p:sldId xmlns:r="http://schemas.openxmlformats.org/officeDocument/2006/relationships" id="285" r:id="R8f70648a51e74d5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a1ec3dd9513450c" /><Relationship Type="http://schemas.openxmlformats.org/officeDocument/2006/relationships/slideMaster" Target="/ppt/slideMasters/slideMaster1.xml" Id="R86c717574c724501" /><Relationship Type="http://schemas.openxmlformats.org/officeDocument/2006/relationships/notesMaster" Target="/ppt/notesMasters/notesMaster1.xml" Id="R111a0f2d744945be" /><Relationship Type="http://schemas.openxmlformats.org/officeDocument/2006/relationships/presProps" Target="/ppt/presProps.xml" Id="R99bf0cbf5e6d4e71" /><Relationship Type="http://schemas.openxmlformats.org/officeDocument/2006/relationships/tableStyles" Target="/ppt/tableStyles.xml" Id="R571e835341364efa" /><Relationship Type="http://schemas.openxmlformats.org/officeDocument/2006/relationships/slide" Target="/ppt/slides/slide1.xml" Id="R678ba0beac2b4312" /><Relationship Type="http://schemas.openxmlformats.org/officeDocument/2006/relationships/slide" Target="/ppt/slides/slide2.xml" Id="Rb897af3736a643d6" /><Relationship Type="http://schemas.openxmlformats.org/officeDocument/2006/relationships/slide" Target="/ppt/slides/slide3.xml" Id="R5454b668f2774e98" /><Relationship Type="http://schemas.openxmlformats.org/officeDocument/2006/relationships/slide" Target="/ppt/slides/slide4.xml" Id="R5c8fabff599549da" /><Relationship Type="http://schemas.openxmlformats.org/officeDocument/2006/relationships/slide" Target="/ppt/slides/slide5.xml" Id="R05704c41b51a416c" /><Relationship Type="http://schemas.openxmlformats.org/officeDocument/2006/relationships/slide" Target="/ppt/slides/slide6.xml" Id="R0683484c98774b98" /><Relationship Type="http://schemas.openxmlformats.org/officeDocument/2006/relationships/slide" Target="/ppt/slides/slide7.xml" Id="R608008221026457c" /><Relationship Type="http://schemas.openxmlformats.org/officeDocument/2006/relationships/slide" Target="/ppt/slides/slide8.xml" Id="Rfd83c814d3b84dcb" /><Relationship Type="http://schemas.openxmlformats.org/officeDocument/2006/relationships/slide" Target="/ppt/slides/slide9.xml" Id="R3e9e3445c4184921" /><Relationship Type="http://schemas.openxmlformats.org/officeDocument/2006/relationships/slide" Target="/ppt/slides/slide10.xml" Id="Rfe2b115e3d9e4797" /><Relationship Type="http://schemas.openxmlformats.org/officeDocument/2006/relationships/slide" Target="/ppt/slides/slide11.xml" Id="Re3f00fad54eb48f3" /><Relationship Type="http://schemas.openxmlformats.org/officeDocument/2006/relationships/slide" Target="/ppt/slides/slide12.xml" Id="Rb7c4d19d61f74aea" /><Relationship Type="http://schemas.openxmlformats.org/officeDocument/2006/relationships/slide" Target="/ppt/slides/slide13.xml" Id="Rdb142351d32b4fe9" /><Relationship Type="http://schemas.openxmlformats.org/officeDocument/2006/relationships/slide" Target="/ppt/slides/slide14.xml" Id="R31186f2c60e0466a" /><Relationship Type="http://schemas.openxmlformats.org/officeDocument/2006/relationships/slide" Target="/ppt/slides/slide15.xml" Id="R4c935bb5c5c24815" /><Relationship Type="http://schemas.openxmlformats.org/officeDocument/2006/relationships/slide" Target="/ppt/slides/slide16.xml" Id="R43352c6c958c411c" /><Relationship Type="http://schemas.openxmlformats.org/officeDocument/2006/relationships/slide" Target="/ppt/slides/slide17.xml" Id="Ra748c2d8886148aa" /><Relationship Type="http://schemas.openxmlformats.org/officeDocument/2006/relationships/slide" Target="/ppt/slides/slide18.xml" Id="Rd9f1a67a9420452f" /><Relationship Type="http://schemas.openxmlformats.org/officeDocument/2006/relationships/slide" Target="/ppt/slides/slide19.xml" Id="Rf533747f19bf428b" /><Relationship Type="http://schemas.openxmlformats.org/officeDocument/2006/relationships/slide" Target="/ppt/slides/slide20.xml" Id="R77489e4388f843d3" /><Relationship Type="http://schemas.openxmlformats.org/officeDocument/2006/relationships/slide" Target="/ppt/slides/slide21.xml" Id="Rba8547e0fa88452f" /><Relationship Type="http://schemas.openxmlformats.org/officeDocument/2006/relationships/slide" Target="/ppt/slides/slide22.xml" Id="Rcb33c10d98ff47ad" /><Relationship Type="http://schemas.openxmlformats.org/officeDocument/2006/relationships/slide" Target="/ppt/slides/slide23.xml" Id="R291f795cd1d74756" /><Relationship Type="http://schemas.openxmlformats.org/officeDocument/2006/relationships/slide" Target="/ppt/slides/slide24.xml" Id="R752fefad78e449ce" /><Relationship Type="http://schemas.openxmlformats.org/officeDocument/2006/relationships/slide" Target="/ppt/slides/slide25.xml" Id="R83ebb4a1616d419c" /><Relationship Type="http://schemas.openxmlformats.org/officeDocument/2006/relationships/slide" Target="/ppt/slides/slide26.xml" Id="R461666b0c1f1447c" /><Relationship Type="http://schemas.openxmlformats.org/officeDocument/2006/relationships/slide" Target="/ppt/slides/slide27.xml" Id="Ra83c825eb81b4c18" /><Relationship Type="http://schemas.openxmlformats.org/officeDocument/2006/relationships/slide" Target="/ppt/slides/slide28.xml" Id="Rc4b726ee39134915" /><Relationship Type="http://schemas.openxmlformats.org/officeDocument/2006/relationships/slide" Target="/ppt/slides/slide29.xml" Id="Rd435f8833cd2417e" /><Relationship Type="http://schemas.openxmlformats.org/officeDocument/2006/relationships/slide" Target="/ppt/slides/slide30.xml" Id="R8f70648a51e74d5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fe778fe15c84a2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4026113666d4b60" /><Relationship Type="http://schemas.openxmlformats.org/officeDocument/2006/relationships/notesMaster" Target="/ppt/notesMasters/notesMaster1.xml" Id="R12085ebef32e4118" /></Relationships>
</file>

<file path=ppt/notesSlides/_rels/notesSlide2.xml.rels>&#65279;<?xml version="1.0" encoding="utf-8"?><Relationships xmlns="http://schemas.openxmlformats.org/package/2006/relationships"><Relationship Type="http://schemas.openxmlformats.org/officeDocument/2006/relationships/slide" Target="/ppt/slides/slide2.xml" Id="R1ee6f840eb1d4301" /><Relationship Type="http://schemas.openxmlformats.org/officeDocument/2006/relationships/notesMaster" Target="/ppt/notesMasters/notesMaster1.xml" Id="R5a454d55977f4574" /></Relationships>
</file>

<file path=ppt/notesSlides/_rels/notesSlide3.xml.rels>&#65279;<?xml version="1.0" encoding="utf-8"?><Relationships xmlns="http://schemas.openxmlformats.org/package/2006/relationships"><Relationship Type="http://schemas.openxmlformats.org/officeDocument/2006/relationships/slide" Target="/ppt/slides/slide3.xml" Id="R87617e05dd614dee" /><Relationship Type="http://schemas.openxmlformats.org/officeDocument/2006/relationships/notesMaster" Target="/ppt/notesMasters/notesMaster1.xml" Id="R0b416c4d0e864a1f" /></Relationships>
</file>

<file path=ppt/notesSlides/_rels/notesSlide4.xml.rels>&#65279;<?xml version="1.0" encoding="utf-8"?><Relationships xmlns="http://schemas.openxmlformats.org/package/2006/relationships"><Relationship Type="http://schemas.openxmlformats.org/officeDocument/2006/relationships/slide" Target="/ppt/slides/slide4.xml" Id="R9e25d65eeafc4077" /><Relationship Type="http://schemas.openxmlformats.org/officeDocument/2006/relationships/notesMaster" Target="/ppt/notesMasters/notesMaster1.xml" Id="R076688d07ee14070" /></Relationships>
</file>

<file path=ppt/notesSlides/_rels/notesSlide5.xml.rels>&#65279;<?xml version="1.0" encoding="utf-8"?><Relationships xmlns="http://schemas.openxmlformats.org/package/2006/relationships"><Relationship Type="http://schemas.openxmlformats.org/officeDocument/2006/relationships/slide" Target="/ppt/slides/slide5.xml" Id="Rc7447fda74be4ff5" /><Relationship Type="http://schemas.openxmlformats.org/officeDocument/2006/relationships/notesMaster" Target="/ppt/notesMasters/notesMaster1.xml" Id="Rd58485565f4c493b" /></Relationships>
</file>

<file path=ppt/notesSlides/_rels/notesSlide6.xml.rels>&#65279;<?xml version="1.0" encoding="utf-8"?><Relationships xmlns="http://schemas.openxmlformats.org/package/2006/relationships"><Relationship Type="http://schemas.openxmlformats.org/officeDocument/2006/relationships/slide" Target="/ppt/slides/slide6.xml" Id="R0b9af671a36e4cc9" /><Relationship Type="http://schemas.openxmlformats.org/officeDocument/2006/relationships/notesMaster" Target="/ppt/notesMasters/notesMaster1.xml" Id="R65f3cdbdb4da46c4" /></Relationships>
</file>

<file path=ppt/notesSlides/_rels/notesSlide7.xml.rels>&#65279;<?xml version="1.0" encoding="utf-8"?><Relationships xmlns="http://schemas.openxmlformats.org/package/2006/relationships"><Relationship Type="http://schemas.openxmlformats.org/officeDocument/2006/relationships/slide" Target="/ppt/slides/slide7.xml" Id="R0e6315ba5bfe43c3" /><Relationship Type="http://schemas.openxmlformats.org/officeDocument/2006/relationships/notesMaster" Target="/ppt/notesMasters/notesMaster1.xml" Id="R754b007ce7f04a9d" /></Relationships>
</file>

<file path=ppt/notesSlides/_rels/notesSlide8.xml.rels>&#65279;<?xml version="1.0" encoding="utf-8"?><Relationships xmlns="http://schemas.openxmlformats.org/package/2006/relationships"><Relationship Type="http://schemas.openxmlformats.org/officeDocument/2006/relationships/slide" Target="/ppt/slides/slide8.xml" Id="Rd9a3ecb633e04da5" /><Relationship Type="http://schemas.openxmlformats.org/officeDocument/2006/relationships/notesMaster" Target="/ppt/notesMasters/notesMaster1.xml" Id="Rb3358c2f77404604" /></Relationships>
</file>

<file path=ppt/notesSlides/_rels/notesSlide9.xml.rels>&#65279;<?xml version="1.0" encoding="utf-8"?><Relationships xmlns="http://schemas.openxmlformats.org/package/2006/relationships"><Relationship Type="http://schemas.openxmlformats.org/officeDocument/2006/relationships/slide" Target="/ppt/slides/slide9.xml" Id="R1d4b960109fd4bb0" /><Relationship Type="http://schemas.openxmlformats.org/officeDocument/2006/relationships/notesMaster" Target="/ppt/notesMasters/notesMaster1.xml" Id="R464b864fd8254d3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1dfcf2f8a2748ce" /><Relationship Type="http://schemas.openxmlformats.org/officeDocument/2006/relationships/notesMaster" Target="/ppt/notesMasters/notesMaster1.xml" Id="Re6e438ea470e460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5821ea49bcb46c3" /><Relationship Type="http://schemas.openxmlformats.org/officeDocument/2006/relationships/notesMaster" Target="/ppt/notesMasters/notesMaster1.xml" Id="R2f05237e1a294f2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fd8b1b2c7a94483" /><Relationship Type="http://schemas.openxmlformats.org/officeDocument/2006/relationships/notesMaster" Target="/ppt/notesMasters/notesMaster1.xml" Id="R9ad50f5af15f45a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85bcbcc46bf419c" /><Relationship Type="http://schemas.openxmlformats.org/officeDocument/2006/relationships/notesMaster" Target="/ppt/notesMasters/notesMaster1.xml" Id="Rff10e71e38b845c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8e096f4da494723" /><Relationship Type="http://schemas.openxmlformats.org/officeDocument/2006/relationships/notesMaster" Target="/ppt/notesMasters/notesMaster1.xml" Id="Rc632cd30b17e4e7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863388240e74abe" /><Relationship Type="http://schemas.openxmlformats.org/officeDocument/2006/relationships/notesMaster" Target="/ppt/notesMasters/notesMaster1.xml" Id="R456f350847e14f7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fa718c49f884059" /><Relationship Type="http://schemas.openxmlformats.org/officeDocument/2006/relationships/notesMaster" Target="/ppt/notesMasters/notesMaster1.xml" Id="Ra173227f1dd446f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87775af866741cc" /><Relationship Type="http://schemas.openxmlformats.org/officeDocument/2006/relationships/notesMaster" Target="/ppt/notesMasters/notesMaster1.xml" Id="R530ac0564bdd463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d2a20636f3040de" /><Relationship Type="http://schemas.openxmlformats.org/officeDocument/2006/relationships/notesMaster" Target="/ppt/notesMasters/notesMaster1.xml" Id="Rd7aeaf5c5a6443f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afd0bc55914463c" /><Relationship Type="http://schemas.openxmlformats.org/officeDocument/2006/relationships/notesMaster" Target="/ppt/notesMasters/notesMaster1.xml" Id="R4975e681420d48e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b11c71619324f96" /><Relationship Type="http://schemas.openxmlformats.org/officeDocument/2006/relationships/notesMaster" Target="/ppt/notesMasters/notesMaster1.xml" Id="R1aad37f61307418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01146026c2343aa" /><Relationship Type="http://schemas.openxmlformats.org/officeDocument/2006/relationships/notesMaster" Target="/ppt/notesMasters/notesMaster1.xml" Id="R0a330d99b1fb4c4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2332c630c1e48c6" /><Relationship Type="http://schemas.openxmlformats.org/officeDocument/2006/relationships/notesMaster" Target="/ppt/notesMasters/notesMaster1.xml" Id="R94518e997d08465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43bb553445a4684" /><Relationship Type="http://schemas.openxmlformats.org/officeDocument/2006/relationships/notesMaster" Target="/ppt/notesMasters/notesMaster1.xml" Id="R85ca07d9d0f84e6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50f877e60e942cb" /><Relationship Type="http://schemas.openxmlformats.org/officeDocument/2006/relationships/notesMaster" Target="/ppt/notesMasters/notesMaster1.xml" Id="R262f582948ea417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462efaa5d6a4618" /><Relationship Type="http://schemas.openxmlformats.org/officeDocument/2006/relationships/notesMaster" Target="/ppt/notesMasters/notesMaster1.xml" Id="R16025da44032496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96ed2275ee246a2" /><Relationship Type="http://schemas.openxmlformats.org/officeDocument/2006/relationships/notesMaster" Target="/ppt/notesMasters/notesMaster1.xml" Id="Rec1812ad01b0405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0d7413ee7854d19" /><Relationship Type="http://schemas.openxmlformats.org/officeDocument/2006/relationships/notesMaster" Target="/ppt/notesMasters/notesMaster1.xml" Id="Re75f9e5e85744ad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069b0a132d64b78" /><Relationship Type="http://schemas.openxmlformats.org/officeDocument/2006/relationships/notesMaster" Target="/ppt/notesMasters/notesMaster1.xml" Id="R33fa4cefb8f2404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c8f17d819ec45cf" /><Relationship Type="http://schemas.openxmlformats.org/officeDocument/2006/relationships/notesMaster" Target="/ppt/notesMasters/notesMaster1.xml" Id="R04eb828d11a54bf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8cb6551c68a43ef" /><Relationship Type="http://schemas.openxmlformats.org/officeDocument/2006/relationships/notesMaster" Target="/ppt/notesMasters/notesMaster1.xml" Id="Rd9d1d9cf640b494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Suggested talk track: Welcome everyone. Today we will examine four scanner types, see how each one collects evidence, and use that evidence to understand and close security findings.</a:t>
            </a:r>
          </a:p>
          <a:p xmlns:a="http://schemas.openxmlformats.org/drawingml/2006/main">
            <a:r>
              <a:t/>
            </a:r>
          </a:p>
          <a:p xmlns:a="http://schemas.openxmlformats.org/drawingml/2006/main">
            <a:r>
              <a:t>[Sources]</a:t>
            </a:r>
          </a:p>
          <a:p xmlns:a="http://schemas.openxmlformats.org/drawingml/2006/main">
            <a:r>
              <a:t>- /Users/anjali/Cloud_Vulnerabilities/workshop/marp-demo/images/deeptrustxai-logo.png</a:t>
            </a:r>
          </a:p>
          <a:p xmlns:a="http://schemas.openxmlformats.org/drawingml/2006/main">
            <a:r>
              <a:t>- /Users/anjali/Cloud_Vulnerabilities/README.md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Suggested talk track: The aim is understanding, not memorizing buttons. A useful result connects a configuration to an asset, explains the risk, and records what will prove that the issue has been closed.</a:t>
            </a:r>
          </a:p>
          <a:p xmlns:a="http://schemas.openxmlformats.org/drawingml/2006/main">
            <a:r>
              <a:t/>
            </a:r>
          </a:p>
          <a:p xmlns:a="http://schemas.openxmlformats.org/drawingml/2006/main">
            <a:r>
              <a:t>[Sources]</a:t>
            </a:r>
          </a:p>
          <a:p xmlns:a="http://schemas.openxmlformats.org/drawingml/2006/main">
            <a:r>
              <a:t>- /Users/anjali/Cloud_Vulnerabilities/README.md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Suggested talk track: The workshop moves from common concepts into four scanner modules. Each scanner module includes explanation, a live example, and a short exercise.</a:t>
            </a:r>
          </a:p>
          <a:p xmlns:a="http://schemas.openxmlformats.org/drawingml/2006/main">
            <a:r>
              <a:t/>
            </a:r>
          </a:p>
          <a:p xmlns:a="http://schemas.openxmlformats.org/drawingml/2006/main">
            <a:r>
              <a:t>[Sources]</a:t>
            </a:r>
          </a:p>
          <a:p xmlns:a="http://schemas.openxmlformats.org/drawingml/2006/main">
            <a:r>
              <a:t>- /Users/anjali/Cloud_Vulnerabilities/README.md</a:t>
            </a:r>
          </a:p>
          <a:p xmlns:a="http://schemas.openxmlformats.org/drawingml/2006/main">
            <a:r>
              <a:t>- /Users/anjali/Cloud_Vulnerabilities/grc-platform/cloudguard-test-labs/README.md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Suggested talk track: A scanner does more than search for vulnerabilities. It discovers what exists, evaluates configuration, explains why a condition matters, and gives us a way to verify the correction.</a:t>
            </a:r>
          </a:p>
          <a:p xmlns:a="http://schemas.openxmlformats.org/drawingml/2006/main">
            <a:r>
              <a:t/>
            </a:r>
          </a:p>
          <a:p xmlns:a="http://schemas.openxmlformats.org/drawingml/2006/main">
            <a:r>
              <a:t>[Sources]</a:t>
            </a:r>
          </a:p>
          <a:p xmlns:a="http://schemas.openxmlformats.org/drawingml/2006/main">
            <a:r>
              <a:t>- /Users/anjali/Cloud_Vulnerabilities/README.md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Suggested talk track: The portal is the coordination layer. It does not need to run inside the cloud being scanned. Provider workers connect to the target, produce findings, and return normalized evidence to the shared platform.</a:t>
            </a:r>
          </a:p>
          <a:p xmlns:a="http://schemas.openxmlformats.org/drawingml/2006/main">
            <a:r>
              <a:t/>
            </a:r>
          </a:p>
          <a:p xmlns:a="http://schemas.openxmlformats.org/drawingml/2006/main">
            <a:r>
              <a:t>[Sources]</a:t>
            </a:r>
          </a:p>
          <a:p xmlns:a="http://schemas.openxmlformats.org/drawingml/2006/main">
            <a:r>
              <a:t>- /Users/anjali/Cloud_Vulnerabilities/handoff/grc-compliance-governance/setup-dokploy-cloudguard-stack.png</a:t>
            </a:r>
          </a:p>
          <a:p xmlns:a="http://schemas.openxmlformats.org/drawingml/2006/main">
            <a:r>
              <a:t>- /Users/anjali/Cloud_Vulnerabilities/README.md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Suggested talk track: Every finding needs context. A high severity label matters, but priority becomes clearer when we know the exposed asset, the identity involved, and the proof available for remediation.</a:t>
            </a:r>
          </a:p>
          <a:p xmlns:a="http://schemas.openxmlformats.org/drawingml/2006/main">
            <a:r>
              <a:t/>
            </a:r>
          </a:p>
          <a:p xmlns:a="http://schemas.openxmlformats.org/drawingml/2006/main">
            <a:r>
              <a:t>[Sources]</a:t>
            </a:r>
          </a:p>
          <a:p xmlns:a="http://schemas.openxmlformats.org/drawingml/2006/main">
            <a:r>
              <a:t>- /Users/anjali/Cloud_Vulnerabilities/backend/mcp_servers/aws_server.py</a:t>
            </a:r>
          </a:p>
          <a:p xmlns:a="http://schemas.openxmlformats.org/drawingml/2006/main">
            <a:r>
              <a:t>- /Users/anjali/Cloud_Vulnerabilities/backend/mcp_servers/gcp_server.py</a:t>
            </a:r>
          </a:p>
          <a:p xmlns:a="http://schemas.openxmlformats.org/drawingml/2006/main">
            <a:r>
              <a:t>- /Users/anjali/Cloud_Vulnerabilities/backend/mcp_servers/kubernetes_server.py</a:t>
            </a:r>
          </a:p>
          <a:p xmlns:a="http://schemas.openxmlformats.org/drawingml/2006/main">
            <a:r>
              <a:t>- /Users/anjali/Cloud_Vulnerabilities/backend/mcp_servers/iac_server.py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Suggested talk track: We create insecure resources only inside an approved sandbox. The lab uses dummy data and temporary access, and cleanup proof is part of the exercise result.</a:t>
            </a:r>
          </a:p>
          <a:p xmlns:a="http://schemas.openxmlformats.org/drawingml/2006/main">
            <a:r>
              <a:t/>
            </a:r>
          </a:p>
          <a:p xmlns:a="http://schemas.openxmlformats.org/drawingml/2006/main">
            <a:r>
              <a:t>[Sources]</a:t>
            </a:r>
          </a:p>
          <a:p xmlns:a="http://schemas.openxmlformats.org/drawingml/2006/main">
            <a:r>
              <a:t>- /Users/anjali/Cloud_Vulnerabilities/grc-platform/cloudguard-test-labs/README.md</a:t>
            </a:r>
          </a:p>
          <a:p xmlns:a="http://schemas.openxmlformats.org/drawingml/2006/main">
            <a:r>
              <a:t>- /Users/anjali/Cloud_Vulnerabilities/docs/sandbox-lab-workflow.md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Suggested talk track: The AWS scanner covers four control areas. S3 represents data exposure, IAM represents identity risk, security groups show reachable services, and account-level checks show whether investigation data will exist.</a:t>
            </a:r>
          </a:p>
          <a:p xmlns:a="http://schemas.openxmlformats.org/drawingml/2006/main">
            <a:r>
              <a:t/>
            </a:r>
          </a:p>
          <a:p xmlns:a="http://schemas.openxmlformats.org/drawingml/2006/main">
            <a:r>
              <a:t>[Sources]</a:t>
            </a:r>
          </a:p>
          <a:p xmlns:a="http://schemas.openxmlformats.org/drawingml/2006/main">
            <a:r>
              <a:t>- /Users/anjali/Cloud_Vulnerabilities/backend/mcp_servers/aws_server.py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Suggested talk track: The first AWS call confirms identity through STS. Discovery follows, then each resource type receives its own checks. The result includes findings, any partial errors, and a severity summary.</a:t>
            </a:r>
          </a:p>
          <a:p xmlns:a="http://schemas.openxmlformats.org/drawingml/2006/main">
            <a:r>
              <a:t/>
            </a:r>
          </a:p>
          <a:p xmlns:a="http://schemas.openxmlformats.org/drawingml/2006/main">
            <a:r>
              <a:t>[Sources]</a:t>
            </a:r>
          </a:p>
          <a:p xmlns:a="http://schemas.openxmlformats.org/drawingml/2006/main">
            <a:r>
              <a:t>- /Users/anjali/Cloud_Vulnerabilities/backend/mcp_servers/aws_server.py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Suggested talk track: A vulnerability describes the unsafe configuration. The associated risk describes the harm that could follow. In AWS, the workshop examples cover data exposure, excessive identity privilege, internet-exposed management ports, and missing detection evidence.</a:t>
            </a:r>
          </a:p>
          <a:p xmlns:a="http://schemas.openxmlformats.org/drawingml/2006/main">
            <a:r>
              <a:t/>
            </a:r>
          </a:p>
          <a:p xmlns:a="http://schemas.openxmlformats.org/drawingml/2006/main">
            <a:r>
              <a:t>[Sources]</a:t>
            </a:r>
          </a:p>
          <a:p xmlns:a="http://schemas.openxmlformats.org/drawingml/2006/main">
            <a:r>
              <a:t>- /Users/anjali/Cloud_Vulnerabilities/backend/mcp_servers/aws_server.py</a:t>
            </a:r>
          </a:p>
          <a:p xmlns:a="http://schemas.openxmlformats.org/drawingml/2006/main">
            <a:r>
              <a:t>- /Users/anjali/Cloud_Vulnerabilities/grc-platform/cloudguard-test-labs/README.md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 minutes</a:t>
            </a:r>
          </a:p>
          <a:p xmlns:a="http://schemas.openxmlformats.org/drawingml/2006/main">
            <a:r>
              <a:t>Suggested talk track: Participants use only the assigned sandbox. Ask each group to explain one finding in plain language before they submit the evidence and cleanup record.</a:t>
            </a:r>
          </a:p>
          <a:p xmlns:a="http://schemas.openxmlformats.org/drawingml/2006/main">
            <a:r>
              <a:t/>
            </a:r>
          </a:p>
          <a:p xmlns:a="http://schemas.openxmlformats.org/drawingml/2006/main">
            <a:r>
              <a:t>[Sources]</a:t>
            </a:r>
          </a:p>
          <a:p xmlns:a="http://schemas.openxmlformats.org/drawingml/2006/main">
            <a:r>
              <a:t>- /Users/anjali/Cloud_Vulnerabilities/grc-platform/cloudguard-test-labs/README.md</a:t>
            </a:r>
          </a:p>
          <a:p xmlns:a="http://schemas.openxmlformats.org/drawingml/2006/main">
            <a:r>
              <a:t>- /Users/anjali/Cloud_Vulnerabilities/backend/mcp_servers/aws_server.py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Suggested talk track: GCP coverage follows the project boundary. The scanner combines storage policy, project IAM, virtual machine configuration, and firewall reachability in one result set.</a:t>
            </a:r>
          </a:p>
          <a:p xmlns:a="http://schemas.openxmlformats.org/drawingml/2006/main">
            <a:r>
              <a:t/>
            </a:r>
          </a:p>
          <a:p xmlns:a="http://schemas.openxmlformats.org/drawingml/2006/main">
            <a:r>
              <a:t>[Sources]</a:t>
            </a:r>
          </a:p>
          <a:p xmlns:a="http://schemas.openxmlformats.org/drawingml/2006/main">
            <a:r>
              <a:t>- /Users/anjali/Cloud_Vulnerabilities/backend/mcp_servers/gcp_server.py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Suggested talk track: The project ID anchors the GCP scan. Instance discovery runs across zones, while IAM and firewall rules remain project-level controls. CloudGuard keeps the project and location with each resource.</a:t>
            </a:r>
          </a:p>
          <a:p xmlns:a="http://schemas.openxmlformats.org/drawingml/2006/main">
            <a:r>
              <a:t/>
            </a:r>
          </a:p>
          <a:p xmlns:a="http://schemas.openxmlformats.org/drawingml/2006/main">
            <a:r>
              <a:t>[Sources]</a:t>
            </a:r>
          </a:p>
          <a:p xmlns:a="http://schemas.openxmlformats.org/drawingml/2006/main">
            <a:r>
              <a:t>- /Users/anjali/Cloud_Vulnerabilities/backend/mcp_servers/gcp_server.py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Suggested talk track: The GCP examples separate the vulnerable setting from the outcome it could enable. Public storage threatens data confidentiality, broad project roles increase the identity blast radius, firewall rules create attack paths, and weak VM hardening reduces resistance to compromise.</a:t>
            </a:r>
          </a:p>
          <a:p xmlns:a="http://schemas.openxmlformats.org/drawingml/2006/main">
            <a:r>
              <a:t/>
            </a:r>
          </a:p>
          <a:p xmlns:a="http://schemas.openxmlformats.org/drawingml/2006/main">
            <a:r>
              <a:t>[Sources]</a:t>
            </a:r>
          </a:p>
          <a:p xmlns:a="http://schemas.openxmlformats.org/drawingml/2006/main">
            <a:r>
              <a:t>- /Users/anjali/Cloud_Vulnerabilities/backend/mcp_servers/gcp_server.py</a:t>
            </a:r>
          </a:p>
          <a:p xmlns:a="http://schemas.openxmlformats.org/drawingml/2006/main">
            <a:r>
              <a:t>- /Users/anjali/Cloud_Vulnerabilities/grc-platform/cloudguard-test-labs/README.md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 minutes</a:t>
            </a:r>
          </a:p>
          <a:p xmlns:a="http://schemas.openxmlformats.org/drawingml/2006/main">
            <a:r>
              <a:t>Suggested talk track: Each group selects one finding and explains both the GCP-specific configuration and the shared security concept. Use the prepared result if the new job is still running.</a:t>
            </a:r>
          </a:p>
          <a:p xmlns:a="http://schemas.openxmlformats.org/drawingml/2006/main">
            <a:r>
              <a:t/>
            </a:r>
          </a:p>
          <a:p xmlns:a="http://schemas.openxmlformats.org/drawingml/2006/main">
            <a:r>
              <a:t>[Sources]</a:t>
            </a:r>
          </a:p>
          <a:p xmlns:a="http://schemas.openxmlformats.org/drawingml/2006/main">
            <a:r>
              <a:t>- /Users/anjali/Cloud_Vulnerabilities/grc-platform/cloudguard-test-labs/README.md</a:t>
            </a:r>
          </a:p>
          <a:p xmlns:a="http://schemas.openxmlformats.org/drawingml/2006/main">
            <a:r>
              <a:t>- /Users/anjali/Cloud_Vulnerabilities/backend/mcp_servers/gcp_server.py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Suggested talk track: Live mode uses a kubeconfig to query the API. Manifest mode reads files only. Both paths use the same checks and finding format, while live mode can add managed-cluster context and drift.</a:t>
            </a:r>
          </a:p>
          <a:p xmlns:a="http://schemas.openxmlformats.org/drawingml/2006/main">
            <a:r>
              <a:t/>
            </a:r>
          </a:p>
          <a:p xmlns:a="http://schemas.openxmlformats.org/drawingml/2006/main">
            <a:r>
              <a:t>[Sources]</a:t>
            </a:r>
          </a:p>
          <a:p xmlns:a="http://schemas.openxmlformats.org/drawingml/2006/main">
            <a:r>
              <a:t>- /Users/anjali/Cloud_Vulnerabilities/backend/mcp_servers/kubernetes_server.py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Suggested talk track: The scanner follows the layers of a Kubernetes attack path. It looks at the workload, the identity attached to it, the network path to it, and platform controls that affect the whole cluster.</a:t>
            </a:r>
          </a:p>
          <a:p xmlns:a="http://schemas.openxmlformats.org/drawingml/2006/main">
            <a:r>
              <a:t/>
            </a:r>
          </a:p>
          <a:p xmlns:a="http://schemas.openxmlformats.org/drawingml/2006/main">
            <a:r>
              <a:t>[Sources]</a:t>
            </a:r>
          </a:p>
          <a:p xmlns:a="http://schemas.openxmlformats.org/drawingml/2006/main">
            <a:r>
              <a:t>- /Users/anjali/Cloud_Vulnerabilities/backend/mcp_servers/kubernetes_server.py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Suggested talk track: Kubernetes risk grows when vulnerabilities combine. Network exposure creates a path to a workload. Unsafe container settings help an attacker gain control. Excessive RBAC or host access then expands the impact from one container to the node or cluster.</a:t>
            </a:r>
          </a:p>
          <a:p xmlns:a="http://schemas.openxmlformats.org/drawingml/2006/main">
            <a:r>
              <a:t/>
            </a:r>
          </a:p>
          <a:p xmlns:a="http://schemas.openxmlformats.org/drawingml/2006/main">
            <a:r>
              <a:t>[Sources]</a:t>
            </a:r>
          </a:p>
          <a:p xmlns:a="http://schemas.openxmlformats.org/drawingml/2006/main">
            <a:r>
              <a:t>- /Users/anjali/Cloud_Vulnerabilities/backend/mcp_servers/kubernetes_server.py</a:t>
            </a:r>
          </a:p>
          <a:p xmlns:a="http://schemas.openxmlformats.org/drawingml/2006/main">
            <a:r>
              <a:t>- /Users/anjali/Cloud_Vulnerabilities/grc-platform/cloudguard-test-labs/kubernetes/vulnerable-k8s.yaml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 minutes</a:t>
            </a:r>
          </a:p>
          <a:p xmlns:a="http://schemas.openxmlformats.org/drawingml/2006/main">
            <a:r>
              <a:t>Suggested talk track: Participants must use a disposable cluster. The exercise ends only after the namespace or manifest has been deleted and the cleanup result has been recorded.</a:t>
            </a:r>
          </a:p>
          <a:p xmlns:a="http://schemas.openxmlformats.org/drawingml/2006/main">
            <a:r>
              <a:t/>
            </a:r>
          </a:p>
          <a:p xmlns:a="http://schemas.openxmlformats.org/drawingml/2006/main">
            <a:r>
              <a:t>[Sources]</a:t>
            </a:r>
          </a:p>
          <a:p xmlns:a="http://schemas.openxmlformats.org/drawingml/2006/main">
            <a:r>
              <a:t>- /Users/anjali/Cloud_Vulnerabilities/grc-platform/cloudguard-test-labs/README.md</a:t>
            </a:r>
          </a:p>
          <a:p xmlns:a="http://schemas.openxmlformats.org/drawingml/2006/main">
            <a:r>
              <a:t>- /Users/anjali/Cloud_Vulnerabilities/grc-platform/cloudguard-test-labs/kubernetes/vulnerable-k8s.yaml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Suggested talk track: The IaC scanner classifies each file, applies checks for that template type, and reports the file as the affected resource. No cloud credentials or deployment are required.</a:t>
            </a:r>
          </a:p>
          <a:p xmlns:a="http://schemas.openxmlformats.org/drawingml/2006/main">
            <a:r>
              <a:t/>
            </a:r>
          </a:p>
          <a:p xmlns:a="http://schemas.openxmlformats.org/drawingml/2006/main">
            <a:r>
              <a:t>[Sources]</a:t>
            </a:r>
          </a:p>
          <a:p xmlns:a="http://schemas.openxmlformats.org/drawingml/2006/main">
            <a:r>
              <a:t>- /Users/anjali/Cloud_Vulnerabilities/backend/mcp_servers/iac_server.py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Suggested talk track: Static analysis starts with file discovery and classification. Each template type has specific checks. The output points back to the file and the matched configuration so the change can happen in source control.</a:t>
            </a:r>
          </a:p>
          <a:p xmlns:a="http://schemas.openxmlformats.org/drawingml/2006/main">
            <a:r>
              <a:t/>
            </a:r>
          </a:p>
          <a:p xmlns:a="http://schemas.openxmlformats.org/drawingml/2006/main">
            <a:r>
              <a:t>[Sources]</a:t>
            </a:r>
          </a:p>
          <a:p xmlns:a="http://schemas.openxmlformats.org/drawingml/2006/main">
            <a:r>
              <a:t>- /Users/anjali/Cloud_Vulnerabilities/backend/mcp_servers/iac_server.py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Suggested talk track: IaC scanning identifies risk before deployment. The source pattern is the vulnerability, while the associated risk describes what could happen if the template creates that configuration. Developers can correct the code and prevent the unsafe resource from reaching an environment.</a:t>
            </a:r>
          </a:p>
          <a:p xmlns:a="http://schemas.openxmlformats.org/drawingml/2006/main">
            <a:r>
              <a:t/>
            </a:r>
          </a:p>
          <a:p xmlns:a="http://schemas.openxmlformats.org/drawingml/2006/main">
            <a:r>
              <a:t>[Sources]</a:t>
            </a:r>
          </a:p>
          <a:p xmlns:a="http://schemas.openxmlformats.org/drawingml/2006/main">
            <a:r>
              <a:t>- /Users/anjali/Cloud_Vulnerabilities/backend/mcp_servers/iac_server.py</a:t>
            </a:r>
          </a:p>
          <a:p xmlns:a="http://schemas.openxmlformats.org/drawingml/2006/main">
            <a:r>
              <a:t>- /Users/anjali/Cloud_Vulnerabilities/grc-platform/cloudguard-test-labs/iac/terraform/vulnerable-aws.tf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a:t>
            </a:r>
          </a:p>
          <a:p xmlns:a="http://schemas.openxmlformats.org/drawingml/2006/main">
            <a:r>
              <a:t>Suggested talk track: This exercise uses local files only. Participants must not apply the templates. The output should show the original finding, the code change, and the second scan result.</a:t>
            </a:r>
          </a:p>
          <a:p xmlns:a="http://schemas.openxmlformats.org/drawingml/2006/main">
            <a:r>
              <a:t/>
            </a:r>
          </a:p>
          <a:p xmlns:a="http://schemas.openxmlformats.org/drawingml/2006/main">
            <a:r>
              <a:t>[Sources]</a:t>
            </a:r>
          </a:p>
          <a:p xmlns:a="http://schemas.openxmlformats.org/drawingml/2006/main">
            <a:r>
              <a:t>- /Users/anjali/Cloud_Vulnerabilities/grc-platform/cloudguard-test-labs/README.md</a:t>
            </a:r>
          </a:p>
          <a:p xmlns:a="http://schemas.openxmlformats.org/drawingml/2006/main">
            <a:r>
              <a:t>- /Users/anjali/Cloud_Vulnerabilities/grc-platform/cloudguard-test-labs/iac/terraform/vulnerable-aws.tf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a:t>
            </a:r>
          </a:p>
          <a:p xmlns:a="http://schemas.openxmlformats.org/drawingml/2006/main">
            <a:r>
              <a:t>Suggested talk track: The final module explains what governance, risk, and compliance adds to scanner output: a control objective, business context, accountable ownership, a recorded decision, and evidence that the issue is truly closed.</a:t>
            </a:r>
          </a:p>
          <a:p xmlns:a="http://schemas.openxmlformats.org/drawingml/2006/main">
            <a:r>
              <a:t/>
            </a:r>
          </a:p>
          <a:p xmlns:a="http://schemas.openxmlformats.org/drawingml/2006/main">
            <a:r>
              <a:t>[Sources]</a:t>
            </a:r>
          </a:p>
          <a:p xmlns:a="http://schemas.openxmlformats.org/drawingml/2006/main">
            <a:r>
              <a:t>- /Users/anjali/Cloud_Vulnerabilities/docs/vendor-neutral-reason-act-architecture.md</a:t>
            </a:r>
          </a:p>
          <a:p xmlns:a="http://schemas.openxmlformats.org/drawingml/2006/main">
            <a:r>
              <a:t>- /Users/anjali/Cloud_Vulnerabilities/docs/grc-platform-merge.md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 minutes</a:t>
            </a:r>
          </a:p>
          <a:p xmlns:a="http://schemas.openxmlformats.org/drawingml/2006/main">
            <a:r>
              <a:t>Suggested talk track: A scanner tells us what it observed. GRC connects that observation to the control we intended to operate, the business risk created by failure, the person responsible, and the evidence needed to close or formally accept the issue.</a:t>
            </a:r>
          </a:p>
          <a:p xmlns:a="http://schemas.openxmlformats.org/drawingml/2006/main">
            <a:r>
              <a:t/>
            </a:r>
          </a:p>
          <a:p xmlns:a="http://schemas.openxmlformats.org/drawingml/2006/main">
            <a:r>
              <a:t>[Sources]</a:t>
            </a:r>
          </a:p>
          <a:p xmlns:a="http://schemas.openxmlformats.org/drawingml/2006/main">
            <a:r>
              <a:t>- /Users/anjali/Cloud_Vulnerabilities/docs/vendor-neutral-reason-act-architecture.md</a:t>
            </a:r>
          </a:p>
          <a:p xmlns:a="http://schemas.openxmlformats.org/drawingml/2006/main">
            <a:r>
              <a:t>- /Users/anjali/Cloud_Vulnerabilities/docs/grc-platform-merge.md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 minutes</a:t>
            </a:r>
          </a:p>
          <a:p xmlns:a="http://schemas.openxmlformats.org/drawingml/2006/main">
            <a:r>
              <a:t>Suggested talk track: GRC is not a single compliance report. It is a connected set of records. The control states the expected outcome, evidence shows what operated, risk explains why the gap matters, an issue tracks the response, and audit history preserves every important decision.</a:t>
            </a:r>
          </a:p>
          <a:p xmlns:a="http://schemas.openxmlformats.org/drawingml/2006/main">
            <a:r>
              <a:t/>
            </a:r>
          </a:p>
          <a:p xmlns:a="http://schemas.openxmlformats.org/drawingml/2006/main">
            <a:r>
              <a:t>[Sources]</a:t>
            </a:r>
          </a:p>
          <a:p xmlns:a="http://schemas.openxmlformats.org/drawingml/2006/main">
            <a:r>
              <a:t>- /Users/anjali/Cloud_Vulnerabilities/docs/grc-platform-merge.md</a:t>
            </a:r>
          </a:p>
          <a:p xmlns:a="http://schemas.openxmlformats.org/drawingml/2006/main">
            <a:r>
              <a:t>- /Users/anjali/Cloud_Vulnerabilities/docs/vendor-neutral-reason-act-architecture.md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 minutes</a:t>
            </a:r>
          </a:p>
          <a:p xmlns:a="http://schemas.openxmlformats.org/drawingml/2006/main">
            <a:r>
              <a:t>Suggested talk track: This example starts with a technical storage finding and follows it into GRC. We identify the expected control, retain the observed policy as evidence, describe the business risk, assign an accountable owner, and require both an approved change and a clean rescan before closure.</a:t>
            </a:r>
          </a:p>
          <a:p xmlns:a="http://schemas.openxmlformats.org/drawingml/2006/main">
            <a:r>
              <a:t/>
            </a:r>
          </a:p>
          <a:p xmlns:a="http://schemas.openxmlformats.org/drawingml/2006/main">
            <a:r>
              <a:t>[Sources]</a:t>
            </a:r>
          </a:p>
          <a:p xmlns:a="http://schemas.openxmlformats.org/drawingml/2006/main">
            <a:r>
              <a:t>- /Users/anjali/Cloud_Vulnerabilities/docs/vendor-neutral-reason-act-architecture.md</a:t>
            </a:r>
          </a:p>
          <a:p xmlns:a="http://schemas.openxmlformats.org/drawingml/2006/main">
            <a:r>
              <a:t>- /Users/anjali/Cloud_Vulnerabilities/docs/grc-platform-merge.md</a:t>
            </a:r>
          </a:p>
          <a:p xmlns:a="http://schemas.openxmlformats.org/drawingml/2006/main">
            <a:r>
              <a:t>- /Users/anjali/Cloud_Vulnerabilities/backend/mcp_servers/aws_server.py</a:t>
            </a:r>
          </a:p>
          <a:p xmlns:a="http://schemas.openxmlformats.org/drawingml/2006/main">
            <a:r>
              <a:t>- /Users/anjali/Cloud_Vulnerabilities/backend/mcp_servers/gcp_server.py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a:t>
            </a:r>
          </a:p>
          <a:p xmlns:a="http://schemas.openxmlformats.org/drawingml/2006/main">
            <a:r>
              <a:t>Suggested talk track: A finding is an interpretation; evidence is the material that supports it. Good evidence preserves provenance, remains reviewable, maps to a control, and is joined by remediation or rescan proof so an auditor can reconstruct the full lifecycle.</a:t>
            </a:r>
          </a:p>
          <a:p xmlns:a="http://schemas.openxmlformats.org/drawingml/2006/main">
            <a:r>
              <a:t/>
            </a:r>
          </a:p>
          <a:p xmlns:a="http://schemas.openxmlformats.org/drawingml/2006/main">
            <a:r>
              <a:t>[Sources]</a:t>
            </a:r>
          </a:p>
          <a:p xmlns:a="http://schemas.openxmlformats.org/drawingml/2006/main">
            <a:r>
              <a:t>- /Users/anjali/Cloud_Vulnerabilities/handoff/grc-compliance-governance/architecture-grc-evidence-flow.png</a:t>
            </a:r>
          </a:p>
          <a:p xmlns:a="http://schemas.openxmlformats.org/drawingml/2006/main">
            <a:r>
              <a:t>- /Users/anjali/Cloud_Vulnerabilities/docs/vendor-neutral-reason-act-architecture.md</a:t>
            </a:r>
          </a:p>
          <a:p xmlns:a="http://schemas.openxmlformats.org/drawingml/2006/main">
            <a:r>
              <a:t>- /Users/anjali/Cloud_Vulnerabilities/docs/grc-platform-merge.md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a:t>
            </a:r>
          </a:p>
          <a:p xmlns:a="http://schemas.openxmlformats.org/drawingml/2006/main">
            <a:r>
              <a:t>Suggested talk track: A scanner should not silently become an autonomous production change. Risk context determines urgency, the issue is assigned to an accountable owner, the proposed action includes validation and rollback, a human approves material change, and a rescan confirms the final state.</a:t>
            </a:r>
          </a:p>
          <a:p xmlns:a="http://schemas.openxmlformats.org/drawingml/2006/main">
            <a:r>
              <a:t/>
            </a:r>
          </a:p>
          <a:p xmlns:a="http://schemas.openxmlformats.org/drawingml/2006/main">
            <a:r>
              <a:t>[Sources]</a:t>
            </a:r>
          </a:p>
          <a:p xmlns:a="http://schemas.openxmlformats.org/drawingml/2006/main">
            <a:r>
              <a:t>- /Users/anjali/Cloud_Vulnerabilities/output/playwright/cloudguard-reason-act.png</a:t>
            </a:r>
          </a:p>
          <a:p xmlns:a="http://schemas.openxmlformats.org/drawingml/2006/main">
            <a:r>
              <a:t>- /Users/anjali/Cloud_Vulnerabilities/docs/vendor-neutral-reason-act-architecture.md</a:t>
            </a:r>
          </a:p>
          <a:p xmlns:a="http://schemas.openxmlformats.org/drawingml/2006/main">
            <a:r>
              <a:t>- /Users/anjali/Cloud_Vulnerabilities/docs/grc-platform-merge.md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Suggested talk track: Audit-ready closure means we can reconstruct what was found, which control failed, why it mattered, who made the decision, what changed, and what proved the final state. We finish by confirming that every lab resource and temporary credential has been removed.</a:t>
            </a:r>
          </a:p>
          <a:p xmlns:a="http://schemas.openxmlformats.org/drawingml/2006/main">
            <a:r>
              <a:t/>
            </a:r>
          </a:p>
          <a:p xmlns:a="http://schemas.openxmlformats.org/drawingml/2006/main">
            <a:r>
              <a:t>[Sources]</a:t>
            </a:r>
          </a:p>
          <a:p xmlns:a="http://schemas.openxmlformats.org/drawingml/2006/main">
            <a:r>
              <a:t>- /Users/anjali/Cloud_Vulnerabilities/grc-platform/cloudguard-test-labs/README.md</a:t>
            </a:r>
          </a:p>
          <a:p xmlns:a="http://schemas.openxmlformats.org/drawingml/2006/main">
            <a:r>
              <a:t>- /Users/anjali/Cloud_Vulnerabilities/docs/vendor-neutral-reason-act-architecture.md</a:t>
            </a:r>
          </a:p>
          <a:p xmlns:a="http://schemas.openxmlformats.org/drawingml/2006/main">
            <a:r>
              <a:t>- /Users/anjali/Cloud_Vulnerabilities/docs/grc-platform-merge.md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40d4c7dff6b405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e77a2d4f6d0420d" /><Relationship Type="http://schemas.openxmlformats.org/officeDocument/2006/relationships/slideLayout" Target="/ppt/slideLayouts/slideLayout1.xml" Id="R3c466b9f1254461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c466b9f1254461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02afbd682594c6f" /><Relationship Type="http://schemas.openxmlformats.org/officeDocument/2006/relationships/image" Target="/ppt/media/image.png" Id="Rbe96c33bd7f74243" /><Relationship Type="http://schemas.openxmlformats.org/officeDocument/2006/relationships/notesSlide" Target="/ppt/notesSlides/notesSlide1.xml" Id="R8d26704824aa486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62a1785f7a8479f" /><Relationship Type="http://schemas.openxmlformats.org/officeDocument/2006/relationships/image" Target="/ppt/media/image2.png" Id="R7a2e41b70c44472b" /><Relationship Type="http://schemas.openxmlformats.org/officeDocument/2006/relationships/notesSlide" Target="/ppt/notesSlides/notesSlide2.xml" Id="R90d53a863be0453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953eb630d3e4553" /><Relationship Type="http://schemas.openxmlformats.org/officeDocument/2006/relationships/image" Target="/ppt/media/image3.png" Id="R2a27208894a94d22" /><Relationship Type="http://schemas.openxmlformats.org/officeDocument/2006/relationships/notesSlide" Target="/ppt/notesSlides/notesSlide3.xml" Id="Rfc3eb8f6c6dc4c6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c621bfe15544f47" /><Relationship Type="http://schemas.openxmlformats.org/officeDocument/2006/relationships/image" Target="/ppt/media/image4.png" Id="Rd7c990c005cc498a" /><Relationship Type="http://schemas.openxmlformats.org/officeDocument/2006/relationships/notesSlide" Target="/ppt/notesSlides/notesSlide4.xml" Id="R5be86508c27c4c6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839f89ce3f143b1" /><Relationship Type="http://schemas.openxmlformats.org/officeDocument/2006/relationships/image" Target="/ppt/media/image5.png" Id="R9a58d8fdb34d411e" /><Relationship Type="http://schemas.openxmlformats.org/officeDocument/2006/relationships/image" Target="/ppt/media/image6.png" Id="R790ad6c09fab46a3" /><Relationship Type="http://schemas.openxmlformats.org/officeDocument/2006/relationships/notesSlide" Target="/ppt/notesSlides/notesSlide5.xml" Id="R5751d6ae0bff470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eca5c90afa84025" /><Relationship Type="http://schemas.openxmlformats.org/officeDocument/2006/relationships/image" Target="/ppt/media/image7.png" Id="R07c9f550be114207" /><Relationship Type="http://schemas.openxmlformats.org/officeDocument/2006/relationships/notesSlide" Target="/ppt/notesSlides/notesSlide6.xml" Id="R85d1db324d544cb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ca15d3bab4a4264" /><Relationship Type="http://schemas.openxmlformats.org/officeDocument/2006/relationships/image" Target="/ppt/media/image8.png" Id="R8245c08c23894056" /><Relationship Type="http://schemas.openxmlformats.org/officeDocument/2006/relationships/notesSlide" Target="/ppt/notesSlides/notesSlide7.xml" Id="Rbfad41e95774486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f4978a8506942bb" /><Relationship Type="http://schemas.openxmlformats.org/officeDocument/2006/relationships/image" Target="/ppt/media/image9.png" Id="Rf5c37807dd5b4b12" /><Relationship Type="http://schemas.openxmlformats.org/officeDocument/2006/relationships/notesSlide" Target="/ppt/notesSlides/notesSlide8.xml" Id="R7c44a5ebd8224d0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12e1bc8fc6c41aa" /><Relationship Type="http://schemas.openxmlformats.org/officeDocument/2006/relationships/image" Target="/ppt/media/image10.png" Id="R48c48d5a1fae4465" /><Relationship Type="http://schemas.openxmlformats.org/officeDocument/2006/relationships/notesSlide" Target="/ppt/notesSlides/notesSlide9.xml" Id="Rd13ac2b090134ce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0f78743ffaa4f90" /><Relationship Type="http://schemas.openxmlformats.org/officeDocument/2006/relationships/image" Target="/ppt/media/image11.png" Id="R85b717773b3e4535" /><Relationship Type="http://schemas.openxmlformats.org/officeDocument/2006/relationships/notesSlide" Target="/ppt/notesSlides/notesSlide10.xml" Id="Rc976b499f4bb47f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affc6fec9ad498f" /><Relationship Type="http://schemas.openxmlformats.org/officeDocument/2006/relationships/image" Target="/ppt/media/image12.png" Id="R8a65bfa8379d456d" /><Relationship Type="http://schemas.openxmlformats.org/officeDocument/2006/relationships/notesSlide" Target="/ppt/notesSlides/notesSlide11.xml" Id="R545074b814f746f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7f2051cb09f437d" /><Relationship Type="http://schemas.openxmlformats.org/officeDocument/2006/relationships/image" Target="/ppt/media/image13.png" Id="R0ea8a2789c004ecb" /><Relationship Type="http://schemas.openxmlformats.org/officeDocument/2006/relationships/notesSlide" Target="/ppt/notesSlides/notesSlide12.xml" Id="R644b1346297a4d1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e73494137ae4b0d" /><Relationship Type="http://schemas.openxmlformats.org/officeDocument/2006/relationships/image" Target="/ppt/media/image14.png" Id="R498c033d1f404d31" /><Relationship Type="http://schemas.openxmlformats.org/officeDocument/2006/relationships/notesSlide" Target="/ppt/notesSlides/notesSlide13.xml" Id="R820aacf769144b2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2c9797464974c7e" /><Relationship Type="http://schemas.openxmlformats.org/officeDocument/2006/relationships/image" Target="/ppt/media/image15.png" Id="Rfae1954e9717413f" /><Relationship Type="http://schemas.openxmlformats.org/officeDocument/2006/relationships/notesSlide" Target="/ppt/notesSlides/notesSlide14.xml" Id="R69a79c9360a24c2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f0d73e017ec46db" /><Relationship Type="http://schemas.openxmlformats.org/officeDocument/2006/relationships/image" Target="/ppt/media/image16.png" Id="Rde181845caf5400f" /><Relationship Type="http://schemas.openxmlformats.org/officeDocument/2006/relationships/notesSlide" Target="/ppt/notesSlides/notesSlide15.xml" Id="R426015647e3d474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eabd9ae4300441e" /><Relationship Type="http://schemas.openxmlformats.org/officeDocument/2006/relationships/image" Target="/ppt/media/image17.png" Id="R1a4d8c7d22904479" /><Relationship Type="http://schemas.openxmlformats.org/officeDocument/2006/relationships/notesSlide" Target="/ppt/notesSlides/notesSlide16.xml" Id="R24ee3b8591764a0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05f9647b4e94b03" /><Relationship Type="http://schemas.openxmlformats.org/officeDocument/2006/relationships/image" Target="/ppt/media/image18.png" Id="R2479b510bcd54c35" /><Relationship Type="http://schemas.openxmlformats.org/officeDocument/2006/relationships/notesSlide" Target="/ppt/notesSlides/notesSlide17.xml" Id="R5aadf7490ea2447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b1a6e08f4974dc2" /><Relationship Type="http://schemas.openxmlformats.org/officeDocument/2006/relationships/image" Target="/ppt/media/image19.png" Id="R2e3eeb1afe284460" /><Relationship Type="http://schemas.openxmlformats.org/officeDocument/2006/relationships/notesSlide" Target="/ppt/notesSlides/notesSlide18.xml" Id="R9f307bf79ba641c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3f933b9e8cb4ee8" /><Relationship Type="http://schemas.openxmlformats.org/officeDocument/2006/relationships/image" Target="/ppt/media/image20.png" Id="R5ef4856005e34e8e" /><Relationship Type="http://schemas.openxmlformats.org/officeDocument/2006/relationships/notesSlide" Target="/ppt/notesSlides/notesSlide19.xml" Id="R2c777d2cb003496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ec7d939b2a7244e6" /><Relationship Type="http://schemas.openxmlformats.org/officeDocument/2006/relationships/image" Target="/ppt/media/image21.png" Id="R5e267d5fdb1742e9" /><Relationship Type="http://schemas.openxmlformats.org/officeDocument/2006/relationships/notesSlide" Target="/ppt/notesSlides/notesSlide20.xml" Id="R686619fc49c4417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125587b8421349e6" /><Relationship Type="http://schemas.openxmlformats.org/officeDocument/2006/relationships/image" Target="/ppt/media/image22.png" Id="R5231a6bd013c4d91" /><Relationship Type="http://schemas.openxmlformats.org/officeDocument/2006/relationships/notesSlide" Target="/ppt/notesSlides/notesSlide21.xml" Id="R083059622fdd496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3d8f1afa21fe4ade" /><Relationship Type="http://schemas.openxmlformats.org/officeDocument/2006/relationships/image" Target="/ppt/media/image23.png" Id="R3fb364a4dceb4145" /><Relationship Type="http://schemas.openxmlformats.org/officeDocument/2006/relationships/notesSlide" Target="/ppt/notesSlides/notesSlide22.xml" Id="Re33af7056347429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d47f9e9bc25144f0" /><Relationship Type="http://schemas.openxmlformats.org/officeDocument/2006/relationships/image" Target="/ppt/media/image24.png" Id="R0f98dc4f6ef64a1e" /><Relationship Type="http://schemas.openxmlformats.org/officeDocument/2006/relationships/notesSlide" Target="/ppt/notesSlides/notesSlide23.xml" Id="R0a4c366104434c5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5ca69d510dfe4508" /><Relationship Type="http://schemas.openxmlformats.org/officeDocument/2006/relationships/image" Target="/ppt/media/image25.png" Id="Ra09450fcdce14010" /><Relationship Type="http://schemas.openxmlformats.org/officeDocument/2006/relationships/notesSlide" Target="/ppt/notesSlides/notesSlide24.xml" Id="R3d7e802f7ea04ca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91eff1a78cb94345" /><Relationship Type="http://schemas.openxmlformats.org/officeDocument/2006/relationships/image" Target="/ppt/media/image26.png" Id="R00ce79a1f6984317" /><Relationship Type="http://schemas.openxmlformats.org/officeDocument/2006/relationships/notesSlide" Target="/ppt/notesSlides/notesSlide25.xml" Id="R027059cac6f54cf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18bf89c925e0475a" /><Relationship Type="http://schemas.openxmlformats.org/officeDocument/2006/relationships/image" Target="/ppt/media/image27.png" Id="R0e2922f1c9874f0e" /><Relationship Type="http://schemas.openxmlformats.org/officeDocument/2006/relationships/notesSlide" Target="/ppt/notesSlides/notesSlide26.xml" Id="R525536d208004e2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933986436d4d426d" /><Relationship Type="http://schemas.openxmlformats.org/officeDocument/2006/relationships/image" Target="/ppt/media/image28.png" Id="R513c6ea3fa774894" /><Relationship Type="http://schemas.openxmlformats.org/officeDocument/2006/relationships/notesSlide" Target="/ppt/notesSlides/notesSlide27.xml" Id="R604ec63ad5fb4dd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909cbc1c06834b94" /><Relationship Type="http://schemas.openxmlformats.org/officeDocument/2006/relationships/image" Target="/ppt/media/image29.png" Id="R70532c3cf2e64648" /><Relationship Type="http://schemas.openxmlformats.org/officeDocument/2006/relationships/image" Target="/ppt/media/image30.png" Id="Rabae31e7b5e84db8" /><Relationship Type="http://schemas.openxmlformats.org/officeDocument/2006/relationships/notesSlide" Target="/ppt/notesSlides/notesSlide28.xml" Id="Rabf100557a664eb0"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6105f81572d04544" /><Relationship Type="http://schemas.openxmlformats.org/officeDocument/2006/relationships/image" Target="/ppt/media/image31.png" Id="Rada59baa16b54959" /><Relationship Type="http://schemas.openxmlformats.org/officeDocument/2006/relationships/image" Target="/ppt/media/image32.png" Id="R35806aebdc0b4efb" /><Relationship Type="http://schemas.openxmlformats.org/officeDocument/2006/relationships/notesSlide" Target="/ppt/notesSlides/notesSlide29.xml" Id="Rd9401eeeb8d9472b"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00155706cba443f1" /><Relationship Type="http://schemas.openxmlformats.org/officeDocument/2006/relationships/image" Target="/ppt/media/image33.png" Id="Ra6f42e53009d42aa" /><Relationship Type="http://schemas.openxmlformats.org/officeDocument/2006/relationships/notesSlide" Target="/ppt/notesSlides/notesSlide30.xml" Id="R294f3a58b8ad40c4" /></Relationships>
</file>

<file path=ppt/slides/slide1.xml><?xml version="1.0" encoding="utf-8"?>
<p:sld xmlns:p="http://schemas.openxmlformats.org/presentationml/2006/main">
  <p:cSld>
    <p:bg>
      <p:bgPr>
        <a:solidFill xmlns:a="http://schemas.openxmlformats.org/drawingml/2006/main">
          <a:srgbClr val="0B1D19"/>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be96c33bd7f74243"/>
          <a:stretch xmlns:a="http://schemas.openxmlformats.org/drawingml/2006/main"/>
        </p:blipFill>
        <p:spPr>
          <a:xfrm xmlns:a="http://schemas.openxmlformats.org/drawingml/2006/main">
            <a:off x="647700" y="495300"/>
            <a:ext cx="685800" cy="685800"/>
          </a:xfrm>
          <a:prstGeom xmlns:a="http://schemas.openxmlformats.org/drawingml/2006/main" prst="rect">
            <a:avLst/>
          </a:prstGeom>
        </p:spPr>
      </p:pic>
      <p:sp>
        <p:nvSpPr>
          <p:cNvPr id="2" name="cover-brand">
            <a:extLst xmlns:a="http://schemas.openxmlformats.org/drawingml/2006/main">
              <a:ext uri="{FF2B5EF4-FFF2-40B4-BE49-F238E27FC236}">
                <a16:creationId xmlns:a16="http://schemas.microsoft.com/office/drawing/2014/main" id="{CE5EE13F-CDDE-4391-9DDE-3C2F27BCA28F}"/>
              </a:ext>
            </a:extLst>
          </p:cNvPr>
          <p:cNvSpPr>
            <a:spLocks xmlns:a="http://schemas.openxmlformats.org/drawingml/2006/main" noGrp="1"/>
          </p:cNvSpPr>
          <p:nvPr/>
        </p:nvSpPr>
        <p:spPr>
          <a:xfrm xmlns:a="http://schemas.openxmlformats.org/drawingml/2006/main">
            <a:off x="1466850" y="67627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DeepTrustxAI</a:t>
            </a:r>
          </a:p>
        </p:txBody>
      </p:sp>
      <p:sp>
        <p:nvSpPr>
          <p:cNvPr id="3" name="cover-title">
            <a:extLst xmlns:a="http://schemas.openxmlformats.org/drawingml/2006/main">
              <a:ext uri="{FF2B5EF4-FFF2-40B4-BE49-F238E27FC236}">
                <a16:creationId xmlns:a16="http://schemas.microsoft.com/office/drawing/2014/main" id="{E159CB9A-4BCC-4627-9A38-A2272C7A14B3}"/>
              </a:ext>
            </a:extLst>
          </p:cNvPr>
          <p:cNvSpPr>
            <a:spLocks xmlns:a="http://schemas.openxmlformats.org/drawingml/2006/main" noGrp="1"/>
          </p:cNvSpPr>
          <p:nvPr/>
        </p:nvSpPr>
        <p:spPr>
          <a:xfrm xmlns:a="http://schemas.openxmlformats.org/drawingml/2006/main">
            <a:off x="647700" y="1714500"/>
            <a:ext cx="10287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4350" b="1">
                <a:solidFill>
                  <a:srgbClr val="FFFFFF"/>
                </a:solidFill>
                <a:latin typeface="Helvetica Neue"/>
                <a:ea typeface="Helvetica Neue"/>
                <a:cs typeface="Helvetica Neue"/>
              </a:defRPr>
            </a:pPr>
            <a:r>
              <a:rPr sz="4350" b="1">
                <a:solidFill>
                  <a:srgbClr val="FFFFFF"/>
                </a:solidFill>
                <a:latin typeface="Helvetica Neue"/>
                <a:ea typeface="Helvetica Neue"/>
                <a:cs typeface="Helvetica Neue"/>
              </a:rPr>
              <a:t>CloudGuard</a:t>
            </a:r>
          </a:p>
          <a:p xmlns:a="http://schemas.openxmlformats.org/drawingml/2006/main">
            <a:pPr algn="l">
              <a:defRPr sz="4350" b="1">
                <a:solidFill>
                  <a:srgbClr val="FFFFFF"/>
                </a:solidFill>
                <a:latin typeface="Helvetica Neue"/>
                <a:ea typeface="Helvetica Neue"/>
                <a:cs typeface="Helvetica Neue"/>
              </a:defRPr>
            </a:pPr>
            <a:r>
              <a:rPr sz="4350" b="1">
                <a:solidFill>
                  <a:srgbClr val="FFFFFF"/>
                </a:solidFill>
                <a:latin typeface="Helvetica Neue"/>
                <a:ea typeface="Helvetica Neue"/>
                <a:cs typeface="Helvetica Neue"/>
              </a:rPr>
              <a:t>Security Workshop</a:t>
            </a:r>
          </a:p>
        </p:txBody>
      </p:sp>
      <p:sp>
        <p:nvSpPr>
          <p:cNvPr id="4" name="cover-subtitle">
            <a:extLst xmlns:a="http://schemas.openxmlformats.org/drawingml/2006/main">
              <a:ext uri="{FF2B5EF4-FFF2-40B4-BE49-F238E27FC236}">
                <a16:creationId xmlns:a16="http://schemas.microsoft.com/office/drawing/2014/main" id="{F1DC2323-5A81-46F2-AEDD-8ABF4FA70CDC}"/>
              </a:ext>
            </a:extLst>
          </p:cNvPr>
          <p:cNvSpPr>
            <a:spLocks xmlns:a="http://schemas.openxmlformats.org/drawingml/2006/main" noGrp="1"/>
          </p:cNvSpPr>
          <p:nvPr/>
        </p:nvSpPr>
        <p:spPr>
          <a:xfrm xmlns:a="http://schemas.openxmlformats.org/drawingml/2006/main">
            <a:off x="666750" y="3524250"/>
            <a:ext cx="981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025" b="1">
                <a:solidFill>
                  <a:srgbClr val="42D7B0"/>
                </a:solidFill>
                <a:latin typeface="Helvetica Neue"/>
                <a:ea typeface="Helvetica Neue"/>
                <a:cs typeface="Helvetica Neue"/>
              </a:defRPr>
            </a:pPr>
            <a:r>
              <a:rPr sz="2025" b="1">
                <a:solidFill>
                  <a:srgbClr val="42D7B0"/>
                </a:solidFill>
                <a:latin typeface="Helvetica Neue"/>
                <a:ea typeface="Helvetica Neue"/>
                <a:cs typeface="Helvetica Neue"/>
              </a:rPr>
              <a:t>Understanding AWS, GCP, Kubernetes, and IaC security scanners</a:t>
            </a:r>
          </a:p>
        </p:txBody>
      </p:sp>
      <p:sp>
        <p:nvSpPr>
          <p:cNvPr id="5" name="cover-rule">
            <a:extLst xmlns:a="http://schemas.openxmlformats.org/drawingml/2006/main">
              <a:ext uri="{FF2B5EF4-FFF2-40B4-BE49-F238E27FC236}">
                <a16:creationId xmlns:a16="http://schemas.microsoft.com/office/drawing/2014/main" id="{8D8A8601-483C-484A-828F-CFC1CF7D5C51}"/>
              </a:ext>
            </a:extLst>
          </p:cNvPr>
          <p:cNvSpPr>
            <a:spLocks xmlns:a="http://schemas.openxmlformats.org/drawingml/2006/main" noGrp="1"/>
          </p:cNvSpPr>
          <p:nvPr/>
        </p:nvSpPr>
        <p:spPr>
          <a:xfrm xmlns:a="http://schemas.openxmlformats.org/drawingml/2006/main">
            <a:off x="666750" y="4762500"/>
            <a:ext cx="10763250" cy="19050"/>
          </a:xfrm>
          <a:prstGeom xmlns:a="http://schemas.openxmlformats.org/drawingml/2006/main" prst="rect">
            <a:avLst/>
          </a:prstGeom>
          <a:solidFill xmlns:a="http://schemas.openxmlformats.org/drawingml/2006/main">
            <a:srgbClr val="11856E"/>
          </a:solidFill>
          <a:ln xmlns:a="http://schemas.openxmlformats.org/drawingml/2006/main" w="0">
            <a:solidFill>
              <a:srgbClr val="11856E"/>
            </a:solidFill>
            <a:prstDash val="solid"/>
          </a:ln>
        </p:spPr>
      </p:sp>
      <p:sp>
        <p:nvSpPr>
          <p:cNvPr id="6" name="cover-meta">
            <a:extLst xmlns:a="http://schemas.openxmlformats.org/drawingml/2006/main">
              <a:ext uri="{FF2B5EF4-FFF2-40B4-BE49-F238E27FC236}">
                <a16:creationId xmlns:a16="http://schemas.microsoft.com/office/drawing/2014/main" id="{0D1D8E20-A97F-47F2-827F-BFF44642EB0D}"/>
              </a:ext>
            </a:extLst>
          </p:cNvPr>
          <p:cNvSpPr>
            <a:spLocks xmlns:a="http://schemas.openxmlformats.org/drawingml/2006/main" noGrp="1"/>
          </p:cNvSpPr>
          <p:nvPr/>
        </p:nvSpPr>
        <p:spPr>
          <a:xfrm xmlns:a="http://schemas.openxmlformats.org/drawingml/2006/main">
            <a:off x="666750" y="5067300"/>
            <a:ext cx="904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B7CBC5"/>
                </a:solidFill>
                <a:latin typeface="Helvetica Neue"/>
                <a:ea typeface="Helvetica Neue"/>
                <a:cs typeface="Helvetica Neue"/>
              </a:defRPr>
            </a:pPr>
            <a:r>
              <a:rPr sz="1425" b="1">
                <a:solidFill>
                  <a:srgbClr val="B7CBC5"/>
                </a:solidFill>
                <a:latin typeface="Helvetica Neue"/>
                <a:ea typeface="Helvetica Neue"/>
                <a:cs typeface="Helvetica Neue"/>
              </a:rPr>
              <a:t>Concepts, live demonstrations, findings, and practical labs</a:t>
            </a:r>
          </a:p>
        </p:txBody>
      </p:sp>
      <p:sp>
        <p:nvSpPr>
          <p:cNvPr id="7" name="cover-duration">
            <a:extLst xmlns:a="http://schemas.openxmlformats.org/drawingml/2006/main">
              <a:ext uri="{FF2B5EF4-FFF2-40B4-BE49-F238E27FC236}">
                <a16:creationId xmlns:a16="http://schemas.microsoft.com/office/drawing/2014/main" id="{F7051B59-86F1-49CC-BCEF-88AC3DA09E0A}"/>
              </a:ext>
            </a:extLst>
          </p:cNvPr>
          <p:cNvSpPr>
            <a:spLocks xmlns:a="http://schemas.openxmlformats.org/drawingml/2006/main" noGrp="1"/>
          </p:cNvSpPr>
          <p:nvPr/>
        </p:nvSpPr>
        <p:spPr>
          <a:xfrm xmlns:a="http://schemas.openxmlformats.org/drawingml/2006/main">
            <a:off x="666750" y="5619750"/>
            <a:ext cx="438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86A39C"/>
                </a:solidFill>
                <a:latin typeface="Helvetica Neue"/>
                <a:ea typeface="Helvetica Neue"/>
                <a:cs typeface="Helvetica Neue"/>
              </a:defRPr>
            </a:pPr>
            <a:r>
              <a:rPr sz="1275" b="0">
                <a:solidFill>
                  <a:srgbClr val="86A39C"/>
                </a:solidFill>
                <a:latin typeface="Helvetica Neue"/>
                <a:ea typeface="Helvetica Neue"/>
                <a:cs typeface="Helvetica Neue"/>
              </a:rPr>
              <a:t>150-minute workshop</a:t>
            </a:r>
          </a:p>
        </p:txBody>
      </p:sp>
    </p:spTree>
    <p:extLst>
      <p:ext uri="{BB962C8B-B14F-4D97-AF65-F5344CB8AC3E}">
        <p14:creationId xmlns:p14="http://schemas.microsoft.com/office/powerpoint/2010/main" val="5771171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ection-2">
            <a:extLst xmlns:a="http://schemas.openxmlformats.org/drawingml/2006/main">
              <a:ext uri="{FF2B5EF4-FFF2-40B4-BE49-F238E27FC236}">
                <a16:creationId xmlns:a16="http://schemas.microsoft.com/office/drawing/2014/main" id="{2A4E43FF-184A-4982-A0DE-F01F31DAE442}"/>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WORKSHOP OPENING</a:t>
            </a:r>
          </a:p>
        </p:txBody>
      </p:sp>
      <p:sp>
        <p:nvSpPr>
          <p:cNvPr id="2" name="title-2">
            <a:extLst xmlns:a="http://schemas.openxmlformats.org/drawingml/2006/main">
              <a:ext uri="{FF2B5EF4-FFF2-40B4-BE49-F238E27FC236}">
                <a16:creationId xmlns:a16="http://schemas.microsoft.com/office/drawing/2014/main" id="{956CA84E-CF5A-4CC8-9169-B482C85EEDE8}"/>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Learning outcomes</a:t>
            </a:r>
          </a:p>
        </p:txBody>
      </p:sp>
      <p:sp>
        <p:nvSpPr>
          <p:cNvPr id="3" name="title-rule-2">
            <a:extLst xmlns:a="http://schemas.openxmlformats.org/drawingml/2006/main">
              <a:ext uri="{FF2B5EF4-FFF2-40B4-BE49-F238E27FC236}">
                <a16:creationId xmlns:a16="http://schemas.microsoft.com/office/drawing/2014/main" id="{1AE0DB4C-CAF7-4295-91A2-DD51A87DA4F2}"/>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7a2e41b70c44472b"/>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2">
            <a:extLst xmlns:a="http://schemas.openxmlformats.org/drawingml/2006/main">
              <a:ext uri="{FF2B5EF4-FFF2-40B4-BE49-F238E27FC236}">
                <a16:creationId xmlns:a16="http://schemas.microsoft.com/office/drawing/2014/main" id="{F6C7C3BB-D293-4A94-8269-4C644B250D53}"/>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2">
            <a:extLst xmlns:a="http://schemas.openxmlformats.org/drawingml/2006/main">
              <a:ext uri="{FF2B5EF4-FFF2-40B4-BE49-F238E27FC236}">
                <a16:creationId xmlns:a16="http://schemas.microsoft.com/office/drawing/2014/main" id="{DB950E9A-A0D8-4403-8FE5-F2A40C6061F2}"/>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2">
            <a:extLst xmlns:a="http://schemas.openxmlformats.org/drawingml/2006/main">
              <a:ext uri="{FF2B5EF4-FFF2-40B4-BE49-F238E27FC236}">
                <a16:creationId xmlns:a16="http://schemas.microsoft.com/office/drawing/2014/main" id="{58B91426-990E-45EF-832E-463A8F3B181F}"/>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02</a:t>
            </a:r>
          </a:p>
        </p:txBody>
      </p:sp>
      <p:sp>
        <p:nvSpPr>
          <p:cNvPr id="8" name="outcome-lead">
            <a:extLst xmlns:a="http://schemas.openxmlformats.org/drawingml/2006/main">
              <a:ext uri="{FF2B5EF4-FFF2-40B4-BE49-F238E27FC236}">
                <a16:creationId xmlns:a16="http://schemas.microsoft.com/office/drawing/2014/main" id="{AA8C2565-921B-4CCD-8418-1058385A1A2D}"/>
              </a:ext>
            </a:extLst>
          </p:cNvPr>
          <p:cNvSpPr>
            <a:spLocks xmlns:a="http://schemas.openxmlformats.org/drawingml/2006/main" noGrp="1"/>
          </p:cNvSpPr>
          <p:nvPr/>
        </p:nvSpPr>
        <p:spPr>
          <a:xfrm xmlns:a="http://schemas.openxmlformats.org/drawingml/2006/main">
            <a:off x="533400" y="17907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025" b="1">
                <a:solidFill>
                  <a:srgbClr val="0C1715"/>
                </a:solidFill>
                <a:latin typeface="Helvetica Neue"/>
                <a:ea typeface="Helvetica Neue"/>
                <a:cs typeface="Helvetica Neue"/>
              </a:defRPr>
            </a:pPr>
            <a:r>
              <a:rPr sz="2025" b="1">
                <a:solidFill>
                  <a:srgbClr val="0C1715"/>
                </a:solidFill>
                <a:latin typeface="Helvetica Neue"/>
                <a:ea typeface="Helvetica Neue"/>
                <a:cs typeface="Helvetica Neue"/>
              </a:rPr>
              <a:t>By the end of the workshop, every participant can explain the full life of a scanner finding.</a:t>
            </a:r>
          </a:p>
        </p:txBody>
      </p:sp>
      <p:sp>
        <p:nvSpPr>
          <p:cNvPr id="9" name="pair-left-title-2">
            <a:extLst xmlns:a="http://schemas.openxmlformats.org/drawingml/2006/main">
              <a:ext uri="{FF2B5EF4-FFF2-40B4-BE49-F238E27FC236}">
                <a16:creationId xmlns:a16="http://schemas.microsoft.com/office/drawing/2014/main" id="{B58EB8C8-F93B-4EE3-8142-1B01D302C600}"/>
              </a:ext>
            </a:extLst>
          </p:cNvPr>
          <p:cNvSpPr>
            <a:spLocks xmlns:a="http://schemas.openxmlformats.org/drawingml/2006/main" noGrp="1"/>
          </p:cNvSpPr>
          <p:nvPr/>
        </p:nvSpPr>
        <p:spPr>
          <a:xfrm xmlns:a="http://schemas.openxmlformats.org/drawingml/2006/main">
            <a:off x="533400" y="262890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1">
                <a:solidFill>
                  <a:srgbClr val="11856E"/>
                </a:solidFill>
                <a:latin typeface="Helvetica Neue"/>
                <a:ea typeface="Helvetica Neue"/>
                <a:cs typeface="Helvetica Neue"/>
              </a:defRPr>
            </a:pPr>
            <a:r>
              <a:rPr sz="1800" b="1">
                <a:solidFill>
                  <a:srgbClr val="11856E"/>
                </a:solidFill>
                <a:latin typeface="Helvetica Neue"/>
                <a:ea typeface="Helvetica Neue"/>
                <a:cs typeface="Helvetica Neue"/>
              </a:rPr>
              <a:t>Scanner understanding</a:t>
            </a:r>
          </a:p>
        </p:txBody>
      </p:sp>
      <p:sp>
        <p:nvSpPr>
          <p:cNvPr id="10" name="pair-left-2">
            <a:extLst xmlns:a="http://schemas.openxmlformats.org/drawingml/2006/main">
              <a:ext uri="{FF2B5EF4-FFF2-40B4-BE49-F238E27FC236}">
                <a16:creationId xmlns:a16="http://schemas.microsoft.com/office/drawing/2014/main" id="{8953A2F8-64A5-4250-9452-8E3D0CE34929}"/>
              </a:ext>
            </a:extLst>
          </p:cNvPr>
          <p:cNvSpPr>
            <a:spLocks xmlns:a="http://schemas.openxmlformats.org/drawingml/2006/main" noGrp="1"/>
          </p:cNvSpPr>
          <p:nvPr/>
        </p:nvSpPr>
        <p:spPr>
          <a:xfrm xmlns:a="http://schemas.openxmlformats.org/drawingml/2006/main">
            <a:off x="476250" y="3181350"/>
            <a:ext cx="47625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Describe the target and access needed by each scanner</a:t>
            </a:r>
          </a:p>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Explain the resources and configurations each scanner inspects</a:t>
            </a:r>
          </a:p>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Distinguish live cloud scans from static file analysis</a:t>
            </a:r>
          </a:p>
        </p:txBody>
      </p:sp>
      <p:sp>
        <p:nvSpPr>
          <p:cNvPr id="11" name="pair-divider-2">
            <a:extLst xmlns:a="http://schemas.openxmlformats.org/drawingml/2006/main">
              <a:ext uri="{FF2B5EF4-FFF2-40B4-BE49-F238E27FC236}">
                <a16:creationId xmlns:a16="http://schemas.microsoft.com/office/drawing/2014/main" id="{CE8DBFAE-657D-43FF-B93B-57D341DBC969}"/>
              </a:ext>
            </a:extLst>
          </p:cNvPr>
          <p:cNvSpPr>
            <a:spLocks xmlns:a="http://schemas.openxmlformats.org/drawingml/2006/main" noGrp="1"/>
          </p:cNvSpPr>
          <p:nvPr/>
        </p:nvSpPr>
        <p:spPr>
          <a:xfrm xmlns:a="http://schemas.openxmlformats.org/drawingml/2006/main">
            <a:off x="6000750" y="2590800"/>
            <a:ext cx="9525" cy="3848100"/>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12" name="pair-right-title-2">
            <a:extLst xmlns:a="http://schemas.openxmlformats.org/drawingml/2006/main">
              <a:ext uri="{FF2B5EF4-FFF2-40B4-BE49-F238E27FC236}">
                <a16:creationId xmlns:a16="http://schemas.microsoft.com/office/drawing/2014/main" id="{F679B6AE-8ECF-41E5-BAF0-B86376DB1365}"/>
              </a:ext>
            </a:extLst>
          </p:cNvPr>
          <p:cNvSpPr>
            <a:spLocks xmlns:a="http://schemas.openxmlformats.org/drawingml/2006/main" noGrp="1"/>
          </p:cNvSpPr>
          <p:nvPr/>
        </p:nvSpPr>
        <p:spPr>
          <a:xfrm xmlns:a="http://schemas.openxmlformats.org/drawingml/2006/main">
            <a:off x="6572250" y="2628900"/>
            <a:ext cx="4667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1">
                <a:solidFill>
                  <a:srgbClr val="11856E"/>
                </a:solidFill>
                <a:latin typeface="Helvetica Neue"/>
                <a:ea typeface="Helvetica Neue"/>
                <a:cs typeface="Helvetica Neue"/>
              </a:defRPr>
            </a:pPr>
            <a:r>
              <a:rPr sz="1800" b="1">
                <a:solidFill>
                  <a:srgbClr val="11856E"/>
                </a:solidFill>
                <a:latin typeface="Helvetica Neue"/>
                <a:ea typeface="Helvetica Neue"/>
                <a:cs typeface="Helvetica Neue"/>
              </a:rPr>
              <a:t>Finding interpretation</a:t>
            </a:r>
          </a:p>
        </p:txBody>
      </p:sp>
      <p:sp>
        <p:nvSpPr>
          <p:cNvPr id="13" name="pair-right-2">
            <a:extLst xmlns:a="http://schemas.openxmlformats.org/drawingml/2006/main">
              <a:ext uri="{FF2B5EF4-FFF2-40B4-BE49-F238E27FC236}">
                <a16:creationId xmlns:a16="http://schemas.microsoft.com/office/drawing/2014/main" id="{16A8406A-7193-4946-8C54-25FD60104F73}"/>
              </a:ext>
            </a:extLst>
          </p:cNvPr>
          <p:cNvSpPr>
            <a:spLocks xmlns:a="http://schemas.openxmlformats.org/drawingml/2006/main" noGrp="1"/>
          </p:cNvSpPr>
          <p:nvPr/>
        </p:nvSpPr>
        <p:spPr>
          <a:xfrm xmlns:a="http://schemas.openxmlformats.org/drawingml/2006/main">
            <a:off x="6515100" y="3181350"/>
            <a:ext cx="47625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Connect each vulnerability type to its associated technical and business risk</a:t>
            </a:r>
          </a:p>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Read the asset, evidence, recommendation, and ownership fields</a:t>
            </a:r>
          </a:p>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Map findings to controls, risks, owners, and closure evidence</a:t>
            </a:r>
          </a:p>
        </p:txBody>
      </p:sp>
    </p:spTree>
    <p:extLst>
      <p:ext uri="{BB962C8B-B14F-4D97-AF65-F5344CB8AC3E}">
        <p14:creationId xmlns:p14="http://schemas.microsoft.com/office/powerpoint/2010/main" val="203939435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ection-3">
            <a:extLst xmlns:a="http://schemas.openxmlformats.org/drawingml/2006/main">
              <a:ext uri="{FF2B5EF4-FFF2-40B4-BE49-F238E27FC236}">
                <a16:creationId xmlns:a16="http://schemas.microsoft.com/office/drawing/2014/main" id="{B045E2A5-1C6E-4200-A921-873BB7222BB0}"/>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WORKSHOP OPENING</a:t>
            </a:r>
          </a:p>
        </p:txBody>
      </p:sp>
      <p:sp>
        <p:nvSpPr>
          <p:cNvPr id="2" name="title-3">
            <a:extLst xmlns:a="http://schemas.openxmlformats.org/drawingml/2006/main">
              <a:ext uri="{FF2B5EF4-FFF2-40B4-BE49-F238E27FC236}">
                <a16:creationId xmlns:a16="http://schemas.microsoft.com/office/drawing/2014/main" id="{106A853A-D3B2-46B7-A537-6E58F9FE5D11}"/>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150-minute agenda</a:t>
            </a:r>
          </a:p>
        </p:txBody>
      </p:sp>
      <p:sp>
        <p:nvSpPr>
          <p:cNvPr id="3" name="title-rule-3">
            <a:extLst xmlns:a="http://schemas.openxmlformats.org/drawingml/2006/main">
              <a:ext uri="{FF2B5EF4-FFF2-40B4-BE49-F238E27FC236}">
                <a16:creationId xmlns:a16="http://schemas.microsoft.com/office/drawing/2014/main" id="{1AFA0560-18A8-46E7-8942-0AE2F8FB34B3}"/>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2a27208894a94d22"/>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3">
            <a:extLst xmlns:a="http://schemas.openxmlformats.org/drawingml/2006/main">
              <a:ext uri="{FF2B5EF4-FFF2-40B4-BE49-F238E27FC236}">
                <a16:creationId xmlns:a16="http://schemas.microsoft.com/office/drawing/2014/main" id="{0090126A-EF07-4835-B42C-84BCF79C6673}"/>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3">
            <a:extLst xmlns:a="http://schemas.openxmlformats.org/drawingml/2006/main">
              <a:ext uri="{FF2B5EF4-FFF2-40B4-BE49-F238E27FC236}">
                <a16:creationId xmlns:a16="http://schemas.microsoft.com/office/drawing/2014/main" id="{8D1CF345-BD53-4B1A-8745-5D5AD31D946F}"/>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3">
            <a:extLst xmlns:a="http://schemas.openxmlformats.org/drawingml/2006/main">
              <a:ext uri="{FF2B5EF4-FFF2-40B4-BE49-F238E27FC236}">
                <a16:creationId xmlns:a16="http://schemas.microsoft.com/office/drawing/2014/main" id="{D6A64C80-7A77-4C8D-9036-781431FC0183}"/>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03</a:t>
            </a:r>
          </a:p>
        </p:txBody>
      </p:sp>
      <p:graphicFrame>
        <p:nvGraphicFramePr>
          <p:cNvPr id="16" name=""/>
          <p:cNvGraphicFramePr/>
          <p:nvPr/>
        </p:nvGraphicFramePr>
        <p:xfrm>
          <a:off xmlns:a="http://schemas.openxmlformats.org/drawingml/2006/main" x="533400" y="1752600"/>
          <a:ext xmlns:a="http://schemas.openxmlformats.org/drawingml/2006/main" cx="11125200" cy="4095750"/>
        </p:xfrm>
        <a:graphic xmlns:a="http://schemas.openxmlformats.org/drawingml/2006/main">
          <a:graphicData uri="http://schemas.openxmlformats.org/drawingml/2006/table">
            <a:tbl>
              <a:tblPr/>
              <a:tblGrid>
                <a:gridCol w="2667000"/>
                <a:gridCol w="1524000"/>
                <a:gridCol w="6934200"/>
              </a:tblGrid>
              <a:tr h="585107">
                <a:tc>
                  <a:txBody>
                    <a:bodyPr/>
                    <a:lstStyle/>
                    <a:p>
                      <a:r>
                        <a:rPr sz="1125" b="1">
                          <a:solidFill>
                            <a:srgbClr val="FFFFFF"/>
                          </a:solidFill>
                          <a:latin typeface="Helvetica Neue"/>
                          <a:ea typeface="Helvetica Neue"/>
                          <a:cs typeface="Helvetica Neue"/>
                        </a:rPr>
                        <a:t>Module</a:t>
                      </a:r>
                    </a:p>
                  </a:txBody>
                  <a:tcPr marL="91440" marR="91440" marT="45720" marB="45720">
                    <a:solidFill>
                      <a:srgbClr val="0B1D19"/>
                    </a:solidFill>
                  </a:tcPr>
                </a:tc>
                <a:tc>
                  <a:txBody>
                    <a:bodyPr/>
                    <a:lstStyle/>
                    <a:p>
                      <a:r>
                        <a:rPr sz="1125" b="1">
                          <a:solidFill>
                            <a:srgbClr val="FFFFFF"/>
                          </a:solidFill>
                          <a:latin typeface="Helvetica Neue"/>
                          <a:ea typeface="Helvetica Neue"/>
                          <a:cs typeface="Helvetica Neue"/>
                        </a:rPr>
                        <a:t>Time</a:t>
                      </a:r>
                    </a:p>
                  </a:txBody>
                  <a:tcPr marL="91440" marR="91440" marT="45720" marB="45720">
                    <a:solidFill>
                      <a:srgbClr val="0B1D19"/>
                    </a:solidFill>
                  </a:tcPr>
                </a:tc>
                <a:tc>
                  <a:txBody>
                    <a:bodyPr/>
                    <a:lstStyle/>
                    <a:p>
                      <a:r>
                        <a:rPr sz="1125" b="1">
                          <a:solidFill>
                            <a:srgbClr val="FFFFFF"/>
                          </a:solidFill>
                          <a:latin typeface="Helvetica Neue"/>
                          <a:ea typeface="Helvetica Neue"/>
                          <a:cs typeface="Helvetica Neue"/>
                        </a:rPr>
                        <a:t>Focus</a:t>
                      </a:r>
                    </a:p>
                  </a:txBody>
                  <a:tcPr marL="91440" marR="91440" marT="45720" marB="45720">
                    <a:solidFill>
                      <a:srgbClr val="0B1D19"/>
                    </a:solidFill>
                  </a:tcPr>
                </a:tc>
              </a:tr>
              <a:tr h="585107">
                <a:tc>
                  <a:txBody>
                    <a:bodyPr/>
                    <a:lstStyle/>
                    <a:p>
                      <a:r>
                        <a:rPr sz="1200" b="1">
                          <a:solidFill>
                            <a:srgbClr val="0C1715"/>
                          </a:solidFill>
                          <a:latin typeface="Helvetica Neue"/>
                          <a:ea typeface="Helvetica Neue"/>
                          <a:cs typeface="Helvetica Neue"/>
                        </a:rPr>
                        <a:t>Opening and foundations</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25 min</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Scanner purpose, architecture, findings, and lab safety</a:t>
                      </a:r>
                    </a:p>
                  </a:txBody>
                  <a:tcPr marL="91440" marR="91440" marT="45720" marB="45720">
                    <a:solidFill>
                      <a:srgbClr val="F2F7F5"/>
                    </a:solidFill>
                  </a:tcPr>
                </a:tc>
              </a:tr>
              <a:tr h="585107">
                <a:tc>
                  <a:txBody>
                    <a:bodyPr/>
                    <a:lstStyle/>
                    <a:p>
                      <a:r>
                        <a:rPr sz="1200" b="1">
                          <a:solidFill>
                            <a:srgbClr val="0C1715"/>
                          </a:solidFill>
                          <a:latin typeface="Helvetica Neue"/>
                          <a:ea typeface="Helvetica Neue"/>
                          <a:cs typeface="Helvetica Neue"/>
                        </a:rPr>
                        <a:t>AWS scanner</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22 min</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Coverage, lifecycle, vulnerabilities, risks, and lab</a:t>
                      </a:r>
                    </a:p>
                  </a:txBody>
                  <a:tcPr marL="91440" marR="91440" marT="45720" marB="45720">
                    <a:solidFill>
                      <a:srgbClr val="FFFFFF"/>
                    </a:solidFill>
                  </a:tcPr>
                </a:tc>
              </a:tr>
              <a:tr h="585107">
                <a:tc>
                  <a:txBody>
                    <a:bodyPr/>
                    <a:lstStyle/>
                    <a:p>
                      <a:r>
                        <a:rPr sz="1200" b="1">
                          <a:solidFill>
                            <a:srgbClr val="0C1715"/>
                          </a:solidFill>
                          <a:latin typeface="Helvetica Neue"/>
                          <a:ea typeface="Helvetica Neue"/>
                          <a:cs typeface="Helvetica Neue"/>
                        </a:rPr>
                        <a:t>GCP scanner</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22 min</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Coverage, lifecycle, vulnerabilities, risks, and lab</a:t>
                      </a:r>
                    </a:p>
                  </a:txBody>
                  <a:tcPr marL="91440" marR="91440" marT="45720" marB="45720">
                    <a:solidFill>
                      <a:srgbClr val="F2F7F5"/>
                    </a:solidFill>
                  </a:tcPr>
                </a:tc>
              </a:tr>
              <a:tr h="585107">
                <a:tc>
                  <a:txBody>
                    <a:bodyPr/>
                    <a:lstStyle/>
                    <a:p>
                      <a:r>
                        <a:rPr sz="1200" b="1">
                          <a:solidFill>
                            <a:srgbClr val="0C1715"/>
                          </a:solidFill>
                          <a:latin typeface="Helvetica Neue"/>
                          <a:ea typeface="Helvetica Neue"/>
                          <a:cs typeface="Helvetica Neue"/>
                        </a:rPr>
                        <a:t>Kubernetes scanner</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25 min</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Live and manifest modes, vulnerabilities, risks, and lab</a:t>
                      </a:r>
                    </a:p>
                  </a:txBody>
                  <a:tcPr marL="91440" marR="91440" marT="45720" marB="45720">
                    <a:solidFill>
                      <a:srgbClr val="FFFFFF"/>
                    </a:solidFill>
                  </a:tcPr>
                </a:tc>
              </a:tr>
              <a:tr h="585107">
                <a:tc>
                  <a:txBody>
                    <a:bodyPr/>
                    <a:lstStyle/>
                    <a:p>
                      <a:r>
                        <a:rPr sz="1200" b="1">
                          <a:solidFill>
                            <a:srgbClr val="0C1715"/>
                          </a:solidFill>
                          <a:latin typeface="Helvetica Neue"/>
                          <a:ea typeface="Helvetica Neue"/>
                          <a:cs typeface="Helvetica Neue"/>
                        </a:rPr>
                        <a:t>Infrastructure as Code scanner</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21 min</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Static analysis, vulnerabilities, risks, and lab</a:t>
                      </a:r>
                    </a:p>
                  </a:txBody>
                  <a:tcPr marL="91440" marR="91440" marT="45720" marB="45720">
                    <a:solidFill>
                      <a:srgbClr val="F2F7F5"/>
                    </a:solidFill>
                  </a:tcPr>
                </a:tc>
              </a:tr>
              <a:tr h="585107">
                <a:tc>
                  <a:txBody>
                    <a:bodyPr/>
                    <a:lstStyle/>
                    <a:p>
                      <a:r>
                        <a:rPr sz="1200" b="1">
                          <a:solidFill>
                            <a:srgbClr val="0C1715"/>
                          </a:solidFill>
                          <a:latin typeface="Helvetica Neue"/>
                          <a:ea typeface="Helvetica Neue"/>
                          <a:cs typeface="Helvetica Neue"/>
                        </a:rPr>
                        <a:t>Governance, risk, and compliance</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35 min</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Controls, evidence, risk, ownership, approval, and closure</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93754408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4">
            <a:extLst xmlns:a="http://schemas.openxmlformats.org/drawingml/2006/main">
              <a:ext uri="{FF2B5EF4-FFF2-40B4-BE49-F238E27FC236}">
                <a16:creationId xmlns:a16="http://schemas.microsoft.com/office/drawing/2014/main" id="{EE0FE5BF-E878-44D1-ABFC-E410D3345FDC}"/>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1</a:t>
            </a:r>
          </a:p>
        </p:txBody>
      </p:sp>
      <p:sp>
        <p:nvSpPr>
          <p:cNvPr id="2" name="title-4">
            <a:extLst xmlns:a="http://schemas.openxmlformats.org/drawingml/2006/main">
              <a:ext uri="{FF2B5EF4-FFF2-40B4-BE49-F238E27FC236}">
                <a16:creationId xmlns:a16="http://schemas.microsoft.com/office/drawing/2014/main" id="{DA92C99D-9BA9-424E-8138-BD9FA11369A1}"/>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What a cloud security scanner answers</a:t>
            </a:r>
          </a:p>
        </p:txBody>
      </p:sp>
      <p:sp>
        <p:nvSpPr>
          <p:cNvPr id="3" name="title-rule-4">
            <a:extLst xmlns:a="http://schemas.openxmlformats.org/drawingml/2006/main">
              <a:ext uri="{FF2B5EF4-FFF2-40B4-BE49-F238E27FC236}">
                <a16:creationId xmlns:a16="http://schemas.microsoft.com/office/drawing/2014/main" id="{5700F748-F923-43B9-B44E-0647D1A1D14B}"/>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d7c990c005cc498a"/>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4">
            <a:extLst xmlns:a="http://schemas.openxmlformats.org/drawingml/2006/main">
              <a:ext uri="{FF2B5EF4-FFF2-40B4-BE49-F238E27FC236}">
                <a16:creationId xmlns:a16="http://schemas.microsoft.com/office/drawing/2014/main" id="{30F6E3AA-1FFE-47DE-A99F-15AC62B704AA}"/>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4">
            <a:extLst xmlns:a="http://schemas.openxmlformats.org/drawingml/2006/main">
              <a:ext uri="{FF2B5EF4-FFF2-40B4-BE49-F238E27FC236}">
                <a16:creationId xmlns:a16="http://schemas.microsoft.com/office/drawing/2014/main" id="{3261C3DE-89FA-411C-B123-29BCB997710D}"/>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4">
            <a:extLst xmlns:a="http://schemas.openxmlformats.org/drawingml/2006/main">
              <a:ext uri="{FF2B5EF4-FFF2-40B4-BE49-F238E27FC236}">
                <a16:creationId xmlns:a16="http://schemas.microsoft.com/office/drawing/2014/main" id="{756916F2-D40B-4749-914C-734D1035AD24}"/>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04</a:t>
            </a:r>
          </a:p>
        </p:txBody>
      </p:sp>
      <p:sp>
        <p:nvSpPr>
          <p:cNvPr id="8" name="part-num-5-0">
            <a:extLst xmlns:a="http://schemas.openxmlformats.org/drawingml/2006/main">
              <a:ext uri="{FF2B5EF4-FFF2-40B4-BE49-F238E27FC236}">
                <a16:creationId xmlns:a16="http://schemas.microsoft.com/office/drawing/2014/main" id="{D1A616FD-AEB5-4138-ACB8-C505C2FD41BF}"/>
              </a:ext>
            </a:extLst>
          </p:cNvPr>
          <p:cNvSpPr>
            <a:spLocks xmlns:a="http://schemas.openxmlformats.org/drawingml/2006/main" noGrp="1"/>
          </p:cNvSpPr>
          <p:nvPr/>
        </p:nvSpPr>
        <p:spPr>
          <a:xfrm xmlns:a="http://schemas.openxmlformats.org/drawingml/2006/main">
            <a:off x="533400" y="1809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11856E"/>
                </a:solidFill>
                <a:latin typeface="Helvetica Neue"/>
                <a:ea typeface="Helvetica Neue"/>
                <a:cs typeface="Helvetica Neue"/>
              </a:defRPr>
            </a:pPr>
            <a:r>
              <a:rPr sz="2100" b="1">
                <a:solidFill>
                  <a:srgbClr val="11856E"/>
                </a:solidFill>
                <a:latin typeface="Helvetica Neue"/>
                <a:ea typeface="Helvetica Neue"/>
                <a:cs typeface="Helvetica Neue"/>
              </a:rPr>
              <a:t>01</a:t>
            </a:r>
          </a:p>
        </p:txBody>
      </p:sp>
      <p:sp>
        <p:nvSpPr>
          <p:cNvPr id="9" name="part-rule-5-0">
            <a:extLst xmlns:a="http://schemas.openxmlformats.org/drawingml/2006/main">
              <a:ext uri="{FF2B5EF4-FFF2-40B4-BE49-F238E27FC236}">
                <a16:creationId xmlns:a16="http://schemas.microsoft.com/office/drawing/2014/main" id="{D3EB3E8F-B116-4860-9D53-2ADC3FE97587}"/>
              </a:ext>
            </a:extLst>
          </p:cNvPr>
          <p:cNvSpPr>
            <a:spLocks xmlns:a="http://schemas.openxmlformats.org/drawingml/2006/main" noGrp="1"/>
          </p:cNvSpPr>
          <p:nvPr/>
        </p:nvSpPr>
        <p:spPr>
          <a:xfrm xmlns:a="http://schemas.openxmlformats.org/drawingml/2006/main">
            <a:off x="533400" y="2381250"/>
            <a:ext cx="2362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10" name="part-title-5-0">
            <a:extLst xmlns:a="http://schemas.openxmlformats.org/drawingml/2006/main">
              <a:ext uri="{FF2B5EF4-FFF2-40B4-BE49-F238E27FC236}">
                <a16:creationId xmlns:a16="http://schemas.microsoft.com/office/drawing/2014/main" id="{A23D94BA-4BF2-4BD1-8FAF-6F7B732B93AE}"/>
              </a:ext>
            </a:extLst>
          </p:cNvPr>
          <p:cNvSpPr>
            <a:spLocks xmlns:a="http://schemas.openxmlformats.org/drawingml/2006/main" noGrp="1"/>
          </p:cNvSpPr>
          <p:nvPr/>
        </p:nvSpPr>
        <p:spPr>
          <a:xfrm xmlns:a="http://schemas.openxmlformats.org/drawingml/2006/main">
            <a:off x="533400" y="2667000"/>
            <a:ext cx="2362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C1715"/>
                </a:solidFill>
                <a:latin typeface="Helvetica Neue"/>
                <a:ea typeface="Helvetica Neue"/>
                <a:cs typeface="Helvetica Neue"/>
              </a:defRPr>
            </a:pPr>
            <a:r>
              <a:rPr sz="1650" b="1">
                <a:solidFill>
                  <a:srgbClr val="0C1715"/>
                </a:solidFill>
                <a:latin typeface="Helvetica Neue"/>
                <a:ea typeface="Helvetica Neue"/>
                <a:cs typeface="Helvetica Neue"/>
              </a:rPr>
              <a:t>Discover</a:t>
            </a:r>
          </a:p>
        </p:txBody>
      </p:sp>
      <p:sp>
        <p:nvSpPr>
          <p:cNvPr id="11" name="part-body-5-0">
            <a:extLst xmlns:a="http://schemas.openxmlformats.org/drawingml/2006/main">
              <a:ext uri="{FF2B5EF4-FFF2-40B4-BE49-F238E27FC236}">
                <a16:creationId xmlns:a16="http://schemas.microsoft.com/office/drawing/2014/main" id="{DE3F319C-1BBB-4C1A-94EC-63B3ED1316C9}"/>
              </a:ext>
            </a:extLst>
          </p:cNvPr>
          <p:cNvSpPr>
            <a:spLocks xmlns:a="http://schemas.openxmlformats.org/drawingml/2006/main" noGrp="1"/>
          </p:cNvSpPr>
          <p:nvPr/>
        </p:nvSpPr>
        <p:spPr>
          <a:xfrm xmlns:a="http://schemas.openxmlformats.org/drawingml/2006/main">
            <a:off x="533400" y="3143250"/>
            <a:ext cx="23622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60716D"/>
                </a:solidFill>
                <a:latin typeface="Helvetica Neue"/>
                <a:ea typeface="Helvetica Neue"/>
                <a:cs typeface="Helvetica Neue"/>
              </a:defRPr>
            </a:pPr>
            <a:r>
              <a:rPr sz="1350" b="0">
                <a:solidFill>
                  <a:srgbClr val="60716D"/>
                </a:solidFill>
                <a:latin typeface="Helvetica Neue"/>
                <a:ea typeface="Helvetica Neue"/>
                <a:cs typeface="Helvetica Neue"/>
              </a:rPr>
              <a:t>The scanner builds an inventory of accounts, projects, clusters, workloads, or files inside the selected scope.</a:t>
            </a:r>
          </a:p>
        </p:txBody>
      </p:sp>
      <p:sp>
        <p:nvSpPr>
          <p:cNvPr id="12" name="part-num-5-1">
            <a:extLst xmlns:a="http://schemas.openxmlformats.org/drawingml/2006/main">
              <a:ext uri="{FF2B5EF4-FFF2-40B4-BE49-F238E27FC236}">
                <a16:creationId xmlns:a16="http://schemas.microsoft.com/office/drawing/2014/main" id="{E6F4DD64-01C0-41ED-8166-79DFAB980E2A}"/>
              </a:ext>
            </a:extLst>
          </p:cNvPr>
          <p:cNvSpPr>
            <a:spLocks xmlns:a="http://schemas.openxmlformats.org/drawingml/2006/main" noGrp="1"/>
          </p:cNvSpPr>
          <p:nvPr/>
        </p:nvSpPr>
        <p:spPr>
          <a:xfrm xmlns:a="http://schemas.openxmlformats.org/drawingml/2006/main">
            <a:off x="3314700" y="1809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11856E"/>
                </a:solidFill>
                <a:latin typeface="Helvetica Neue"/>
                <a:ea typeface="Helvetica Neue"/>
                <a:cs typeface="Helvetica Neue"/>
              </a:defRPr>
            </a:pPr>
            <a:r>
              <a:rPr sz="2100" b="1">
                <a:solidFill>
                  <a:srgbClr val="11856E"/>
                </a:solidFill>
                <a:latin typeface="Helvetica Neue"/>
                <a:ea typeface="Helvetica Neue"/>
                <a:cs typeface="Helvetica Neue"/>
              </a:rPr>
              <a:t>02</a:t>
            </a:r>
          </a:p>
        </p:txBody>
      </p:sp>
      <p:sp>
        <p:nvSpPr>
          <p:cNvPr id="13" name="part-rule-5-1">
            <a:extLst xmlns:a="http://schemas.openxmlformats.org/drawingml/2006/main">
              <a:ext uri="{FF2B5EF4-FFF2-40B4-BE49-F238E27FC236}">
                <a16:creationId xmlns:a16="http://schemas.microsoft.com/office/drawing/2014/main" id="{D275B3CD-AB70-4EBB-BADC-562E5F0579B5}"/>
              </a:ext>
            </a:extLst>
          </p:cNvPr>
          <p:cNvSpPr>
            <a:spLocks xmlns:a="http://schemas.openxmlformats.org/drawingml/2006/main" noGrp="1"/>
          </p:cNvSpPr>
          <p:nvPr/>
        </p:nvSpPr>
        <p:spPr>
          <a:xfrm xmlns:a="http://schemas.openxmlformats.org/drawingml/2006/main">
            <a:off x="3314700" y="2381250"/>
            <a:ext cx="2362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14" name="part-title-5-1">
            <a:extLst xmlns:a="http://schemas.openxmlformats.org/drawingml/2006/main">
              <a:ext uri="{FF2B5EF4-FFF2-40B4-BE49-F238E27FC236}">
                <a16:creationId xmlns:a16="http://schemas.microsoft.com/office/drawing/2014/main" id="{B34B674C-F81E-482E-AE9A-D5E4C95F3418}"/>
              </a:ext>
            </a:extLst>
          </p:cNvPr>
          <p:cNvSpPr>
            <a:spLocks xmlns:a="http://schemas.openxmlformats.org/drawingml/2006/main" noGrp="1"/>
          </p:cNvSpPr>
          <p:nvPr/>
        </p:nvSpPr>
        <p:spPr>
          <a:xfrm xmlns:a="http://schemas.openxmlformats.org/drawingml/2006/main">
            <a:off x="3314700" y="2667000"/>
            <a:ext cx="2362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C1715"/>
                </a:solidFill>
                <a:latin typeface="Helvetica Neue"/>
                <a:ea typeface="Helvetica Neue"/>
                <a:cs typeface="Helvetica Neue"/>
              </a:defRPr>
            </a:pPr>
            <a:r>
              <a:rPr sz="1650" b="1">
                <a:solidFill>
                  <a:srgbClr val="0C1715"/>
                </a:solidFill>
                <a:latin typeface="Helvetica Neue"/>
                <a:ea typeface="Helvetica Neue"/>
                <a:cs typeface="Helvetica Neue"/>
              </a:rPr>
              <a:t>Assess</a:t>
            </a:r>
          </a:p>
        </p:txBody>
      </p:sp>
      <p:sp>
        <p:nvSpPr>
          <p:cNvPr id="15" name="part-body-5-1">
            <a:extLst xmlns:a="http://schemas.openxmlformats.org/drawingml/2006/main">
              <a:ext uri="{FF2B5EF4-FFF2-40B4-BE49-F238E27FC236}">
                <a16:creationId xmlns:a16="http://schemas.microsoft.com/office/drawing/2014/main" id="{89DF05EC-B201-401A-B238-A9A6EEF4EAA8}"/>
              </a:ext>
            </a:extLst>
          </p:cNvPr>
          <p:cNvSpPr>
            <a:spLocks xmlns:a="http://schemas.openxmlformats.org/drawingml/2006/main" noGrp="1"/>
          </p:cNvSpPr>
          <p:nvPr/>
        </p:nvSpPr>
        <p:spPr>
          <a:xfrm xmlns:a="http://schemas.openxmlformats.org/drawingml/2006/main">
            <a:off x="3314700" y="3143250"/>
            <a:ext cx="23622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60716D"/>
                </a:solidFill>
                <a:latin typeface="Helvetica Neue"/>
                <a:ea typeface="Helvetica Neue"/>
                <a:cs typeface="Helvetica Neue"/>
              </a:defRPr>
            </a:pPr>
            <a:r>
              <a:rPr sz="1350" b="0">
                <a:solidFill>
                  <a:srgbClr val="60716D"/>
                </a:solidFill>
                <a:latin typeface="Helvetica Neue"/>
                <a:ea typeface="Helvetica Neue"/>
                <a:cs typeface="Helvetica Neue"/>
              </a:rPr>
              <a:t>It compares observed configuration with security rules for identity, storage, networks, workloads, and logging.</a:t>
            </a:r>
          </a:p>
        </p:txBody>
      </p:sp>
      <p:sp>
        <p:nvSpPr>
          <p:cNvPr id="16" name="part-num-5-2">
            <a:extLst xmlns:a="http://schemas.openxmlformats.org/drawingml/2006/main">
              <a:ext uri="{FF2B5EF4-FFF2-40B4-BE49-F238E27FC236}">
                <a16:creationId xmlns:a16="http://schemas.microsoft.com/office/drawing/2014/main" id="{45E32705-75C0-468F-997A-BCDC5139A57A}"/>
              </a:ext>
            </a:extLst>
          </p:cNvPr>
          <p:cNvSpPr>
            <a:spLocks xmlns:a="http://schemas.openxmlformats.org/drawingml/2006/main" noGrp="1"/>
          </p:cNvSpPr>
          <p:nvPr/>
        </p:nvSpPr>
        <p:spPr>
          <a:xfrm xmlns:a="http://schemas.openxmlformats.org/drawingml/2006/main">
            <a:off x="6096000" y="1809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11856E"/>
                </a:solidFill>
                <a:latin typeface="Helvetica Neue"/>
                <a:ea typeface="Helvetica Neue"/>
                <a:cs typeface="Helvetica Neue"/>
              </a:defRPr>
            </a:pPr>
            <a:r>
              <a:rPr sz="2100" b="1">
                <a:solidFill>
                  <a:srgbClr val="11856E"/>
                </a:solidFill>
                <a:latin typeface="Helvetica Neue"/>
                <a:ea typeface="Helvetica Neue"/>
                <a:cs typeface="Helvetica Neue"/>
              </a:rPr>
              <a:t>03</a:t>
            </a:r>
          </a:p>
        </p:txBody>
      </p:sp>
      <p:sp>
        <p:nvSpPr>
          <p:cNvPr id="17" name="part-rule-5-2">
            <a:extLst xmlns:a="http://schemas.openxmlformats.org/drawingml/2006/main">
              <a:ext uri="{FF2B5EF4-FFF2-40B4-BE49-F238E27FC236}">
                <a16:creationId xmlns:a16="http://schemas.microsoft.com/office/drawing/2014/main" id="{5EFBABEC-502A-48CA-B157-D28AC1464F7C}"/>
              </a:ext>
            </a:extLst>
          </p:cNvPr>
          <p:cNvSpPr>
            <a:spLocks xmlns:a="http://schemas.openxmlformats.org/drawingml/2006/main" noGrp="1"/>
          </p:cNvSpPr>
          <p:nvPr/>
        </p:nvSpPr>
        <p:spPr>
          <a:xfrm xmlns:a="http://schemas.openxmlformats.org/drawingml/2006/main">
            <a:off x="6096000" y="2381250"/>
            <a:ext cx="2362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18" name="part-title-5-2">
            <a:extLst xmlns:a="http://schemas.openxmlformats.org/drawingml/2006/main">
              <a:ext uri="{FF2B5EF4-FFF2-40B4-BE49-F238E27FC236}">
                <a16:creationId xmlns:a16="http://schemas.microsoft.com/office/drawing/2014/main" id="{B3ED402E-2507-4868-B3E5-55D20E1F2072}"/>
              </a:ext>
            </a:extLst>
          </p:cNvPr>
          <p:cNvSpPr>
            <a:spLocks xmlns:a="http://schemas.openxmlformats.org/drawingml/2006/main" noGrp="1"/>
          </p:cNvSpPr>
          <p:nvPr/>
        </p:nvSpPr>
        <p:spPr>
          <a:xfrm xmlns:a="http://schemas.openxmlformats.org/drawingml/2006/main">
            <a:off x="6096000" y="2667000"/>
            <a:ext cx="2362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C1715"/>
                </a:solidFill>
                <a:latin typeface="Helvetica Neue"/>
                <a:ea typeface="Helvetica Neue"/>
                <a:cs typeface="Helvetica Neue"/>
              </a:defRPr>
            </a:pPr>
            <a:r>
              <a:rPr sz="1650" b="1">
                <a:solidFill>
                  <a:srgbClr val="0C1715"/>
                </a:solidFill>
                <a:latin typeface="Helvetica Neue"/>
                <a:ea typeface="Helvetica Neue"/>
                <a:cs typeface="Helvetica Neue"/>
              </a:rPr>
              <a:t>Explain</a:t>
            </a:r>
          </a:p>
        </p:txBody>
      </p:sp>
      <p:sp>
        <p:nvSpPr>
          <p:cNvPr id="19" name="part-body-5-2">
            <a:extLst xmlns:a="http://schemas.openxmlformats.org/drawingml/2006/main">
              <a:ext uri="{FF2B5EF4-FFF2-40B4-BE49-F238E27FC236}">
                <a16:creationId xmlns:a16="http://schemas.microsoft.com/office/drawing/2014/main" id="{3A2FADFE-30D7-484A-86A7-CA77B8B51904}"/>
              </a:ext>
            </a:extLst>
          </p:cNvPr>
          <p:cNvSpPr>
            <a:spLocks xmlns:a="http://schemas.openxmlformats.org/drawingml/2006/main" noGrp="1"/>
          </p:cNvSpPr>
          <p:nvPr/>
        </p:nvSpPr>
        <p:spPr>
          <a:xfrm xmlns:a="http://schemas.openxmlformats.org/drawingml/2006/main">
            <a:off x="6096000" y="3143250"/>
            <a:ext cx="23622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60716D"/>
                </a:solidFill>
                <a:latin typeface="Helvetica Neue"/>
                <a:ea typeface="Helvetica Neue"/>
                <a:cs typeface="Helvetica Neue"/>
              </a:defRPr>
            </a:pPr>
            <a:r>
              <a:rPr sz="1350" b="0">
                <a:solidFill>
                  <a:srgbClr val="60716D"/>
                </a:solidFill>
                <a:latin typeface="Helvetica Neue"/>
                <a:ea typeface="Helvetica Neue"/>
                <a:cs typeface="Helvetica Neue"/>
              </a:rPr>
              <a:t>Each finding names the affected asset, the risky condition, its severity, and a recommended correction.</a:t>
            </a:r>
          </a:p>
        </p:txBody>
      </p:sp>
      <p:sp>
        <p:nvSpPr>
          <p:cNvPr id="20" name="part-num-5-3">
            <a:extLst xmlns:a="http://schemas.openxmlformats.org/drawingml/2006/main">
              <a:ext uri="{FF2B5EF4-FFF2-40B4-BE49-F238E27FC236}">
                <a16:creationId xmlns:a16="http://schemas.microsoft.com/office/drawing/2014/main" id="{00F562D6-1D03-42CF-B2E2-E273E096EE33}"/>
              </a:ext>
            </a:extLst>
          </p:cNvPr>
          <p:cNvSpPr>
            <a:spLocks xmlns:a="http://schemas.openxmlformats.org/drawingml/2006/main" noGrp="1"/>
          </p:cNvSpPr>
          <p:nvPr/>
        </p:nvSpPr>
        <p:spPr>
          <a:xfrm xmlns:a="http://schemas.openxmlformats.org/drawingml/2006/main">
            <a:off x="8877300" y="1809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11856E"/>
                </a:solidFill>
                <a:latin typeface="Helvetica Neue"/>
                <a:ea typeface="Helvetica Neue"/>
                <a:cs typeface="Helvetica Neue"/>
              </a:defRPr>
            </a:pPr>
            <a:r>
              <a:rPr sz="2100" b="1">
                <a:solidFill>
                  <a:srgbClr val="11856E"/>
                </a:solidFill>
                <a:latin typeface="Helvetica Neue"/>
                <a:ea typeface="Helvetica Neue"/>
                <a:cs typeface="Helvetica Neue"/>
              </a:rPr>
              <a:t>04</a:t>
            </a:r>
          </a:p>
        </p:txBody>
      </p:sp>
      <p:sp>
        <p:nvSpPr>
          <p:cNvPr id="21" name="part-rule-5-3">
            <a:extLst xmlns:a="http://schemas.openxmlformats.org/drawingml/2006/main">
              <a:ext uri="{FF2B5EF4-FFF2-40B4-BE49-F238E27FC236}">
                <a16:creationId xmlns:a16="http://schemas.microsoft.com/office/drawing/2014/main" id="{885DB1FD-33D7-481A-BBE4-5EC49222E9D1}"/>
              </a:ext>
            </a:extLst>
          </p:cNvPr>
          <p:cNvSpPr>
            <a:spLocks xmlns:a="http://schemas.openxmlformats.org/drawingml/2006/main" noGrp="1"/>
          </p:cNvSpPr>
          <p:nvPr/>
        </p:nvSpPr>
        <p:spPr>
          <a:xfrm xmlns:a="http://schemas.openxmlformats.org/drawingml/2006/main">
            <a:off x="8877300" y="2381250"/>
            <a:ext cx="2362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22" name="part-title-5-3">
            <a:extLst xmlns:a="http://schemas.openxmlformats.org/drawingml/2006/main">
              <a:ext uri="{FF2B5EF4-FFF2-40B4-BE49-F238E27FC236}">
                <a16:creationId xmlns:a16="http://schemas.microsoft.com/office/drawing/2014/main" id="{A1050F1D-2661-4FF1-BD09-83D6BEB27226}"/>
              </a:ext>
            </a:extLst>
          </p:cNvPr>
          <p:cNvSpPr>
            <a:spLocks xmlns:a="http://schemas.openxmlformats.org/drawingml/2006/main" noGrp="1"/>
          </p:cNvSpPr>
          <p:nvPr/>
        </p:nvSpPr>
        <p:spPr>
          <a:xfrm xmlns:a="http://schemas.openxmlformats.org/drawingml/2006/main">
            <a:off x="8877300" y="2667000"/>
            <a:ext cx="2362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C1715"/>
                </a:solidFill>
                <a:latin typeface="Helvetica Neue"/>
                <a:ea typeface="Helvetica Neue"/>
                <a:cs typeface="Helvetica Neue"/>
              </a:defRPr>
            </a:pPr>
            <a:r>
              <a:rPr sz="1650" b="1">
                <a:solidFill>
                  <a:srgbClr val="0C1715"/>
                </a:solidFill>
                <a:latin typeface="Helvetica Neue"/>
                <a:ea typeface="Helvetica Neue"/>
                <a:cs typeface="Helvetica Neue"/>
              </a:rPr>
              <a:t>Verify</a:t>
            </a:r>
          </a:p>
        </p:txBody>
      </p:sp>
      <p:sp>
        <p:nvSpPr>
          <p:cNvPr id="23" name="part-body-5-3">
            <a:extLst xmlns:a="http://schemas.openxmlformats.org/drawingml/2006/main">
              <a:ext uri="{FF2B5EF4-FFF2-40B4-BE49-F238E27FC236}">
                <a16:creationId xmlns:a16="http://schemas.microsoft.com/office/drawing/2014/main" id="{E6F9CD7B-7DBD-44F1-A731-7F2FE88A719C}"/>
              </a:ext>
            </a:extLst>
          </p:cNvPr>
          <p:cNvSpPr>
            <a:spLocks xmlns:a="http://schemas.openxmlformats.org/drawingml/2006/main" noGrp="1"/>
          </p:cNvSpPr>
          <p:nvPr/>
        </p:nvSpPr>
        <p:spPr>
          <a:xfrm xmlns:a="http://schemas.openxmlformats.org/drawingml/2006/main">
            <a:off x="8877300" y="3143250"/>
            <a:ext cx="23622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60716D"/>
                </a:solidFill>
                <a:latin typeface="Helvetica Neue"/>
                <a:ea typeface="Helvetica Neue"/>
                <a:cs typeface="Helvetica Neue"/>
              </a:defRPr>
            </a:pPr>
            <a:r>
              <a:rPr sz="1350" b="0">
                <a:solidFill>
                  <a:srgbClr val="60716D"/>
                </a:solidFill>
                <a:latin typeface="Helvetica Neue"/>
                <a:ea typeface="Helvetica Neue"/>
                <a:cs typeface="Helvetica Neue"/>
              </a:rPr>
              <a:t>A later scan or cleanup event records whether the risky condition still exists.</a:t>
            </a:r>
          </a:p>
        </p:txBody>
      </p:sp>
    </p:spTree>
    <p:extLst>
      <p:ext uri="{BB962C8B-B14F-4D97-AF65-F5344CB8AC3E}">
        <p14:creationId xmlns:p14="http://schemas.microsoft.com/office/powerpoint/2010/main" val="171535803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5">
            <a:extLst xmlns:a="http://schemas.openxmlformats.org/drawingml/2006/main">
              <a:ext uri="{FF2B5EF4-FFF2-40B4-BE49-F238E27FC236}">
                <a16:creationId xmlns:a16="http://schemas.microsoft.com/office/drawing/2014/main" id="{6BC028F2-F1D7-44ED-8DC2-7C0F4D1A5E35}"/>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1</a:t>
            </a:r>
          </a:p>
        </p:txBody>
      </p:sp>
      <p:sp>
        <p:nvSpPr>
          <p:cNvPr id="2" name="title-5">
            <a:extLst xmlns:a="http://schemas.openxmlformats.org/drawingml/2006/main">
              <a:ext uri="{FF2B5EF4-FFF2-40B4-BE49-F238E27FC236}">
                <a16:creationId xmlns:a16="http://schemas.microsoft.com/office/drawing/2014/main" id="{1F865FDD-DDFF-49C7-9F78-9B0BE14C3C84}"/>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CloudGuard scanner architecture</a:t>
            </a:r>
          </a:p>
        </p:txBody>
      </p:sp>
      <p:sp>
        <p:nvSpPr>
          <p:cNvPr id="3" name="title-rule-5">
            <a:extLst xmlns:a="http://schemas.openxmlformats.org/drawingml/2006/main">
              <a:ext uri="{FF2B5EF4-FFF2-40B4-BE49-F238E27FC236}">
                <a16:creationId xmlns:a16="http://schemas.microsoft.com/office/drawing/2014/main" id="{012108B6-9F97-46EC-A32E-3168CD0F56CB}"/>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9a58d8fdb34d411e"/>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5">
            <a:extLst xmlns:a="http://schemas.openxmlformats.org/drawingml/2006/main">
              <a:ext uri="{FF2B5EF4-FFF2-40B4-BE49-F238E27FC236}">
                <a16:creationId xmlns:a16="http://schemas.microsoft.com/office/drawing/2014/main" id="{55B6F0AD-2F35-4331-8B29-CF73C56F4754}"/>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5">
            <a:extLst xmlns:a="http://schemas.openxmlformats.org/drawingml/2006/main">
              <a:ext uri="{FF2B5EF4-FFF2-40B4-BE49-F238E27FC236}">
                <a16:creationId xmlns:a16="http://schemas.microsoft.com/office/drawing/2014/main" id="{AAB06EB6-5612-4C76-B179-E2DC647ECB34}"/>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5">
            <a:extLst xmlns:a="http://schemas.openxmlformats.org/drawingml/2006/main">
              <a:ext uri="{FF2B5EF4-FFF2-40B4-BE49-F238E27FC236}">
                <a16:creationId xmlns:a16="http://schemas.microsoft.com/office/drawing/2014/main" id="{EE686A91-8212-4503-8E9C-C0FDF112D6D0}"/>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05</a:t>
            </a:r>
          </a:p>
        </p:txBody>
      </p:sp>
      <p:sp>
        <p:nvSpPr>
          <p:cNvPr id="8" name="arch-copy">
            <a:extLst xmlns:a="http://schemas.openxmlformats.org/drawingml/2006/main">
              <a:ext uri="{FF2B5EF4-FFF2-40B4-BE49-F238E27FC236}">
                <a16:creationId xmlns:a16="http://schemas.microsoft.com/office/drawing/2014/main" id="{AB182BF8-DA83-458A-9946-9FA9FC63B257}"/>
              </a:ext>
            </a:extLst>
          </p:cNvPr>
          <p:cNvSpPr>
            <a:spLocks xmlns:a="http://schemas.openxmlformats.org/drawingml/2006/main" noGrp="1"/>
          </p:cNvSpPr>
          <p:nvPr/>
        </p:nvSpPr>
        <p:spPr>
          <a:xfrm xmlns:a="http://schemas.openxmlformats.org/drawingml/2006/main">
            <a:off x="533400" y="1809750"/>
            <a:ext cx="37147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0">
                <a:solidFill>
                  <a:srgbClr val="0C1715"/>
                </a:solidFill>
                <a:latin typeface="Helvetica Neue"/>
                <a:ea typeface="Helvetica Neue"/>
                <a:cs typeface="Helvetica Neue"/>
              </a:defRPr>
            </a:pPr>
            <a:r>
              <a:rPr sz="1575" b="0">
                <a:solidFill>
                  <a:srgbClr val="0C1715"/>
                </a:solidFill>
                <a:latin typeface="Helvetica Neue"/>
                <a:ea typeface="Helvetica Neue"/>
                <a:cs typeface="Helvetica Neue"/>
              </a:rPr>
              <a:t>The portal defines the target and records job state. A provider worker performs discovery and checks. CloudGuard then stores normalized findings and evidence for later governance.</a:t>
            </a:r>
          </a:p>
        </p:txBody>
      </p:sp>
      <p:sp>
        <p:nvSpPr>
          <p:cNvPr id="9" name="arch-bullets">
            <a:extLst xmlns:a="http://schemas.openxmlformats.org/drawingml/2006/main">
              <a:ext uri="{FF2B5EF4-FFF2-40B4-BE49-F238E27FC236}">
                <a16:creationId xmlns:a16="http://schemas.microsoft.com/office/drawing/2014/main" id="{0C47F388-4752-4F21-BB45-295E7B408094}"/>
              </a:ext>
            </a:extLst>
          </p:cNvPr>
          <p:cNvSpPr>
            <a:spLocks xmlns:a="http://schemas.openxmlformats.org/drawingml/2006/main" noGrp="1"/>
          </p:cNvSpPr>
          <p:nvPr/>
        </p:nvSpPr>
        <p:spPr>
          <a:xfrm xmlns:a="http://schemas.openxmlformats.org/drawingml/2006/main">
            <a:off x="476250" y="3352800"/>
            <a:ext cx="39052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Credentials remain associated with the selected tenant and target</a:t>
            </a:r>
          </a:p>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AWS, GCP, Kubernetes, and IaC workers keep provider logic separate</a:t>
            </a:r>
          </a:p>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Findings share a common structure across scanner types</a:t>
            </a:r>
          </a:p>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Evidence moves into risk, remediation, and compliance workflows</a:t>
            </a:r>
          </a:p>
        </p:txBody>
      </p:sp>
      <p:sp>
        <p:nvSpPr>
          <p:cNvPr id="10" name="arch-frame">
            <a:extLst xmlns:a="http://schemas.openxmlformats.org/drawingml/2006/main">
              <a:ext uri="{FF2B5EF4-FFF2-40B4-BE49-F238E27FC236}">
                <a16:creationId xmlns:a16="http://schemas.microsoft.com/office/drawing/2014/main" id="{7BB4A1B0-0AA4-45E8-9332-6515FE7BF840}"/>
              </a:ext>
            </a:extLst>
          </p:cNvPr>
          <p:cNvSpPr>
            <a:spLocks xmlns:a="http://schemas.openxmlformats.org/drawingml/2006/main" noGrp="1"/>
          </p:cNvSpPr>
          <p:nvPr/>
        </p:nvSpPr>
        <p:spPr>
          <a:xfrm xmlns:a="http://schemas.openxmlformats.org/drawingml/2006/main">
            <a:off x="4762500" y="1752600"/>
            <a:ext cx="6896100" cy="4095750"/>
          </a:xfrm>
          <a:prstGeom xmlns:a="http://schemas.openxmlformats.org/drawingml/2006/main" prst="rect">
            <a:avLst/>
          </a:prstGeom>
          <a:solidFill xmlns:a="http://schemas.openxmlformats.org/drawingml/2006/main">
            <a:srgbClr val="F2F7F5"/>
          </a:solidFill>
          <a:ln xmlns:a="http://schemas.openxmlformats.org/drawingml/2006/main" w="9525">
            <a:solidFill>
              <a:srgbClr val="B9C9C5"/>
            </a:solidFill>
            <a:prstDash val="solid"/>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790ad6c09fab46a3"/>
          <a:stretch xmlns:a="http://schemas.openxmlformats.org/drawingml/2006/main"/>
        </p:blipFill>
        <p:spPr>
          <a:xfrm xmlns:a="http://schemas.openxmlformats.org/drawingml/2006/main">
            <a:off x="4914900" y="1946672"/>
            <a:ext cx="6591300" cy="3707606"/>
          </a:xfrm>
          <a:prstGeom xmlns:a="http://schemas.openxmlformats.org/drawingml/2006/main" prst="roundRect">
            <a:avLst>
              <a:gd name="adj" fmla="val 1005"/>
            </a:avLst>
          </a:prstGeom>
        </p:spPr>
      </p:pic>
    </p:spTree>
    <p:extLst>
      <p:ext uri="{BB962C8B-B14F-4D97-AF65-F5344CB8AC3E}">
        <p14:creationId xmlns:p14="http://schemas.microsoft.com/office/powerpoint/2010/main" val="174977061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ection-6">
            <a:extLst xmlns:a="http://schemas.openxmlformats.org/drawingml/2006/main">
              <a:ext uri="{FF2B5EF4-FFF2-40B4-BE49-F238E27FC236}">
                <a16:creationId xmlns:a16="http://schemas.microsoft.com/office/drawing/2014/main" id="{B1667556-D3DB-4559-91B6-36C980512EC8}"/>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1</a:t>
            </a:r>
          </a:p>
        </p:txBody>
      </p:sp>
      <p:sp>
        <p:nvSpPr>
          <p:cNvPr id="2" name="title-6">
            <a:extLst xmlns:a="http://schemas.openxmlformats.org/drawingml/2006/main">
              <a:ext uri="{FF2B5EF4-FFF2-40B4-BE49-F238E27FC236}">
                <a16:creationId xmlns:a16="http://schemas.microsoft.com/office/drawing/2014/main" id="{D34E92B2-D3AF-434D-A9B7-42766CC16F50}"/>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Anatomy of a scanner finding</a:t>
            </a:r>
          </a:p>
        </p:txBody>
      </p:sp>
      <p:sp>
        <p:nvSpPr>
          <p:cNvPr id="3" name="title-rule-6">
            <a:extLst xmlns:a="http://schemas.openxmlformats.org/drawingml/2006/main">
              <a:ext uri="{FF2B5EF4-FFF2-40B4-BE49-F238E27FC236}">
                <a16:creationId xmlns:a16="http://schemas.microsoft.com/office/drawing/2014/main" id="{C257669F-7CA1-4A71-9D29-D46CFAA0779D}"/>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07c9f550be114207"/>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6">
            <a:extLst xmlns:a="http://schemas.openxmlformats.org/drawingml/2006/main">
              <a:ext uri="{FF2B5EF4-FFF2-40B4-BE49-F238E27FC236}">
                <a16:creationId xmlns:a16="http://schemas.microsoft.com/office/drawing/2014/main" id="{3A6ED9DF-1A42-42C2-A2C5-EC5272E63EC8}"/>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6">
            <a:extLst xmlns:a="http://schemas.openxmlformats.org/drawingml/2006/main">
              <a:ext uri="{FF2B5EF4-FFF2-40B4-BE49-F238E27FC236}">
                <a16:creationId xmlns:a16="http://schemas.microsoft.com/office/drawing/2014/main" id="{3080B021-2E79-475F-B8AA-25D9D1BCEB23}"/>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6">
            <a:extLst xmlns:a="http://schemas.openxmlformats.org/drawingml/2006/main">
              <a:ext uri="{FF2B5EF4-FFF2-40B4-BE49-F238E27FC236}">
                <a16:creationId xmlns:a16="http://schemas.microsoft.com/office/drawing/2014/main" id="{23EF8350-1C5C-4238-9194-EB49C94A5DD2}"/>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06</a:t>
            </a:r>
          </a:p>
        </p:txBody>
      </p:sp>
      <p:graphicFrame>
        <p:nvGraphicFramePr>
          <p:cNvPr id="17" name=""/>
          <p:cNvGraphicFramePr/>
          <p:nvPr/>
        </p:nvGraphicFramePr>
        <p:xfrm>
          <a:off xmlns:a="http://schemas.openxmlformats.org/drawingml/2006/main" x="533400" y="1752600"/>
          <a:ext xmlns:a="http://schemas.openxmlformats.org/drawingml/2006/main" cx="11125200" cy="3848100"/>
        </p:xfrm>
        <a:graphic xmlns:a="http://schemas.openxmlformats.org/drawingml/2006/main">
          <a:graphicData uri="http://schemas.openxmlformats.org/drawingml/2006/table">
            <a:tbl>
              <a:tblPr/>
              <a:tblGrid>
                <a:gridCol w="1714500"/>
                <a:gridCol w="4095750"/>
                <a:gridCol w="5314950"/>
              </a:tblGrid>
              <a:tr h="641350">
                <a:tc>
                  <a:txBody>
                    <a:bodyPr/>
                    <a:lstStyle/>
                    <a:p>
                      <a:r>
                        <a:rPr sz="1125" b="1">
                          <a:solidFill>
                            <a:srgbClr val="FFFFFF"/>
                          </a:solidFill>
                          <a:latin typeface="Helvetica Neue"/>
                          <a:ea typeface="Helvetica Neue"/>
                          <a:cs typeface="Helvetica Neue"/>
                        </a:rPr>
                        <a:t>Field</a:t>
                      </a:r>
                    </a:p>
                  </a:txBody>
                  <a:tcPr marL="91440" marR="91440" marT="45720" marB="45720">
                    <a:solidFill>
                      <a:srgbClr val="11856E"/>
                    </a:solidFill>
                  </a:tcPr>
                </a:tc>
                <a:tc>
                  <a:txBody>
                    <a:bodyPr/>
                    <a:lstStyle/>
                    <a:p>
                      <a:r>
                        <a:rPr sz="1125" b="1">
                          <a:solidFill>
                            <a:srgbClr val="FFFFFF"/>
                          </a:solidFill>
                          <a:latin typeface="Helvetica Neue"/>
                          <a:ea typeface="Helvetica Neue"/>
                          <a:cs typeface="Helvetica Neue"/>
                        </a:rPr>
                        <a:t>What it tells us</a:t>
                      </a:r>
                    </a:p>
                  </a:txBody>
                  <a:tcPr marL="91440" marR="91440" marT="45720" marB="45720">
                    <a:solidFill>
                      <a:srgbClr val="11856E"/>
                    </a:solidFill>
                  </a:tcPr>
                </a:tc>
                <a:tc>
                  <a:txBody>
                    <a:bodyPr/>
                    <a:lstStyle/>
                    <a:p>
                      <a:r>
                        <a:rPr sz="1125" b="1">
                          <a:solidFill>
                            <a:srgbClr val="FFFFFF"/>
                          </a:solidFill>
                          <a:latin typeface="Helvetica Neue"/>
                          <a:ea typeface="Helvetica Neue"/>
                          <a:cs typeface="Helvetica Neue"/>
                        </a:rPr>
                        <a:t>Example from a workshop target</a:t>
                      </a:r>
                    </a:p>
                  </a:txBody>
                  <a:tcPr marL="91440" marR="91440" marT="45720" marB="45720">
                    <a:solidFill>
                      <a:srgbClr val="11856E"/>
                    </a:solidFill>
                  </a:tcPr>
                </a:tc>
              </a:tr>
              <a:tr h="641350">
                <a:tc>
                  <a:txBody>
                    <a:bodyPr/>
                    <a:lstStyle/>
                    <a:p>
                      <a:r>
                        <a:rPr sz="1200" b="1">
                          <a:solidFill>
                            <a:srgbClr val="0C1715"/>
                          </a:solidFill>
                          <a:latin typeface="Helvetica Neue"/>
                          <a:ea typeface="Helvetica Neue"/>
                          <a:cs typeface="Helvetica Neue"/>
                        </a:rPr>
                        <a:t>Asset</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The resource or file connected to the condition</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S3 bucket, firewall rule, Deployment, or Terraform file</a:t>
                      </a:r>
                    </a:p>
                  </a:txBody>
                  <a:tcPr marL="91440" marR="91440" marT="45720" marB="45720">
                    <a:solidFill>
                      <a:srgbClr val="F2F7F5"/>
                    </a:solidFill>
                  </a:tcPr>
                </a:tc>
              </a:tr>
              <a:tr h="641350">
                <a:tc>
                  <a:txBody>
                    <a:bodyPr/>
                    <a:lstStyle/>
                    <a:p>
                      <a:r>
                        <a:rPr sz="1200" b="1">
                          <a:solidFill>
                            <a:srgbClr val="0C1715"/>
                          </a:solidFill>
                          <a:latin typeface="Helvetica Neue"/>
                          <a:ea typeface="Helvetica Neue"/>
                          <a:cs typeface="Helvetica Neue"/>
                        </a:rPr>
                        <a:t>Vulnerability</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The unsafe condition that failed the security check</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Public access block disabled</a:t>
                      </a:r>
                    </a:p>
                  </a:txBody>
                  <a:tcPr marL="91440" marR="91440" marT="45720" marB="45720">
                    <a:solidFill>
                      <a:srgbClr val="FFFFFF"/>
                    </a:solidFill>
                  </a:tcPr>
                </a:tc>
              </a:tr>
              <a:tr h="641350">
                <a:tc>
                  <a:txBody>
                    <a:bodyPr/>
                    <a:lstStyle/>
                    <a:p>
                      <a:r>
                        <a:rPr sz="1200" b="1">
                          <a:solidFill>
                            <a:srgbClr val="0C1715"/>
                          </a:solidFill>
                          <a:latin typeface="Helvetica Neue"/>
                          <a:ea typeface="Helvetica Neue"/>
                          <a:cs typeface="Helvetica Neue"/>
                        </a:rPr>
                        <a:t>Severity</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The scanner's estimate of technical impact</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Critical, High, Medium, Low, or Info</a:t>
                      </a:r>
                    </a:p>
                  </a:txBody>
                  <a:tcPr marL="91440" marR="91440" marT="45720" marB="45720">
                    <a:solidFill>
                      <a:srgbClr val="F2F7F5"/>
                    </a:solidFill>
                  </a:tcPr>
                </a:tc>
              </a:tr>
              <a:tr h="641350">
                <a:tc>
                  <a:txBody>
                    <a:bodyPr/>
                    <a:lstStyle/>
                    <a:p>
                      <a:r>
                        <a:rPr sz="1200" b="1">
                          <a:solidFill>
                            <a:srgbClr val="0C1715"/>
                          </a:solidFill>
                          <a:latin typeface="Helvetica Neue"/>
                          <a:ea typeface="Helvetica Neue"/>
                          <a:cs typeface="Helvetica Neue"/>
                        </a:rPr>
                        <a:t>Evidence</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The observed policy, property, or manifest setting</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Public ACL, open CIDR, privileged: true</a:t>
                      </a:r>
                    </a:p>
                  </a:txBody>
                  <a:tcPr marL="91440" marR="91440" marT="45720" marB="45720">
                    <a:solidFill>
                      <a:srgbClr val="FFFFFF"/>
                    </a:solidFill>
                  </a:tcPr>
                </a:tc>
              </a:tr>
              <a:tr h="641350">
                <a:tc>
                  <a:txBody>
                    <a:bodyPr/>
                    <a:lstStyle/>
                    <a:p>
                      <a:r>
                        <a:rPr sz="1200" b="1">
                          <a:solidFill>
                            <a:srgbClr val="0C1715"/>
                          </a:solidFill>
                          <a:latin typeface="Helvetica Neue"/>
                          <a:ea typeface="Helvetica Neue"/>
                          <a:cs typeface="Helvetica Neue"/>
                        </a:rPr>
                        <a:t>Recommendation</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The configuration change that removes the condition</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Restrict access and run another scan</a:t>
                      </a:r>
                    </a:p>
                  </a:txBody>
                  <a:tcPr marL="91440" marR="91440" marT="45720" marB="45720">
                    <a:solidFill>
                      <a:srgbClr val="F2F7F5"/>
                    </a:solidFill>
                  </a:tcPr>
                </a:tc>
              </a:tr>
            </a:tbl>
          </a:graphicData>
        </a:graphic>
      </p:graphicFrame>
      <p:sp>
        <p:nvSpPr>
          <p:cNvPr id="9" name="finding-note">
            <a:extLst xmlns:a="http://schemas.openxmlformats.org/drawingml/2006/main">
              <a:ext uri="{FF2B5EF4-FFF2-40B4-BE49-F238E27FC236}">
                <a16:creationId xmlns:a16="http://schemas.microsoft.com/office/drawing/2014/main" id="{A58FDD86-3BB6-4785-8D0E-6C6EC0D9E7EF}"/>
              </a:ext>
            </a:extLst>
          </p:cNvPr>
          <p:cNvSpPr>
            <a:spLocks xmlns:a="http://schemas.openxmlformats.org/drawingml/2006/main" noGrp="1"/>
          </p:cNvSpPr>
          <p:nvPr/>
        </p:nvSpPr>
        <p:spPr>
          <a:xfrm xmlns:a="http://schemas.openxmlformats.org/drawingml/2006/main">
            <a:off x="533400" y="5829300"/>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1">
                <a:solidFill>
                  <a:srgbClr val="0C1715"/>
                </a:solidFill>
                <a:latin typeface="Helvetica Neue"/>
                <a:ea typeface="Helvetica Neue"/>
                <a:cs typeface="Helvetica Neue"/>
              </a:defRPr>
            </a:pPr>
            <a:r>
              <a:rPr sz="1500" b="1">
                <a:solidFill>
                  <a:srgbClr val="0C1715"/>
                </a:solidFill>
                <a:latin typeface="Helvetica Neue"/>
                <a:ea typeface="Helvetica Neue"/>
                <a:cs typeface="Helvetica Neue"/>
              </a:rPr>
              <a:t>Severity starts the conversation. Exposure, identity privilege, asset value, and available evidence determine priority.</a:t>
            </a:r>
          </a:p>
        </p:txBody>
      </p:sp>
    </p:spTree>
    <p:extLst>
      <p:ext uri="{BB962C8B-B14F-4D97-AF65-F5344CB8AC3E}">
        <p14:creationId xmlns:p14="http://schemas.microsoft.com/office/powerpoint/2010/main" val="98679127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ection-7">
            <a:extLst xmlns:a="http://schemas.openxmlformats.org/drawingml/2006/main">
              <a:ext uri="{FF2B5EF4-FFF2-40B4-BE49-F238E27FC236}">
                <a16:creationId xmlns:a16="http://schemas.microsoft.com/office/drawing/2014/main" id="{C97F72F2-7269-4B3A-9070-4D52F3C04F74}"/>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1</a:t>
            </a:r>
          </a:p>
        </p:txBody>
      </p:sp>
      <p:sp>
        <p:nvSpPr>
          <p:cNvPr id="2" name="title-7">
            <a:extLst xmlns:a="http://schemas.openxmlformats.org/drawingml/2006/main">
              <a:ext uri="{FF2B5EF4-FFF2-40B4-BE49-F238E27FC236}">
                <a16:creationId xmlns:a16="http://schemas.microsoft.com/office/drawing/2014/main" id="{3636E468-7A70-4162-92BA-37B0EDAC9130}"/>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Safe vulnerable lab model</a:t>
            </a:r>
          </a:p>
        </p:txBody>
      </p:sp>
      <p:sp>
        <p:nvSpPr>
          <p:cNvPr id="3" name="title-rule-7">
            <a:extLst xmlns:a="http://schemas.openxmlformats.org/drawingml/2006/main">
              <a:ext uri="{FF2B5EF4-FFF2-40B4-BE49-F238E27FC236}">
                <a16:creationId xmlns:a16="http://schemas.microsoft.com/office/drawing/2014/main" id="{52FB744B-F837-4FDF-84F5-069A8BD02763}"/>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8245c08c23894056"/>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7">
            <a:extLst xmlns:a="http://schemas.openxmlformats.org/drawingml/2006/main">
              <a:ext uri="{FF2B5EF4-FFF2-40B4-BE49-F238E27FC236}">
                <a16:creationId xmlns:a16="http://schemas.microsoft.com/office/drawing/2014/main" id="{EE9888A6-9FE8-40D8-8D8F-603B29369E71}"/>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7">
            <a:extLst xmlns:a="http://schemas.openxmlformats.org/drawingml/2006/main">
              <a:ext uri="{FF2B5EF4-FFF2-40B4-BE49-F238E27FC236}">
                <a16:creationId xmlns:a16="http://schemas.microsoft.com/office/drawing/2014/main" id="{0CB84385-9E27-4C41-8934-C764E63EF3FC}"/>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7">
            <a:extLst xmlns:a="http://schemas.openxmlformats.org/drawingml/2006/main">
              <a:ext uri="{FF2B5EF4-FFF2-40B4-BE49-F238E27FC236}">
                <a16:creationId xmlns:a16="http://schemas.microsoft.com/office/drawing/2014/main" id="{C179AD7C-C7E1-40DC-9F0A-5A93D4330B1F}"/>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07</a:t>
            </a:r>
          </a:p>
        </p:txBody>
      </p:sp>
      <p:sp>
        <p:nvSpPr>
          <p:cNvPr id="8" name="safe-lead">
            <a:extLst xmlns:a="http://schemas.openxmlformats.org/drawingml/2006/main">
              <a:ext uri="{FF2B5EF4-FFF2-40B4-BE49-F238E27FC236}">
                <a16:creationId xmlns:a16="http://schemas.microsoft.com/office/drawing/2014/main" id="{C409AF30-1D7F-4E19-BAAB-61EE879116FA}"/>
              </a:ext>
            </a:extLst>
          </p:cNvPr>
          <p:cNvSpPr>
            <a:spLocks xmlns:a="http://schemas.openxmlformats.org/drawingml/2006/main" noGrp="1"/>
          </p:cNvSpPr>
          <p:nvPr/>
        </p:nvSpPr>
        <p:spPr>
          <a:xfrm xmlns:a="http://schemas.openxmlformats.org/drawingml/2006/main">
            <a:off x="533400" y="18097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D95D4B"/>
                </a:solidFill>
                <a:latin typeface="Helvetica Neue"/>
                <a:ea typeface="Helvetica Neue"/>
                <a:cs typeface="Helvetica Neue"/>
              </a:defRPr>
            </a:pPr>
            <a:r>
              <a:rPr sz="2100" b="1">
                <a:solidFill>
                  <a:srgbClr val="D95D4B"/>
                </a:solidFill>
                <a:latin typeface="Helvetica Neue"/>
                <a:ea typeface="Helvetica Neue"/>
                <a:cs typeface="Helvetica Neue"/>
              </a:rPr>
              <a:t>The workshop uses intentionally weak resources inside isolated, short-lived environments.</a:t>
            </a:r>
          </a:p>
        </p:txBody>
      </p:sp>
      <p:sp>
        <p:nvSpPr>
          <p:cNvPr id="9" name="pair-left-title-8">
            <a:extLst xmlns:a="http://schemas.openxmlformats.org/drawingml/2006/main">
              <a:ext uri="{FF2B5EF4-FFF2-40B4-BE49-F238E27FC236}">
                <a16:creationId xmlns:a16="http://schemas.microsoft.com/office/drawing/2014/main" id="{3575F00E-6180-4F43-A48F-3B3B00E90481}"/>
              </a:ext>
            </a:extLst>
          </p:cNvPr>
          <p:cNvSpPr>
            <a:spLocks xmlns:a="http://schemas.openxmlformats.org/drawingml/2006/main" noGrp="1"/>
          </p:cNvSpPr>
          <p:nvPr/>
        </p:nvSpPr>
        <p:spPr>
          <a:xfrm xmlns:a="http://schemas.openxmlformats.org/drawingml/2006/main">
            <a:off x="533400" y="262890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1">
                <a:solidFill>
                  <a:srgbClr val="D95D4B"/>
                </a:solidFill>
                <a:latin typeface="Helvetica Neue"/>
                <a:ea typeface="Helvetica Neue"/>
                <a:cs typeface="Helvetica Neue"/>
              </a:defRPr>
            </a:pPr>
            <a:r>
              <a:rPr sz="1800" b="1">
                <a:solidFill>
                  <a:srgbClr val="D95D4B"/>
                </a:solidFill>
                <a:latin typeface="Helvetica Neue"/>
                <a:ea typeface="Helvetica Neue"/>
                <a:cs typeface="Helvetica Neue"/>
              </a:rPr>
              <a:t>What exists in the lab</a:t>
            </a:r>
          </a:p>
        </p:txBody>
      </p:sp>
      <p:sp>
        <p:nvSpPr>
          <p:cNvPr id="10" name="pair-left-8">
            <a:extLst xmlns:a="http://schemas.openxmlformats.org/drawingml/2006/main">
              <a:ext uri="{FF2B5EF4-FFF2-40B4-BE49-F238E27FC236}">
                <a16:creationId xmlns:a16="http://schemas.microsoft.com/office/drawing/2014/main" id="{C43AB331-2647-48B1-862F-526AA49435FC}"/>
              </a:ext>
            </a:extLst>
          </p:cNvPr>
          <p:cNvSpPr>
            <a:spLocks xmlns:a="http://schemas.openxmlformats.org/drawingml/2006/main" noGrp="1"/>
          </p:cNvSpPr>
          <p:nvPr/>
        </p:nvSpPr>
        <p:spPr>
          <a:xfrm xmlns:a="http://schemas.openxmlformats.org/drawingml/2006/main">
            <a:off x="476250" y="3181350"/>
            <a:ext cx="47625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An empty public storage resource with dummy content</a:t>
            </a:r>
          </a:p>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An over-permissive identity or network rule</a:t>
            </a:r>
          </a:p>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A vulnerable Kubernetes namespace and local IaC fixtures</a:t>
            </a:r>
          </a:p>
        </p:txBody>
      </p:sp>
      <p:sp>
        <p:nvSpPr>
          <p:cNvPr id="11" name="pair-divider-8">
            <a:extLst xmlns:a="http://schemas.openxmlformats.org/drawingml/2006/main">
              <a:ext uri="{FF2B5EF4-FFF2-40B4-BE49-F238E27FC236}">
                <a16:creationId xmlns:a16="http://schemas.microsoft.com/office/drawing/2014/main" id="{4F8E8FC0-8EDA-480C-B496-7B67A35DAD08}"/>
              </a:ext>
            </a:extLst>
          </p:cNvPr>
          <p:cNvSpPr>
            <a:spLocks xmlns:a="http://schemas.openxmlformats.org/drawingml/2006/main" noGrp="1"/>
          </p:cNvSpPr>
          <p:nvPr/>
        </p:nvSpPr>
        <p:spPr>
          <a:xfrm xmlns:a="http://schemas.openxmlformats.org/drawingml/2006/main">
            <a:off x="6000750" y="2590800"/>
            <a:ext cx="9525" cy="3848100"/>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12" name="pair-right-title-8">
            <a:extLst xmlns:a="http://schemas.openxmlformats.org/drawingml/2006/main">
              <a:ext uri="{FF2B5EF4-FFF2-40B4-BE49-F238E27FC236}">
                <a16:creationId xmlns:a16="http://schemas.microsoft.com/office/drawing/2014/main" id="{02B833D7-0D45-41C0-9F11-549DDDBE6C71}"/>
              </a:ext>
            </a:extLst>
          </p:cNvPr>
          <p:cNvSpPr>
            <a:spLocks xmlns:a="http://schemas.openxmlformats.org/drawingml/2006/main" noGrp="1"/>
          </p:cNvSpPr>
          <p:nvPr/>
        </p:nvSpPr>
        <p:spPr>
          <a:xfrm xmlns:a="http://schemas.openxmlformats.org/drawingml/2006/main">
            <a:off x="6572250" y="2628900"/>
            <a:ext cx="4667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1">
                <a:solidFill>
                  <a:srgbClr val="D95D4B"/>
                </a:solidFill>
                <a:latin typeface="Helvetica Neue"/>
                <a:ea typeface="Helvetica Neue"/>
                <a:cs typeface="Helvetica Neue"/>
              </a:defRPr>
            </a:pPr>
            <a:r>
              <a:rPr sz="1800" b="1">
                <a:solidFill>
                  <a:srgbClr val="D95D4B"/>
                </a:solidFill>
                <a:latin typeface="Helvetica Neue"/>
                <a:ea typeface="Helvetica Neue"/>
                <a:cs typeface="Helvetica Neue"/>
              </a:rPr>
              <a:t>What remains outside the lab</a:t>
            </a:r>
          </a:p>
        </p:txBody>
      </p:sp>
      <p:sp>
        <p:nvSpPr>
          <p:cNvPr id="13" name="pair-right-8">
            <a:extLst xmlns:a="http://schemas.openxmlformats.org/drawingml/2006/main">
              <a:ext uri="{FF2B5EF4-FFF2-40B4-BE49-F238E27FC236}">
                <a16:creationId xmlns:a16="http://schemas.microsoft.com/office/drawing/2014/main" id="{E2A51FA1-F03E-4F40-9B3D-F29EF02F7164}"/>
              </a:ext>
            </a:extLst>
          </p:cNvPr>
          <p:cNvSpPr>
            <a:spLocks xmlns:a="http://schemas.openxmlformats.org/drawingml/2006/main" noGrp="1"/>
          </p:cNvSpPr>
          <p:nvPr/>
        </p:nvSpPr>
        <p:spPr>
          <a:xfrm xmlns:a="http://schemas.openxmlformats.org/drawingml/2006/main">
            <a:off x="6515100" y="3181350"/>
            <a:ext cx="47625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Production accounts, projects, clusters, and customer data</a:t>
            </a:r>
          </a:p>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Real secrets or long-lived access keys</a:t>
            </a:r>
          </a:p>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Any resource that lacks a tested cleanup path</a:t>
            </a:r>
          </a:p>
        </p:txBody>
      </p:sp>
    </p:spTree>
    <p:extLst>
      <p:ext uri="{BB962C8B-B14F-4D97-AF65-F5344CB8AC3E}">
        <p14:creationId xmlns:p14="http://schemas.microsoft.com/office/powerpoint/2010/main" val="13050666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ection-8">
            <a:extLst xmlns:a="http://schemas.openxmlformats.org/drawingml/2006/main">
              <a:ext uri="{FF2B5EF4-FFF2-40B4-BE49-F238E27FC236}">
                <a16:creationId xmlns:a16="http://schemas.microsoft.com/office/drawing/2014/main" id="{EDB2AF53-B3D9-4DE3-9AC1-D4FD2E034A40}"/>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2</a:t>
            </a:r>
          </a:p>
        </p:txBody>
      </p:sp>
      <p:sp>
        <p:nvSpPr>
          <p:cNvPr id="2" name="title-8">
            <a:extLst xmlns:a="http://schemas.openxmlformats.org/drawingml/2006/main">
              <a:ext uri="{FF2B5EF4-FFF2-40B4-BE49-F238E27FC236}">
                <a16:creationId xmlns:a16="http://schemas.microsoft.com/office/drawing/2014/main" id="{0B295F44-B9A7-49B4-B37A-2C013D5BCB81}"/>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AWS scanner coverage</a:t>
            </a:r>
          </a:p>
        </p:txBody>
      </p:sp>
      <p:sp>
        <p:nvSpPr>
          <p:cNvPr id="3" name="title-rule-8">
            <a:extLst xmlns:a="http://schemas.openxmlformats.org/drawingml/2006/main">
              <a:ext uri="{FF2B5EF4-FFF2-40B4-BE49-F238E27FC236}">
                <a16:creationId xmlns:a16="http://schemas.microsoft.com/office/drawing/2014/main" id="{213FE6EF-5DF2-41A3-842F-D7C7959658BB}"/>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f5c37807dd5b4b12"/>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8">
            <a:extLst xmlns:a="http://schemas.openxmlformats.org/drawingml/2006/main">
              <a:ext uri="{FF2B5EF4-FFF2-40B4-BE49-F238E27FC236}">
                <a16:creationId xmlns:a16="http://schemas.microsoft.com/office/drawing/2014/main" id="{B85D7A80-3F98-44B0-ADB0-567E2E1BA120}"/>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8">
            <a:extLst xmlns:a="http://schemas.openxmlformats.org/drawingml/2006/main">
              <a:ext uri="{FF2B5EF4-FFF2-40B4-BE49-F238E27FC236}">
                <a16:creationId xmlns:a16="http://schemas.microsoft.com/office/drawing/2014/main" id="{36201E85-DF26-4CD5-8760-D6DDC3B752C3}"/>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8">
            <a:extLst xmlns:a="http://schemas.openxmlformats.org/drawingml/2006/main">
              <a:ext uri="{FF2B5EF4-FFF2-40B4-BE49-F238E27FC236}">
                <a16:creationId xmlns:a16="http://schemas.microsoft.com/office/drawing/2014/main" id="{84FE177C-E98D-439A-B78E-443FC90FAB18}"/>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08</a:t>
            </a:r>
          </a:p>
        </p:txBody>
      </p:sp>
      <p:graphicFrame>
        <p:nvGraphicFramePr>
          <p:cNvPr id="16" name=""/>
          <p:cNvGraphicFramePr/>
          <p:nvPr/>
        </p:nvGraphicFramePr>
        <p:xfrm>
          <a:off xmlns:a="http://schemas.openxmlformats.org/drawingml/2006/main" x="533400" y="1752600"/>
          <a:ext xmlns:a="http://schemas.openxmlformats.org/drawingml/2006/main" cx="11125200" cy="4095750"/>
        </p:xfrm>
        <a:graphic xmlns:a="http://schemas.openxmlformats.org/drawingml/2006/main">
          <a:graphicData uri="http://schemas.openxmlformats.org/drawingml/2006/table">
            <a:tbl>
              <a:tblPr/>
              <a:tblGrid>
                <a:gridCol w="1714500"/>
                <a:gridCol w="4762500"/>
                <a:gridCol w="4648200"/>
              </a:tblGrid>
              <a:tr h="819150">
                <a:tc>
                  <a:txBody>
                    <a:bodyPr/>
                    <a:lstStyle/>
                    <a:p>
                      <a:r>
                        <a:rPr sz="1125" b="1">
                          <a:solidFill>
                            <a:srgbClr val="FFFFFF"/>
                          </a:solidFill>
                          <a:latin typeface="Helvetica Neue"/>
                          <a:ea typeface="Helvetica Neue"/>
                          <a:cs typeface="Helvetica Neue"/>
                        </a:rPr>
                        <a:t>Security area</a:t>
                      </a:r>
                    </a:p>
                  </a:txBody>
                  <a:tcPr marL="91440" marR="91440" marT="45720" marB="45720">
                    <a:solidFill>
                      <a:srgbClr val="F59E0B"/>
                    </a:solidFill>
                  </a:tcPr>
                </a:tc>
                <a:tc>
                  <a:txBody>
                    <a:bodyPr/>
                    <a:lstStyle/>
                    <a:p>
                      <a:r>
                        <a:rPr sz="1125" b="1">
                          <a:solidFill>
                            <a:srgbClr val="FFFFFF"/>
                          </a:solidFill>
                          <a:latin typeface="Helvetica Neue"/>
                          <a:ea typeface="Helvetica Neue"/>
                          <a:cs typeface="Helvetica Neue"/>
                        </a:rPr>
                        <a:t>Resources and controls</a:t>
                      </a:r>
                    </a:p>
                  </a:txBody>
                  <a:tcPr marL="91440" marR="91440" marT="45720" marB="45720">
                    <a:solidFill>
                      <a:srgbClr val="F59E0B"/>
                    </a:solidFill>
                  </a:tcPr>
                </a:tc>
                <a:tc>
                  <a:txBody>
                    <a:bodyPr/>
                    <a:lstStyle/>
                    <a:p>
                      <a:r>
                        <a:rPr sz="1125" b="1">
                          <a:solidFill>
                            <a:srgbClr val="FFFFFF"/>
                          </a:solidFill>
                          <a:latin typeface="Helvetica Neue"/>
                          <a:ea typeface="Helvetica Neue"/>
                          <a:cs typeface="Helvetica Neue"/>
                        </a:rPr>
                        <a:t>Examples of risky conditions</a:t>
                      </a:r>
                    </a:p>
                  </a:txBody>
                  <a:tcPr marL="91440" marR="91440" marT="45720" marB="45720">
                    <a:solidFill>
                      <a:srgbClr val="F59E0B"/>
                    </a:solidFill>
                  </a:tcPr>
                </a:tc>
              </a:tr>
              <a:tr h="819150">
                <a:tc>
                  <a:txBody>
                    <a:bodyPr/>
                    <a:lstStyle/>
                    <a:p>
                      <a:r>
                        <a:rPr sz="1200" b="1">
                          <a:solidFill>
                            <a:srgbClr val="0C1715"/>
                          </a:solidFill>
                          <a:latin typeface="Helvetica Neue"/>
                          <a:ea typeface="Helvetica Neue"/>
                          <a:cs typeface="Helvetica Neue"/>
                        </a:rPr>
                        <a:t>Storage</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S3 buckets, ACLs, encryption, versioning, public access block</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Public access, missing encryption, versioning disabled</a:t>
                      </a:r>
                    </a:p>
                  </a:txBody>
                  <a:tcPr marL="91440" marR="91440" marT="45720" marB="45720">
                    <a:solidFill>
                      <a:srgbClr val="F2F7F5"/>
                    </a:solidFill>
                  </a:tcPr>
                </a:tc>
              </a:tr>
              <a:tr h="819150">
                <a:tc>
                  <a:txBody>
                    <a:bodyPr/>
                    <a:lstStyle/>
                    <a:p>
                      <a:r>
                        <a:rPr sz="1200" b="1">
                          <a:solidFill>
                            <a:srgbClr val="0C1715"/>
                          </a:solidFill>
                          <a:latin typeface="Helvetica Neue"/>
                          <a:ea typeface="Helvetica Neue"/>
                          <a:cs typeface="Helvetica Neue"/>
                        </a:rPr>
                        <a:t>Identity</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IAM users, MFA devices, inline policies, access keys</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No MFA, wildcard administration, access key older than 90 days</a:t>
                      </a:r>
                    </a:p>
                  </a:txBody>
                  <a:tcPr marL="91440" marR="91440" marT="45720" marB="45720">
                    <a:solidFill>
                      <a:srgbClr val="FFFFFF"/>
                    </a:solidFill>
                  </a:tcPr>
                </a:tc>
              </a:tr>
              <a:tr h="819150">
                <a:tc>
                  <a:txBody>
                    <a:bodyPr/>
                    <a:lstStyle/>
                    <a:p>
                      <a:r>
                        <a:rPr sz="1200" b="1">
                          <a:solidFill>
                            <a:srgbClr val="0C1715"/>
                          </a:solidFill>
                          <a:latin typeface="Helvetica Neue"/>
                          <a:ea typeface="Helvetica Neue"/>
                          <a:cs typeface="Helvetica Neue"/>
                        </a:rPr>
                        <a:t>Network</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EC2 security groups and VPCs</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All traffic or administrative ports exposed to the internet</a:t>
                      </a:r>
                    </a:p>
                  </a:txBody>
                  <a:tcPr marL="91440" marR="91440" marT="45720" marB="45720">
                    <a:solidFill>
                      <a:srgbClr val="F2F7F5"/>
                    </a:solidFill>
                  </a:tcPr>
                </a:tc>
              </a:tr>
              <a:tr h="819150">
                <a:tc>
                  <a:txBody>
                    <a:bodyPr/>
                    <a:lstStyle/>
                    <a:p>
                      <a:r>
                        <a:rPr sz="1200" b="1">
                          <a:solidFill>
                            <a:srgbClr val="0C1715"/>
                          </a:solidFill>
                          <a:latin typeface="Helvetica Neue"/>
                          <a:ea typeface="Helvetica Neue"/>
                          <a:cs typeface="Helvetica Neue"/>
                        </a:rPr>
                        <a:t>Detection</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CloudTrail, GuardDuty, and VPC Flow Logs</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Missing or disabled logging and threat detection</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3597015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9">
            <a:extLst xmlns:a="http://schemas.openxmlformats.org/drawingml/2006/main">
              <a:ext uri="{FF2B5EF4-FFF2-40B4-BE49-F238E27FC236}">
                <a16:creationId xmlns:a16="http://schemas.microsoft.com/office/drawing/2014/main" id="{E727391B-543F-4999-B55E-05EF020090B6}"/>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2</a:t>
            </a:r>
          </a:p>
        </p:txBody>
      </p:sp>
      <p:sp>
        <p:nvSpPr>
          <p:cNvPr id="2" name="title-9">
            <a:extLst xmlns:a="http://schemas.openxmlformats.org/drawingml/2006/main">
              <a:ext uri="{FF2B5EF4-FFF2-40B4-BE49-F238E27FC236}">
                <a16:creationId xmlns:a16="http://schemas.microsoft.com/office/drawing/2014/main" id="{EC32E208-DA17-4562-A53D-CE5E37DD3FF1}"/>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AWS scan lifecycle</a:t>
            </a:r>
          </a:p>
        </p:txBody>
      </p:sp>
      <p:sp>
        <p:nvSpPr>
          <p:cNvPr id="3" name="title-rule-9">
            <a:extLst xmlns:a="http://schemas.openxmlformats.org/drawingml/2006/main">
              <a:ext uri="{FF2B5EF4-FFF2-40B4-BE49-F238E27FC236}">
                <a16:creationId xmlns:a16="http://schemas.microsoft.com/office/drawing/2014/main" id="{3A769BB6-0153-44C2-A374-DBE23709F7DC}"/>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48c48d5a1fae4465"/>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9">
            <a:extLst xmlns:a="http://schemas.openxmlformats.org/drawingml/2006/main">
              <a:ext uri="{FF2B5EF4-FFF2-40B4-BE49-F238E27FC236}">
                <a16:creationId xmlns:a16="http://schemas.microsoft.com/office/drawing/2014/main" id="{D3CD5BAB-98C1-4D3B-A384-BC1E9392BCAD}"/>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9">
            <a:extLst xmlns:a="http://schemas.openxmlformats.org/drawingml/2006/main">
              <a:ext uri="{FF2B5EF4-FFF2-40B4-BE49-F238E27FC236}">
                <a16:creationId xmlns:a16="http://schemas.microsoft.com/office/drawing/2014/main" id="{573F94E7-19B2-4B8C-A6DD-39E27A11E6EC}"/>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9">
            <a:extLst xmlns:a="http://schemas.openxmlformats.org/drawingml/2006/main">
              <a:ext uri="{FF2B5EF4-FFF2-40B4-BE49-F238E27FC236}">
                <a16:creationId xmlns:a16="http://schemas.microsoft.com/office/drawing/2014/main" id="{99269858-7724-41CA-A0F1-D1B836CD6A15}"/>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09</a:t>
            </a:r>
          </a:p>
        </p:txBody>
      </p:sp>
      <p:sp>
        <p:nvSpPr>
          <p:cNvPr id="8" name="part-num-11-0">
            <a:extLst xmlns:a="http://schemas.openxmlformats.org/drawingml/2006/main">
              <a:ext uri="{FF2B5EF4-FFF2-40B4-BE49-F238E27FC236}">
                <a16:creationId xmlns:a16="http://schemas.microsoft.com/office/drawing/2014/main" id="{E8E670A2-A81C-49CA-A42C-254196BD436C}"/>
              </a:ext>
            </a:extLst>
          </p:cNvPr>
          <p:cNvSpPr>
            <a:spLocks xmlns:a="http://schemas.openxmlformats.org/drawingml/2006/main" noGrp="1"/>
          </p:cNvSpPr>
          <p:nvPr/>
        </p:nvSpPr>
        <p:spPr>
          <a:xfrm xmlns:a="http://schemas.openxmlformats.org/drawingml/2006/main">
            <a:off x="533400" y="1809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F59E0B"/>
                </a:solidFill>
                <a:latin typeface="Helvetica Neue"/>
                <a:ea typeface="Helvetica Neue"/>
                <a:cs typeface="Helvetica Neue"/>
              </a:defRPr>
            </a:pPr>
            <a:r>
              <a:rPr sz="2100" b="1">
                <a:solidFill>
                  <a:srgbClr val="F59E0B"/>
                </a:solidFill>
                <a:latin typeface="Helvetica Neue"/>
                <a:ea typeface="Helvetica Neue"/>
                <a:cs typeface="Helvetica Neue"/>
              </a:rPr>
              <a:t>01</a:t>
            </a:r>
          </a:p>
        </p:txBody>
      </p:sp>
      <p:sp>
        <p:nvSpPr>
          <p:cNvPr id="9" name="part-rule-11-0">
            <a:extLst xmlns:a="http://schemas.openxmlformats.org/drawingml/2006/main">
              <a:ext uri="{FF2B5EF4-FFF2-40B4-BE49-F238E27FC236}">
                <a16:creationId xmlns:a16="http://schemas.microsoft.com/office/drawing/2014/main" id="{A592B3E1-5BC8-4EF5-9498-FA625FD2C593}"/>
              </a:ext>
            </a:extLst>
          </p:cNvPr>
          <p:cNvSpPr>
            <a:spLocks xmlns:a="http://schemas.openxmlformats.org/drawingml/2006/main" noGrp="1"/>
          </p:cNvSpPr>
          <p:nvPr/>
        </p:nvSpPr>
        <p:spPr>
          <a:xfrm xmlns:a="http://schemas.openxmlformats.org/drawingml/2006/main">
            <a:off x="533400" y="2381250"/>
            <a:ext cx="2362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10" name="part-title-11-0">
            <a:extLst xmlns:a="http://schemas.openxmlformats.org/drawingml/2006/main">
              <a:ext uri="{FF2B5EF4-FFF2-40B4-BE49-F238E27FC236}">
                <a16:creationId xmlns:a16="http://schemas.microsoft.com/office/drawing/2014/main" id="{3B31B214-E4F3-4E72-972E-601D42B13D60}"/>
              </a:ext>
            </a:extLst>
          </p:cNvPr>
          <p:cNvSpPr>
            <a:spLocks xmlns:a="http://schemas.openxmlformats.org/drawingml/2006/main" noGrp="1"/>
          </p:cNvSpPr>
          <p:nvPr/>
        </p:nvSpPr>
        <p:spPr>
          <a:xfrm xmlns:a="http://schemas.openxmlformats.org/drawingml/2006/main">
            <a:off x="533400" y="2667000"/>
            <a:ext cx="2362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C1715"/>
                </a:solidFill>
                <a:latin typeface="Helvetica Neue"/>
                <a:ea typeface="Helvetica Neue"/>
                <a:cs typeface="Helvetica Neue"/>
              </a:defRPr>
            </a:pPr>
            <a:r>
              <a:rPr sz="1650" b="1">
                <a:solidFill>
                  <a:srgbClr val="0C1715"/>
                </a:solidFill>
                <a:latin typeface="Helvetica Neue"/>
                <a:ea typeface="Helvetica Neue"/>
                <a:cs typeface="Helvetica Neue"/>
              </a:rPr>
              <a:t>Authenticate</a:t>
            </a:r>
          </a:p>
        </p:txBody>
      </p:sp>
      <p:sp>
        <p:nvSpPr>
          <p:cNvPr id="11" name="part-body-11-0">
            <a:extLst xmlns:a="http://schemas.openxmlformats.org/drawingml/2006/main">
              <a:ext uri="{FF2B5EF4-FFF2-40B4-BE49-F238E27FC236}">
                <a16:creationId xmlns:a16="http://schemas.microsoft.com/office/drawing/2014/main" id="{FBD4B761-D13D-438E-AC41-24182145B3F2}"/>
              </a:ext>
            </a:extLst>
          </p:cNvPr>
          <p:cNvSpPr>
            <a:spLocks xmlns:a="http://schemas.openxmlformats.org/drawingml/2006/main" noGrp="1"/>
          </p:cNvSpPr>
          <p:nvPr/>
        </p:nvSpPr>
        <p:spPr>
          <a:xfrm xmlns:a="http://schemas.openxmlformats.org/drawingml/2006/main">
            <a:off x="533400" y="3143250"/>
            <a:ext cx="23622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60716D"/>
                </a:solidFill>
                <a:latin typeface="Helvetica Neue"/>
                <a:ea typeface="Helvetica Neue"/>
                <a:cs typeface="Helvetica Neue"/>
              </a:defRPr>
            </a:pPr>
            <a:r>
              <a:rPr sz="1350" b="0">
                <a:solidFill>
                  <a:srgbClr val="60716D"/>
                </a:solidFill>
                <a:latin typeface="Helvetica Neue"/>
                <a:ea typeface="Helvetica Neue"/>
                <a:cs typeface="Helvetica Neue"/>
              </a:rPr>
              <a:t>CloudGuard creates an AWS session, then calls STS to confirm the account identity and selected region.</a:t>
            </a:r>
          </a:p>
        </p:txBody>
      </p:sp>
      <p:sp>
        <p:nvSpPr>
          <p:cNvPr id="12" name="part-num-11-1">
            <a:extLst xmlns:a="http://schemas.openxmlformats.org/drawingml/2006/main">
              <a:ext uri="{FF2B5EF4-FFF2-40B4-BE49-F238E27FC236}">
                <a16:creationId xmlns:a16="http://schemas.microsoft.com/office/drawing/2014/main" id="{8F436AD6-434A-45A5-94C3-0A45AEDBF74D}"/>
              </a:ext>
            </a:extLst>
          </p:cNvPr>
          <p:cNvSpPr>
            <a:spLocks xmlns:a="http://schemas.openxmlformats.org/drawingml/2006/main" noGrp="1"/>
          </p:cNvSpPr>
          <p:nvPr/>
        </p:nvSpPr>
        <p:spPr>
          <a:xfrm xmlns:a="http://schemas.openxmlformats.org/drawingml/2006/main">
            <a:off x="3314700" y="1809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F59E0B"/>
                </a:solidFill>
                <a:latin typeface="Helvetica Neue"/>
                <a:ea typeface="Helvetica Neue"/>
                <a:cs typeface="Helvetica Neue"/>
              </a:defRPr>
            </a:pPr>
            <a:r>
              <a:rPr sz="2100" b="1">
                <a:solidFill>
                  <a:srgbClr val="F59E0B"/>
                </a:solidFill>
                <a:latin typeface="Helvetica Neue"/>
                <a:ea typeface="Helvetica Neue"/>
                <a:cs typeface="Helvetica Neue"/>
              </a:rPr>
              <a:t>02</a:t>
            </a:r>
          </a:p>
        </p:txBody>
      </p:sp>
      <p:sp>
        <p:nvSpPr>
          <p:cNvPr id="13" name="part-rule-11-1">
            <a:extLst xmlns:a="http://schemas.openxmlformats.org/drawingml/2006/main">
              <a:ext uri="{FF2B5EF4-FFF2-40B4-BE49-F238E27FC236}">
                <a16:creationId xmlns:a16="http://schemas.microsoft.com/office/drawing/2014/main" id="{224258CC-A0BC-450C-87D3-546AEB3E315A}"/>
              </a:ext>
            </a:extLst>
          </p:cNvPr>
          <p:cNvSpPr>
            <a:spLocks xmlns:a="http://schemas.openxmlformats.org/drawingml/2006/main" noGrp="1"/>
          </p:cNvSpPr>
          <p:nvPr/>
        </p:nvSpPr>
        <p:spPr>
          <a:xfrm xmlns:a="http://schemas.openxmlformats.org/drawingml/2006/main">
            <a:off x="3314700" y="2381250"/>
            <a:ext cx="2362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14" name="part-title-11-1">
            <a:extLst xmlns:a="http://schemas.openxmlformats.org/drawingml/2006/main">
              <a:ext uri="{FF2B5EF4-FFF2-40B4-BE49-F238E27FC236}">
                <a16:creationId xmlns:a16="http://schemas.microsoft.com/office/drawing/2014/main" id="{E21610F5-4741-4E70-BB39-8158CCBFE6C7}"/>
              </a:ext>
            </a:extLst>
          </p:cNvPr>
          <p:cNvSpPr>
            <a:spLocks xmlns:a="http://schemas.openxmlformats.org/drawingml/2006/main" noGrp="1"/>
          </p:cNvSpPr>
          <p:nvPr/>
        </p:nvSpPr>
        <p:spPr>
          <a:xfrm xmlns:a="http://schemas.openxmlformats.org/drawingml/2006/main">
            <a:off x="3314700" y="2667000"/>
            <a:ext cx="2362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C1715"/>
                </a:solidFill>
                <a:latin typeface="Helvetica Neue"/>
                <a:ea typeface="Helvetica Neue"/>
                <a:cs typeface="Helvetica Neue"/>
              </a:defRPr>
            </a:pPr>
            <a:r>
              <a:rPr sz="1650" b="1">
                <a:solidFill>
                  <a:srgbClr val="0C1715"/>
                </a:solidFill>
                <a:latin typeface="Helvetica Neue"/>
                <a:ea typeface="Helvetica Neue"/>
                <a:cs typeface="Helvetica Neue"/>
              </a:rPr>
              <a:t>Discover</a:t>
            </a:r>
          </a:p>
        </p:txBody>
      </p:sp>
      <p:sp>
        <p:nvSpPr>
          <p:cNvPr id="15" name="part-body-11-1">
            <a:extLst xmlns:a="http://schemas.openxmlformats.org/drawingml/2006/main">
              <a:ext uri="{FF2B5EF4-FFF2-40B4-BE49-F238E27FC236}">
                <a16:creationId xmlns:a16="http://schemas.microsoft.com/office/drawing/2014/main" id="{1756BEEB-745B-4089-82E9-8FA45182423D}"/>
              </a:ext>
            </a:extLst>
          </p:cNvPr>
          <p:cNvSpPr>
            <a:spLocks xmlns:a="http://schemas.openxmlformats.org/drawingml/2006/main" noGrp="1"/>
          </p:cNvSpPr>
          <p:nvPr/>
        </p:nvSpPr>
        <p:spPr>
          <a:xfrm xmlns:a="http://schemas.openxmlformats.org/drawingml/2006/main">
            <a:off x="3314700" y="3143250"/>
            <a:ext cx="23622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60716D"/>
                </a:solidFill>
                <a:latin typeface="Helvetica Neue"/>
                <a:ea typeface="Helvetica Neue"/>
                <a:cs typeface="Helvetica Neue"/>
              </a:defRPr>
            </a:pPr>
            <a:r>
              <a:rPr sz="1350" b="0">
                <a:solidFill>
                  <a:srgbClr val="60716D"/>
                </a:solidFill>
                <a:latin typeface="Helvetica Neue"/>
                <a:ea typeface="Helvetica Neue"/>
                <a:cs typeface="Helvetica Neue"/>
              </a:rPr>
              <a:t>The worker lists buckets, IAM users, security groups, VPCs, trails, detectors, and flow-log coverage.</a:t>
            </a:r>
          </a:p>
        </p:txBody>
      </p:sp>
      <p:sp>
        <p:nvSpPr>
          <p:cNvPr id="16" name="part-num-11-2">
            <a:extLst xmlns:a="http://schemas.openxmlformats.org/drawingml/2006/main">
              <a:ext uri="{FF2B5EF4-FFF2-40B4-BE49-F238E27FC236}">
                <a16:creationId xmlns:a16="http://schemas.microsoft.com/office/drawing/2014/main" id="{81D1122B-4A0A-4427-B98D-2B5A9F1FB3DC}"/>
              </a:ext>
            </a:extLst>
          </p:cNvPr>
          <p:cNvSpPr>
            <a:spLocks xmlns:a="http://schemas.openxmlformats.org/drawingml/2006/main" noGrp="1"/>
          </p:cNvSpPr>
          <p:nvPr/>
        </p:nvSpPr>
        <p:spPr>
          <a:xfrm xmlns:a="http://schemas.openxmlformats.org/drawingml/2006/main">
            <a:off x="6096000" y="1809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F59E0B"/>
                </a:solidFill>
                <a:latin typeface="Helvetica Neue"/>
                <a:ea typeface="Helvetica Neue"/>
                <a:cs typeface="Helvetica Neue"/>
              </a:defRPr>
            </a:pPr>
            <a:r>
              <a:rPr sz="2100" b="1">
                <a:solidFill>
                  <a:srgbClr val="F59E0B"/>
                </a:solidFill>
                <a:latin typeface="Helvetica Neue"/>
                <a:ea typeface="Helvetica Neue"/>
                <a:cs typeface="Helvetica Neue"/>
              </a:rPr>
              <a:t>03</a:t>
            </a:r>
          </a:p>
        </p:txBody>
      </p:sp>
      <p:sp>
        <p:nvSpPr>
          <p:cNvPr id="17" name="part-rule-11-2">
            <a:extLst xmlns:a="http://schemas.openxmlformats.org/drawingml/2006/main">
              <a:ext uri="{FF2B5EF4-FFF2-40B4-BE49-F238E27FC236}">
                <a16:creationId xmlns:a16="http://schemas.microsoft.com/office/drawing/2014/main" id="{B769DE05-9777-40BA-A063-B1799B281BE6}"/>
              </a:ext>
            </a:extLst>
          </p:cNvPr>
          <p:cNvSpPr>
            <a:spLocks xmlns:a="http://schemas.openxmlformats.org/drawingml/2006/main" noGrp="1"/>
          </p:cNvSpPr>
          <p:nvPr/>
        </p:nvSpPr>
        <p:spPr>
          <a:xfrm xmlns:a="http://schemas.openxmlformats.org/drawingml/2006/main">
            <a:off x="6096000" y="2381250"/>
            <a:ext cx="2362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18" name="part-title-11-2">
            <a:extLst xmlns:a="http://schemas.openxmlformats.org/drawingml/2006/main">
              <a:ext uri="{FF2B5EF4-FFF2-40B4-BE49-F238E27FC236}">
                <a16:creationId xmlns:a16="http://schemas.microsoft.com/office/drawing/2014/main" id="{36FD68EF-5638-4607-879B-AD7039BF0DA6}"/>
              </a:ext>
            </a:extLst>
          </p:cNvPr>
          <p:cNvSpPr>
            <a:spLocks xmlns:a="http://schemas.openxmlformats.org/drawingml/2006/main" noGrp="1"/>
          </p:cNvSpPr>
          <p:nvPr/>
        </p:nvSpPr>
        <p:spPr>
          <a:xfrm xmlns:a="http://schemas.openxmlformats.org/drawingml/2006/main">
            <a:off x="6096000" y="2667000"/>
            <a:ext cx="2362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C1715"/>
                </a:solidFill>
                <a:latin typeface="Helvetica Neue"/>
                <a:ea typeface="Helvetica Neue"/>
                <a:cs typeface="Helvetica Neue"/>
              </a:defRPr>
            </a:pPr>
            <a:r>
              <a:rPr sz="1650" b="1">
                <a:solidFill>
                  <a:srgbClr val="0C1715"/>
                </a:solidFill>
                <a:latin typeface="Helvetica Neue"/>
                <a:ea typeface="Helvetica Neue"/>
                <a:cs typeface="Helvetica Neue"/>
              </a:rPr>
              <a:t>Evaluate</a:t>
            </a:r>
          </a:p>
        </p:txBody>
      </p:sp>
      <p:sp>
        <p:nvSpPr>
          <p:cNvPr id="19" name="part-body-11-2">
            <a:extLst xmlns:a="http://schemas.openxmlformats.org/drawingml/2006/main">
              <a:ext uri="{FF2B5EF4-FFF2-40B4-BE49-F238E27FC236}">
                <a16:creationId xmlns:a16="http://schemas.microsoft.com/office/drawing/2014/main" id="{A1912643-686F-4989-B87C-D4942EB45DFF}"/>
              </a:ext>
            </a:extLst>
          </p:cNvPr>
          <p:cNvSpPr>
            <a:spLocks xmlns:a="http://schemas.openxmlformats.org/drawingml/2006/main" noGrp="1"/>
          </p:cNvSpPr>
          <p:nvPr/>
        </p:nvSpPr>
        <p:spPr>
          <a:xfrm xmlns:a="http://schemas.openxmlformats.org/drawingml/2006/main">
            <a:off x="6096000" y="3143250"/>
            <a:ext cx="23622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60716D"/>
                </a:solidFill>
                <a:latin typeface="Helvetica Neue"/>
                <a:ea typeface="Helvetica Neue"/>
                <a:cs typeface="Helvetica Neue"/>
              </a:defRPr>
            </a:pPr>
            <a:r>
              <a:rPr sz="1350" b="0">
                <a:solidFill>
                  <a:srgbClr val="60716D"/>
                </a:solidFill>
                <a:latin typeface="Helvetica Neue"/>
                <a:ea typeface="Helvetica Neue"/>
                <a:cs typeface="Helvetica Neue"/>
              </a:rPr>
              <a:t>Each resource receives focused checks such as public access, wildcard permissions, or internet-facing ports.</a:t>
            </a:r>
          </a:p>
        </p:txBody>
      </p:sp>
      <p:sp>
        <p:nvSpPr>
          <p:cNvPr id="20" name="part-num-11-3">
            <a:extLst xmlns:a="http://schemas.openxmlformats.org/drawingml/2006/main">
              <a:ext uri="{FF2B5EF4-FFF2-40B4-BE49-F238E27FC236}">
                <a16:creationId xmlns:a16="http://schemas.microsoft.com/office/drawing/2014/main" id="{2788C995-68C5-46B6-8080-1DA7B6C3C4FB}"/>
              </a:ext>
            </a:extLst>
          </p:cNvPr>
          <p:cNvSpPr>
            <a:spLocks xmlns:a="http://schemas.openxmlformats.org/drawingml/2006/main" noGrp="1"/>
          </p:cNvSpPr>
          <p:nvPr/>
        </p:nvSpPr>
        <p:spPr>
          <a:xfrm xmlns:a="http://schemas.openxmlformats.org/drawingml/2006/main">
            <a:off x="8877300" y="1809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F59E0B"/>
                </a:solidFill>
                <a:latin typeface="Helvetica Neue"/>
                <a:ea typeface="Helvetica Neue"/>
                <a:cs typeface="Helvetica Neue"/>
              </a:defRPr>
            </a:pPr>
            <a:r>
              <a:rPr sz="2100" b="1">
                <a:solidFill>
                  <a:srgbClr val="F59E0B"/>
                </a:solidFill>
                <a:latin typeface="Helvetica Neue"/>
                <a:ea typeface="Helvetica Neue"/>
                <a:cs typeface="Helvetica Neue"/>
              </a:rPr>
              <a:t>04</a:t>
            </a:r>
          </a:p>
        </p:txBody>
      </p:sp>
      <p:sp>
        <p:nvSpPr>
          <p:cNvPr id="21" name="part-rule-11-3">
            <a:extLst xmlns:a="http://schemas.openxmlformats.org/drawingml/2006/main">
              <a:ext uri="{FF2B5EF4-FFF2-40B4-BE49-F238E27FC236}">
                <a16:creationId xmlns:a16="http://schemas.microsoft.com/office/drawing/2014/main" id="{18A69D1D-4F92-47C8-AD8A-9AB42D5A27EA}"/>
              </a:ext>
            </a:extLst>
          </p:cNvPr>
          <p:cNvSpPr>
            <a:spLocks xmlns:a="http://schemas.openxmlformats.org/drawingml/2006/main" noGrp="1"/>
          </p:cNvSpPr>
          <p:nvPr/>
        </p:nvSpPr>
        <p:spPr>
          <a:xfrm xmlns:a="http://schemas.openxmlformats.org/drawingml/2006/main">
            <a:off x="8877300" y="2381250"/>
            <a:ext cx="2362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22" name="part-title-11-3">
            <a:extLst xmlns:a="http://schemas.openxmlformats.org/drawingml/2006/main">
              <a:ext uri="{FF2B5EF4-FFF2-40B4-BE49-F238E27FC236}">
                <a16:creationId xmlns:a16="http://schemas.microsoft.com/office/drawing/2014/main" id="{B292E788-7CF4-4056-849A-7C9B1465241E}"/>
              </a:ext>
            </a:extLst>
          </p:cNvPr>
          <p:cNvSpPr>
            <a:spLocks xmlns:a="http://schemas.openxmlformats.org/drawingml/2006/main" noGrp="1"/>
          </p:cNvSpPr>
          <p:nvPr/>
        </p:nvSpPr>
        <p:spPr>
          <a:xfrm xmlns:a="http://schemas.openxmlformats.org/drawingml/2006/main">
            <a:off x="8877300" y="2667000"/>
            <a:ext cx="2362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C1715"/>
                </a:solidFill>
                <a:latin typeface="Helvetica Neue"/>
                <a:ea typeface="Helvetica Neue"/>
                <a:cs typeface="Helvetica Neue"/>
              </a:defRPr>
            </a:pPr>
            <a:r>
              <a:rPr sz="1650" b="1">
                <a:solidFill>
                  <a:srgbClr val="0C1715"/>
                </a:solidFill>
                <a:latin typeface="Helvetica Neue"/>
                <a:ea typeface="Helvetica Neue"/>
                <a:cs typeface="Helvetica Neue"/>
              </a:rPr>
              <a:t>Summarize</a:t>
            </a:r>
          </a:p>
        </p:txBody>
      </p:sp>
      <p:sp>
        <p:nvSpPr>
          <p:cNvPr id="23" name="part-body-11-3">
            <a:extLst xmlns:a="http://schemas.openxmlformats.org/drawingml/2006/main">
              <a:ext uri="{FF2B5EF4-FFF2-40B4-BE49-F238E27FC236}">
                <a16:creationId xmlns:a16="http://schemas.microsoft.com/office/drawing/2014/main" id="{7374A1A9-2A1C-4F8E-9200-9654CC794BBD}"/>
              </a:ext>
            </a:extLst>
          </p:cNvPr>
          <p:cNvSpPr>
            <a:spLocks xmlns:a="http://schemas.openxmlformats.org/drawingml/2006/main" noGrp="1"/>
          </p:cNvSpPr>
          <p:nvPr/>
        </p:nvSpPr>
        <p:spPr>
          <a:xfrm xmlns:a="http://schemas.openxmlformats.org/drawingml/2006/main">
            <a:off x="8877300" y="3143250"/>
            <a:ext cx="23622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60716D"/>
                </a:solidFill>
                <a:latin typeface="Helvetica Neue"/>
                <a:ea typeface="Helvetica Neue"/>
                <a:cs typeface="Helvetica Neue"/>
              </a:defRPr>
            </a:pPr>
            <a:r>
              <a:rPr sz="1350" b="0">
                <a:solidFill>
                  <a:srgbClr val="60716D"/>
                </a:solidFill>
                <a:latin typeface="Helvetica Neue"/>
                <a:ea typeface="Helvetica Neue"/>
                <a:cs typeface="Helvetica Neue"/>
              </a:rPr>
              <a:t>The scan returns resources, findings, errors, and counts by severity. CloudFox can add an optional offensive pass.</a:t>
            </a:r>
          </a:p>
        </p:txBody>
      </p:sp>
    </p:spTree>
    <p:extLst>
      <p:ext uri="{BB962C8B-B14F-4D97-AF65-F5344CB8AC3E}">
        <p14:creationId xmlns:p14="http://schemas.microsoft.com/office/powerpoint/2010/main" val="76459680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ection-10">
            <a:extLst xmlns:a="http://schemas.openxmlformats.org/drawingml/2006/main">
              <a:ext uri="{FF2B5EF4-FFF2-40B4-BE49-F238E27FC236}">
                <a16:creationId xmlns:a16="http://schemas.microsoft.com/office/drawing/2014/main" id="{45768E69-240A-4499-85D7-3EFA94219A9C}"/>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2</a:t>
            </a:r>
          </a:p>
        </p:txBody>
      </p:sp>
      <p:sp>
        <p:nvSpPr>
          <p:cNvPr id="2" name="title-10">
            <a:extLst xmlns:a="http://schemas.openxmlformats.org/drawingml/2006/main">
              <a:ext uri="{FF2B5EF4-FFF2-40B4-BE49-F238E27FC236}">
                <a16:creationId xmlns:a16="http://schemas.microsoft.com/office/drawing/2014/main" id="{4A740EB9-DF8F-40BE-B384-215A4500EEAC}"/>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AWS vulnerabilities and associated risks</a:t>
            </a:r>
          </a:p>
        </p:txBody>
      </p:sp>
      <p:sp>
        <p:nvSpPr>
          <p:cNvPr id="3" name="title-rule-10">
            <a:extLst xmlns:a="http://schemas.openxmlformats.org/drawingml/2006/main">
              <a:ext uri="{FF2B5EF4-FFF2-40B4-BE49-F238E27FC236}">
                <a16:creationId xmlns:a16="http://schemas.microsoft.com/office/drawing/2014/main" id="{01AC0278-44C4-46EC-B976-EE25BE355DB2}"/>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85b717773b3e4535"/>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10">
            <a:extLst xmlns:a="http://schemas.openxmlformats.org/drawingml/2006/main">
              <a:ext uri="{FF2B5EF4-FFF2-40B4-BE49-F238E27FC236}">
                <a16:creationId xmlns:a16="http://schemas.microsoft.com/office/drawing/2014/main" id="{4A6A7C16-5A1E-4556-9524-E8B255991479}"/>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10">
            <a:extLst xmlns:a="http://schemas.openxmlformats.org/drawingml/2006/main">
              <a:ext uri="{FF2B5EF4-FFF2-40B4-BE49-F238E27FC236}">
                <a16:creationId xmlns:a16="http://schemas.microsoft.com/office/drawing/2014/main" id="{9B8F9CED-DA12-4C38-8A5F-FBDAB73329B0}"/>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10">
            <a:extLst xmlns:a="http://schemas.openxmlformats.org/drawingml/2006/main">
              <a:ext uri="{FF2B5EF4-FFF2-40B4-BE49-F238E27FC236}">
                <a16:creationId xmlns:a16="http://schemas.microsoft.com/office/drawing/2014/main" id="{B5E0716A-4858-435A-A794-92DB08FBB220}"/>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10</a:t>
            </a:r>
          </a:p>
        </p:txBody>
      </p:sp>
      <p:graphicFrame>
        <p:nvGraphicFramePr>
          <p:cNvPr id="16" name=""/>
          <p:cNvGraphicFramePr/>
          <p:nvPr/>
        </p:nvGraphicFramePr>
        <p:xfrm>
          <a:off xmlns:a="http://schemas.openxmlformats.org/drawingml/2006/main" x="533400" y="1752600"/>
          <a:ext xmlns:a="http://schemas.openxmlformats.org/drawingml/2006/main" cx="11125200" cy="4095750"/>
        </p:xfrm>
        <a:graphic xmlns:a="http://schemas.openxmlformats.org/drawingml/2006/main">
          <a:graphicData uri="http://schemas.openxmlformats.org/drawingml/2006/table">
            <a:tbl>
              <a:tblPr/>
              <a:tblGrid>
                <a:gridCol w="2095500"/>
                <a:gridCol w="3333750"/>
                <a:gridCol w="4000500"/>
                <a:gridCol w="1695450"/>
              </a:tblGrid>
              <a:tr h="819150">
                <a:tc>
                  <a:txBody>
                    <a:bodyPr/>
                    <a:lstStyle/>
                    <a:p>
                      <a:r>
                        <a:rPr sz="1125" b="1">
                          <a:solidFill>
                            <a:srgbClr val="FFFFFF"/>
                          </a:solidFill>
                          <a:latin typeface="Helvetica Neue"/>
                          <a:ea typeface="Helvetica Neue"/>
                          <a:cs typeface="Helvetica Neue"/>
                        </a:rPr>
                        <a:t>Vulnerability type</a:t>
                      </a:r>
                    </a:p>
                  </a:txBody>
                  <a:tcPr marL="91440" marR="91440" marT="45720" marB="45720">
                    <a:solidFill>
                      <a:srgbClr val="F59E0B"/>
                    </a:solidFill>
                  </a:tcPr>
                </a:tc>
                <a:tc>
                  <a:txBody>
                    <a:bodyPr/>
                    <a:lstStyle/>
                    <a:p>
                      <a:r>
                        <a:rPr sz="1125" b="1">
                          <a:solidFill>
                            <a:srgbClr val="FFFFFF"/>
                          </a:solidFill>
                          <a:latin typeface="Helvetica Neue"/>
                          <a:ea typeface="Helvetica Neue"/>
                          <a:cs typeface="Helvetica Neue"/>
                        </a:rPr>
                        <a:t>Evidence the scanner reads</a:t>
                      </a:r>
                    </a:p>
                  </a:txBody>
                  <a:tcPr marL="91440" marR="91440" marT="45720" marB="45720">
                    <a:solidFill>
                      <a:srgbClr val="F59E0B"/>
                    </a:solidFill>
                  </a:tcPr>
                </a:tc>
                <a:tc>
                  <a:txBody>
                    <a:bodyPr/>
                    <a:lstStyle/>
                    <a:p>
                      <a:r>
                        <a:rPr sz="1125" b="1">
                          <a:solidFill>
                            <a:srgbClr val="FFFFFF"/>
                          </a:solidFill>
                          <a:latin typeface="Helvetica Neue"/>
                          <a:ea typeface="Helvetica Neue"/>
                          <a:cs typeface="Helvetica Neue"/>
                        </a:rPr>
                        <a:t>Associated risk</a:t>
                      </a:r>
                    </a:p>
                  </a:txBody>
                  <a:tcPr marL="91440" marR="91440" marT="45720" marB="45720">
                    <a:solidFill>
                      <a:srgbClr val="F59E0B"/>
                    </a:solidFill>
                  </a:tcPr>
                </a:tc>
                <a:tc>
                  <a:txBody>
                    <a:bodyPr/>
                    <a:lstStyle/>
                    <a:p>
                      <a:r>
                        <a:rPr sz="1125" b="1">
                          <a:solidFill>
                            <a:srgbClr val="FFFFFF"/>
                          </a:solidFill>
                          <a:latin typeface="Helvetica Neue"/>
                          <a:ea typeface="Helvetica Neue"/>
                          <a:cs typeface="Helvetica Neue"/>
                        </a:rPr>
                        <a:t>Typical severity</a:t>
                      </a:r>
                    </a:p>
                  </a:txBody>
                  <a:tcPr marL="91440" marR="91440" marT="45720" marB="45720">
                    <a:solidFill>
                      <a:srgbClr val="F59E0B"/>
                    </a:solidFill>
                  </a:tcPr>
                </a:tc>
              </a:tr>
              <a:tr h="819150">
                <a:tc>
                  <a:txBody>
                    <a:bodyPr/>
                    <a:lstStyle/>
                    <a:p>
                      <a:r>
                        <a:rPr sz="1050" b="1">
                          <a:solidFill>
                            <a:srgbClr val="0C1715"/>
                          </a:solidFill>
                          <a:latin typeface="Helvetica Neue"/>
                          <a:ea typeface="Helvetica Neue"/>
                          <a:cs typeface="Helvetica Neue"/>
                        </a:rPr>
                        <a:t>Public object storage</a:t>
                      </a:r>
                    </a:p>
                  </a:txBody>
                  <a:tcPr marL="91440" marR="91440" marT="45720" marB="45720">
                    <a:solidFill>
                      <a:srgbClr val="F2F7F5"/>
                    </a:solidFill>
                  </a:tcPr>
                </a:tc>
                <a:tc>
                  <a:txBody>
                    <a:bodyPr/>
                    <a:lstStyle/>
                    <a:p>
                      <a:r>
                        <a:rPr sz="1050" b="0">
                          <a:solidFill>
                            <a:srgbClr val="0C1715"/>
                          </a:solidFill>
                          <a:latin typeface="Helvetica Neue"/>
                          <a:ea typeface="Helvetica Neue"/>
                          <a:cs typeface="Helvetica Neue"/>
                        </a:rPr>
                        <a:t>An S3 ACL grants AllUsers access or public protections are incomplete</a:t>
                      </a:r>
                    </a:p>
                  </a:txBody>
                  <a:tcPr marL="91440" marR="91440" marT="45720" marB="45720">
                    <a:solidFill>
                      <a:srgbClr val="F2F7F5"/>
                    </a:solidFill>
                  </a:tcPr>
                </a:tc>
                <a:tc>
                  <a:txBody>
                    <a:bodyPr/>
                    <a:lstStyle/>
                    <a:p>
                      <a:r>
                        <a:rPr sz="1050" b="0">
                          <a:solidFill>
                            <a:srgbClr val="0C1715"/>
                          </a:solidFill>
                          <a:latin typeface="Helvetica Neue"/>
                          <a:ea typeface="Helvetica Neue"/>
                          <a:cs typeface="Helvetica Neue"/>
                        </a:rPr>
                        <a:t>Unauthorized users may read exposed data, causing confidentiality and regulatory impact</a:t>
                      </a:r>
                    </a:p>
                  </a:txBody>
                  <a:tcPr marL="91440" marR="91440" marT="45720" marB="45720">
                    <a:solidFill>
                      <a:srgbClr val="F2F7F5"/>
                    </a:solidFill>
                  </a:tcPr>
                </a:tc>
                <a:tc>
                  <a:txBody>
                    <a:bodyPr/>
                    <a:lstStyle/>
                    <a:p>
                      <a:r>
                        <a:rPr sz="1050" b="0">
                          <a:solidFill>
                            <a:srgbClr val="0C1715"/>
                          </a:solidFill>
                          <a:latin typeface="Helvetica Neue"/>
                          <a:ea typeface="Helvetica Neue"/>
                          <a:cs typeface="Helvetica Neue"/>
                        </a:rPr>
                        <a:t>High or Critical</a:t>
                      </a:r>
                    </a:p>
                  </a:txBody>
                  <a:tcPr marL="91440" marR="91440" marT="45720" marB="45720">
                    <a:solidFill>
                      <a:srgbClr val="F2F7F5"/>
                    </a:solidFill>
                  </a:tcPr>
                </a:tc>
              </a:tr>
              <a:tr h="819150">
                <a:tc>
                  <a:txBody>
                    <a:bodyPr/>
                    <a:lstStyle/>
                    <a:p>
                      <a:r>
                        <a:rPr sz="1050" b="1">
                          <a:solidFill>
                            <a:srgbClr val="0C1715"/>
                          </a:solidFill>
                          <a:latin typeface="Helvetica Neue"/>
                          <a:ea typeface="Helvetica Neue"/>
                          <a:cs typeface="Helvetica Neue"/>
                        </a:rPr>
                        <a:t>Excessive IAM permission</a:t>
                      </a:r>
                    </a:p>
                  </a:txBody>
                  <a:tcPr marL="91440" marR="91440" marT="45720" marB="45720">
                    <a:solidFill>
                      <a:srgbClr val="FFFFFF"/>
                    </a:solidFill>
                  </a:tcPr>
                </a:tc>
                <a:tc>
                  <a:txBody>
                    <a:bodyPr/>
                    <a:lstStyle/>
                    <a:p>
                      <a:r>
                        <a:rPr sz="1050" b="0">
                          <a:solidFill>
                            <a:srgbClr val="0C1715"/>
                          </a:solidFill>
                          <a:latin typeface="Helvetica Neue"/>
                          <a:ea typeface="Helvetica Neue"/>
                          <a:cs typeface="Helvetica Neue"/>
                        </a:rPr>
                        <a:t>A policy allows Action '*' on Resource '*'</a:t>
                      </a:r>
                    </a:p>
                  </a:txBody>
                  <a:tcPr marL="91440" marR="91440" marT="45720" marB="45720">
                    <a:solidFill>
                      <a:srgbClr val="FFFFFF"/>
                    </a:solidFill>
                  </a:tcPr>
                </a:tc>
                <a:tc>
                  <a:txBody>
                    <a:bodyPr/>
                    <a:lstStyle/>
                    <a:p>
                      <a:r>
                        <a:rPr sz="1050" b="0">
                          <a:solidFill>
                            <a:srgbClr val="0C1715"/>
                          </a:solidFill>
                          <a:latin typeface="Helvetica Neue"/>
                          <a:ea typeface="Helvetica Neue"/>
                          <a:cs typeface="Helvetica Neue"/>
                        </a:rPr>
                        <a:t>Stolen credentials may provide account-wide access and enable privilege abuse</a:t>
                      </a:r>
                    </a:p>
                  </a:txBody>
                  <a:tcPr marL="91440" marR="91440" marT="45720" marB="45720">
                    <a:solidFill>
                      <a:srgbClr val="FFFFFF"/>
                    </a:solidFill>
                  </a:tcPr>
                </a:tc>
                <a:tc>
                  <a:txBody>
                    <a:bodyPr/>
                    <a:lstStyle/>
                    <a:p>
                      <a:r>
                        <a:rPr sz="1050" b="0">
                          <a:solidFill>
                            <a:srgbClr val="0C1715"/>
                          </a:solidFill>
                          <a:latin typeface="Helvetica Neue"/>
                          <a:ea typeface="Helvetica Neue"/>
                          <a:cs typeface="Helvetica Neue"/>
                        </a:rPr>
                        <a:t>Critical</a:t>
                      </a:r>
                    </a:p>
                  </a:txBody>
                  <a:tcPr marL="91440" marR="91440" marT="45720" marB="45720">
                    <a:solidFill>
                      <a:srgbClr val="FFFFFF"/>
                    </a:solidFill>
                  </a:tcPr>
                </a:tc>
              </a:tr>
              <a:tr h="819150">
                <a:tc>
                  <a:txBody>
                    <a:bodyPr/>
                    <a:lstStyle/>
                    <a:p>
                      <a:r>
                        <a:rPr sz="1050" b="1">
                          <a:solidFill>
                            <a:srgbClr val="0C1715"/>
                          </a:solidFill>
                          <a:latin typeface="Helvetica Neue"/>
                          <a:ea typeface="Helvetica Neue"/>
                          <a:cs typeface="Helvetica Neue"/>
                        </a:rPr>
                        <a:t>Exposed administration service</a:t>
                      </a:r>
                    </a:p>
                  </a:txBody>
                  <a:tcPr marL="91440" marR="91440" marT="45720" marB="45720">
                    <a:solidFill>
                      <a:srgbClr val="F2F7F5"/>
                    </a:solidFill>
                  </a:tcPr>
                </a:tc>
                <a:tc>
                  <a:txBody>
                    <a:bodyPr/>
                    <a:lstStyle/>
                    <a:p>
                      <a:r>
                        <a:rPr sz="1050" b="0">
                          <a:solidFill>
                            <a:srgbClr val="0C1715"/>
                          </a:solidFill>
                          <a:latin typeface="Helvetica Neue"/>
                          <a:ea typeface="Helvetica Neue"/>
                          <a:cs typeface="Helvetica Neue"/>
                        </a:rPr>
                        <a:t>SSH or RDP accepts traffic from 0.0.0.0/0 or ::/0</a:t>
                      </a:r>
                    </a:p>
                  </a:txBody>
                  <a:tcPr marL="91440" marR="91440" marT="45720" marB="45720">
                    <a:solidFill>
                      <a:srgbClr val="F2F7F5"/>
                    </a:solidFill>
                  </a:tcPr>
                </a:tc>
                <a:tc>
                  <a:txBody>
                    <a:bodyPr/>
                    <a:lstStyle/>
                    <a:p>
                      <a:r>
                        <a:rPr sz="1050" b="0">
                          <a:solidFill>
                            <a:srgbClr val="0C1715"/>
                          </a:solidFill>
                          <a:latin typeface="Helvetica Neue"/>
                          <a:ea typeface="Helvetica Neue"/>
                          <a:cs typeface="Helvetica Neue"/>
                        </a:rPr>
                        <a:t>Attackers can probe or exploit a management service and gain remote system access</a:t>
                      </a:r>
                    </a:p>
                  </a:txBody>
                  <a:tcPr marL="91440" marR="91440" marT="45720" marB="45720">
                    <a:solidFill>
                      <a:srgbClr val="F2F7F5"/>
                    </a:solidFill>
                  </a:tcPr>
                </a:tc>
                <a:tc>
                  <a:txBody>
                    <a:bodyPr/>
                    <a:lstStyle/>
                    <a:p>
                      <a:r>
                        <a:rPr sz="1050" b="0">
                          <a:solidFill>
                            <a:srgbClr val="0C1715"/>
                          </a:solidFill>
                          <a:latin typeface="Helvetica Neue"/>
                          <a:ea typeface="Helvetica Neue"/>
                          <a:cs typeface="Helvetica Neue"/>
                        </a:rPr>
                        <a:t>High</a:t>
                      </a:r>
                    </a:p>
                  </a:txBody>
                  <a:tcPr marL="91440" marR="91440" marT="45720" marB="45720">
                    <a:solidFill>
                      <a:srgbClr val="F2F7F5"/>
                    </a:solidFill>
                  </a:tcPr>
                </a:tc>
              </a:tr>
              <a:tr h="819150">
                <a:tc>
                  <a:txBody>
                    <a:bodyPr/>
                    <a:lstStyle/>
                    <a:p>
                      <a:r>
                        <a:rPr sz="1050" b="1">
                          <a:solidFill>
                            <a:srgbClr val="0C1715"/>
                          </a:solidFill>
                          <a:latin typeface="Helvetica Neue"/>
                          <a:ea typeface="Helvetica Neue"/>
                          <a:cs typeface="Helvetica Neue"/>
                        </a:rPr>
                        <a:t>Missing security telemetry</a:t>
                      </a:r>
                    </a:p>
                  </a:txBody>
                  <a:tcPr marL="91440" marR="91440" marT="45720" marB="45720">
                    <a:solidFill>
                      <a:srgbClr val="FFFFFF"/>
                    </a:solidFill>
                  </a:tcPr>
                </a:tc>
                <a:tc>
                  <a:txBody>
                    <a:bodyPr/>
                    <a:lstStyle/>
                    <a:p>
                      <a:r>
                        <a:rPr sz="1050" b="0">
                          <a:solidFill>
                            <a:srgbClr val="0C1715"/>
                          </a:solidFill>
                          <a:latin typeface="Helvetica Neue"/>
                          <a:ea typeface="Helvetica Neue"/>
                          <a:cs typeface="Helvetica Neue"/>
                        </a:rPr>
                        <a:t>CloudTrail, GuardDuty, or VPC Flow Logs are inactive</a:t>
                      </a:r>
                    </a:p>
                  </a:txBody>
                  <a:tcPr marL="91440" marR="91440" marT="45720" marB="45720">
                    <a:solidFill>
                      <a:srgbClr val="FFFFFF"/>
                    </a:solidFill>
                  </a:tcPr>
                </a:tc>
                <a:tc>
                  <a:txBody>
                    <a:bodyPr/>
                    <a:lstStyle/>
                    <a:p>
                      <a:r>
                        <a:rPr sz="1050" b="0">
                          <a:solidFill>
                            <a:srgbClr val="0C1715"/>
                          </a:solidFill>
                          <a:latin typeface="Helvetica Neue"/>
                          <a:ea typeface="Helvetica Neue"/>
                          <a:cs typeface="Helvetica Neue"/>
                        </a:rPr>
                        <a:t>Malicious activity may remain undetected and incident investigation loses evidence</a:t>
                      </a:r>
                    </a:p>
                  </a:txBody>
                  <a:tcPr marL="91440" marR="91440" marT="45720" marB="45720">
                    <a:solidFill>
                      <a:srgbClr val="FFFFFF"/>
                    </a:solidFill>
                  </a:tcPr>
                </a:tc>
                <a:tc>
                  <a:txBody>
                    <a:bodyPr/>
                    <a:lstStyle/>
                    <a:p>
                      <a:r>
                        <a:rPr sz="1050" b="0">
                          <a:solidFill>
                            <a:srgbClr val="0C1715"/>
                          </a:solidFill>
                          <a:latin typeface="Helvetica Neue"/>
                          <a:ea typeface="Helvetica Neue"/>
                          <a:cs typeface="Helvetica Neue"/>
                        </a:rPr>
                        <a:t>Medium to Critical</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86938408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ection-11">
            <a:extLst xmlns:a="http://schemas.openxmlformats.org/drawingml/2006/main">
              <a:ext uri="{FF2B5EF4-FFF2-40B4-BE49-F238E27FC236}">
                <a16:creationId xmlns:a16="http://schemas.microsoft.com/office/drawing/2014/main" id="{00099A0F-6A4B-4509-8EA1-CC62CCA8D00F}"/>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2</a:t>
            </a:r>
          </a:p>
        </p:txBody>
      </p:sp>
      <p:sp>
        <p:nvSpPr>
          <p:cNvPr id="2" name="title-11">
            <a:extLst xmlns:a="http://schemas.openxmlformats.org/drawingml/2006/main">
              <a:ext uri="{FF2B5EF4-FFF2-40B4-BE49-F238E27FC236}">
                <a16:creationId xmlns:a16="http://schemas.microsoft.com/office/drawing/2014/main" id="{8EC0FB60-0629-4DAA-928B-2D8AC897939D}"/>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Lab 1: AWS scanner</a:t>
            </a:r>
          </a:p>
        </p:txBody>
      </p:sp>
      <p:sp>
        <p:nvSpPr>
          <p:cNvPr id="3" name="title-rule-11">
            <a:extLst xmlns:a="http://schemas.openxmlformats.org/drawingml/2006/main">
              <a:ext uri="{FF2B5EF4-FFF2-40B4-BE49-F238E27FC236}">
                <a16:creationId xmlns:a16="http://schemas.microsoft.com/office/drawing/2014/main" id="{9334E37B-E266-4E88-857A-DC03DBD4EE18}"/>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8a65bfa8379d456d"/>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11">
            <a:extLst xmlns:a="http://schemas.openxmlformats.org/drawingml/2006/main">
              <a:ext uri="{FF2B5EF4-FFF2-40B4-BE49-F238E27FC236}">
                <a16:creationId xmlns:a16="http://schemas.microsoft.com/office/drawing/2014/main" id="{B7884970-05D2-4119-B246-C274A0E251CC}"/>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11">
            <a:extLst xmlns:a="http://schemas.openxmlformats.org/drawingml/2006/main">
              <a:ext uri="{FF2B5EF4-FFF2-40B4-BE49-F238E27FC236}">
                <a16:creationId xmlns:a16="http://schemas.microsoft.com/office/drawing/2014/main" id="{7D59B107-A372-49AE-B1D2-A9A84CD71517}"/>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11">
            <a:extLst xmlns:a="http://schemas.openxmlformats.org/drawingml/2006/main">
              <a:ext uri="{FF2B5EF4-FFF2-40B4-BE49-F238E27FC236}">
                <a16:creationId xmlns:a16="http://schemas.microsoft.com/office/drawing/2014/main" id="{217B9780-B5CD-4013-960B-3317433F8BA6}"/>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11</a:t>
            </a:r>
          </a:p>
        </p:txBody>
      </p:sp>
      <p:sp>
        <p:nvSpPr>
          <p:cNvPr id="8" name="lab-band-14">
            <a:extLst xmlns:a="http://schemas.openxmlformats.org/drawingml/2006/main">
              <a:ext uri="{FF2B5EF4-FFF2-40B4-BE49-F238E27FC236}">
                <a16:creationId xmlns:a16="http://schemas.microsoft.com/office/drawing/2014/main" id="{4B2656F9-0AD4-49FA-9DE3-28154F86DF48}"/>
              </a:ext>
            </a:extLst>
          </p:cNvPr>
          <p:cNvSpPr>
            <a:spLocks xmlns:a="http://schemas.openxmlformats.org/drawingml/2006/main" noGrp="1"/>
          </p:cNvSpPr>
          <p:nvPr/>
        </p:nvSpPr>
        <p:spPr>
          <a:xfrm xmlns:a="http://schemas.openxmlformats.org/drawingml/2006/main">
            <a:off x="533400" y="1752600"/>
            <a:ext cx="2381250" cy="4095750"/>
          </a:xfrm>
          <a:prstGeom xmlns:a="http://schemas.openxmlformats.org/drawingml/2006/main" prst="rect">
            <a:avLst/>
          </a:prstGeom>
          <a:solidFill xmlns:a="http://schemas.openxmlformats.org/drawingml/2006/main">
            <a:srgbClr val="F59E0B"/>
          </a:solidFill>
          <a:ln xmlns:a="http://schemas.openxmlformats.org/drawingml/2006/main" w="0">
            <a:solidFill>
              <a:srgbClr val="F59E0B"/>
            </a:solidFill>
            <a:prstDash val="solid"/>
          </a:ln>
        </p:spPr>
      </p:sp>
      <p:sp>
        <p:nvSpPr>
          <p:cNvPr id="9" name="lab-number-14">
            <a:extLst xmlns:a="http://schemas.openxmlformats.org/drawingml/2006/main">
              <a:ext uri="{FF2B5EF4-FFF2-40B4-BE49-F238E27FC236}">
                <a16:creationId xmlns:a16="http://schemas.microsoft.com/office/drawing/2014/main" id="{1743EC21-094F-4725-8B50-C84E8D22B851}"/>
              </a:ext>
            </a:extLst>
          </p:cNvPr>
          <p:cNvSpPr>
            <a:spLocks xmlns:a="http://schemas.openxmlformats.org/drawingml/2006/main" noGrp="1"/>
          </p:cNvSpPr>
          <p:nvPr/>
        </p:nvSpPr>
        <p:spPr>
          <a:xfrm xmlns:a="http://schemas.openxmlformats.org/drawingml/2006/main">
            <a:off x="781050" y="20383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LAB 1</a:t>
            </a:r>
          </a:p>
        </p:txBody>
      </p:sp>
      <p:sp>
        <p:nvSpPr>
          <p:cNvPr id="10" name="lab-provider-14">
            <a:extLst xmlns:a="http://schemas.openxmlformats.org/drawingml/2006/main">
              <a:ext uri="{FF2B5EF4-FFF2-40B4-BE49-F238E27FC236}">
                <a16:creationId xmlns:a16="http://schemas.microsoft.com/office/drawing/2014/main" id="{715F89F7-D236-4693-A52F-0BFEF164B63B}"/>
              </a:ext>
            </a:extLst>
          </p:cNvPr>
          <p:cNvSpPr>
            <a:spLocks xmlns:a="http://schemas.openxmlformats.org/drawingml/2006/main" noGrp="1"/>
          </p:cNvSpPr>
          <p:nvPr/>
        </p:nvSpPr>
        <p:spPr>
          <a:xfrm xmlns:a="http://schemas.openxmlformats.org/drawingml/2006/main">
            <a:off x="781050" y="2609850"/>
            <a:ext cx="180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550" b="1">
                <a:solidFill>
                  <a:srgbClr val="FFFFFF"/>
                </a:solidFill>
                <a:latin typeface="Helvetica Neue"/>
                <a:ea typeface="Helvetica Neue"/>
                <a:cs typeface="Helvetica Neue"/>
              </a:defRPr>
            </a:pPr>
            <a:r>
              <a:rPr sz="2550" b="1">
                <a:solidFill>
                  <a:srgbClr val="FFFFFF"/>
                </a:solidFill>
                <a:latin typeface="Helvetica Neue"/>
                <a:ea typeface="Helvetica Neue"/>
                <a:cs typeface="Helvetica Neue"/>
              </a:rPr>
              <a:t>AWS</a:t>
            </a:r>
          </a:p>
        </p:txBody>
      </p:sp>
      <p:sp>
        <p:nvSpPr>
          <p:cNvPr id="11" name="lab-time-label-14">
            <a:extLst xmlns:a="http://schemas.openxmlformats.org/drawingml/2006/main">
              <a:ext uri="{FF2B5EF4-FFF2-40B4-BE49-F238E27FC236}">
                <a16:creationId xmlns:a16="http://schemas.microsoft.com/office/drawing/2014/main" id="{7887F81A-76ED-4A78-85B9-F199F8B41B98}"/>
              </a:ext>
            </a:extLst>
          </p:cNvPr>
          <p:cNvSpPr>
            <a:spLocks xmlns:a="http://schemas.openxmlformats.org/drawingml/2006/main" noGrp="1"/>
          </p:cNvSpPr>
          <p:nvPr/>
        </p:nvSpPr>
        <p:spPr>
          <a:xfrm xmlns:a="http://schemas.openxmlformats.org/drawingml/2006/main">
            <a:off x="781050" y="447675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Exercise time</a:t>
            </a:r>
          </a:p>
        </p:txBody>
      </p:sp>
      <p:sp>
        <p:nvSpPr>
          <p:cNvPr id="12" name="lab-time-14">
            <a:extLst xmlns:a="http://schemas.openxmlformats.org/drawingml/2006/main">
              <a:ext uri="{FF2B5EF4-FFF2-40B4-BE49-F238E27FC236}">
                <a16:creationId xmlns:a16="http://schemas.microsoft.com/office/drawing/2014/main" id="{AA6C1A63-7B33-4AC6-826D-652D104D494F}"/>
              </a:ext>
            </a:extLst>
          </p:cNvPr>
          <p:cNvSpPr>
            <a:spLocks xmlns:a="http://schemas.openxmlformats.org/drawingml/2006/main" noGrp="1"/>
          </p:cNvSpPr>
          <p:nvPr/>
        </p:nvSpPr>
        <p:spPr>
          <a:xfrm xmlns:a="http://schemas.openxmlformats.org/drawingml/2006/main">
            <a:off x="781050" y="4857750"/>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7 minutes</a:t>
            </a:r>
          </a:p>
        </p:txBody>
      </p:sp>
      <p:sp>
        <p:nvSpPr>
          <p:cNvPr id="13" name="lab-goal-label-14">
            <a:extLst xmlns:a="http://schemas.openxmlformats.org/drawingml/2006/main">
              <a:ext uri="{FF2B5EF4-FFF2-40B4-BE49-F238E27FC236}">
                <a16:creationId xmlns:a16="http://schemas.microsoft.com/office/drawing/2014/main" id="{B747A5BB-293F-452F-8C5A-194DD443BD64}"/>
              </a:ext>
            </a:extLst>
          </p:cNvPr>
          <p:cNvSpPr>
            <a:spLocks xmlns:a="http://schemas.openxmlformats.org/drawingml/2006/main" noGrp="1"/>
          </p:cNvSpPr>
          <p:nvPr/>
        </p:nvSpPr>
        <p:spPr>
          <a:xfrm xmlns:a="http://schemas.openxmlformats.org/drawingml/2006/main">
            <a:off x="3333750" y="18478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F59E0B"/>
                </a:solidFill>
                <a:latin typeface="Helvetica Neue"/>
                <a:ea typeface="Helvetica Neue"/>
                <a:cs typeface="Helvetica Neue"/>
              </a:defRPr>
            </a:pPr>
            <a:r>
              <a:rPr sz="1275" b="1">
                <a:solidFill>
                  <a:srgbClr val="F59E0B"/>
                </a:solidFill>
                <a:latin typeface="Helvetica Neue"/>
                <a:ea typeface="Helvetica Neue"/>
                <a:cs typeface="Helvetica Neue"/>
              </a:rPr>
              <a:t>Goal</a:t>
            </a:r>
          </a:p>
        </p:txBody>
      </p:sp>
      <p:sp>
        <p:nvSpPr>
          <p:cNvPr id="14" name="lab-goal-14">
            <a:extLst xmlns:a="http://schemas.openxmlformats.org/drawingml/2006/main">
              <a:ext uri="{FF2B5EF4-FFF2-40B4-BE49-F238E27FC236}">
                <a16:creationId xmlns:a16="http://schemas.microsoft.com/office/drawing/2014/main" id="{AA567166-619F-4C41-80CE-A0DC52CB9C2C}"/>
              </a:ext>
            </a:extLst>
          </p:cNvPr>
          <p:cNvSpPr>
            <a:spLocks xmlns:a="http://schemas.openxmlformats.org/drawingml/2006/main" noGrp="1"/>
          </p:cNvSpPr>
          <p:nvPr/>
        </p:nvSpPr>
        <p:spPr>
          <a:xfrm xmlns:a="http://schemas.openxmlformats.org/drawingml/2006/main">
            <a:off x="3333750" y="2171700"/>
            <a:ext cx="7524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0">
                <a:solidFill>
                  <a:srgbClr val="0C1715"/>
                </a:solidFill>
                <a:latin typeface="Helvetica Neue"/>
                <a:ea typeface="Helvetica Neue"/>
                <a:cs typeface="Helvetica Neue"/>
              </a:defRPr>
            </a:pPr>
            <a:r>
              <a:rPr sz="1500" b="0">
                <a:solidFill>
                  <a:srgbClr val="0C1715"/>
                </a:solidFill>
                <a:latin typeface="Helvetica Neue"/>
                <a:ea typeface="Helvetica Neue"/>
                <a:cs typeface="Helvetica Neue"/>
              </a:rPr>
              <a:t>Connect a scanner result to the affected AWS asset and its evidence.</a:t>
            </a:r>
          </a:p>
        </p:txBody>
      </p:sp>
      <p:sp>
        <p:nvSpPr>
          <p:cNvPr id="15" name="lab-task-label-14">
            <a:extLst xmlns:a="http://schemas.openxmlformats.org/drawingml/2006/main">
              <a:ext uri="{FF2B5EF4-FFF2-40B4-BE49-F238E27FC236}">
                <a16:creationId xmlns:a16="http://schemas.microsoft.com/office/drawing/2014/main" id="{4BC5D160-0770-4269-8514-68AE5CB925B1}"/>
              </a:ext>
            </a:extLst>
          </p:cNvPr>
          <p:cNvSpPr>
            <a:spLocks xmlns:a="http://schemas.openxmlformats.org/drawingml/2006/main" noGrp="1"/>
          </p:cNvSpPr>
          <p:nvPr/>
        </p:nvSpPr>
        <p:spPr>
          <a:xfrm xmlns:a="http://schemas.openxmlformats.org/drawingml/2006/main">
            <a:off x="3333750" y="29908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F59E0B"/>
                </a:solidFill>
                <a:latin typeface="Helvetica Neue"/>
                <a:ea typeface="Helvetica Neue"/>
                <a:cs typeface="Helvetica Neue"/>
              </a:defRPr>
            </a:pPr>
            <a:r>
              <a:rPr sz="1275" b="1">
                <a:solidFill>
                  <a:srgbClr val="F59E0B"/>
                </a:solidFill>
                <a:latin typeface="Helvetica Neue"/>
                <a:ea typeface="Helvetica Neue"/>
                <a:cs typeface="Helvetica Neue"/>
              </a:rPr>
              <a:t>Exercise</a:t>
            </a:r>
          </a:p>
        </p:txBody>
      </p:sp>
      <p:sp>
        <p:nvSpPr>
          <p:cNvPr id="16" name="lab-tasks-14">
            <a:extLst xmlns:a="http://schemas.openxmlformats.org/drawingml/2006/main">
              <a:ext uri="{FF2B5EF4-FFF2-40B4-BE49-F238E27FC236}">
                <a16:creationId xmlns:a16="http://schemas.microsoft.com/office/drawing/2014/main" id="{56DB41EF-91F0-4199-A86C-D60107DB9BE9}"/>
              </a:ext>
            </a:extLst>
          </p:cNvPr>
          <p:cNvSpPr>
            <a:spLocks xmlns:a="http://schemas.openxmlformats.org/drawingml/2006/main" noGrp="1"/>
          </p:cNvSpPr>
          <p:nvPr/>
        </p:nvSpPr>
        <p:spPr>
          <a:xfrm xmlns:a="http://schemas.openxmlformats.org/drawingml/2006/main">
            <a:off x="3276600" y="3314700"/>
            <a:ext cx="4953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Open the assigned sandbox account in CloudGuard</a:t>
            </a:r>
          </a:p>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Run the AWS scan and open one S3, IAM, or network finding</a:t>
            </a:r>
          </a:p>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Explain the evidence and choose the appropriate remediation owner</a:t>
            </a:r>
          </a:p>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Record the final cleanup or rescan result</a:t>
            </a:r>
          </a:p>
        </p:txBody>
      </p:sp>
      <p:sp>
        <p:nvSpPr>
          <p:cNvPr id="17" name="lab-submit-label-14">
            <a:extLst xmlns:a="http://schemas.openxmlformats.org/drawingml/2006/main">
              <a:ext uri="{FF2B5EF4-FFF2-40B4-BE49-F238E27FC236}">
                <a16:creationId xmlns:a16="http://schemas.microsoft.com/office/drawing/2014/main" id="{7798033C-7C23-47E4-8462-DE9B0EA1A1B4}"/>
              </a:ext>
            </a:extLst>
          </p:cNvPr>
          <p:cNvSpPr>
            <a:spLocks xmlns:a="http://schemas.openxmlformats.org/drawingml/2006/main" noGrp="1"/>
          </p:cNvSpPr>
          <p:nvPr/>
        </p:nvSpPr>
        <p:spPr>
          <a:xfrm xmlns:a="http://schemas.openxmlformats.org/drawingml/2006/main">
            <a:off x="8572500" y="29908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F59E0B"/>
                </a:solidFill>
                <a:latin typeface="Helvetica Neue"/>
                <a:ea typeface="Helvetica Neue"/>
                <a:cs typeface="Helvetica Neue"/>
              </a:defRPr>
            </a:pPr>
            <a:r>
              <a:rPr sz="1275" b="1">
                <a:solidFill>
                  <a:srgbClr val="F59E0B"/>
                </a:solidFill>
                <a:latin typeface="Helvetica Neue"/>
                <a:ea typeface="Helvetica Neue"/>
                <a:cs typeface="Helvetica Neue"/>
              </a:rPr>
              <a:t>Evidence to submit</a:t>
            </a:r>
          </a:p>
        </p:txBody>
      </p:sp>
      <p:sp>
        <p:nvSpPr>
          <p:cNvPr id="18" name="lab-submit-14">
            <a:extLst xmlns:a="http://schemas.openxmlformats.org/drawingml/2006/main">
              <a:ext uri="{FF2B5EF4-FFF2-40B4-BE49-F238E27FC236}">
                <a16:creationId xmlns:a16="http://schemas.microsoft.com/office/drawing/2014/main" id="{10BEE7A7-460E-4986-84E7-739315D3863F}"/>
              </a:ext>
            </a:extLst>
          </p:cNvPr>
          <p:cNvSpPr>
            <a:spLocks xmlns:a="http://schemas.openxmlformats.org/drawingml/2006/main" noGrp="1"/>
          </p:cNvSpPr>
          <p:nvPr/>
        </p:nvSpPr>
        <p:spPr>
          <a:xfrm xmlns:a="http://schemas.openxmlformats.org/drawingml/2006/main">
            <a:off x="8515350" y="3314700"/>
            <a:ext cx="2667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600"/>
              </a:spcAft>
              <a:buChar char="•"/>
              <a:defRPr sz="1275">
                <a:solidFill>
                  <a:srgbClr val="0C1715"/>
                </a:solidFill>
                <a:latin typeface="Helvetica Neue"/>
                <a:ea typeface="Helvetica Neue"/>
                <a:cs typeface="Helvetica Neue"/>
              </a:defRPr>
            </a:pPr>
            <a:r>
              <a:rPr sz="1275">
                <a:solidFill>
                  <a:srgbClr val="0C1715"/>
                </a:solidFill>
                <a:latin typeface="Helvetica Neue"/>
                <a:ea typeface="Helvetica Neue"/>
                <a:cs typeface="Helvetica Neue"/>
              </a:rPr>
              <a:t>Scan job ID</a:t>
            </a:r>
          </a:p>
          <a:p xmlns:a="http://schemas.openxmlformats.org/drawingml/2006/main">
            <a:pPr marL="228600" indent="-114300">
              <a:spcAft>
                <a:spcPts val="600"/>
              </a:spcAft>
              <a:buChar char="•"/>
              <a:defRPr sz="1275">
                <a:solidFill>
                  <a:srgbClr val="0C1715"/>
                </a:solidFill>
                <a:latin typeface="Helvetica Neue"/>
                <a:ea typeface="Helvetica Neue"/>
                <a:cs typeface="Helvetica Neue"/>
              </a:defRPr>
            </a:pPr>
            <a:r>
              <a:rPr sz="1275">
                <a:solidFill>
                  <a:srgbClr val="0C1715"/>
                </a:solidFill>
                <a:latin typeface="Helvetica Neue"/>
                <a:ea typeface="Helvetica Neue"/>
                <a:cs typeface="Helvetica Neue"/>
              </a:rPr>
              <a:t>Finding ID</a:t>
            </a:r>
          </a:p>
          <a:p xmlns:a="http://schemas.openxmlformats.org/drawingml/2006/main">
            <a:pPr marL="228600" indent="-114300">
              <a:spcAft>
                <a:spcPts val="600"/>
              </a:spcAft>
              <a:buChar char="•"/>
              <a:defRPr sz="1275">
                <a:solidFill>
                  <a:srgbClr val="0C1715"/>
                </a:solidFill>
                <a:latin typeface="Helvetica Neue"/>
                <a:ea typeface="Helvetica Neue"/>
                <a:cs typeface="Helvetica Neue"/>
              </a:defRPr>
            </a:pPr>
            <a:r>
              <a:rPr sz="1275">
                <a:solidFill>
                  <a:srgbClr val="0C1715"/>
                </a:solidFill>
                <a:latin typeface="Helvetica Neue"/>
                <a:ea typeface="Helvetica Neue"/>
                <a:cs typeface="Helvetica Neue"/>
              </a:rPr>
              <a:t>Asset and evidence</a:t>
            </a:r>
          </a:p>
          <a:p xmlns:a="http://schemas.openxmlformats.org/drawingml/2006/main">
            <a:pPr marL="228600" indent="-114300">
              <a:spcAft>
                <a:spcPts val="600"/>
              </a:spcAft>
              <a:buChar char="•"/>
              <a:defRPr sz="1275">
                <a:solidFill>
                  <a:srgbClr val="0C1715"/>
                </a:solidFill>
                <a:latin typeface="Helvetica Neue"/>
                <a:ea typeface="Helvetica Neue"/>
                <a:cs typeface="Helvetica Neue"/>
              </a:defRPr>
            </a:pPr>
            <a:r>
              <a:rPr sz="1275">
                <a:solidFill>
                  <a:srgbClr val="0C1715"/>
                </a:solidFill>
                <a:latin typeface="Helvetica Neue"/>
                <a:ea typeface="Helvetica Neue"/>
                <a:cs typeface="Helvetica Neue"/>
              </a:rPr>
              <a:t>Closure proof</a:t>
            </a:r>
          </a:p>
        </p:txBody>
      </p:sp>
      <p:sp>
        <p:nvSpPr>
          <p:cNvPr id="19" name="lab-check-bg-14">
            <a:extLst xmlns:a="http://schemas.openxmlformats.org/drawingml/2006/main">
              <a:ext uri="{FF2B5EF4-FFF2-40B4-BE49-F238E27FC236}">
                <a16:creationId xmlns:a16="http://schemas.microsoft.com/office/drawing/2014/main" id="{C99B826B-3B63-47B6-A67B-BFE1C84057AE}"/>
              </a:ext>
            </a:extLst>
          </p:cNvPr>
          <p:cNvSpPr>
            <a:spLocks xmlns:a="http://schemas.openxmlformats.org/drawingml/2006/main" noGrp="1"/>
          </p:cNvSpPr>
          <p:nvPr/>
        </p:nvSpPr>
        <p:spPr>
          <a:xfrm xmlns:a="http://schemas.openxmlformats.org/drawingml/2006/main">
            <a:off x="3333750" y="5238750"/>
            <a:ext cx="7848600" cy="609600"/>
          </a:xfrm>
          <a:prstGeom xmlns:a="http://schemas.openxmlformats.org/drawingml/2006/main" prst="rect">
            <a:avLst/>
          </a:prstGeom>
          <a:solidFill xmlns:a="http://schemas.openxmlformats.org/drawingml/2006/main">
            <a:srgbClr val="F2F7F5"/>
          </a:solidFill>
          <a:ln xmlns:a="http://schemas.openxmlformats.org/drawingml/2006/main" w="0">
            <a:solidFill>
              <a:srgbClr val="F2F7F5"/>
            </a:solidFill>
            <a:prstDash val="solid"/>
          </a:ln>
        </p:spPr>
      </p:sp>
      <p:sp>
        <p:nvSpPr>
          <p:cNvPr id="20" name="lab-check-14">
            <a:extLst xmlns:a="http://schemas.openxmlformats.org/drawingml/2006/main">
              <a:ext uri="{FF2B5EF4-FFF2-40B4-BE49-F238E27FC236}">
                <a16:creationId xmlns:a16="http://schemas.microsoft.com/office/drawing/2014/main" id="{399B9205-FF14-41E2-9294-DC75DBE970D7}"/>
              </a:ext>
            </a:extLst>
          </p:cNvPr>
          <p:cNvSpPr>
            <a:spLocks xmlns:a="http://schemas.openxmlformats.org/drawingml/2006/main" noGrp="1"/>
          </p:cNvSpPr>
          <p:nvPr/>
        </p:nvSpPr>
        <p:spPr>
          <a:xfrm xmlns:a="http://schemas.openxmlformats.org/drawingml/2006/main">
            <a:off x="3562350" y="5410200"/>
            <a:ext cx="739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1">
                <a:solidFill>
                  <a:srgbClr val="0C1715"/>
                </a:solidFill>
                <a:latin typeface="Helvetica Neue"/>
                <a:ea typeface="Helvetica Neue"/>
                <a:cs typeface="Helvetica Neue"/>
              </a:defRPr>
            </a:pPr>
            <a:r>
              <a:rPr sz="1350" b="1">
                <a:solidFill>
                  <a:srgbClr val="0C1715"/>
                </a:solidFill>
                <a:latin typeface="Helvetica Neue"/>
                <a:ea typeface="Helvetica Neue"/>
                <a:cs typeface="Helvetica Neue"/>
              </a:rPr>
              <a:t>Completion: the finding has an asset, severity, explanation, owner, and proof of closure</a:t>
            </a:r>
          </a:p>
        </p:txBody>
      </p:sp>
    </p:spTree>
    <p:extLst>
      <p:ext uri="{BB962C8B-B14F-4D97-AF65-F5344CB8AC3E}">
        <p14:creationId xmlns:p14="http://schemas.microsoft.com/office/powerpoint/2010/main" val="95912907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ection-12">
            <a:extLst xmlns:a="http://schemas.openxmlformats.org/drawingml/2006/main">
              <a:ext uri="{FF2B5EF4-FFF2-40B4-BE49-F238E27FC236}">
                <a16:creationId xmlns:a16="http://schemas.microsoft.com/office/drawing/2014/main" id="{93668FC2-D84A-4D07-9072-858EA0913464}"/>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3</a:t>
            </a:r>
          </a:p>
        </p:txBody>
      </p:sp>
      <p:sp>
        <p:nvSpPr>
          <p:cNvPr id="2" name="title-12">
            <a:extLst xmlns:a="http://schemas.openxmlformats.org/drawingml/2006/main">
              <a:ext uri="{FF2B5EF4-FFF2-40B4-BE49-F238E27FC236}">
                <a16:creationId xmlns:a16="http://schemas.microsoft.com/office/drawing/2014/main" id="{A0DDE551-25F0-404C-97C8-DC7C24D20CA9}"/>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GCP scanner coverage</a:t>
            </a:r>
          </a:p>
        </p:txBody>
      </p:sp>
      <p:sp>
        <p:nvSpPr>
          <p:cNvPr id="3" name="title-rule-12">
            <a:extLst xmlns:a="http://schemas.openxmlformats.org/drawingml/2006/main">
              <a:ext uri="{FF2B5EF4-FFF2-40B4-BE49-F238E27FC236}">
                <a16:creationId xmlns:a16="http://schemas.microsoft.com/office/drawing/2014/main" id="{01885823-91F5-4D0C-B907-AD32F7F405F5}"/>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0ea8a2789c004ecb"/>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12">
            <a:extLst xmlns:a="http://schemas.openxmlformats.org/drawingml/2006/main">
              <a:ext uri="{FF2B5EF4-FFF2-40B4-BE49-F238E27FC236}">
                <a16:creationId xmlns:a16="http://schemas.microsoft.com/office/drawing/2014/main" id="{D93C2F6C-B921-4FEF-872A-C15F9BB6DEAB}"/>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12">
            <a:extLst xmlns:a="http://schemas.openxmlformats.org/drawingml/2006/main">
              <a:ext uri="{FF2B5EF4-FFF2-40B4-BE49-F238E27FC236}">
                <a16:creationId xmlns:a16="http://schemas.microsoft.com/office/drawing/2014/main" id="{B8DEEB38-5A70-466D-B181-18F2BAA04D58}"/>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12">
            <a:extLst xmlns:a="http://schemas.openxmlformats.org/drawingml/2006/main">
              <a:ext uri="{FF2B5EF4-FFF2-40B4-BE49-F238E27FC236}">
                <a16:creationId xmlns:a16="http://schemas.microsoft.com/office/drawing/2014/main" id="{30950AFE-6806-4BAD-B208-1CC58933AE18}"/>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12</a:t>
            </a:r>
          </a:p>
        </p:txBody>
      </p:sp>
      <p:graphicFrame>
        <p:nvGraphicFramePr>
          <p:cNvPr id="16" name=""/>
          <p:cNvGraphicFramePr/>
          <p:nvPr/>
        </p:nvGraphicFramePr>
        <p:xfrm>
          <a:off xmlns:a="http://schemas.openxmlformats.org/drawingml/2006/main" x="533400" y="1752600"/>
          <a:ext xmlns:a="http://schemas.openxmlformats.org/drawingml/2006/main" cx="11125200" cy="4095750"/>
        </p:xfrm>
        <a:graphic xmlns:a="http://schemas.openxmlformats.org/drawingml/2006/main">
          <a:graphicData uri="http://schemas.openxmlformats.org/drawingml/2006/table">
            <a:tbl>
              <a:tblPr/>
              <a:tblGrid>
                <a:gridCol w="1714500"/>
                <a:gridCol w="4762500"/>
                <a:gridCol w="4648200"/>
              </a:tblGrid>
              <a:tr h="819150">
                <a:tc>
                  <a:txBody>
                    <a:bodyPr/>
                    <a:lstStyle/>
                    <a:p>
                      <a:r>
                        <a:rPr sz="1125" b="1">
                          <a:solidFill>
                            <a:srgbClr val="FFFFFF"/>
                          </a:solidFill>
                          <a:latin typeface="Helvetica Neue"/>
                          <a:ea typeface="Helvetica Neue"/>
                          <a:cs typeface="Helvetica Neue"/>
                        </a:rPr>
                        <a:t>Security area</a:t>
                      </a:r>
                    </a:p>
                  </a:txBody>
                  <a:tcPr marL="91440" marR="91440" marT="45720" marB="45720">
                    <a:solidFill>
                      <a:srgbClr val="4285F4"/>
                    </a:solidFill>
                  </a:tcPr>
                </a:tc>
                <a:tc>
                  <a:txBody>
                    <a:bodyPr/>
                    <a:lstStyle/>
                    <a:p>
                      <a:r>
                        <a:rPr sz="1125" b="1">
                          <a:solidFill>
                            <a:srgbClr val="FFFFFF"/>
                          </a:solidFill>
                          <a:latin typeface="Helvetica Neue"/>
                          <a:ea typeface="Helvetica Neue"/>
                          <a:cs typeface="Helvetica Neue"/>
                        </a:rPr>
                        <a:t>Resources and controls</a:t>
                      </a:r>
                    </a:p>
                  </a:txBody>
                  <a:tcPr marL="91440" marR="91440" marT="45720" marB="45720">
                    <a:solidFill>
                      <a:srgbClr val="4285F4"/>
                    </a:solidFill>
                  </a:tcPr>
                </a:tc>
                <a:tc>
                  <a:txBody>
                    <a:bodyPr/>
                    <a:lstStyle/>
                    <a:p>
                      <a:r>
                        <a:rPr sz="1125" b="1">
                          <a:solidFill>
                            <a:srgbClr val="FFFFFF"/>
                          </a:solidFill>
                          <a:latin typeface="Helvetica Neue"/>
                          <a:ea typeface="Helvetica Neue"/>
                          <a:cs typeface="Helvetica Neue"/>
                        </a:rPr>
                        <a:t>Examples of risky conditions</a:t>
                      </a:r>
                    </a:p>
                  </a:txBody>
                  <a:tcPr marL="91440" marR="91440" marT="45720" marB="45720">
                    <a:solidFill>
                      <a:srgbClr val="4285F4"/>
                    </a:solidFill>
                  </a:tcPr>
                </a:tc>
              </a:tr>
              <a:tr h="819150">
                <a:tc>
                  <a:txBody>
                    <a:bodyPr/>
                    <a:lstStyle/>
                    <a:p>
                      <a:r>
                        <a:rPr sz="1200" b="1">
                          <a:solidFill>
                            <a:srgbClr val="0C1715"/>
                          </a:solidFill>
                          <a:latin typeface="Helvetica Neue"/>
                          <a:ea typeface="Helvetica Neue"/>
                          <a:cs typeface="Helvetica Neue"/>
                        </a:rPr>
                        <a:t>Storage</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Cloud Storage IAM, customer-managed keys, versioning, logging</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Public members, no CMEK, versioning or logging disabled</a:t>
                      </a:r>
                    </a:p>
                  </a:txBody>
                  <a:tcPr marL="91440" marR="91440" marT="45720" marB="45720">
                    <a:solidFill>
                      <a:srgbClr val="F2F7F5"/>
                    </a:solidFill>
                  </a:tcPr>
                </a:tc>
              </a:tr>
              <a:tr h="819150">
                <a:tc>
                  <a:txBody>
                    <a:bodyPr/>
                    <a:lstStyle/>
                    <a:p>
                      <a:r>
                        <a:rPr sz="1200" b="1">
                          <a:solidFill>
                            <a:srgbClr val="0C1715"/>
                          </a:solidFill>
                          <a:latin typeface="Helvetica Neue"/>
                          <a:ea typeface="Helvetica Neue"/>
                          <a:cs typeface="Helvetica Neue"/>
                        </a:rPr>
                        <a:t>Identity</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Project IAM bindings</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Primitive Owner or Editor role, external personal account</a:t>
                      </a:r>
                    </a:p>
                  </a:txBody>
                  <a:tcPr marL="91440" marR="91440" marT="45720" marB="45720">
                    <a:solidFill>
                      <a:srgbClr val="FFFFFF"/>
                    </a:solidFill>
                  </a:tcPr>
                </a:tc>
              </a:tr>
              <a:tr h="819150">
                <a:tc>
                  <a:txBody>
                    <a:bodyPr/>
                    <a:lstStyle/>
                    <a:p>
                      <a:r>
                        <a:rPr sz="1200" b="1">
                          <a:solidFill>
                            <a:srgbClr val="0C1715"/>
                          </a:solidFill>
                          <a:latin typeface="Helvetica Neue"/>
                          <a:ea typeface="Helvetica Neue"/>
                          <a:cs typeface="Helvetica Neue"/>
                        </a:rPr>
                        <a:t>Compute</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VM network interfaces and Shielded VM settings</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Public IP, Secure Boot disabled, IP forwarding enabled</a:t>
                      </a:r>
                    </a:p>
                  </a:txBody>
                  <a:tcPr marL="91440" marR="91440" marT="45720" marB="45720">
                    <a:solidFill>
                      <a:srgbClr val="F2F7F5"/>
                    </a:solidFill>
                  </a:tcPr>
                </a:tc>
              </a:tr>
              <a:tr h="819150">
                <a:tc>
                  <a:txBody>
                    <a:bodyPr/>
                    <a:lstStyle/>
                    <a:p>
                      <a:r>
                        <a:rPr sz="1200" b="1">
                          <a:solidFill>
                            <a:srgbClr val="0C1715"/>
                          </a:solidFill>
                          <a:latin typeface="Helvetica Neue"/>
                          <a:ea typeface="Helvetica Neue"/>
                          <a:cs typeface="Helvetica Neue"/>
                        </a:rPr>
                        <a:t>Network</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VPC firewall ingress rules</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All traffic or sensitive ports allowed from 0.0.0.0/0</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21692038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13">
            <a:extLst xmlns:a="http://schemas.openxmlformats.org/drawingml/2006/main">
              <a:ext uri="{FF2B5EF4-FFF2-40B4-BE49-F238E27FC236}">
                <a16:creationId xmlns:a16="http://schemas.microsoft.com/office/drawing/2014/main" id="{DAE03A74-E1D0-4B16-B45F-6299F520B21C}"/>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3</a:t>
            </a:r>
          </a:p>
        </p:txBody>
      </p:sp>
      <p:sp>
        <p:nvSpPr>
          <p:cNvPr id="2" name="title-13">
            <a:extLst xmlns:a="http://schemas.openxmlformats.org/drawingml/2006/main">
              <a:ext uri="{FF2B5EF4-FFF2-40B4-BE49-F238E27FC236}">
                <a16:creationId xmlns:a16="http://schemas.microsoft.com/office/drawing/2014/main" id="{5BF119B2-3E96-408F-B82B-CD5B4287B3C9}"/>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GCP scan lifecycle</a:t>
            </a:r>
          </a:p>
        </p:txBody>
      </p:sp>
      <p:sp>
        <p:nvSpPr>
          <p:cNvPr id="3" name="title-rule-13">
            <a:extLst xmlns:a="http://schemas.openxmlformats.org/drawingml/2006/main">
              <a:ext uri="{FF2B5EF4-FFF2-40B4-BE49-F238E27FC236}">
                <a16:creationId xmlns:a16="http://schemas.microsoft.com/office/drawing/2014/main" id="{CE625F19-5B71-40E3-9650-833B115AB1BB}"/>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498c033d1f404d31"/>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13">
            <a:extLst xmlns:a="http://schemas.openxmlformats.org/drawingml/2006/main">
              <a:ext uri="{FF2B5EF4-FFF2-40B4-BE49-F238E27FC236}">
                <a16:creationId xmlns:a16="http://schemas.microsoft.com/office/drawing/2014/main" id="{B429DE8D-11AA-445F-95BC-144C6D493189}"/>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13">
            <a:extLst xmlns:a="http://schemas.openxmlformats.org/drawingml/2006/main">
              <a:ext uri="{FF2B5EF4-FFF2-40B4-BE49-F238E27FC236}">
                <a16:creationId xmlns:a16="http://schemas.microsoft.com/office/drawing/2014/main" id="{A2533999-AFAB-4633-8836-AF899A0EFB73}"/>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13">
            <a:extLst xmlns:a="http://schemas.openxmlformats.org/drawingml/2006/main">
              <a:ext uri="{FF2B5EF4-FFF2-40B4-BE49-F238E27FC236}">
                <a16:creationId xmlns:a16="http://schemas.microsoft.com/office/drawing/2014/main" id="{5B7F98D9-C544-424A-B9DD-4570AAF0B15D}"/>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13</a:t>
            </a:r>
          </a:p>
        </p:txBody>
      </p:sp>
      <p:sp>
        <p:nvSpPr>
          <p:cNvPr id="8" name="part-num-17-0">
            <a:extLst xmlns:a="http://schemas.openxmlformats.org/drawingml/2006/main">
              <a:ext uri="{FF2B5EF4-FFF2-40B4-BE49-F238E27FC236}">
                <a16:creationId xmlns:a16="http://schemas.microsoft.com/office/drawing/2014/main" id="{40E0B050-8A70-4FCF-809B-E57F297A497C}"/>
              </a:ext>
            </a:extLst>
          </p:cNvPr>
          <p:cNvSpPr>
            <a:spLocks xmlns:a="http://schemas.openxmlformats.org/drawingml/2006/main" noGrp="1"/>
          </p:cNvSpPr>
          <p:nvPr/>
        </p:nvSpPr>
        <p:spPr>
          <a:xfrm xmlns:a="http://schemas.openxmlformats.org/drawingml/2006/main">
            <a:off x="533400" y="1809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4285F4"/>
                </a:solidFill>
                <a:latin typeface="Helvetica Neue"/>
                <a:ea typeface="Helvetica Neue"/>
                <a:cs typeface="Helvetica Neue"/>
              </a:defRPr>
            </a:pPr>
            <a:r>
              <a:rPr sz="2100" b="1">
                <a:solidFill>
                  <a:srgbClr val="4285F4"/>
                </a:solidFill>
                <a:latin typeface="Helvetica Neue"/>
                <a:ea typeface="Helvetica Neue"/>
                <a:cs typeface="Helvetica Neue"/>
              </a:rPr>
              <a:t>01</a:t>
            </a:r>
          </a:p>
        </p:txBody>
      </p:sp>
      <p:sp>
        <p:nvSpPr>
          <p:cNvPr id="9" name="part-rule-17-0">
            <a:extLst xmlns:a="http://schemas.openxmlformats.org/drawingml/2006/main">
              <a:ext uri="{FF2B5EF4-FFF2-40B4-BE49-F238E27FC236}">
                <a16:creationId xmlns:a16="http://schemas.microsoft.com/office/drawing/2014/main" id="{3156A56A-2E29-4CBE-B629-3B17145EE501}"/>
              </a:ext>
            </a:extLst>
          </p:cNvPr>
          <p:cNvSpPr>
            <a:spLocks xmlns:a="http://schemas.openxmlformats.org/drawingml/2006/main" noGrp="1"/>
          </p:cNvSpPr>
          <p:nvPr/>
        </p:nvSpPr>
        <p:spPr>
          <a:xfrm xmlns:a="http://schemas.openxmlformats.org/drawingml/2006/main">
            <a:off x="533400" y="2381250"/>
            <a:ext cx="2362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10" name="part-title-17-0">
            <a:extLst xmlns:a="http://schemas.openxmlformats.org/drawingml/2006/main">
              <a:ext uri="{FF2B5EF4-FFF2-40B4-BE49-F238E27FC236}">
                <a16:creationId xmlns:a16="http://schemas.microsoft.com/office/drawing/2014/main" id="{92C539EE-226E-4FC1-A8D3-C8B519C58B73}"/>
              </a:ext>
            </a:extLst>
          </p:cNvPr>
          <p:cNvSpPr>
            <a:spLocks xmlns:a="http://schemas.openxmlformats.org/drawingml/2006/main" noGrp="1"/>
          </p:cNvSpPr>
          <p:nvPr/>
        </p:nvSpPr>
        <p:spPr>
          <a:xfrm xmlns:a="http://schemas.openxmlformats.org/drawingml/2006/main">
            <a:off x="533400" y="2667000"/>
            <a:ext cx="2362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C1715"/>
                </a:solidFill>
                <a:latin typeface="Helvetica Neue"/>
                <a:ea typeface="Helvetica Neue"/>
                <a:cs typeface="Helvetica Neue"/>
              </a:defRPr>
            </a:pPr>
            <a:r>
              <a:rPr sz="1650" b="1">
                <a:solidFill>
                  <a:srgbClr val="0C1715"/>
                </a:solidFill>
                <a:latin typeface="Helvetica Neue"/>
                <a:ea typeface="Helvetica Neue"/>
                <a:cs typeface="Helvetica Neue"/>
              </a:rPr>
              <a:t>Select project</a:t>
            </a:r>
          </a:p>
        </p:txBody>
      </p:sp>
      <p:sp>
        <p:nvSpPr>
          <p:cNvPr id="11" name="part-body-17-0">
            <a:extLst xmlns:a="http://schemas.openxmlformats.org/drawingml/2006/main">
              <a:ext uri="{FF2B5EF4-FFF2-40B4-BE49-F238E27FC236}">
                <a16:creationId xmlns:a16="http://schemas.microsoft.com/office/drawing/2014/main" id="{DF50686D-6BC9-4A6F-893D-844D364433F7}"/>
              </a:ext>
            </a:extLst>
          </p:cNvPr>
          <p:cNvSpPr>
            <a:spLocks xmlns:a="http://schemas.openxmlformats.org/drawingml/2006/main" noGrp="1"/>
          </p:cNvSpPr>
          <p:nvPr/>
        </p:nvSpPr>
        <p:spPr>
          <a:xfrm xmlns:a="http://schemas.openxmlformats.org/drawingml/2006/main">
            <a:off x="533400" y="3143250"/>
            <a:ext cx="23622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60716D"/>
                </a:solidFill>
                <a:latin typeface="Helvetica Neue"/>
                <a:ea typeface="Helvetica Neue"/>
                <a:cs typeface="Helvetica Neue"/>
              </a:defRPr>
            </a:pPr>
            <a:r>
              <a:rPr sz="1350" b="0">
                <a:solidFill>
                  <a:srgbClr val="60716D"/>
                </a:solidFill>
                <a:latin typeface="Helvetica Neue"/>
                <a:ea typeface="Helvetica Neue"/>
                <a:cs typeface="Helvetica Neue"/>
              </a:rPr>
              <a:t>CloudGuard loads the service account and identifies the project that defines the scan boundary.</a:t>
            </a:r>
          </a:p>
        </p:txBody>
      </p:sp>
      <p:sp>
        <p:nvSpPr>
          <p:cNvPr id="12" name="part-num-17-1">
            <a:extLst xmlns:a="http://schemas.openxmlformats.org/drawingml/2006/main">
              <a:ext uri="{FF2B5EF4-FFF2-40B4-BE49-F238E27FC236}">
                <a16:creationId xmlns:a16="http://schemas.microsoft.com/office/drawing/2014/main" id="{66D2F076-D15A-425C-BA2D-0E715141EB2D}"/>
              </a:ext>
            </a:extLst>
          </p:cNvPr>
          <p:cNvSpPr>
            <a:spLocks xmlns:a="http://schemas.openxmlformats.org/drawingml/2006/main" noGrp="1"/>
          </p:cNvSpPr>
          <p:nvPr/>
        </p:nvSpPr>
        <p:spPr>
          <a:xfrm xmlns:a="http://schemas.openxmlformats.org/drawingml/2006/main">
            <a:off x="3314700" y="1809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4285F4"/>
                </a:solidFill>
                <a:latin typeface="Helvetica Neue"/>
                <a:ea typeface="Helvetica Neue"/>
                <a:cs typeface="Helvetica Neue"/>
              </a:defRPr>
            </a:pPr>
            <a:r>
              <a:rPr sz="2100" b="1">
                <a:solidFill>
                  <a:srgbClr val="4285F4"/>
                </a:solidFill>
                <a:latin typeface="Helvetica Neue"/>
                <a:ea typeface="Helvetica Neue"/>
                <a:cs typeface="Helvetica Neue"/>
              </a:rPr>
              <a:t>02</a:t>
            </a:r>
          </a:p>
        </p:txBody>
      </p:sp>
      <p:sp>
        <p:nvSpPr>
          <p:cNvPr id="13" name="part-rule-17-1">
            <a:extLst xmlns:a="http://schemas.openxmlformats.org/drawingml/2006/main">
              <a:ext uri="{FF2B5EF4-FFF2-40B4-BE49-F238E27FC236}">
                <a16:creationId xmlns:a16="http://schemas.microsoft.com/office/drawing/2014/main" id="{784D32F3-0D02-4FC6-9702-B9CAD67D4587}"/>
              </a:ext>
            </a:extLst>
          </p:cNvPr>
          <p:cNvSpPr>
            <a:spLocks xmlns:a="http://schemas.openxmlformats.org/drawingml/2006/main" noGrp="1"/>
          </p:cNvSpPr>
          <p:nvPr/>
        </p:nvSpPr>
        <p:spPr>
          <a:xfrm xmlns:a="http://schemas.openxmlformats.org/drawingml/2006/main">
            <a:off x="3314700" y="2381250"/>
            <a:ext cx="2362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14" name="part-title-17-1">
            <a:extLst xmlns:a="http://schemas.openxmlformats.org/drawingml/2006/main">
              <a:ext uri="{FF2B5EF4-FFF2-40B4-BE49-F238E27FC236}">
                <a16:creationId xmlns:a16="http://schemas.microsoft.com/office/drawing/2014/main" id="{AAD4433E-BAD3-44C0-B0B2-0F4E8AF0A146}"/>
              </a:ext>
            </a:extLst>
          </p:cNvPr>
          <p:cNvSpPr>
            <a:spLocks xmlns:a="http://schemas.openxmlformats.org/drawingml/2006/main" noGrp="1"/>
          </p:cNvSpPr>
          <p:nvPr/>
        </p:nvSpPr>
        <p:spPr>
          <a:xfrm xmlns:a="http://schemas.openxmlformats.org/drawingml/2006/main">
            <a:off x="3314700" y="2667000"/>
            <a:ext cx="2362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C1715"/>
                </a:solidFill>
                <a:latin typeface="Helvetica Neue"/>
                <a:ea typeface="Helvetica Neue"/>
                <a:cs typeface="Helvetica Neue"/>
              </a:defRPr>
            </a:pPr>
            <a:r>
              <a:rPr sz="1650" b="1">
                <a:solidFill>
                  <a:srgbClr val="0C1715"/>
                </a:solidFill>
                <a:latin typeface="Helvetica Neue"/>
                <a:ea typeface="Helvetica Neue"/>
                <a:cs typeface="Helvetica Neue"/>
              </a:rPr>
              <a:t>Discover</a:t>
            </a:r>
          </a:p>
        </p:txBody>
      </p:sp>
      <p:sp>
        <p:nvSpPr>
          <p:cNvPr id="15" name="part-body-17-1">
            <a:extLst xmlns:a="http://schemas.openxmlformats.org/drawingml/2006/main">
              <a:ext uri="{FF2B5EF4-FFF2-40B4-BE49-F238E27FC236}">
                <a16:creationId xmlns:a16="http://schemas.microsoft.com/office/drawing/2014/main" id="{49AD3EAF-8862-48E5-B4DB-F467BBDC89D3}"/>
              </a:ext>
            </a:extLst>
          </p:cNvPr>
          <p:cNvSpPr>
            <a:spLocks xmlns:a="http://schemas.openxmlformats.org/drawingml/2006/main" noGrp="1"/>
          </p:cNvSpPr>
          <p:nvPr/>
        </p:nvSpPr>
        <p:spPr>
          <a:xfrm xmlns:a="http://schemas.openxmlformats.org/drawingml/2006/main">
            <a:off x="3314700" y="3143250"/>
            <a:ext cx="23622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60716D"/>
                </a:solidFill>
                <a:latin typeface="Helvetica Neue"/>
                <a:ea typeface="Helvetica Neue"/>
                <a:cs typeface="Helvetica Neue"/>
              </a:defRPr>
            </a:pPr>
            <a:r>
              <a:rPr sz="1350" b="0">
                <a:solidFill>
                  <a:srgbClr val="60716D"/>
                </a:solidFill>
                <a:latin typeface="Helvetica Neue"/>
                <a:ea typeface="Helvetica Neue"/>
                <a:cs typeface="Helvetica Neue"/>
              </a:rPr>
              <a:t>The worker lists buckets and instances across zones, then loads project IAM and firewall configuration.</a:t>
            </a:r>
          </a:p>
        </p:txBody>
      </p:sp>
      <p:sp>
        <p:nvSpPr>
          <p:cNvPr id="16" name="part-num-17-2">
            <a:extLst xmlns:a="http://schemas.openxmlformats.org/drawingml/2006/main">
              <a:ext uri="{FF2B5EF4-FFF2-40B4-BE49-F238E27FC236}">
                <a16:creationId xmlns:a16="http://schemas.microsoft.com/office/drawing/2014/main" id="{3D579E7F-B70F-46D3-A8BE-52223587ED79}"/>
              </a:ext>
            </a:extLst>
          </p:cNvPr>
          <p:cNvSpPr>
            <a:spLocks xmlns:a="http://schemas.openxmlformats.org/drawingml/2006/main" noGrp="1"/>
          </p:cNvSpPr>
          <p:nvPr/>
        </p:nvSpPr>
        <p:spPr>
          <a:xfrm xmlns:a="http://schemas.openxmlformats.org/drawingml/2006/main">
            <a:off x="6096000" y="1809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4285F4"/>
                </a:solidFill>
                <a:latin typeface="Helvetica Neue"/>
                <a:ea typeface="Helvetica Neue"/>
                <a:cs typeface="Helvetica Neue"/>
              </a:defRPr>
            </a:pPr>
            <a:r>
              <a:rPr sz="2100" b="1">
                <a:solidFill>
                  <a:srgbClr val="4285F4"/>
                </a:solidFill>
                <a:latin typeface="Helvetica Neue"/>
                <a:ea typeface="Helvetica Neue"/>
                <a:cs typeface="Helvetica Neue"/>
              </a:rPr>
              <a:t>03</a:t>
            </a:r>
          </a:p>
        </p:txBody>
      </p:sp>
      <p:sp>
        <p:nvSpPr>
          <p:cNvPr id="17" name="part-rule-17-2">
            <a:extLst xmlns:a="http://schemas.openxmlformats.org/drawingml/2006/main">
              <a:ext uri="{FF2B5EF4-FFF2-40B4-BE49-F238E27FC236}">
                <a16:creationId xmlns:a16="http://schemas.microsoft.com/office/drawing/2014/main" id="{E0BEDEB9-6313-418B-B7C5-ED3CE0A11CE8}"/>
              </a:ext>
            </a:extLst>
          </p:cNvPr>
          <p:cNvSpPr>
            <a:spLocks xmlns:a="http://schemas.openxmlformats.org/drawingml/2006/main" noGrp="1"/>
          </p:cNvSpPr>
          <p:nvPr/>
        </p:nvSpPr>
        <p:spPr>
          <a:xfrm xmlns:a="http://schemas.openxmlformats.org/drawingml/2006/main">
            <a:off x="6096000" y="2381250"/>
            <a:ext cx="2362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18" name="part-title-17-2">
            <a:extLst xmlns:a="http://schemas.openxmlformats.org/drawingml/2006/main">
              <a:ext uri="{FF2B5EF4-FFF2-40B4-BE49-F238E27FC236}">
                <a16:creationId xmlns:a16="http://schemas.microsoft.com/office/drawing/2014/main" id="{65C24177-D46F-4588-97CA-F0972AA06C7D}"/>
              </a:ext>
            </a:extLst>
          </p:cNvPr>
          <p:cNvSpPr>
            <a:spLocks xmlns:a="http://schemas.openxmlformats.org/drawingml/2006/main" noGrp="1"/>
          </p:cNvSpPr>
          <p:nvPr/>
        </p:nvSpPr>
        <p:spPr>
          <a:xfrm xmlns:a="http://schemas.openxmlformats.org/drawingml/2006/main">
            <a:off x="6096000" y="2667000"/>
            <a:ext cx="2362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C1715"/>
                </a:solidFill>
                <a:latin typeface="Helvetica Neue"/>
                <a:ea typeface="Helvetica Neue"/>
                <a:cs typeface="Helvetica Neue"/>
              </a:defRPr>
            </a:pPr>
            <a:r>
              <a:rPr sz="1650" b="1">
                <a:solidFill>
                  <a:srgbClr val="0C1715"/>
                </a:solidFill>
                <a:latin typeface="Helvetica Neue"/>
                <a:ea typeface="Helvetica Neue"/>
                <a:cs typeface="Helvetica Neue"/>
              </a:rPr>
              <a:t>Evaluate</a:t>
            </a:r>
          </a:p>
        </p:txBody>
      </p:sp>
      <p:sp>
        <p:nvSpPr>
          <p:cNvPr id="19" name="part-body-17-2">
            <a:extLst xmlns:a="http://schemas.openxmlformats.org/drawingml/2006/main">
              <a:ext uri="{FF2B5EF4-FFF2-40B4-BE49-F238E27FC236}">
                <a16:creationId xmlns:a16="http://schemas.microsoft.com/office/drawing/2014/main" id="{E309BE7B-B34C-4BF0-AF8F-BE72C4EAD0A3}"/>
              </a:ext>
            </a:extLst>
          </p:cNvPr>
          <p:cNvSpPr>
            <a:spLocks xmlns:a="http://schemas.openxmlformats.org/drawingml/2006/main" noGrp="1"/>
          </p:cNvSpPr>
          <p:nvPr/>
        </p:nvSpPr>
        <p:spPr>
          <a:xfrm xmlns:a="http://schemas.openxmlformats.org/drawingml/2006/main">
            <a:off x="6096000" y="3143250"/>
            <a:ext cx="23622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60716D"/>
                </a:solidFill>
                <a:latin typeface="Helvetica Neue"/>
                <a:ea typeface="Helvetica Neue"/>
                <a:cs typeface="Helvetica Neue"/>
              </a:defRPr>
            </a:pPr>
            <a:r>
              <a:rPr sz="1350" b="0">
                <a:solidFill>
                  <a:srgbClr val="60716D"/>
                </a:solidFill>
                <a:latin typeface="Helvetica Neue"/>
                <a:ea typeface="Helvetica Neue"/>
                <a:cs typeface="Helvetica Neue"/>
              </a:rPr>
              <a:t>Storage, compute, identity, and network checks produce provider-specific evidence.</a:t>
            </a:r>
          </a:p>
        </p:txBody>
      </p:sp>
      <p:sp>
        <p:nvSpPr>
          <p:cNvPr id="20" name="part-num-17-3">
            <a:extLst xmlns:a="http://schemas.openxmlformats.org/drawingml/2006/main">
              <a:ext uri="{FF2B5EF4-FFF2-40B4-BE49-F238E27FC236}">
                <a16:creationId xmlns:a16="http://schemas.microsoft.com/office/drawing/2014/main" id="{2DA3BF26-ADDE-40FD-B65A-6FD4E028EAA2}"/>
              </a:ext>
            </a:extLst>
          </p:cNvPr>
          <p:cNvSpPr>
            <a:spLocks xmlns:a="http://schemas.openxmlformats.org/drawingml/2006/main" noGrp="1"/>
          </p:cNvSpPr>
          <p:nvPr/>
        </p:nvSpPr>
        <p:spPr>
          <a:xfrm xmlns:a="http://schemas.openxmlformats.org/drawingml/2006/main">
            <a:off x="8877300" y="1809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4285F4"/>
                </a:solidFill>
                <a:latin typeface="Helvetica Neue"/>
                <a:ea typeface="Helvetica Neue"/>
                <a:cs typeface="Helvetica Neue"/>
              </a:defRPr>
            </a:pPr>
            <a:r>
              <a:rPr sz="2100" b="1">
                <a:solidFill>
                  <a:srgbClr val="4285F4"/>
                </a:solidFill>
                <a:latin typeface="Helvetica Neue"/>
                <a:ea typeface="Helvetica Neue"/>
                <a:cs typeface="Helvetica Neue"/>
              </a:rPr>
              <a:t>04</a:t>
            </a:r>
          </a:p>
        </p:txBody>
      </p:sp>
      <p:sp>
        <p:nvSpPr>
          <p:cNvPr id="21" name="part-rule-17-3">
            <a:extLst xmlns:a="http://schemas.openxmlformats.org/drawingml/2006/main">
              <a:ext uri="{FF2B5EF4-FFF2-40B4-BE49-F238E27FC236}">
                <a16:creationId xmlns:a16="http://schemas.microsoft.com/office/drawing/2014/main" id="{C44A92FF-E065-4D72-9794-B08D12BDE25D}"/>
              </a:ext>
            </a:extLst>
          </p:cNvPr>
          <p:cNvSpPr>
            <a:spLocks xmlns:a="http://schemas.openxmlformats.org/drawingml/2006/main" noGrp="1"/>
          </p:cNvSpPr>
          <p:nvPr/>
        </p:nvSpPr>
        <p:spPr>
          <a:xfrm xmlns:a="http://schemas.openxmlformats.org/drawingml/2006/main">
            <a:off x="8877300" y="2381250"/>
            <a:ext cx="2362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22" name="part-title-17-3">
            <a:extLst xmlns:a="http://schemas.openxmlformats.org/drawingml/2006/main">
              <a:ext uri="{FF2B5EF4-FFF2-40B4-BE49-F238E27FC236}">
                <a16:creationId xmlns:a16="http://schemas.microsoft.com/office/drawing/2014/main" id="{0E54F1A3-0338-4042-957D-D8FD591DB9E8}"/>
              </a:ext>
            </a:extLst>
          </p:cNvPr>
          <p:cNvSpPr>
            <a:spLocks xmlns:a="http://schemas.openxmlformats.org/drawingml/2006/main" noGrp="1"/>
          </p:cNvSpPr>
          <p:nvPr/>
        </p:nvSpPr>
        <p:spPr>
          <a:xfrm xmlns:a="http://schemas.openxmlformats.org/drawingml/2006/main">
            <a:off x="8877300" y="2667000"/>
            <a:ext cx="2362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C1715"/>
                </a:solidFill>
                <a:latin typeface="Helvetica Neue"/>
                <a:ea typeface="Helvetica Neue"/>
                <a:cs typeface="Helvetica Neue"/>
              </a:defRPr>
            </a:pPr>
            <a:r>
              <a:rPr sz="1650" b="1">
                <a:solidFill>
                  <a:srgbClr val="0C1715"/>
                </a:solidFill>
                <a:latin typeface="Helvetica Neue"/>
                <a:ea typeface="Helvetica Neue"/>
                <a:cs typeface="Helvetica Neue"/>
              </a:rPr>
              <a:t>Normalize</a:t>
            </a:r>
          </a:p>
        </p:txBody>
      </p:sp>
      <p:sp>
        <p:nvSpPr>
          <p:cNvPr id="23" name="part-body-17-3">
            <a:extLst xmlns:a="http://schemas.openxmlformats.org/drawingml/2006/main">
              <a:ext uri="{FF2B5EF4-FFF2-40B4-BE49-F238E27FC236}">
                <a16:creationId xmlns:a16="http://schemas.microsoft.com/office/drawing/2014/main" id="{DEADA304-E0B1-4312-BA94-27A903BBDA62}"/>
              </a:ext>
            </a:extLst>
          </p:cNvPr>
          <p:cNvSpPr>
            <a:spLocks xmlns:a="http://schemas.openxmlformats.org/drawingml/2006/main" noGrp="1"/>
          </p:cNvSpPr>
          <p:nvPr/>
        </p:nvSpPr>
        <p:spPr>
          <a:xfrm xmlns:a="http://schemas.openxmlformats.org/drawingml/2006/main">
            <a:off x="8877300" y="3143250"/>
            <a:ext cx="23622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60716D"/>
                </a:solidFill>
                <a:latin typeface="Helvetica Neue"/>
                <a:ea typeface="Helvetica Neue"/>
                <a:cs typeface="Helvetica Neue"/>
              </a:defRPr>
            </a:pPr>
            <a:r>
              <a:rPr sz="1350" b="0">
                <a:solidFill>
                  <a:srgbClr val="60716D"/>
                </a:solidFill>
                <a:latin typeface="Helvetica Neue"/>
                <a:ea typeface="Helvetica Neue"/>
                <a:cs typeface="Helvetica Neue"/>
              </a:rPr>
              <a:t>Each result carries the project resource, region or zone, severity, recommendation, and detection tool.</a:t>
            </a:r>
          </a:p>
        </p:txBody>
      </p:sp>
    </p:spTree>
    <p:extLst>
      <p:ext uri="{BB962C8B-B14F-4D97-AF65-F5344CB8AC3E}">
        <p14:creationId xmlns:p14="http://schemas.microsoft.com/office/powerpoint/2010/main" val="171250078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ection-14">
            <a:extLst xmlns:a="http://schemas.openxmlformats.org/drawingml/2006/main">
              <a:ext uri="{FF2B5EF4-FFF2-40B4-BE49-F238E27FC236}">
                <a16:creationId xmlns:a16="http://schemas.microsoft.com/office/drawing/2014/main" id="{FF8C2758-8E9B-4DDE-94A5-3673B3E4F67A}"/>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3</a:t>
            </a:r>
          </a:p>
        </p:txBody>
      </p:sp>
      <p:sp>
        <p:nvSpPr>
          <p:cNvPr id="2" name="title-14">
            <a:extLst xmlns:a="http://schemas.openxmlformats.org/drawingml/2006/main">
              <a:ext uri="{FF2B5EF4-FFF2-40B4-BE49-F238E27FC236}">
                <a16:creationId xmlns:a16="http://schemas.microsoft.com/office/drawing/2014/main" id="{C82115C1-ACF2-461C-9798-210A72CED225}"/>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GCP vulnerabilities and associated risks</a:t>
            </a:r>
          </a:p>
        </p:txBody>
      </p:sp>
      <p:sp>
        <p:nvSpPr>
          <p:cNvPr id="3" name="title-rule-14">
            <a:extLst xmlns:a="http://schemas.openxmlformats.org/drawingml/2006/main">
              <a:ext uri="{FF2B5EF4-FFF2-40B4-BE49-F238E27FC236}">
                <a16:creationId xmlns:a16="http://schemas.microsoft.com/office/drawing/2014/main" id="{8DEDDA58-1738-43FC-BF4A-E6148B28902F}"/>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fae1954e9717413f"/>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14">
            <a:extLst xmlns:a="http://schemas.openxmlformats.org/drawingml/2006/main">
              <a:ext uri="{FF2B5EF4-FFF2-40B4-BE49-F238E27FC236}">
                <a16:creationId xmlns:a16="http://schemas.microsoft.com/office/drawing/2014/main" id="{0A8D51BF-D301-4C14-9BC0-1C62BE3F0CA6}"/>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14">
            <a:extLst xmlns:a="http://schemas.openxmlformats.org/drawingml/2006/main">
              <a:ext uri="{FF2B5EF4-FFF2-40B4-BE49-F238E27FC236}">
                <a16:creationId xmlns:a16="http://schemas.microsoft.com/office/drawing/2014/main" id="{8BA5272E-145E-456B-87EB-011C0636D438}"/>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14">
            <a:extLst xmlns:a="http://schemas.openxmlformats.org/drawingml/2006/main">
              <a:ext uri="{FF2B5EF4-FFF2-40B4-BE49-F238E27FC236}">
                <a16:creationId xmlns:a16="http://schemas.microsoft.com/office/drawing/2014/main" id="{BE38453F-C201-497B-9A30-47793D8E1080}"/>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14</a:t>
            </a:r>
          </a:p>
        </p:txBody>
      </p:sp>
      <p:graphicFrame>
        <p:nvGraphicFramePr>
          <p:cNvPr id="16" name=""/>
          <p:cNvGraphicFramePr/>
          <p:nvPr/>
        </p:nvGraphicFramePr>
        <p:xfrm>
          <a:off xmlns:a="http://schemas.openxmlformats.org/drawingml/2006/main" x="533400" y="1752600"/>
          <a:ext xmlns:a="http://schemas.openxmlformats.org/drawingml/2006/main" cx="11125200" cy="4095750"/>
        </p:xfrm>
        <a:graphic xmlns:a="http://schemas.openxmlformats.org/drawingml/2006/main">
          <a:graphicData uri="http://schemas.openxmlformats.org/drawingml/2006/table">
            <a:tbl>
              <a:tblPr/>
              <a:tblGrid>
                <a:gridCol w="2095500"/>
                <a:gridCol w="3333750"/>
                <a:gridCol w="4000500"/>
                <a:gridCol w="1695450"/>
              </a:tblGrid>
              <a:tr h="819150">
                <a:tc>
                  <a:txBody>
                    <a:bodyPr/>
                    <a:lstStyle/>
                    <a:p>
                      <a:r>
                        <a:rPr sz="1125" b="1">
                          <a:solidFill>
                            <a:srgbClr val="FFFFFF"/>
                          </a:solidFill>
                          <a:latin typeface="Helvetica Neue"/>
                          <a:ea typeface="Helvetica Neue"/>
                          <a:cs typeface="Helvetica Neue"/>
                        </a:rPr>
                        <a:t>Vulnerability type</a:t>
                      </a:r>
                    </a:p>
                  </a:txBody>
                  <a:tcPr marL="91440" marR="91440" marT="45720" marB="45720">
                    <a:solidFill>
                      <a:srgbClr val="4285F4"/>
                    </a:solidFill>
                  </a:tcPr>
                </a:tc>
                <a:tc>
                  <a:txBody>
                    <a:bodyPr/>
                    <a:lstStyle/>
                    <a:p>
                      <a:r>
                        <a:rPr sz="1125" b="1">
                          <a:solidFill>
                            <a:srgbClr val="FFFFFF"/>
                          </a:solidFill>
                          <a:latin typeface="Helvetica Neue"/>
                          <a:ea typeface="Helvetica Neue"/>
                          <a:cs typeface="Helvetica Neue"/>
                        </a:rPr>
                        <a:t>Evidence the scanner reads</a:t>
                      </a:r>
                    </a:p>
                  </a:txBody>
                  <a:tcPr marL="91440" marR="91440" marT="45720" marB="45720">
                    <a:solidFill>
                      <a:srgbClr val="4285F4"/>
                    </a:solidFill>
                  </a:tcPr>
                </a:tc>
                <a:tc>
                  <a:txBody>
                    <a:bodyPr/>
                    <a:lstStyle/>
                    <a:p>
                      <a:r>
                        <a:rPr sz="1125" b="1">
                          <a:solidFill>
                            <a:srgbClr val="FFFFFF"/>
                          </a:solidFill>
                          <a:latin typeface="Helvetica Neue"/>
                          <a:ea typeface="Helvetica Neue"/>
                          <a:cs typeface="Helvetica Neue"/>
                        </a:rPr>
                        <a:t>Associated risk</a:t>
                      </a:r>
                    </a:p>
                  </a:txBody>
                  <a:tcPr marL="91440" marR="91440" marT="45720" marB="45720">
                    <a:solidFill>
                      <a:srgbClr val="4285F4"/>
                    </a:solidFill>
                  </a:tcPr>
                </a:tc>
                <a:tc>
                  <a:txBody>
                    <a:bodyPr/>
                    <a:lstStyle/>
                    <a:p>
                      <a:r>
                        <a:rPr sz="1125" b="1">
                          <a:solidFill>
                            <a:srgbClr val="FFFFFF"/>
                          </a:solidFill>
                          <a:latin typeface="Helvetica Neue"/>
                          <a:ea typeface="Helvetica Neue"/>
                          <a:cs typeface="Helvetica Neue"/>
                        </a:rPr>
                        <a:t>Typical severity</a:t>
                      </a:r>
                    </a:p>
                  </a:txBody>
                  <a:tcPr marL="91440" marR="91440" marT="45720" marB="45720">
                    <a:solidFill>
                      <a:srgbClr val="4285F4"/>
                    </a:solidFill>
                  </a:tcPr>
                </a:tc>
              </a:tr>
              <a:tr h="819150">
                <a:tc>
                  <a:txBody>
                    <a:bodyPr/>
                    <a:lstStyle/>
                    <a:p>
                      <a:r>
                        <a:rPr sz="1050" b="1">
                          <a:solidFill>
                            <a:srgbClr val="0C1715"/>
                          </a:solidFill>
                          <a:latin typeface="Helvetica Neue"/>
                          <a:ea typeface="Helvetica Neue"/>
                          <a:cs typeface="Helvetica Neue"/>
                        </a:rPr>
                        <a:t>Public object storage</a:t>
                      </a:r>
                    </a:p>
                  </a:txBody>
                  <a:tcPr marL="91440" marR="91440" marT="45720" marB="45720">
                    <a:solidFill>
                      <a:srgbClr val="F2F7F5"/>
                    </a:solidFill>
                  </a:tcPr>
                </a:tc>
                <a:tc>
                  <a:txBody>
                    <a:bodyPr/>
                    <a:lstStyle/>
                    <a:p>
                      <a:r>
                        <a:rPr sz="1050" b="0">
                          <a:solidFill>
                            <a:srgbClr val="0C1715"/>
                          </a:solidFill>
                          <a:latin typeface="Helvetica Neue"/>
                          <a:ea typeface="Helvetica Neue"/>
                          <a:cs typeface="Helvetica Neue"/>
                        </a:rPr>
                        <a:t>Bucket IAM includes allUsers or allAuthenticatedUsers</a:t>
                      </a:r>
                    </a:p>
                  </a:txBody>
                  <a:tcPr marL="91440" marR="91440" marT="45720" marB="45720">
                    <a:solidFill>
                      <a:srgbClr val="F2F7F5"/>
                    </a:solidFill>
                  </a:tcPr>
                </a:tc>
                <a:tc>
                  <a:txBody>
                    <a:bodyPr/>
                    <a:lstStyle/>
                    <a:p>
                      <a:r>
                        <a:rPr sz="1050" b="0">
                          <a:solidFill>
                            <a:srgbClr val="0C1715"/>
                          </a:solidFill>
                          <a:latin typeface="Helvetica Neue"/>
                          <a:ea typeface="Helvetica Neue"/>
                          <a:cs typeface="Helvetica Neue"/>
                        </a:rPr>
                        <a:t>External users may access stored objects, causing data disclosure</a:t>
                      </a:r>
                    </a:p>
                  </a:txBody>
                  <a:tcPr marL="91440" marR="91440" marT="45720" marB="45720">
                    <a:solidFill>
                      <a:srgbClr val="F2F7F5"/>
                    </a:solidFill>
                  </a:tcPr>
                </a:tc>
                <a:tc>
                  <a:txBody>
                    <a:bodyPr/>
                    <a:lstStyle/>
                    <a:p>
                      <a:r>
                        <a:rPr sz="1050" b="0">
                          <a:solidFill>
                            <a:srgbClr val="0C1715"/>
                          </a:solidFill>
                          <a:latin typeface="Helvetica Neue"/>
                          <a:ea typeface="Helvetica Neue"/>
                          <a:cs typeface="Helvetica Neue"/>
                        </a:rPr>
                        <a:t>Critical</a:t>
                      </a:r>
                    </a:p>
                  </a:txBody>
                  <a:tcPr marL="91440" marR="91440" marT="45720" marB="45720">
                    <a:solidFill>
                      <a:srgbClr val="F2F7F5"/>
                    </a:solidFill>
                  </a:tcPr>
                </a:tc>
              </a:tr>
              <a:tr h="819150">
                <a:tc>
                  <a:txBody>
                    <a:bodyPr/>
                    <a:lstStyle/>
                    <a:p>
                      <a:r>
                        <a:rPr sz="1050" b="1">
                          <a:solidFill>
                            <a:srgbClr val="0C1715"/>
                          </a:solidFill>
                          <a:latin typeface="Helvetica Neue"/>
                          <a:ea typeface="Helvetica Neue"/>
                          <a:cs typeface="Helvetica Neue"/>
                        </a:rPr>
                        <a:t>Excessive project IAM</a:t>
                      </a:r>
                    </a:p>
                  </a:txBody>
                  <a:tcPr marL="91440" marR="91440" marT="45720" marB="45720">
                    <a:solidFill>
                      <a:srgbClr val="FFFFFF"/>
                    </a:solidFill>
                  </a:tcPr>
                </a:tc>
                <a:tc>
                  <a:txBody>
                    <a:bodyPr/>
                    <a:lstStyle/>
                    <a:p>
                      <a:r>
                        <a:rPr sz="1050" b="0">
                          <a:solidFill>
                            <a:srgbClr val="0C1715"/>
                          </a:solidFill>
                          <a:latin typeface="Helvetica Neue"/>
                          <a:ea typeface="Helvetica Neue"/>
                          <a:cs typeface="Helvetica Neue"/>
                        </a:rPr>
                        <a:t>A member receives the primitive roles/owner or roles/editor role</a:t>
                      </a:r>
                    </a:p>
                  </a:txBody>
                  <a:tcPr marL="91440" marR="91440" marT="45720" marB="45720">
                    <a:solidFill>
                      <a:srgbClr val="FFFFFF"/>
                    </a:solidFill>
                  </a:tcPr>
                </a:tc>
                <a:tc>
                  <a:txBody>
                    <a:bodyPr/>
                    <a:lstStyle/>
                    <a:p>
                      <a:r>
                        <a:rPr sz="1050" b="0">
                          <a:solidFill>
                            <a:srgbClr val="0C1715"/>
                          </a:solidFill>
                          <a:latin typeface="Helvetica Neue"/>
                          <a:ea typeface="Helvetica Neue"/>
                          <a:cs typeface="Helvetica Neue"/>
                        </a:rPr>
                        <a:t>One compromised identity may alter many project resources or security controls</a:t>
                      </a:r>
                    </a:p>
                  </a:txBody>
                  <a:tcPr marL="91440" marR="91440" marT="45720" marB="45720">
                    <a:solidFill>
                      <a:srgbClr val="FFFFFF"/>
                    </a:solidFill>
                  </a:tcPr>
                </a:tc>
                <a:tc>
                  <a:txBody>
                    <a:bodyPr/>
                    <a:lstStyle/>
                    <a:p>
                      <a:r>
                        <a:rPr sz="1050" b="0">
                          <a:solidFill>
                            <a:srgbClr val="0C1715"/>
                          </a:solidFill>
                          <a:latin typeface="Helvetica Neue"/>
                          <a:ea typeface="Helvetica Neue"/>
                          <a:cs typeface="Helvetica Neue"/>
                        </a:rPr>
                        <a:t>High</a:t>
                      </a:r>
                    </a:p>
                  </a:txBody>
                  <a:tcPr marL="91440" marR="91440" marT="45720" marB="45720">
                    <a:solidFill>
                      <a:srgbClr val="FFFFFF"/>
                    </a:solidFill>
                  </a:tcPr>
                </a:tc>
              </a:tr>
              <a:tr h="819150">
                <a:tc>
                  <a:txBody>
                    <a:bodyPr/>
                    <a:lstStyle/>
                    <a:p>
                      <a:r>
                        <a:rPr sz="1050" b="1">
                          <a:solidFill>
                            <a:srgbClr val="0C1715"/>
                          </a:solidFill>
                          <a:latin typeface="Helvetica Neue"/>
                          <a:ea typeface="Helvetica Neue"/>
                          <a:cs typeface="Helvetica Neue"/>
                        </a:rPr>
                        <a:t>Internet-open firewall</a:t>
                      </a:r>
                    </a:p>
                  </a:txBody>
                  <a:tcPr marL="91440" marR="91440" marT="45720" marB="45720">
                    <a:solidFill>
                      <a:srgbClr val="F2F7F5"/>
                    </a:solidFill>
                  </a:tcPr>
                </a:tc>
                <a:tc>
                  <a:txBody>
                    <a:bodyPr/>
                    <a:lstStyle/>
                    <a:p>
                      <a:r>
                        <a:rPr sz="1050" b="0">
                          <a:solidFill>
                            <a:srgbClr val="0C1715"/>
                          </a:solidFill>
                          <a:latin typeface="Helvetica Neue"/>
                          <a:ea typeface="Helvetica Neue"/>
                          <a:cs typeface="Helvetica Neue"/>
                        </a:rPr>
                        <a:t>A source of 0.0.0.0/0 allows all traffic or a sensitive port</a:t>
                      </a:r>
                    </a:p>
                  </a:txBody>
                  <a:tcPr marL="91440" marR="91440" marT="45720" marB="45720">
                    <a:solidFill>
                      <a:srgbClr val="F2F7F5"/>
                    </a:solidFill>
                  </a:tcPr>
                </a:tc>
                <a:tc>
                  <a:txBody>
                    <a:bodyPr/>
                    <a:lstStyle/>
                    <a:p>
                      <a:r>
                        <a:rPr sz="1050" b="0">
                          <a:solidFill>
                            <a:srgbClr val="0C1715"/>
                          </a:solidFill>
                          <a:latin typeface="Helvetica Neue"/>
                          <a:ea typeface="Helvetica Neue"/>
                          <a:cs typeface="Helvetica Neue"/>
                        </a:rPr>
                        <a:t>Attackers can reach exposed services and attempt exploitation or credential attacks</a:t>
                      </a:r>
                    </a:p>
                  </a:txBody>
                  <a:tcPr marL="91440" marR="91440" marT="45720" marB="45720">
                    <a:solidFill>
                      <a:srgbClr val="F2F7F5"/>
                    </a:solidFill>
                  </a:tcPr>
                </a:tc>
                <a:tc>
                  <a:txBody>
                    <a:bodyPr/>
                    <a:lstStyle/>
                    <a:p>
                      <a:r>
                        <a:rPr sz="1050" b="0">
                          <a:solidFill>
                            <a:srgbClr val="0C1715"/>
                          </a:solidFill>
                          <a:latin typeface="Helvetica Neue"/>
                          <a:ea typeface="Helvetica Neue"/>
                          <a:cs typeface="Helvetica Neue"/>
                        </a:rPr>
                        <a:t>High or Critical</a:t>
                      </a:r>
                    </a:p>
                  </a:txBody>
                  <a:tcPr marL="91440" marR="91440" marT="45720" marB="45720">
                    <a:solidFill>
                      <a:srgbClr val="F2F7F5"/>
                    </a:solidFill>
                  </a:tcPr>
                </a:tc>
              </a:tr>
              <a:tr h="819150">
                <a:tc>
                  <a:txBody>
                    <a:bodyPr/>
                    <a:lstStyle/>
                    <a:p>
                      <a:r>
                        <a:rPr sz="1050" b="1">
                          <a:solidFill>
                            <a:srgbClr val="0C1715"/>
                          </a:solidFill>
                          <a:latin typeface="Helvetica Neue"/>
                          <a:ea typeface="Helvetica Neue"/>
                          <a:cs typeface="Helvetica Neue"/>
                        </a:rPr>
                        <a:t>Weak VM hardening</a:t>
                      </a:r>
                    </a:p>
                  </a:txBody>
                  <a:tcPr marL="91440" marR="91440" marT="45720" marB="45720">
                    <a:solidFill>
                      <a:srgbClr val="FFFFFF"/>
                    </a:solidFill>
                  </a:tcPr>
                </a:tc>
                <a:tc>
                  <a:txBody>
                    <a:bodyPr/>
                    <a:lstStyle/>
                    <a:p>
                      <a:r>
                        <a:rPr sz="1050" b="0">
                          <a:solidFill>
                            <a:srgbClr val="0C1715"/>
                          </a:solidFill>
                          <a:latin typeface="Helvetica Neue"/>
                          <a:ea typeface="Helvetica Neue"/>
                          <a:cs typeface="Helvetica Neue"/>
                        </a:rPr>
                        <a:t>A public IP, disabled Secure Boot, or enabled IP forwarding</a:t>
                      </a:r>
                    </a:p>
                  </a:txBody>
                  <a:tcPr marL="91440" marR="91440" marT="45720" marB="45720">
                    <a:solidFill>
                      <a:srgbClr val="FFFFFF"/>
                    </a:solidFill>
                  </a:tcPr>
                </a:tc>
                <a:tc>
                  <a:txBody>
                    <a:bodyPr/>
                    <a:lstStyle/>
                    <a:p>
                      <a:r>
                        <a:rPr sz="1050" b="0">
                          <a:solidFill>
                            <a:srgbClr val="0C1715"/>
                          </a:solidFill>
                          <a:latin typeface="Helvetica Neue"/>
                          <a:ea typeface="Helvetica Neue"/>
                          <a:cs typeface="Helvetica Neue"/>
                        </a:rPr>
                        <a:t>The VM has a larger attack surface and weaker protection against unauthorized change</a:t>
                      </a:r>
                    </a:p>
                  </a:txBody>
                  <a:tcPr marL="91440" marR="91440" marT="45720" marB="45720">
                    <a:solidFill>
                      <a:srgbClr val="FFFFFF"/>
                    </a:solidFill>
                  </a:tcPr>
                </a:tc>
                <a:tc>
                  <a:txBody>
                    <a:bodyPr/>
                    <a:lstStyle/>
                    <a:p>
                      <a:r>
                        <a:rPr sz="1050" b="0">
                          <a:solidFill>
                            <a:srgbClr val="0C1715"/>
                          </a:solidFill>
                          <a:latin typeface="Helvetica Neue"/>
                          <a:ea typeface="Helvetica Neue"/>
                          <a:cs typeface="Helvetica Neue"/>
                        </a:rPr>
                        <a:t>Medium or High</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81023169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ection-15">
            <a:extLst xmlns:a="http://schemas.openxmlformats.org/drawingml/2006/main">
              <a:ext uri="{FF2B5EF4-FFF2-40B4-BE49-F238E27FC236}">
                <a16:creationId xmlns:a16="http://schemas.microsoft.com/office/drawing/2014/main" id="{F893F0B3-D6BE-4A1C-AB80-560B06A48129}"/>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3</a:t>
            </a:r>
          </a:p>
        </p:txBody>
      </p:sp>
      <p:sp>
        <p:nvSpPr>
          <p:cNvPr id="2" name="title-15">
            <a:extLst xmlns:a="http://schemas.openxmlformats.org/drawingml/2006/main">
              <a:ext uri="{FF2B5EF4-FFF2-40B4-BE49-F238E27FC236}">
                <a16:creationId xmlns:a16="http://schemas.microsoft.com/office/drawing/2014/main" id="{90A542EA-F37F-4722-9438-8A9CDE2F28A3}"/>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Lab 2: GCP scanner</a:t>
            </a:r>
          </a:p>
        </p:txBody>
      </p:sp>
      <p:sp>
        <p:nvSpPr>
          <p:cNvPr id="3" name="title-rule-15">
            <a:extLst xmlns:a="http://schemas.openxmlformats.org/drawingml/2006/main">
              <a:ext uri="{FF2B5EF4-FFF2-40B4-BE49-F238E27FC236}">
                <a16:creationId xmlns:a16="http://schemas.microsoft.com/office/drawing/2014/main" id="{B84799F2-1C00-4B13-B7A5-06546C729373}"/>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de181845caf5400f"/>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15">
            <a:extLst xmlns:a="http://schemas.openxmlformats.org/drawingml/2006/main">
              <a:ext uri="{FF2B5EF4-FFF2-40B4-BE49-F238E27FC236}">
                <a16:creationId xmlns:a16="http://schemas.microsoft.com/office/drawing/2014/main" id="{19FB5FB3-71ED-4700-BC01-3FCC5B206E7B}"/>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15">
            <a:extLst xmlns:a="http://schemas.openxmlformats.org/drawingml/2006/main">
              <a:ext uri="{FF2B5EF4-FFF2-40B4-BE49-F238E27FC236}">
                <a16:creationId xmlns:a16="http://schemas.microsoft.com/office/drawing/2014/main" id="{152F8A2E-686A-4965-BB5D-3B5D68B2F49C}"/>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15">
            <a:extLst xmlns:a="http://schemas.openxmlformats.org/drawingml/2006/main">
              <a:ext uri="{FF2B5EF4-FFF2-40B4-BE49-F238E27FC236}">
                <a16:creationId xmlns:a16="http://schemas.microsoft.com/office/drawing/2014/main" id="{F165AC55-3175-466A-8447-B4DF3F661213}"/>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15</a:t>
            </a:r>
          </a:p>
        </p:txBody>
      </p:sp>
      <p:sp>
        <p:nvSpPr>
          <p:cNvPr id="8" name="lab-band-21">
            <a:extLst xmlns:a="http://schemas.openxmlformats.org/drawingml/2006/main">
              <a:ext uri="{FF2B5EF4-FFF2-40B4-BE49-F238E27FC236}">
                <a16:creationId xmlns:a16="http://schemas.microsoft.com/office/drawing/2014/main" id="{8DACF7D2-219B-4C54-B62C-5685416618DC}"/>
              </a:ext>
            </a:extLst>
          </p:cNvPr>
          <p:cNvSpPr>
            <a:spLocks xmlns:a="http://schemas.openxmlformats.org/drawingml/2006/main" noGrp="1"/>
          </p:cNvSpPr>
          <p:nvPr/>
        </p:nvSpPr>
        <p:spPr>
          <a:xfrm xmlns:a="http://schemas.openxmlformats.org/drawingml/2006/main">
            <a:off x="533400" y="1752600"/>
            <a:ext cx="2381250" cy="4095750"/>
          </a:xfrm>
          <a:prstGeom xmlns:a="http://schemas.openxmlformats.org/drawingml/2006/main" prst="rect">
            <a:avLst/>
          </a:prstGeom>
          <a:solidFill xmlns:a="http://schemas.openxmlformats.org/drawingml/2006/main">
            <a:srgbClr val="4285F4"/>
          </a:solidFill>
          <a:ln xmlns:a="http://schemas.openxmlformats.org/drawingml/2006/main" w="0">
            <a:solidFill>
              <a:srgbClr val="4285F4"/>
            </a:solidFill>
            <a:prstDash val="solid"/>
          </a:ln>
        </p:spPr>
      </p:sp>
      <p:sp>
        <p:nvSpPr>
          <p:cNvPr id="9" name="lab-number-21">
            <a:extLst xmlns:a="http://schemas.openxmlformats.org/drawingml/2006/main">
              <a:ext uri="{FF2B5EF4-FFF2-40B4-BE49-F238E27FC236}">
                <a16:creationId xmlns:a16="http://schemas.microsoft.com/office/drawing/2014/main" id="{DE7FF7F6-BCFB-494E-B476-F0CFD05B9B1A}"/>
              </a:ext>
            </a:extLst>
          </p:cNvPr>
          <p:cNvSpPr>
            <a:spLocks xmlns:a="http://schemas.openxmlformats.org/drawingml/2006/main" noGrp="1"/>
          </p:cNvSpPr>
          <p:nvPr/>
        </p:nvSpPr>
        <p:spPr>
          <a:xfrm xmlns:a="http://schemas.openxmlformats.org/drawingml/2006/main">
            <a:off x="781050" y="20383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LAB 2</a:t>
            </a:r>
          </a:p>
        </p:txBody>
      </p:sp>
      <p:sp>
        <p:nvSpPr>
          <p:cNvPr id="10" name="lab-provider-21">
            <a:extLst xmlns:a="http://schemas.openxmlformats.org/drawingml/2006/main">
              <a:ext uri="{FF2B5EF4-FFF2-40B4-BE49-F238E27FC236}">
                <a16:creationId xmlns:a16="http://schemas.microsoft.com/office/drawing/2014/main" id="{22ED8F50-AF6C-4DC9-9E6A-B06F1FD3F742}"/>
              </a:ext>
            </a:extLst>
          </p:cNvPr>
          <p:cNvSpPr>
            <a:spLocks xmlns:a="http://schemas.openxmlformats.org/drawingml/2006/main" noGrp="1"/>
          </p:cNvSpPr>
          <p:nvPr/>
        </p:nvSpPr>
        <p:spPr>
          <a:xfrm xmlns:a="http://schemas.openxmlformats.org/drawingml/2006/main">
            <a:off x="781050" y="2609850"/>
            <a:ext cx="180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550" b="1">
                <a:solidFill>
                  <a:srgbClr val="FFFFFF"/>
                </a:solidFill>
                <a:latin typeface="Helvetica Neue"/>
                <a:ea typeface="Helvetica Neue"/>
                <a:cs typeface="Helvetica Neue"/>
              </a:defRPr>
            </a:pPr>
            <a:r>
              <a:rPr sz="2550" b="1">
                <a:solidFill>
                  <a:srgbClr val="FFFFFF"/>
                </a:solidFill>
                <a:latin typeface="Helvetica Neue"/>
                <a:ea typeface="Helvetica Neue"/>
                <a:cs typeface="Helvetica Neue"/>
              </a:rPr>
              <a:t>GCP</a:t>
            </a:r>
          </a:p>
        </p:txBody>
      </p:sp>
      <p:sp>
        <p:nvSpPr>
          <p:cNvPr id="11" name="lab-time-label-21">
            <a:extLst xmlns:a="http://schemas.openxmlformats.org/drawingml/2006/main">
              <a:ext uri="{FF2B5EF4-FFF2-40B4-BE49-F238E27FC236}">
                <a16:creationId xmlns:a16="http://schemas.microsoft.com/office/drawing/2014/main" id="{C4ECB990-D79A-479D-855C-1FE5956E1703}"/>
              </a:ext>
            </a:extLst>
          </p:cNvPr>
          <p:cNvSpPr>
            <a:spLocks xmlns:a="http://schemas.openxmlformats.org/drawingml/2006/main" noGrp="1"/>
          </p:cNvSpPr>
          <p:nvPr/>
        </p:nvSpPr>
        <p:spPr>
          <a:xfrm xmlns:a="http://schemas.openxmlformats.org/drawingml/2006/main">
            <a:off x="781050" y="447675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Exercise time</a:t>
            </a:r>
          </a:p>
        </p:txBody>
      </p:sp>
      <p:sp>
        <p:nvSpPr>
          <p:cNvPr id="12" name="lab-time-21">
            <a:extLst xmlns:a="http://schemas.openxmlformats.org/drawingml/2006/main">
              <a:ext uri="{FF2B5EF4-FFF2-40B4-BE49-F238E27FC236}">
                <a16:creationId xmlns:a16="http://schemas.microsoft.com/office/drawing/2014/main" id="{4AE2DB1F-E56D-42AA-9A80-FF136FD16BEE}"/>
              </a:ext>
            </a:extLst>
          </p:cNvPr>
          <p:cNvSpPr>
            <a:spLocks xmlns:a="http://schemas.openxmlformats.org/drawingml/2006/main" noGrp="1"/>
          </p:cNvSpPr>
          <p:nvPr/>
        </p:nvSpPr>
        <p:spPr>
          <a:xfrm xmlns:a="http://schemas.openxmlformats.org/drawingml/2006/main">
            <a:off x="781050" y="4857750"/>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6 minutes</a:t>
            </a:r>
          </a:p>
        </p:txBody>
      </p:sp>
      <p:sp>
        <p:nvSpPr>
          <p:cNvPr id="13" name="lab-goal-label-21">
            <a:extLst xmlns:a="http://schemas.openxmlformats.org/drawingml/2006/main">
              <a:ext uri="{FF2B5EF4-FFF2-40B4-BE49-F238E27FC236}">
                <a16:creationId xmlns:a16="http://schemas.microsoft.com/office/drawing/2014/main" id="{EC7D57DF-497B-4327-A7BE-745B84DE1183}"/>
              </a:ext>
            </a:extLst>
          </p:cNvPr>
          <p:cNvSpPr>
            <a:spLocks xmlns:a="http://schemas.openxmlformats.org/drawingml/2006/main" noGrp="1"/>
          </p:cNvSpPr>
          <p:nvPr/>
        </p:nvSpPr>
        <p:spPr>
          <a:xfrm xmlns:a="http://schemas.openxmlformats.org/drawingml/2006/main">
            <a:off x="3333750" y="18478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4285F4"/>
                </a:solidFill>
                <a:latin typeface="Helvetica Neue"/>
                <a:ea typeface="Helvetica Neue"/>
                <a:cs typeface="Helvetica Neue"/>
              </a:defRPr>
            </a:pPr>
            <a:r>
              <a:rPr sz="1275" b="1">
                <a:solidFill>
                  <a:srgbClr val="4285F4"/>
                </a:solidFill>
                <a:latin typeface="Helvetica Neue"/>
                <a:ea typeface="Helvetica Neue"/>
                <a:cs typeface="Helvetica Neue"/>
              </a:rPr>
              <a:t>Goal</a:t>
            </a:r>
          </a:p>
        </p:txBody>
      </p:sp>
      <p:sp>
        <p:nvSpPr>
          <p:cNvPr id="14" name="lab-goal-21">
            <a:extLst xmlns:a="http://schemas.openxmlformats.org/drawingml/2006/main">
              <a:ext uri="{FF2B5EF4-FFF2-40B4-BE49-F238E27FC236}">
                <a16:creationId xmlns:a16="http://schemas.microsoft.com/office/drawing/2014/main" id="{E93EAC09-C94F-42F4-849D-70736893191E}"/>
              </a:ext>
            </a:extLst>
          </p:cNvPr>
          <p:cNvSpPr>
            <a:spLocks xmlns:a="http://schemas.openxmlformats.org/drawingml/2006/main" noGrp="1"/>
          </p:cNvSpPr>
          <p:nvPr/>
        </p:nvSpPr>
        <p:spPr>
          <a:xfrm xmlns:a="http://schemas.openxmlformats.org/drawingml/2006/main">
            <a:off x="3333750" y="2171700"/>
            <a:ext cx="7524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0">
                <a:solidFill>
                  <a:srgbClr val="0C1715"/>
                </a:solidFill>
                <a:latin typeface="Helvetica Neue"/>
                <a:ea typeface="Helvetica Neue"/>
                <a:cs typeface="Helvetica Neue"/>
              </a:defRPr>
            </a:pPr>
            <a:r>
              <a:rPr sz="1500" b="0">
                <a:solidFill>
                  <a:srgbClr val="0C1715"/>
                </a:solidFill>
                <a:latin typeface="Helvetica Neue"/>
                <a:ea typeface="Helvetica Neue"/>
                <a:cs typeface="Helvetica Neue"/>
              </a:rPr>
              <a:t>Explain one GCP finding and connect it to the equivalent cloud risk category.</a:t>
            </a:r>
          </a:p>
        </p:txBody>
      </p:sp>
      <p:sp>
        <p:nvSpPr>
          <p:cNvPr id="15" name="lab-task-label-21">
            <a:extLst xmlns:a="http://schemas.openxmlformats.org/drawingml/2006/main">
              <a:ext uri="{FF2B5EF4-FFF2-40B4-BE49-F238E27FC236}">
                <a16:creationId xmlns:a16="http://schemas.microsoft.com/office/drawing/2014/main" id="{9C1F7E92-BED9-4CA1-B9FB-9E143E93DB4C}"/>
              </a:ext>
            </a:extLst>
          </p:cNvPr>
          <p:cNvSpPr>
            <a:spLocks xmlns:a="http://schemas.openxmlformats.org/drawingml/2006/main" noGrp="1"/>
          </p:cNvSpPr>
          <p:nvPr/>
        </p:nvSpPr>
        <p:spPr>
          <a:xfrm xmlns:a="http://schemas.openxmlformats.org/drawingml/2006/main">
            <a:off x="3333750" y="29908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4285F4"/>
                </a:solidFill>
                <a:latin typeface="Helvetica Neue"/>
                <a:ea typeface="Helvetica Neue"/>
                <a:cs typeface="Helvetica Neue"/>
              </a:defRPr>
            </a:pPr>
            <a:r>
              <a:rPr sz="1275" b="1">
                <a:solidFill>
                  <a:srgbClr val="4285F4"/>
                </a:solidFill>
                <a:latin typeface="Helvetica Neue"/>
                <a:ea typeface="Helvetica Neue"/>
                <a:cs typeface="Helvetica Neue"/>
              </a:rPr>
              <a:t>Exercise</a:t>
            </a:r>
          </a:p>
        </p:txBody>
      </p:sp>
      <p:sp>
        <p:nvSpPr>
          <p:cNvPr id="16" name="lab-tasks-21">
            <a:extLst xmlns:a="http://schemas.openxmlformats.org/drawingml/2006/main">
              <a:ext uri="{FF2B5EF4-FFF2-40B4-BE49-F238E27FC236}">
                <a16:creationId xmlns:a16="http://schemas.microsoft.com/office/drawing/2014/main" id="{046563D1-DAF9-478A-8F93-5123567C3033}"/>
              </a:ext>
            </a:extLst>
          </p:cNvPr>
          <p:cNvSpPr>
            <a:spLocks xmlns:a="http://schemas.openxmlformats.org/drawingml/2006/main" noGrp="1"/>
          </p:cNvSpPr>
          <p:nvPr/>
        </p:nvSpPr>
        <p:spPr>
          <a:xfrm xmlns:a="http://schemas.openxmlformats.org/drawingml/2006/main">
            <a:off x="3276600" y="3314700"/>
            <a:ext cx="4953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Open the assigned disposable project in CloudGuard</a:t>
            </a:r>
          </a:p>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Run the GCP scan and inspect a storage or firewall finding</a:t>
            </a:r>
          </a:p>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Identify the project, resource, evidence, and recommended correction</a:t>
            </a:r>
          </a:p>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Match the finding to the equivalent AWS risk concept</a:t>
            </a:r>
          </a:p>
        </p:txBody>
      </p:sp>
      <p:sp>
        <p:nvSpPr>
          <p:cNvPr id="17" name="lab-submit-label-21">
            <a:extLst xmlns:a="http://schemas.openxmlformats.org/drawingml/2006/main">
              <a:ext uri="{FF2B5EF4-FFF2-40B4-BE49-F238E27FC236}">
                <a16:creationId xmlns:a16="http://schemas.microsoft.com/office/drawing/2014/main" id="{EACF4492-D493-48BA-880C-C6C11607613E}"/>
              </a:ext>
            </a:extLst>
          </p:cNvPr>
          <p:cNvSpPr>
            <a:spLocks xmlns:a="http://schemas.openxmlformats.org/drawingml/2006/main" noGrp="1"/>
          </p:cNvSpPr>
          <p:nvPr/>
        </p:nvSpPr>
        <p:spPr>
          <a:xfrm xmlns:a="http://schemas.openxmlformats.org/drawingml/2006/main">
            <a:off x="8572500" y="29908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4285F4"/>
                </a:solidFill>
                <a:latin typeface="Helvetica Neue"/>
                <a:ea typeface="Helvetica Neue"/>
                <a:cs typeface="Helvetica Neue"/>
              </a:defRPr>
            </a:pPr>
            <a:r>
              <a:rPr sz="1275" b="1">
                <a:solidFill>
                  <a:srgbClr val="4285F4"/>
                </a:solidFill>
                <a:latin typeface="Helvetica Neue"/>
                <a:ea typeface="Helvetica Neue"/>
                <a:cs typeface="Helvetica Neue"/>
              </a:rPr>
              <a:t>Evidence to submit</a:t>
            </a:r>
          </a:p>
        </p:txBody>
      </p:sp>
      <p:sp>
        <p:nvSpPr>
          <p:cNvPr id="18" name="lab-submit-21">
            <a:extLst xmlns:a="http://schemas.openxmlformats.org/drawingml/2006/main">
              <a:ext uri="{FF2B5EF4-FFF2-40B4-BE49-F238E27FC236}">
                <a16:creationId xmlns:a16="http://schemas.microsoft.com/office/drawing/2014/main" id="{A93DAD24-0BF1-4F27-B1FB-A8F666E2E00B}"/>
              </a:ext>
            </a:extLst>
          </p:cNvPr>
          <p:cNvSpPr>
            <a:spLocks xmlns:a="http://schemas.openxmlformats.org/drawingml/2006/main" noGrp="1"/>
          </p:cNvSpPr>
          <p:nvPr/>
        </p:nvSpPr>
        <p:spPr>
          <a:xfrm xmlns:a="http://schemas.openxmlformats.org/drawingml/2006/main">
            <a:off x="8515350" y="3314700"/>
            <a:ext cx="2667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600"/>
              </a:spcAft>
              <a:buChar char="•"/>
              <a:defRPr sz="1275">
                <a:solidFill>
                  <a:srgbClr val="0C1715"/>
                </a:solidFill>
                <a:latin typeface="Helvetica Neue"/>
                <a:ea typeface="Helvetica Neue"/>
                <a:cs typeface="Helvetica Neue"/>
              </a:defRPr>
            </a:pPr>
            <a:r>
              <a:rPr sz="1275">
                <a:solidFill>
                  <a:srgbClr val="0C1715"/>
                </a:solidFill>
                <a:latin typeface="Helvetica Neue"/>
                <a:ea typeface="Helvetica Neue"/>
                <a:cs typeface="Helvetica Neue"/>
              </a:rPr>
              <a:t>Scan job ID</a:t>
            </a:r>
          </a:p>
          <a:p xmlns:a="http://schemas.openxmlformats.org/drawingml/2006/main">
            <a:pPr marL="228600" indent="-114300">
              <a:spcAft>
                <a:spcPts val="600"/>
              </a:spcAft>
              <a:buChar char="•"/>
              <a:defRPr sz="1275">
                <a:solidFill>
                  <a:srgbClr val="0C1715"/>
                </a:solidFill>
                <a:latin typeface="Helvetica Neue"/>
                <a:ea typeface="Helvetica Neue"/>
                <a:cs typeface="Helvetica Neue"/>
              </a:defRPr>
            </a:pPr>
            <a:r>
              <a:rPr sz="1275">
                <a:solidFill>
                  <a:srgbClr val="0C1715"/>
                </a:solidFill>
                <a:latin typeface="Helvetica Neue"/>
                <a:ea typeface="Helvetica Neue"/>
                <a:cs typeface="Helvetica Neue"/>
              </a:rPr>
              <a:t>Finding ID</a:t>
            </a:r>
          </a:p>
          <a:p xmlns:a="http://schemas.openxmlformats.org/drawingml/2006/main">
            <a:pPr marL="228600" indent="-114300">
              <a:spcAft>
                <a:spcPts val="600"/>
              </a:spcAft>
              <a:buChar char="•"/>
              <a:defRPr sz="1275">
                <a:solidFill>
                  <a:srgbClr val="0C1715"/>
                </a:solidFill>
                <a:latin typeface="Helvetica Neue"/>
                <a:ea typeface="Helvetica Neue"/>
                <a:cs typeface="Helvetica Neue"/>
              </a:defRPr>
            </a:pPr>
            <a:r>
              <a:rPr sz="1275">
                <a:solidFill>
                  <a:srgbClr val="0C1715"/>
                </a:solidFill>
                <a:latin typeface="Helvetica Neue"/>
                <a:ea typeface="Helvetica Neue"/>
                <a:cs typeface="Helvetica Neue"/>
              </a:rPr>
              <a:t>Project and resource</a:t>
            </a:r>
          </a:p>
          <a:p xmlns:a="http://schemas.openxmlformats.org/drawingml/2006/main">
            <a:pPr marL="228600" indent="-114300">
              <a:spcAft>
                <a:spcPts val="600"/>
              </a:spcAft>
              <a:buChar char="•"/>
              <a:defRPr sz="1275">
                <a:solidFill>
                  <a:srgbClr val="0C1715"/>
                </a:solidFill>
                <a:latin typeface="Helvetica Neue"/>
                <a:ea typeface="Helvetica Neue"/>
                <a:cs typeface="Helvetica Neue"/>
              </a:defRPr>
            </a:pPr>
            <a:r>
              <a:rPr sz="1275">
                <a:solidFill>
                  <a:srgbClr val="0C1715"/>
                </a:solidFill>
                <a:latin typeface="Helvetica Neue"/>
                <a:ea typeface="Helvetica Neue"/>
                <a:cs typeface="Helvetica Neue"/>
              </a:rPr>
              <a:t>Cross-cloud mapping</a:t>
            </a:r>
          </a:p>
        </p:txBody>
      </p:sp>
      <p:sp>
        <p:nvSpPr>
          <p:cNvPr id="19" name="lab-check-bg-21">
            <a:extLst xmlns:a="http://schemas.openxmlformats.org/drawingml/2006/main">
              <a:ext uri="{FF2B5EF4-FFF2-40B4-BE49-F238E27FC236}">
                <a16:creationId xmlns:a16="http://schemas.microsoft.com/office/drawing/2014/main" id="{1B9726F3-3FFF-4453-8A40-AD24B89C5893}"/>
              </a:ext>
            </a:extLst>
          </p:cNvPr>
          <p:cNvSpPr>
            <a:spLocks xmlns:a="http://schemas.openxmlformats.org/drawingml/2006/main" noGrp="1"/>
          </p:cNvSpPr>
          <p:nvPr/>
        </p:nvSpPr>
        <p:spPr>
          <a:xfrm xmlns:a="http://schemas.openxmlformats.org/drawingml/2006/main">
            <a:off x="3333750" y="5238750"/>
            <a:ext cx="7848600" cy="609600"/>
          </a:xfrm>
          <a:prstGeom xmlns:a="http://schemas.openxmlformats.org/drawingml/2006/main" prst="rect">
            <a:avLst/>
          </a:prstGeom>
          <a:solidFill xmlns:a="http://schemas.openxmlformats.org/drawingml/2006/main">
            <a:srgbClr val="F2F7F5"/>
          </a:solidFill>
          <a:ln xmlns:a="http://schemas.openxmlformats.org/drawingml/2006/main" w="0">
            <a:solidFill>
              <a:srgbClr val="F2F7F5"/>
            </a:solidFill>
            <a:prstDash val="solid"/>
          </a:ln>
        </p:spPr>
      </p:sp>
      <p:sp>
        <p:nvSpPr>
          <p:cNvPr id="20" name="lab-check-21">
            <a:extLst xmlns:a="http://schemas.openxmlformats.org/drawingml/2006/main">
              <a:ext uri="{FF2B5EF4-FFF2-40B4-BE49-F238E27FC236}">
                <a16:creationId xmlns:a16="http://schemas.microsoft.com/office/drawing/2014/main" id="{C03050C5-D01C-4C10-9E7C-F2F450F8DBE7}"/>
              </a:ext>
            </a:extLst>
          </p:cNvPr>
          <p:cNvSpPr>
            <a:spLocks xmlns:a="http://schemas.openxmlformats.org/drawingml/2006/main" noGrp="1"/>
          </p:cNvSpPr>
          <p:nvPr/>
        </p:nvSpPr>
        <p:spPr>
          <a:xfrm xmlns:a="http://schemas.openxmlformats.org/drawingml/2006/main">
            <a:off x="3562350" y="5410200"/>
            <a:ext cx="739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1">
                <a:solidFill>
                  <a:srgbClr val="0C1715"/>
                </a:solidFill>
                <a:latin typeface="Helvetica Neue"/>
                <a:ea typeface="Helvetica Neue"/>
                <a:cs typeface="Helvetica Neue"/>
              </a:defRPr>
            </a:pPr>
            <a:r>
              <a:rPr sz="1350" b="1">
                <a:solidFill>
                  <a:srgbClr val="0C1715"/>
                </a:solidFill>
                <a:latin typeface="Helvetica Neue"/>
                <a:ea typeface="Helvetica Neue"/>
                <a:cs typeface="Helvetica Neue"/>
              </a:rPr>
              <a:t>Completion: the result includes provider evidence and a provider-neutral risk explanation</a:t>
            </a:r>
          </a:p>
        </p:txBody>
      </p:sp>
    </p:spTree>
    <p:extLst>
      <p:ext uri="{BB962C8B-B14F-4D97-AF65-F5344CB8AC3E}">
        <p14:creationId xmlns:p14="http://schemas.microsoft.com/office/powerpoint/2010/main" val="152315178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ection-16">
            <a:extLst xmlns:a="http://schemas.openxmlformats.org/drawingml/2006/main">
              <a:ext uri="{FF2B5EF4-FFF2-40B4-BE49-F238E27FC236}">
                <a16:creationId xmlns:a16="http://schemas.microsoft.com/office/drawing/2014/main" id="{BEF63141-8865-4DF1-A9A4-A58BBB0A72F3}"/>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4</a:t>
            </a:r>
          </a:p>
        </p:txBody>
      </p:sp>
      <p:sp>
        <p:nvSpPr>
          <p:cNvPr id="2" name="title-16">
            <a:extLst xmlns:a="http://schemas.openxmlformats.org/drawingml/2006/main">
              <a:ext uri="{FF2B5EF4-FFF2-40B4-BE49-F238E27FC236}">
                <a16:creationId xmlns:a16="http://schemas.microsoft.com/office/drawing/2014/main" id="{6AFFE9BF-46F3-4866-97ED-38C857D2C202}"/>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Kubernetes scanner modes</a:t>
            </a:r>
          </a:p>
        </p:txBody>
      </p:sp>
      <p:sp>
        <p:nvSpPr>
          <p:cNvPr id="3" name="title-rule-16">
            <a:extLst xmlns:a="http://schemas.openxmlformats.org/drawingml/2006/main">
              <a:ext uri="{FF2B5EF4-FFF2-40B4-BE49-F238E27FC236}">
                <a16:creationId xmlns:a16="http://schemas.microsoft.com/office/drawing/2014/main" id="{00089D0F-3F03-4AE2-9191-D888455E7BB7}"/>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1a4d8c7d22904479"/>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16">
            <a:extLst xmlns:a="http://schemas.openxmlformats.org/drawingml/2006/main">
              <a:ext uri="{FF2B5EF4-FFF2-40B4-BE49-F238E27FC236}">
                <a16:creationId xmlns:a16="http://schemas.microsoft.com/office/drawing/2014/main" id="{3462245D-2355-4219-8A83-A8F70B1D9085}"/>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16">
            <a:extLst xmlns:a="http://schemas.openxmlformats.org/drawingml/2006/main">
              <a:ext uri="{FF2B5EF4-FFF2-40B4-BE49-F238E27FC236}">
                <a16:creationId xmlns:a16="http://schemas.microsoft.com/office/drawing/2014/main" id="{261A477E-0C6F-41C7-AEB3-704774BBCF58}"/>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16">
            <a:extLst xmlns:a="http://schemas.openxmlformats.org/drawingml/2006/main">
              <a:ext uri="{FF2B5EF4-FFF2-40B4-BE49-F238E27FC236}">
                <a16:creationId xmlns:a16="http://schemas.microsoft.com/office/drawing/2014/main" id="{999BCACB-3890-4378-A056-DFDC81A5FC9A}"/>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16</a:t>
            </a:r>
          </a:p>
        </p:txBody>
      </p:sp>
      <p:graphicFrame>
        <p:nvGraphicFramePr>
          <p:cNvPr id="17" name=""/>
          <p:cNvGraphicFramePr/>
          <p:nvPr/>
        </p:nvGraphicFramePr>
        <p:xfrm>
          <a:off xmlns:a="http://schemas.openxmlformats.org/drawingml/2006/main" x="533400" y="1924050"/>
          <a:ext xmlns:a="http://schemas.openxmlformats.org/drawingml/2006/main" cx="11125200" cy="2857500"/>
        </p:xfrm>
        <a:graphic xmlns:a="http://schemas.openxmlformats.org/drawingml/2006/main">
          <a:graphicData uri="http://schemas.openxmlformats.org/drawingml/2006/table">
            <a:tbl>
              <a:tblPr/>
              <a:tblGrid>
                <a:gridCol w="1714500"/>
                <a:gridCol w="2571750"/>
                <a:gridCol w="4095750"/>
                <a:gridCol w="2743200"/>
              </a:tblGrid>
              <a:tr h="952500">
                <a:tc>
                  <a:txBody>
                    <a:bodyPr/>
                    <a:lstStyle/>
                    <a:p>
                      <a:r>
                        <a:rPr sz="1125" b="1">
                          <a:solidFill>
                            <a:srgbClr val="FFFFFF"/>
                          </a:solidFill>
                          <a:latin typeface="Helvetica Neue"/>
                          <a:ea typeface="Helvetica Neue"/>
                          <a:cs typeface="Helvetica Neue"/>
                        </a:rPr>
                        <a:t>Mode</a:t>
                      </a:r>
                    </a:p>
                  </a:txBody>
                  <a:tcPr marL="91440" marR="91440" marT="45720" marB="45720">
                    <a:solidFill>
                      <a:srgbClr val="326CE5"/>
                    </a:solidFill>
                  </a:tcPr>
                </a:tc>
                <a:tc>
                  <a:txBody>
                    <a:bodyPr/>
                    <a:lstStyle/>
                    <a:p>
                      <a:r>
                        <a:rPr sz="1125" b="1">
                          <a:solidFill>
                            <a:srgbClr val="FFFFFF"/>
                          </a:solidFill>
                          <a:latin typeface="Helvetica Neue"/>
                          <a:ea typeface="Helvetica Neue"/>
                          <a:cs typeface="Helvetica Neue"/>
                        </a:rPr>
                        <a:t>Input</a:t>
                      </a:r>
                    </a:p>
                  </a:txBody>
                  <a:tcPr marL="91440" marR="91440" marT="45720" marB="45720">
                    <a:solidFill>
                      <a:srgbClr val="326CE5"/>
                    </a:solidFill>
                  </a:tcPr>
                </a:tc>
                <a:tc>
                  <a:txBody>
                    <a:bodyPr/>
                    <a:lstStyle/>
                    <a:p>
                      <a:r>
                        <a:rPr sz="1125" b="1">
                          <a:solidFill>
                            <a:srgbClr val="FFFFFF"/>
                          </a:solidFill>
                          <a:latin typeface="Helvetica Neue"/>
                          <a:ea typeface="Helvetica Neue"/>
                          <a:cs typeface="Helvetica Neue"/>
                        </a:rPr>
                        <a:t>What the scanner sees</a:t>
                      </a:r>
                    </a:p>
                  </a:txBody>
                  <a:tcPr marL="91440" marR="91440" marT="45720" marB="45720">
                    <a:solidFill>
                      <a:srgbClr val="326CE5"/>
                    </a:solidFill>
                  </a:tcPr>
                </a:tc>
                <a:tc>
                  <a:txBody>
                    <a:bodyPr/>
                    <a:lstStyle/>
                    <a:p>
                      <a:r>
                        <a:rPr sz="1125" b="1">
                          <a:solidFill>
                            <a:srgbClr val="FFFFFF"/>
                          </a:solidFill>
                          <a:latin typeface="Helvetica Neue"/>
                          <a:ea typeface="Helvetica Neue"/>
                          <a:cs typeface="Helvetica Neue"/>
                        </a:rPr>
                        <a:t>Additional value</a:t>
                      </a:r>
                    </a:p>
                  </a:txBody>
                  <a:tcPr marL="91440" marR="91440" marT="45720" marB="45720">
                    <a:solidFill>
                      <a:srgbClr val="326CE5"/>
                    </a:solidFill>
                  </a:tcPr>
                </a:tc>
              </a:tr>
              <a:tr h="952500">
                <a:tc>
                  <a:txBody>
                    <a:bodyPr/>
                    <a:lstStyle/>
                    <a:p>
                      <a:r>
                        <a:rPr sz="1275" b="1">
                          <a:solidFill>
                            <a:srgbClr val="0C1715"/>
                          </a:solidFill>
                          <a:latin typeface="Helvetica Neue"/>
                          <a:ea typeface="Helvetica Neue"/>
                          <a:cs typeface="Helvetica Neue"/>
                        </a:rPr>
                        <a:t>Live cluster</a:t>
                      </a:r>
                    </a:p>
                  </a:txBody>
                  <a:tcPr marL="91440" marR="91440" marT="45720" marB="45720">
                    <a:solidFill>
                      <a:srgbClr val="F2F7F5"/>
                    </a:solidFill>
                  </a:tcPr>
                </a:tc>
                <a:tc>
                  <a:txBody>
                    <a:bodyPr/>
                    <a:lstStyle/>
                    <a:p>
                      <a:r>
                        <a:rPr sz="1275" b="0">
                          <a:solidFill>
                            <a:srgbClr val="0C1715"/>
                          </a:solidFill>
                          <a:latin typeface="Helvetica Neue"/>
                          <a:ea typeface="Helvetica Neue"/>
                          <a:cs typeface="Helvetica Neue"/>
                        </a:rPr>
                        <a:t>Saved kubeconfig and optional context</a:t>
                      </a:r>
                    </a:p>
                  </a:txBody>
                  <a:tcPr marL="91440" marR="91440" marT="45720" marB="45720">
                    <a:solidFill>
                      <a:srgbClr val="F2F7F5"/>
                    </a:solidFill>
                  </a:tcPr>
                </a:tc>
                <a:tc>
                  <a:txBody>
                    <a:bodyPr/>
                    <a:lstStyle/>
                    <a:p>
                      <a:r>
                        <a:rPr sz="1275" b="0">
                          <a:solidFill>
                            <a:srgbClr val="0C1715"/>
                          </a:solidFill>
                          <a:latin typeface="Helvetica Neue"/>
                          <a:ea typeface="Helvetica Neue"/>
                          <a:cs typeface="Helvetica Neue"/>
                        </a:rPr>
                        <a:t>Namespaces, workloads, services, secrets metadata, NetworkPolicies, and RBAC bindings</a:t>
                      </a:r>
                    </a:p>
                  </a:txBody>
                  <a:tcPr marL="91440" marR="91440" marT="45720" marB="45720">
                    <a:solidFill>
                      <a:srgbClr val="F2F7F5"/>
                    </a:solidFill>
                  </a:tcPr>
                </a:tc>
                <a:tc>
                  <a:txBody>
                    <a:bodyPr/>
                    <a:lstStyle/>
                    <a:p>
                      <a:r>
                        <a:rPr sz="1275" b="0">
                          <a:solidFill>
                            <a:srgbClr val="0C1715"/>
                          </a:solidFill>
                          <a:latin typeface="Helvetica Neue"/>
                          <a:ea typeface="Helvetica Neue"/>
                          <a:cs typeface="Helvetica Neue"/>
                        </a:rPr>
                        <a:t>Managed EKS or GKE checks plus comparison with repository manifests</a:t>
                      </a:r>
                    </a:p>
                  </a:txBody>
                  <a:tcPr marL="91440" marR="91440" marT="45720" marB="45720">
                    <a:solidFill>
                      <a:srgbClr val="F2F7F5"/>
                    </a:solidFill>
                  </a:tcPr>
                </a:tc>
              </a:tr>
              <a:tr h="952500">
                <a:tc>
                  <a:txBody>
                    <a:bodyPr/>
                    <a:lstStyle/>
                    <a:p>
                      <a:r>
                        <a:rPr sz="1275" b="1">
                          <a:solidFill>
                            <a:srgbClr val="0C1715"/>
                          </a:solidFill>
                          <a:latin typeface="Helvetica Neue"/>
                          <a:ea typeface="Helvetica Neue"/>
                          <a:cs typeface="Helvetica Neue"/>
                        </a:rPr>
                        <a:t>Manifest</a:t>
                      </a:r>
                    </a:p>
                  </a:txBody>
                  <a:tcPr marL="91440" marR="91440" marT="45720" marB="45720">
                    <a:solidFill>
                      <a:srgbClr val="FFFFFF"/>
                    </a:solidFill>
                  </a:tcPr>
                </a:tc>
                <a:tc>
                  <a:txBody>
                    <a:bodyPr/>
                    <a:lstStyle/>
                    <a:p>
                      <a:r>
                        <a:rPr sz="1275" b="0">
                          <a:solidFill>
                            <a:srgbClr val="0C1715"/>
                          </a:solidFill>
                          <a:latin typeface="Helvetica Neue"/>
                          <a:ea typeface="Helvetica Neue"/>
                          <a:cs typeface="Helvetica Neue"/>
                        </a:rPr>
                        <a:t>Kubernetes YAML or JSON files</a:t>
                      </a:r>
                    </a:p>
                  </a:txBody>
                  <a:tcPr marL="91440" marR="91440" marT="45720" marB="45720">
                    <a:solidFill>
                      <a:srgbClr val="FFFFFF"/>
                    </a:solidFill>
                  </a:tcPr>
                </a:tc>
                <a:tc>
                  <a:txBody>
                    <a:bodyPr/>
                    <a:lstStyle/>
                    <a:p>
                      <a:r>
                        <a:rPr sz="1275" b="0">
                          <a:solidFill>
                            <a:srgbClr val="0C1715"/>
                          </a:solidFill>
                          <a:latin typeface="Helvetica Neue"/>
                          <a:ea typeface="Helvetica Neue"/>
                          <a:cs typeface="Helvetica Neue"/>
                        </a:rPr>
                        <a:t>Declared workloads, services, RBAC, namespaces, NetworkPolicies, and Secrets</a:t>
                      </a:r>
                    </a:p>
                  </a:txBody>
                  <a:tcPr marL="91440" marR="91440" marT="45720" marB="45720">
                    <a:solidFill>
                      <a:srgbClr val="FFFFFF"/>
                    </a:solidFill>
                  </a:tcPr>
                </a:tc>
                <a:tc>
                  <a:txBody>
                    <a:bodyPr/>
                    <a:lstStyle/>
                    <a:p>
                      <a:r>
                        <a:rPr sz="1275" b="0">
                          <a:solidFill>
                            <a:srgbClr val="0C1715"/>
                          </a:solidFill>
                          <a:latin typeface="Helvetica Neue"/>
                          <a:ea typeface="Helvetica Neue"/>
                          <a:cs typeface="Helvetica Neue"/>
                        </a:rPr>
                        <a:t>Security review before deployment without cluster access</a:t>
                      </a:r>
                    </a:p>
                  </a:txBody>
                  <a:tcPr marL="91440" marR="91440" marT="45720" marB="45720">
                    <a:solidFill>
                      <a:srgbClr val="FFFFFF"/>
                    </a:solidFill>
                  </a:tcPr>
                </a:tc>
              </a:tr>
            </a:tbl>
          </a:graphicData>
        </a:graphic>
      </p:graphicFrame>
      <p:sp>
        <p:nvSpPr>
          <p:cNvPr id="9" name="k8s-mode-note">
            <a:extLst xmlns:a="http://schemas.openxmlformats.org/drawingml/2006/main">
              <a:ext uri="{FF2B5EF4-FFF2-40B4-BE49-F238E27FC236}">
                <a16:creationId xmlns:a16="http://schemas.microsoft.com/office/drawing/2014/main" id="{8C19F0ED-8ECB-44D8-BF89-7A37066583D7}"/>
              </a:ext>
            </a:extLst>
          </p:cNvPr>
          <p:cNvSpPr>
            <a:spLocks xmlns:a="http://schemas.openxmlformats.org/drawingml/2006/main" noGrp="1"/>
          </p:cNvSpPr>
          <p:nvPr/>
        </p:nvSpPr>
        <p:spPr>
          <a:xfrm xmlns:a="http://schemas.openxmlformats.org/drawingml/2006/main">
            <a:off x="533400" y="521970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0C1715"/>
                </a:solidFill>
                <a:latin typeface="Helvetica Neue"/>
                <a:ea typeface="Helvetica Neue"/>
                <a:cs typeface="Helvetica Neue"/>
              </a:defRPr>
            </a:pPr>
            <a:r>
              <a:rPr sz="1725" b="1">
                <a:solidFill>
                  <a:srgbClr val="0C1715"/>
                </a:solidFill>
                <a:latin typeface="Helvetica Neue"/>
                <a:ea typeface="Helvetica Neue"/>
                <a:cs typeface="Helvetica Neue"/>
              </a:rPr>
              <a:t>Both modes produce the same finding structure, which makes live and pre-deployment results comparable.</a:t>
            </a:r>
          </a:p>
        </p:txBody>
      </p:sp>
    </p:spTree>
    <p:extLst>
      <p:ext uri="{BB962C8B-B14F-4D97-AF65-F5344CB8AC3E}">
        <p14:creationId xmlns:p14="http://schemas.microsoft.com/office/powerpoint/2010/main" val="24888635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ection-17">
            <a:extLst xmlns:a="http://schemas.openxmlformats.org/drawingml/2006/main">
              <a:ext uri="{FF2B5EF4-FFF2-40B4-BE49-F238E27FC236}">
                <a16:creationId xmlns:a16="http://schemas.microsoft.com/office/drawing/2014/main" id="{2303CC88-CEAF-41C7-8291-F6A5167B1D22}"/>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4</a:t>
            </a:r>
          </a:p>
        </p:txBody>
      </p:sp>
      <p:sp>
        <p:nvSpPr>
          <p:cNvPr id="2" name="title-17">
            <a:extLst xmlns:a="http://schemas.openxmlformats.org/drawingml/2006/main">
              <a:ext uri="{FF2B5EF4-FFF2-40B4-BE49-F238E27FC236}">
                <a16:creationId xmlns:a16="http://schemas.microsoft.com/office/drawing/2014/main" id="{E2CBC5D8-E732-4F39-946F-FD6CAD83E00D}"/>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What the Kubernetes scanner inspects</a:t>
            </a:r>
          </a:p>
        </p:txBody>
      </p:sp>
      <p:sp>
        <p:nvSpPr>
          <p:cNvPr id="3" name="title-rule-17">
            <a:extLst xmlns:a="http://schemas.openxmlformats.org/drawingml/2006/main">
              <a:ext uri="{FF2B5EF4-FFF2-40B4-BE49-F238E27FC236}">
                <a16:creationId xmlns:a16="http://schemas.microsoft.com/office/drawing/2014/main" id="{F1131DD4-2C42-498E-A357-A7F040FD181B}"/>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2479b510bcd54c35"/>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17">
            <a:extLst xmlns:a="http://schemas.openxmlformats.org/drawingml/2006/main">
              <a:ext uri="{FF2B5EF4-FFF2-40B4-BE49-F238E27FC236}">
                <a16:creationId xmlns:a16="http://schemas.microsoft.com/office/drawing/2014/main" id="{9F4EA58B-B47F-4F4A-8E79-66FB10AF873F}"/>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17">
            <a:extLst xmlns:a="http://schemas.openxmlformats.org/drawingml/2006/main">
              <a:ext uri="{FF2B5EF4-FFF2-40B4-BE49-F238E27FC236}">
                <a16:creationId xmlns:a16="http://schemas.microsoft.com/office/drawing/2014/main" id="{63C9A326-7BB0-4DB4-8F9E-22BAAD0E5F40}"/>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17">
            <a:extLst xmlns:a="http://schemas.openxmlformats.org/drawingml/2006/main">
              <a:ext uri="{FF2B5EF4-FFF2-40B4-BE49-F238E27FC236}">
                <a16:creationId xmlns:a16="http://schemas.microsoft.com/office/drawing/2014/main" id="{E964EE2C-F347-4062-879B-F70F2B269784}"/>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17</a:t>
            </a:r>
          </a:p>
        </p:txBody>
      </p:sp>
      <p:graphicFrame>
        <p:nvGraphicFramePr>
          <p:cNvPr id="16" name=""/>
          <p:cNvGraphicFramePr/>
          <p:nvPr/>
        </p:nvGraphicFramePr>
        <p:xfrm>
          <a:off xmlns:a="http://schemas.openxmlformats.org/drawingml/2006/main" x="533400" y="1752600"/>
          <a:ext xmlns:a="http://schemas.openxmlformats.org/drawingml/2006/main" cx="11125200" cy="4095750"/>
        </p:xfrm>
        <a:graphic xmlns:a="http://schemas.openxmlformats.org/drawingml/2006/main">
          <a:graphicData uri="http://schemas.openxmlformats.org/drawingml/2006/table">
            <a:tbl>
              <a:tblPr/>
              <a:tblGrid>
                <a:gridCol w="1714500"/>
                <a:gridCol w="3714750"/>
                <a:gridCol w="5695950"/>
              </a:tblGrid>
              <a:tr h="819150">
                <a:tc>
                  <a:txBody>
                    <a:bodyPr/>
                    <a:lstStyle/>
                    <a:p>
                      <a:r>
                        <a:rPr sz="1125" b="1">
                          <a:solidFill>
                            <a:srgbClr val="FFFFFF"/>
                          </a:solidFill>
                          <a:latin typeface="Helvetica Neue"/>
                          <a:ea typeface="Helvetica Neue"/>
                          <a:cs typeface="Helvetica Neue"/>
                        </a:rPr>
                        <a:t>Layer</a:t>
                      </a:r>
                    </a:p>
                  </a:txBody>
                  <a:tcPr marL="91440" marR="91440" marT="45720" marB="45720">
                    <a:solidFill>
                      <a:srgbClr val="326CE5"/>
                    </a:solidFill>
                  </a:tcPr>
                </a:tc>
                <a:tc>
                  <a:txBody>
                    <a:bodyPr/>
                    <a:lstStyle/>
                    <a:p>
                      <a:r>
                        <a:rPr sz="1125" b="1">
                          <a:solidFill>
                            <a:srgbClr val="FFFFFF"/>
                          </a:solidFill>
                          <a:latin typeface="Helvetica Neue"/>
                          <a:ea typeface="Helvetica Neue"/>
                          <a:cs typeface="Helvetica Neue"/>
                        </a:rPr>
                        <a:t>Objects</a:t>
                      </a:r>
                    </a:p>
                  </a:txBody>
                  <a:tcPr marL="91440" marR="91440" marT="45720" marB="45720">
                    <a:solidFill>
                      <a:srgbClr val="326CE5"/>
                    </a:solidFill>
                  </a:tcPr>
                </a:tc>
                <a:tc>
                  <a:txBody>
                    <a:bodyPr/>
                    <a:lstStyle/>
                    <a:p>
                      <a:r>
                        <a:rPr sz="1125" b="1">
                          <a:solidFill>
                            <a:srgbClr val="FFFFFF"/>
                          </a:solidFill>
                          <a:latin typeface="Helvetica Neue"/>
                          <a:ea typeface="Helvetica Neue"/>
                          <a:cs typeface="Helvetica Neue"/>
                        </a:rPr>
                        <a:t>Security questions</a:t>
                      </a:r>
                    </a:p>
                  </a:txBody>
                  <a:tcPr marL="91440" marR="91440" marT="45720" marB="45720">
                    <a:solidFill>
                      <a:srgbClr val="326CE5"/>
                    </a:solidFill>
                  </a:tcPr>
                </a:tc>
              </a:tr>
              <a:tr h="819150">
                <a:tc>
                  <a:txBody>
                    <a:bodyPr/>
                    <a:lstStyle/>
                    <a:p>
                      <a:r>
                        <a:rPr sz="1200" b="1">
                          <a:solidFill>
                            <a:srgbClr val="0C1715"/>
                          </a:solidFill>
                          <a:latin typeface="Helvetica Neue"/>
                          <a:ea typeface="Helvetica Neue"/>
                          <a:cs typeface="Helvetica Neue"/>
                        </a:rPr>
                        <a:t>Workload</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Pod, Deployment, StatefulSet, DaemonSet, Job, CronJob</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Does the pod share host namespaces, run privileged, or allow escalation?</a:t>
                      </a:r>
                    </a:p>
                  </a:txBody>
                  <a:tcPr marL="91440" marR="91440" marT="45720" marB="45720">
                    <a:solidFill>
                      <a:srgbClr val="F2F7F5"/>
                    </a:solidFill>
                  </a:tcPr>
                </a:tc>
              </a:tr>
              <a:tr h="819150">
                <a:tc>
                  <a:txBody>
                    <a:bodyPr/>
                    <a:lstStyle/>
                    <a:p>
                      <a:r>
                        <a:rPr sz="1200" b="1">
                          <a:solidFill>
                            <a:srgbClr val="0C1715"/>
                          </a:solidFill>
                          <a:latin typeface="Helvetica Neue"/>
                          <a:ea typeface="Helvetica Neue"/>
                          <a:cs typeface="Helvetica Neue"/>
                        </a:rPr>
                        <a:t>Identity</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ServiceAccount, RoleBinding, ClusterRoleBinding</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Does a workload receive unnecessary API access or cluster-admin?</a:t>
                      </a:r>
                    </a:p>
                  </a:txBody>
                  <a:tcPr marL="91440" marR="91440" marT="45720" marB="45720">
                    <a:solidFill>
                      <a:srgbClr val="FFFFFF"/>
                    </a:solidFill>
                  </a:tcPr>
                </a:tc>
              </a:tr>
              <a:tr h="819150">
                <a:tc>
                  <a:txBody>
                    <a:bodyPr/>
                    <a:lstStyle/>
                    <a:p>
                      <a:r>
                        <a:rPr sz="1200" b="1">
                          <a:solidFill>
                            <a:srgbClr val="0C1715"/>
                          </a:solidFill>
                          <a:latin typeface="Helvetica Neue"/>
                          <a:ea typeface="Helvetica Neue"/>
                          <a:cs typeface="Helvetica Neue"/>
                        </a:rPr>
                        <a:t>Exposure</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Service and NetworkPolicy</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Can the workload receive public traffic or send unrestricted egress?</a:t>
                      </a:r>
                    </a:p>
                  </a:txBody>
                  <a:tcPr marL="91440" marR="91440" marT="45720" marB="45720">
                    <a:solidFill>
                      <a:srgbClr val="F2F7F5"/>
                    </a:solidFill>
                  </a:tcPr>
                </a:tc>
              </a:tr>
              <a:tr h="819150">
                <a:tc>
                  <a:txBody>
                    <a:bodyPr/>
                    <a:lstStyle/>
                    <a:p>
                      <a:r>
                        <a:rPr sz="1200" b="1">
                          <a:solidFill>
                            <a:srgbClr val="0C1715"/>
                          </a:solidFill>
                          <a:latin typeface="Helvetica Neue"/>
                          <a:ea typeface="Helvetica Neue"/>
                          <a:cs typeface="Helvetica Neue"/>
                        </a:rPr>
                        <a:t>Platform</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Namespace, EKS or GKE control plane, live-to-IaC comparison</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Are guardrails enabled, and does live state match the declared configuration?</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1735075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ection-18">
            <a:extLst xmlns:a="http://schemas.openxmlformats.org/drawingml/2006/main">
              <a:ext uri="{FF2B5EF4-FFF2-40B4-BE49-F238E27FC236}">
                <a16:creationId xmlns:a16="http://schemas.microsoft.com/office/drawing/2014/main" id="{9FF0CDEB-CF8B-4FFF-9A5C-38C87F3AE587}"/>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4</a:t>
            </a:r>
          </a:p>
        </p:txBody>
      </p:sp>
      <p:sp>
        <p:nvSpPr>
          <p:cNvPr id="2" name="title-18">
            <a:extLst xmlns:a="http://schemas.openxmlformats.org/drawingml/2006/main">
              <a:ext uri="{FF2B5EF4-FFF2-40B4-BE49-F238E27FC236}">
                <a16:creationId xmlns:a16="http://schemas.microsoft.com/office/drawing/2014/main" id="{0A5EB325-BEE2-48F6-9788-1BA36C458CCB}"/>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Kubernetes vulnerabilities and associated risks</a:t>
            </a:r>
          </a:p>
        </p:txBody>
      </p:sp>
      <p:sp>
        <p:nvSpPr>
          <p:cNvPr id="3" name="title-rule-18">
            <a:extLst xmlns:a="http://schemas.openxmlformats.org/drawingml/2006/main">
              <a:ext uri="{FF2B5EF4-FFF2-40B4-BE49-F238E27FC236}">
                <a16:creationId xmlns:a16="http://schemas.microsoft.com/office/drawing/2014/main" id="{FD8EB1D4-A13B-4E12-B08C-91900720C41F}"/>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2e3eeb1afe284460"/>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18">
            <a:extLst xmlns:a="http://schemas.openxmlformats.org/drawingml/2006/main">
              <a:ext uri="{FF2B5EF4-FFF2-40B4-BE49-F238E27FC236}">
                <a16:creationId xmlns:a16="http://schemas.microsoft.com/office/drawing/2014/main" id="{B3D45C62-1F8E-4805-B423-714EA012F5B5}"/>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18">
            <a:extLst xmlns:a="http://schemas.openxmlformats.org/drawingml/2006/main">
              <a:ext uri="{FF2B5EF4-FFF2-40B4-BE49-F238E27FC236}">
                <a16:creationId xmlns:a16="http://schemas.microsoft.com/office/drawing/2014/main" id="{EC7D06FE-8157-4679-8D7D-9BE20B6B9F7B}"/>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18">
            <a:extLst xmlns:a="http://schemas.openxmlformats.org/drawingml/2006/main">
              <a:ext uri="{FF2B5EF4-FFF2-40B4-BE49-F238E27FC236}">
                <a16:creationId xmlns:a16="http://schemas.microsoft.com/office/drawing/2014/main" id="{BF479018-6A73-4529-9F6A-7E0830D1B7A2}"/>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18</a:t>
            </a:r>
          </a:p>
        </p:txBody>
      </p:sp>
      <p:graphicFrame>
        <p:nvGraphicFramePr>
          <p:cNvPr id="16" name=""/>
          <p:cNvGraphicFramePr/>
          <p:nvPr/>
        </p:nvGraphicFramePr>
        <p:xfrm>
          <a:off xmlns:a="http://schemas.openxmlformats.org/drawingml/2006/main" x="533400" y="1752600"/>
          <a:ext xmlns:a="http://schemas.openxmlformats.org/drawingml/2006/main" cx="11125200" cy="4095750"/>
        </p:xfrm>
        <a:graphic xmlns:a="http://schemas.openxmlformats.org/drawingml/2006/main">
          <a:graphicData uri="http://schemas.openxmlformats.org/drawingml/2006/table">
            <a:tbl>
              <a:tblPr/>
              <a:tblGrid>
                <a:gridCol w="2095500"/>
                <a:gridCol w="3333750"/>
                <a:gridCol w="4000500"/>
                <a:gridCol w="1695450"/>
              </a:tblGrid>
              <a:tr h="819150">
                <a:tc>
                  <a:txBody>
                    <a:bodyPr/>
                    <a:lstStyle/>
                    <a:p>
                      <a:r>
                        <a:rPr sz="1125" b="1">
                          <a:solidFill>
                            <a:srgbClr val="FFFFFF"/>
                          </a:solidFill>
                          <a:latin typeface="Helvetica Neue"/>
                          <a:ea typeface="Helvetica Neue"/>
                          <a:cs typeface="Helvetica Neue"/>
                        </a:rPr>
                        <a:t>Vulnerability type</a:t>
                      </a:r>
                    </a:p>
                  </a:txBody>
                  <a:tcPr marL="91440" marR="91440" marT="45720" marB="45720">
                    <a:solidFill>
                      <a:srgbClr val="326CE5"/>
                    </a:solidFill>
                  </a:tcPr>
                </a:tc>
                <a:tc>
                  <a:txBody>
                    <a:bodyPr/>
                    <a:lstStyle/>
                    <a:p>
                      <a:r>
                        <a:rPr sz="1125" b="1">
                          <a:solidFill>
                            <a:srgbClr val="FFFFFF"/>
                          </a:solidFill>
                          <a:latin typeface="Helvetica Neue"/>
                          <a:ea typeface="Helvetica Neue"/>
                          <a:cs typeface="Helvetica Neue"/>
                        </a:rPr>
                        <a:t>Evidence the scanner reads</a:t>
                      </a:r>
                    </a:p>
                  </a:txBody>
                  <a:tcPr marL="91440" marR="91440" marT="45720" marB="45720">
                    <a:solidFill>
                      <a:srgbClr val="326CE5"/>
                    </a:solidFill>
                  </a:tcPr>
                </a:tc>
                <a:tc>
                  <a:txBody>
                    <a:bodyPr/>
                    <a:lstStyle/>
                    <a:p>
                      <a:r>
                        <a:rPr sz="1125" b="1">
                          <a:solidFill>
                            <a:srgbClr val="FFFFFF"/>
                          </a:solidFill>
                          <a:latin typeface="Helvetica Neue"/>
                          <a:ea typeface="Helvetica Neue"/>
                          <a:cs typeface="Helvetica Neue"/>
                        </a:rPr>
                        <a:t>Associated risk</a:t>
                      </a:r>
                    </a:p>
                  </a:txBody>
                  <a:tcPr marL="91440" marR="91440" marT="45720" marB="45720">
                    <a:solidFill>
                      <a:srgbClr val="326CE5"/>
                    </a:solidFill>
                  </a:tcPr>
                </a:tc>
                <a:tc>
                  <a:txBody>
                    <a:bodyPr/>
                    <a:lstStyle/>
                    <a:p>
                      <a:r>
                        <a:rPr sz="1125" b="1">
                          <a:solidFill>
                            <a:srgbClr val="FFFFFF"/>
                          </a:solidFill>
                          <a:latin typeface="Helvetica Neue"/>
                          <a:ea typeface="Helvetica Neue"/>
                          <a:cs typeface="Helvetica Neue"/>
                        </a:rPr>
                        <a:t>Typical severity</a:t>
                      </a:r>
                    </a:p>
                  </a:txBody>
                  <a:tcPr marL="91440" marR="91440" marT="45720" marB="45720">
                    <a:solidFill>
                      <a:srgbClr val="326CE5"/>
                    </a:solidFill>
                  </a:tcPr>
                </a:tc>
              </a:tr>
              <a:tr h="819150">
                <a:tc>
                  <a:txBody>
                    <a:bodyPr/>
                    <a:lstStyle/>
                    <a:p>
                      <a:r>
                        <a:rPr sz="1050" b="1">
                          <a:solidFill>
                            <a:srgbClr val="0C1715"/>
                          </a:solidFill>
                          <a:latin typeface="Helvetica Neue"/>
                          <a:ea typeface="Helvetica Neue"/>
                          <a:cs typeface="Helvetica Neue"/>
                        </a:rPr>
                        <a:t>Excessive cluster privilege</a:t>
                      </a:r>
                    </a:p>
                  </a:txBody>
                  <a:tcPr marL="91440" marR="91440" marT="45720" marB="45720">
                    <a:solidFill>
                      <a:srgbClr val="F2F7F5"/>
                    </a:solidFill>
                  </a:tcPr>
                </a:tc>
                <a:tc>
                  <a:txBody>
                    <a:bodyPr/>
                    <a:lstStyle/>
                    <a:p>
                      <a:r>
                        <a:rPr sz="1050" b="0">
                          <a:solidFill>
                            <a:srgbClr val="0C1715"/>
                          </a:solidFill>
                          <a:latin typeface="Helvetica Neue"/>
                          <a:ea typeface="Helvetica Neue"/>
                          <a:cs typeface="Helvetica Neue"/>
                        </a:rPr>
                        <a:t>A service account is bound to the cluster-admin ClusterRole</a:t>
                      </a:r>
                    </a:p>
                  </a:txBody>
                  <a:tcPr marL="91440" marR="91440" marT="45720" marB="45720">
                    <a:solidFill>
                      <a:srgbClr val="F2F7F5"/>
                    </a:solidFill>
                  </a:tcPr>
                </a:tc>
                <a:tc>
                  <a:txBody>
                    <a:bodyPr/>
                    <a:lstStyle/>
                    <a:p>
                      <a:r>
                        <a:rPr sz="1050" b="0">
                          <a:solidFill>
                            <a:srgbClr val="0C1715"/>
                          </a:solidFill>
                          <a:latin typeface="Helvetica Neue"/>
                          <a:ea typeface="Helvetica Neue"/>
                          <a:cs typeface="Helvetica Neue"/>
                        </a:rPr>
                        <a:t>A compromised workload may control cluster resources and access sensitive data</a:t>
                      </a:r>
                    </a:p>
                  </a:txBody>
                  <a:tcPr marL="91440" marR="91440" marT="45720" marB="45720">
                    <a:solidFill>
                      <a:srgbClr val="F2F7F5"/>
                    </a:solidFill>
                  </a:tcPr>
                </a:tc>
                <a:tc>
                  <a:txBody>
                    <a:bodyPr/>
                    <a:lstStyle/>
                    <a:p>
                      <a:r>
                        <a:rPr sz="1050" b="0">
                          <a:solidFill>
                            <a:srgbClr val="0C1715"/>
                          </a:solidFill>
                          <a:latin typeface="Helvetica Neue"/>
                          <a:ea typeface="Helvetica Neue"/>
                          <a:cs typeface="Helvetica Neue"/>
                        </a:rPr>
                        <a:t>Critical</a:t>
                      </a:r>
                    </a:p>
                  </a:txBody>
                  <a:tcPr marL="91440" marR="91440" marT="45720" marB="45720">
                    <a:solidFill>
                      <a:srgbClr val="F2F7F5"/>
                    </a:solidFill>
                  </a:tcPr>
                </a:tc>
              </a:tr>
              <a:tr h="819150">
                <a:tc>
                  <a:txBody>
                    <a:bodyPr/>
                    <a:lstStyle/>
                    <a:p>
                      <a:r>
                        <a:rPr sz="1050" b="1">
                          <a:solidFill>
                            <a:srgbClr val="0C1715"/>
                          </a:solidFill>
                          <a:latin typeface="Helvetica Neue"/>
                          <a:ea typeface="Helvetica Neue"/>
                          <a:cs typeface="Helvetica Neue"/>
                        </a:rPr>
                        <a:t>Host-level container access</a:t>
                      </a:r>
                    </a:p>
                  </a:txBody>
                  <a:tcPr marL="91440" marR="91440" marT="45720" marB="45720">
                    <a:solidFill>
                      <a:srgbClr val="FFFFFF"/>
                    </a:solidFill>
                  </a:tcPr>
                </a:tc>
                <a:tc>
                  <a:txBody>
                    <a:bodyPr/>
                    <a:lstStyle/>
                    <a:p>
                      <a:r>
                        <a:rPr sz="1050" b="0">
                          <a:solidFill>
                            <a:srgbClr val="0C1715"/>
                          </a:solidFill>
                          <a:latin typeface="Helvetica Neue"/>
                          <a:ea typeface="Helvetica Neue"/>
                          <a:cs typeface="Helvetica Neue"/>
                        </a:rPr>
                        <a:t>privileged: true is combined with host namespace access</a:t>
                      </a:r>
                    </a:p>
                  </a:txBody>
                  <a:tcPr marL="91440" marR="91440" marT="45720" marB="45720">
                    <a:solidFill>
                      <a:srgbClr val="FFFFFF"/>
                    </a:solidFill>
                  </a:tcPr>
                </a:tc>
                <a:tc>
                  <a:txBody>
                    <a:bodyPr/>
                    <a:lstStyle/>
                    <a:p>
                      <a:r>
                        <a:rPr sz="1050" b="0">
                          <a:solidFill>
                            <a:srgbClr val="0C1715"/>
                          </a:solidFill>
                          <a:latin typeface="Helvetica Neue"/>
                          <a:ea typeface="Helvetica Neue"/>
                          <a:cs typeface="Helvetica Neue"/>
                        </a:rPr>
                        <a:t>Container escape or misuse may affect the worker node and neighboring workloads</a:t>
                      </a:r>
                    </a:p>
                  </a:txBody>
                  <a:tcPr marL="91440" marR="91440" marT="45720" marB="45720">
                    <a:solidFill>
                      <a:srgbClr val="FFFFFF"/>
                    </a:solidFill>
                  </a:tcPr>
                </a:tc>
                <a:tc>
                  <a:txBody>
                    <a:bodyPr/>
                    <a:lstStyle/>
                    <a:p>
                      <a:r>
                        <a:rPr sz="1050" b="0">
                          <a:solidFill>
                            <a:srgbClr val="0C1715"/>
                          </a:solidFill>
                          <a:latin typeface="Helvetica Neue"/>
                          <a:ea typeface="Helvetica Neue"/>
                          <a:cs typeface="Helvetica Neue"/>
                        </a:rPr>
                        <a:t>Critical or High</a:t>
                      </a:r>
                    </a:p>
                  </a:txBody>
                  <a:tcPr marL="91440" marR="91440" marT="45720" marB="45720">
                    <a:solidFill>
                      <a:srgbClr val="FFFFFF"/>
                    </a:solidFill>
                  </a:tcPr>
                </a:tc>
              </a:tr>
              <a:tr h="819150">
                <a:tc>
                  <a:txBody>
                    <a:bodyPr/>
                    <a:lstStyle/>
                    <a:p>
                      <a:r>
                        <a:rPr sz="1050" b="1">
                          <a:solidFill>
                            <a:srgbClr val="0C1715"/>
                          </a:solidFill>
                          <a:latin typeface="Helvetica Neue"/>
                          <a:ea typeface="Helvetica Neue"/>
                          <a:cs typeface="Helvetica Neue"/>
                        </a:rPr>
                        <a:t>Unsafe container configuration</a:t>
                      </a:r>
                    </a:p>
                  </a:txBody>
                  <a:tcPr marL="91440" marR="91440" marT="45720" marB="45720">
                    <a:solidFill>
                      <a:srgbClr val="F2F7F5"/>
                    </a:solidFill>
                  </a:tcPr>
                </a:tc>
                <a:tc>
                  <a:txBody>
                    <a:bodyPr/>
                    <a:lstStyle/>
                    <a:p>
                      <a:r>
                        <a:rPr sz="1050" b="0">
                          <a:solidFill>
                            <a:srgbClr val="0C1715"/>
                          </a:solidFill>
                          <a:latin typeface="Helvetica Neue"/>
                          <a:ea typeface="Helvetica Neue"/>
                          <a:cs typeface="Helvetica Neue"/>
                        </a:rPr>
                        <a:t>Root execution, privilege escalation, mutable images, or dangerous capabilities</a:t>
                      </a:r>
                    </a:p>
                  </a:txBody>
                  <a:tcPr marL="91440" marR="91440" marT="45720" marB="45720">
                    <a:solidFill>
                      <a:srgbClr val="F2F7F5"/>
                    </a:solidFill>
                  </a:tcPr>
                </a:tc>
                <a:tc>
                  <a:txBody>
                    <a:bodyPr/>
                    <a:lstStyle/>
                    <a:p>
                      <a:r>
                        <a:rPr sz="1050" b="0">
                          <a:solidFill>
                            <a:srgbClr val="0C1715"/>
                          </a:solidFill>
                          <a:latin typeface="Helvetica Neue"/>
                          <a:ea typeface="Helvetica Neue"/>
                          <a:cs typeface="Helvetica Neue"/>
                        </a:rPr>
                        <a:t>Attackers gain more options after compromise and containment becomes harder</a:t>
                      </a:r>
                    </a:p>
                  </a:txBody>
                  <a:tcPr marL="91440" marR="91440" marT="45720" marB="45720">
                    <a:solidFill>
                      <a:srgbClr val="F2F7F5"/>
                    </a:solidFill>
                  </a:tcPr>
                </a:tc>
                <a:tc>
                  <a:txBody>
                    <a:bodyPr/>
                    <a:lstStyle/>
                    <a:p>
                      <a:r>
                        <a:rPr sz="1050" b="0">
                          <a:solidFill>
                            <a:srgbClr val="0C1715"/>
                          </a:solidFill>
                          <a:latin typeface="Helvetica Neue"/>
                          <a:ea typeface="Helvetica Neue"/>
                          <a:cs typeface="Helvetica Neue"/>
                        </a:rPr>
                        <a:t>Medium or High</a:t>
                      </a:r>
                    </a:p>
                  </a:txBody>
                  <a:tcPr marL="91440" marR="91440" marT="45720" marB="45720">
                    <a:solidFill>
                      <a:srgbClr val="F2F7F5"/>
                    </a:solidFill>
                  </a:tcPr>
                </a:tc>
              </a:tr>
              <a:tr h="819150">
                <a:tc>
                  <a:txBody>
                    <a:bodyPr/>
                    <a:lstStyle/>
                    <a:p>
                      <a:r>
                        <a:rPr sz="1050" b="1">
                          <a:solidFill>
                            <a:srgbClr val="0C1715"/>
                          </a:solidFill>
                          <a:latin typeface="Helvetica Neue"/>
                          <a:ea typeface="Helvetica Neue"/>
                          <a:cs typeface="Helvetica Neue"/>
                        </a:rPr>
                        <a:t>Broad network exposure</a:t>
                      </a:r>
                    </a:p>
                  </a:txBody>
                  <a:tcPr marL="91440" marR="91440" marT="45720" marB="45720">
                    <a:solidFill>
                      <a:srgbClr val="FFFFFF"/>
                    </a:solidFill>
                  </a:tcPr>
                </a:tc>
                <a:tc>
                  <a:txBody>
                    <a:bodyPr/>
                    <a:lstStyle/>
                    <a:p>
                      <a:r>
                        <a:rPr sz="1050" b="0">
                          <a:solidFill>
                            <a:srgbClr val="0C1715"/>
                          </a:solidFill>
                          <a:latin typeface="Helvetica Neue"/>
                          <a:ea typeface="Helvetica Neue"/>
                          <a:cs typeface="Helvetica Neue"/>
                        </a:rPr>
                        <a:t>NodePort, LoadBalancer, or unrestricted NetworkPolicy traffic</a:t>
                      </a:r>
                    </a:p>
                  </a:txBody>
                  <a:tcPr marL="91440" marR="91440" marT="45720" marB="45720">
                    <a:solidFill>
                      <a:srgbClr val="FFFFFF"/>
                    </a:solidFill>
                  </a:tcPr>
                </a:tc>
                <a:tc>
                  <a:txBody>
                    <a:bodyPr/>
                    <a:lstStyle/>
                    <a:p>
                      <a:r>
                        <a:rPr sz="1050" b="0">
                          <a:solidFill>
                            <a:srgbClr val="0C1715"/>
                          </a:solidFill>
                          <a:latin typeface="Helvetica Neue"/>
                          <a:ea typeface="Helvetica Neue"/>
                          <a:cs typeface="Helvetica Neue"/>
                        </a:rPr>
                        <a:t>Untrusted systems may reach the workload, increasing exploitation and lateral movement risk</a:t>
                      </a:r>
                    </a:p>
                  </a:txBody>
                  <a:tcPr marL="91440" marR="91440" marT="45720" marB="45720">
                    <a:solidFill>
                      <a:srgbClr val="FFFFFF"/>
                    </a:solidFill>
                  </a:tcPr>
                </a:tc>
                <a:tc>
                  <a:txBody>
                    <a:bodyPr/>
                    <a:lstStyle/>
                    <a:p>
                      <a:r>
                        <a:rPr sz="1050" b="0">
                          <a:solidFill>
                            <a:srgbClr val="0C1715"/>
                          </a:solidFill>
                          <a:latin typeface="Helvetica Neue"/>
                          <a:ea typeface="Helvetica Neue"/>
                          <a:cs typeface="Helvetica Neue"/>
                        </a:rPr>
                        <a:t>Low or Medium</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77610119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ection-19">
            <a:extLst xmlns:a="http://schemas.openxmlformats.org/drawingml/2006/main">
              <a:ext uri="{FF2B5EF4-FFF2-40B4-BE49-F238E27FC236}">
                <a16:creationId xmlns:a16="http://schemas.microsoft.com/office/drawing/2014/main" id="{FB003D36-BC0C-4BCC-9680-9CF59779BC69}"/>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4</a:t>
            </a:r>
          </a:p>
        </p:txBody>
      </p:sp>
      <p:sp>
        <p:nvSpPr>
          <p:cNvPr id="2" name="title-19">
            <a:extLst xmlns:a="http://schemas.openxmlformats.org/drawingml/2006/main">
              <a:ext uri="{FF2B5EF4-FFF2-40B4-BE49-F238E27FC236}">
                <a16:creationId xmlns:a16="http://schemas.microsoft.com/office/drawing/2014/main" id="{CCB5FF44-32EF-45DC-AA4B-81A20A1FF97C}"/>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Lab 3: Kubernetes scanner</a:t>
            </a:r>
          </a:p>
        </p:txBody>
      </p:sp>
      <p:sp>
        <p:nvSpPr>
          <p:cNvPr id="3" name="title-rule-19">
            <a:extLst xmlns:a="http://schemas.openxmlformats.org/drawingml/2006/main">
              <a:ext uri="{FF2B5EF4-FFF2-40B4-BE49-F238E27FC236}">
                <a16:creationId xmlns:a16="http://schemas.microsoft.com/office/drawing/2014/main" id="{D2B431DA-E5F4-4B99-B47D-30B91AF19467}"/>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5ef4856005e34e8e"/>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19">
            <a:extLst xmlns:a="http://schemas.openxmlformats.org/drawingml/2006/main">
              <a:ext uri="{FF2B5EF4-FFF2-40B4-BE49-F238E27FC236}">
                <a16:creationId xmlns:a16="http://schemas.microsoft.com/office/drawing/2014/main" id="{48987284-D1F4-4AD1-BB2A-A53531231E07}"/>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19">
            <a:extLst xmlns:a="http://schemas.openxmlformats.org/drawingml/2006/main">
              <a:ext uri="{FF2B5EF4-FFF2-40B4-BE49-F238E27FC236}">
                <a16:creationId xmlns:a16="http://schemas.microsoft.com/office/drawing/2014/main" id="{BCC649FC-70C1-43BD-B402-392008AAF479}"/>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19">
            <a:extLst xmlns:a="http://schemas.openxmlformats.org/drawingml/2006/main">
              <a:ext uri="{FF2B5EF4-FFF2-40B4-BE49-F238E27FC236}">
                <a16:creationId xmlns:a16="http://schemas.microsoft.com/office/drawing/2014/main" id="{1F2767B7-6EDF-47AD-A5EC-4725573DACBA}"/>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19</a:t>
            </a:r>
          </a:p>
        </p:txBody>
      </p:sp>
      <p:sp>
        <p:nvSpPr>
          <p:cNvPr id="8" name="lab-band-28">
            <a:extLst xmlns:a="http://schemas.openxmlformats.org/drawingml/2006/main">
              <a:ext uri="{FF2B5EF4-FFF2-40B4-BE49-F238E27FC236}">
                <a16:creationId xmlns:a16="http://schemas.microsoft.com/office/drawing/2014/main" id="{FEE22F04-8895-4CF4-B831-6AADE174F8AF}"/>
              </a:ext>
            </a:extLst>
          </p:cNvPr>
          <p:cNvSpPr>
            <a:spLocks xmlns:a="http://schemas.openxmlformats.org/drawingml/2006/main" noGrp="1"/>
          </p:cNvSpPr>
          <p:nvPr/>
        </p:nvSpPr>
        <p:spPr>
          <a:xfrm xmlns:a="http://schemas.openxmlformats.org/drawingml/2006/main">
            <a:off x="533400" y="1752600"/>
            <a:ext cx="2381250" cy="4095750"/>
          </a:xfrm>
          <a:prstGeom xmlns:a="http://schemas.openxmlformats.org/drawingml/2006/main" prst="rect">
            <a:avLst/>
          </a:prstGeom>
          <a:solidFill xmlns:a="http://schemas.openxmlformats.org/drawingml/2006/main">
            <a:srgbClr val="326CE5"/>
          </a:solidFill>
          <a:ln xmlns:a="http://schemas.openxmlformats.org/drawingml/2006/main" w="0">
            <a:solidFill>
              <a:srgbClr val="326CE5"/>
            </a:solidFill>
            <a:prstDash val="solid"/>
          </a:ln>
        </p:spPr>
      </p:sp>
      <p:sp>
        <p:nvSpPr>
          <p:cNvPr id="9" name="lab-number-28">
            <a:extLst xmlns:a="http://schemas.openxmlformats.org/drawingml/2006/main">
              <a:ext uri="{FF2B5EF4-FFF2-40B4-BE49-F238E27FC236}">
                <a16:creationId xmlns:a16="http://schemas.microsoft.com/office/drawing/2014/main" id="{2BAFC133-E6A7-44BC-A215-6BED670C590D}"/>
              </a:ext>
            </a:extLst>
          </p:cNvPr>
          <p:cNvSpPr>
            <a:spLocks xmlns:a="http://schemas.openxmlformats.org/drawingml/2006/main" noGrp="1"/>
          </p:cNvSpPr>
          <p:nvPr/>
        </p:nvSpPr>
        <p:spPr>
          <a:xfrm xmlns:a="http://schemas.openxmlformats.org/drawingml/2006/main">
            <a:off x="781050" y="20383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LAB 3</a:t>
            </a:r>
          </a:p>
        </p:txBody>
      </p:sp>
      <p:sp>
        <p:nvSpPr>
          <p:cNvPr id="10" name="lab-provider-28">
            <a:extLst xmlns:a="http://schemas.openxmlformats.org/drawingml/2006/main">
              <a:ext uri="{FF2B5EF4-FFF2-40B4-BE49-F238E27FC236}">
                <a16:creationId xmlns:a16="http://schemas.microsoft.com/office/drawing/2014/main" id="{DC768E76-ABA1-4C3A-9523-EC18597CF140}"/>
              </a:ext>
            </a:extLst>
          </p:cNvPr>
          <p:cNvSpPr>
            <a:spLocks xmlns:a="http://schemas.openxmlformats.org/drawingml/2006/main" noGrp="1"/>
          </p:cNvSpPr>
          <p:nvPr/>
        </p:nvSpPr>
        <p:spPr>
          <a:xfrm xmlns:a="http://schemas.openxmlformats.org/drawingml/2006/main">
            <a:off x="781050" y="2609850"/>
            <a:ext cx="180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Kubernetes</a:t>
            </a:r>
          </a:p>
        </p:txBody>
      </p:sp>
      <p:sp>
        <p:nvSpPr>
          <p:cNvPr id="11" name="lab-time-label-28">
            <a:extLst xmlns:a="http://schemas.openxmlformats.org/drawingml/2006/main">
              <a:ext uri="{FF2B5EF4-FFF2-40B4-BE49-F238E27FC236}">
                <a16:creationId xmlns:a16="http://schemas.microsoft.com/office/drawing/2014/main" id="{822BFA80-B85E-41BE-91EE-F80C60364843}"/>
              </a:ext>
            </a:extLst>
          </p:cNvPr>
          <p:cNvSpPr>
            <a:spLocks xmlns:a="http://schemas.openxmlformats.org/drawingml/2006/main" noGrp="1"/>
          </p:cNvSpPr>
          <p:nvPr/>
        </p:nvSpPr>
        <p:spPr>
          <a:xfrm xmlns:a="http://schemas.openxmlformats.org/drawingml/2006/main">
            <a:off x="781050" y="447675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Exercise time</a:t>
            </a:r>
          </a:p>
        </p:txBody>
      </p:sp>
      <p:sp>
        <p:nvSpPr>
          <p:cNvPr id="12" name="lab-time-28">
            <a:extLst xmlns:a="http://schemas.openxmlformats.org/drawingml/2006/main">
              <a:ext uri="{FF2B5EF4-FFF2-40B4-BE49-F238E27FC236}">
                <a16:creationId xmlns:a16="http://schemas.microsoft.com/office/drawing/2014/main" id="{61731132-793B-499B-9C78-8778DE173411}"/>
              </a:ext>
            </a:extLst>
          </p:cNvPr>
          <p:cNvSpPr>
            <a:spLocks xmlns:a="http://schemas.openxmlformats.org/drawingml/2006/main" noGrp="1"/>
          </p:cNvSpPr>
          <p:nvPr/>
        </p:nvSpPr>
        <p:spPr>
          <a:xfrm xmlns:a="http://schemas.openxmlformats.org/drawingml/2006/main">
            <a:off x="781050" y="4857750"/>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8 minutes</a:t>
            </a:r>
          </a:p>
        </p:txBody>
      </p:sp>
      <p:sp>
        <p:nvSpPr>
          <p:cNvPr id="13" name="lab-goal-label-28">
            <a:extLst xmlns:a="http://schemas.openxmlformats.org/drawingml/2006/main">
              <a:ext uri="{FF2B5EF4-FFF2-40B4-BE49-F238E27FC236}">
                <a16:creationId xmlns:a16="http://schemas.microsoft.com/office/drawing/2014/main" id="{A3C8C7ED-098B-43D7-BD9D-7339FDF5FD2C}"/>
              </a:ext>
            </a:extLst>
          </p:cNvPr>
          <p:cNvSpPr>
            <a:spLocks xmlns:a="http://schemas.openxmlformats.org/drawingml/2006/main" noGrp="1"/>
          </p:cNvSpPr>
          <p:nvPr/>
        </p:nvSpPr>
        <p:spPr>
          <a:xfrm xmlns:a="http://schemas.openxmlformats.org/drawingml/2006/main">
            <a:off x="3333750" y="18478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326CE5"/>
                </a:solidFill>
                <a:latin typeface="Helvetica Neue"/>
                <a:ea typeface="Helvetica Neue"/>
                <a:cs typeface="Helvetica Neue"/>
              </a:defRPr>
            </a:pPr>
            <a:r>
              <a:rPr sz="1275" b="1">
                <a:solidFill>
                  <a:srgbClr val="326CE5"/>
                </a:solidFill>
                <a:latin typeface="Helvetica Neue"/>
                <a:ea typeface="Helvetica Neue"/>
                <a:cs typeface="Helvetica Neue"/>
              </a:rPr>
              <a:t>Goal</a:t>
            </a:r>
          </a:p>
        </p:txBody>
      </p:sp>
      <p:sp>
        <p:nvSpPr>
          <p:cNvPr id="14" name="lab-goal-28">
            <a:extLst xmlns:a="http://schemas.openxmlformats.org/drawingml/2006/main">
              <a:ext uri="{FF2B5EF4-FFF2-40B4-BE49-F238E27FC236}">
                <a16:creationId xmlns:a16="http://schemas.microsoft.com/office/drawing/2014/main" id="{F814C00D-1349-4068-82F1-CA7C122744FA}"/>
              </a:ext>
            </a:extLst>
          </p:cNvPr>
          <p:cNvSpPr>
            <a:spLocks xmlns:a="http://schemas.openxmlformats.org/drawingml/2006/main" noGrp="1"/>
          </p:cNvSpPr>
          <p:nvPr/>
        </p:nvSpPr>
        <p:spPr>
          <a:xfrm xmlns:a="http://schemas.openxmlformats.org/drawingml/2006/main">
            <a:off x="3333750" y="2171700"/>
            <a:ext cx="7524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0">
                <a:solidFill>
                  <a:srgbClr val="0C1715"/>
                </a:solidFill>
                <a:latin typeface="Helvetica Neue"/>
                <a:ea typeface="Helvetica Neue"/>
                <a:cs typeface="Helvetica Neue"/>
              </a:defRPr>
            </a:pPr>
            <a:r>
              <a:rPr sz="1500" b="0">
                <a:solidFill>
                  <a:srgbClr val="0C1715"/>
                </a:solidFill>
                <a:latin typeface="Helvetica Neue"/>
                <a:ea typeface="Helvetica Neue"/>
                <a:cs typeface="Helvetica Neue"/>
              </a:rPr>
              <a:t>Connect workload, identity, and exposure findings into one risk explanation.</a:t>
            </a:r>
          </a:p>
        </p:txBody>
      </p:sp>
      <p:sp>
        <p:nvSpPr>
          <p:cNvPr id="15" name="lab-task-label-28">
            <a:extLst xmlns:a="http://schemas.openxmlformats.org/drawingml/2006/main">
              <a:ext uri="{FF2B5EF4-FFF2-40B4-BE49-F238E27FC236}">
                <a16:creationId xmlns:a16="http://schemas.microsoft.com/office/drawing/2014/main" id="{839755A5-C978-44C3-8809-C60CEE4B003E}"/>
              </a:ext>
            </a:extLst>
          </p:cNvPr>
          <p:cNvSpPr>
            <a:spLocks xmlns:a="http://schemas.openxmlformats.org/drawingml/2006/main" noGrp="1"/>
          </p:cNvSpPr>
          <p:nvPr/>
        </p:nvSpPr>
        <p:spPr>
          <a:xfrm xmlns:a="http://schemas.openxmlformats.org/drawingml/2006/main">
            <a:off x="3333750" y="29908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326CE5"/>
                </a:solidFill>
                <a:latin typeface="Helvetica Neue"/>
                <a:ea typeface="Helvetica Neue"/>
                <a:cs typeface="Helvetica Neue"/>
              </a:defRPr>
            </a:pPr>
            <a:r>
              <a:rPr sz="1275" b="1">
                <a:solidFill>
                  <a:srgbClr val="326CE5"/>
                </a:solidFill>
                <a:latin typeface="Helvetica Neue"/>
                <a:ea typeface="Helvetica Neue"/>
                <a:cs typeface="Helvetica Neue"/>
              </a:rPr>
              <a:t>Exercise</a:t>
            </a:r>
          </a:p>
        </p:txBody>
      </p:sp>
      <p:sp>
        <p:nvSpPr>
          <p:cNvPr id="16" name="lab-tasks-28">
            <a:extLst xmlns:a="http://schemas.openxmlformats.org/drawingml/2006/main">
              <a:ext uri="{FF2B5EF4-FFF2-40B4-BE49-F238E27FC236}">
                <a16:creationId xmlns:a16="http://schemas.microsoft.com/office/drawing/2014/main" id="{1ACB259C-149F-4BDD-990A-694EA4DEAB9E}"/>
              </a:ext>
            </a:extLst>
          </p:cNvPr>
          <p:cNvSpPr>
            <a:spLocks xmlns:a="http://schemas.openxmlformats.org/drawingml/2006/main" noGrp="1"/>
          </p:cNvSpPr>
          <p:nvPr/>
        </p:nvSpPr>
        <p:spPr>
          <a:xfrm xmlns:a="http://schemas.openxmlformats.org/drawingml/2006/main">
            <a:off x="3276600" y="3314700"/>
            <a:ext cx="4953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Use the assigned disposable cluster and cloudguard-test namespace</a:t>
            </a:r>
          </a:p>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Run the live Kubernetes scan with the provided kubeconfig</a:t>
            </a:r>
          </a:p>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Open the privileged workload and cluster-admin binding findings</a:t>
            </a:r>
          </a:p>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Delete the lab manifest after recording evidence</a:t>
            </a:r>
          </a:p>
        </p:txBody>
      </p:sp>
      <p:sp>
        <p:nvSpPr>
          <p:cNvPr id="17" name="lab-submit-label-28">
            <a:extLst xmlns:a="http://schemas.openxmlformats.org/drawingml/2006/main">
              <a:ext uri="{FF2B5EF4-FFF2-40B4-BE49-F238E27FC236}">
                <a16:creationId xmlns:a16="http://schemas.microsoft.com/office/drawing/2014/main" id="{C7187A63-A692-49D0-9BBB-66F050698DFF}"/>
              </a:ext>
            </a:extLst>
          </p:cNvPr>
          <p:cNvSpPr>
            <a:spLocks xmlns:a="http://schemas.openxmlformats.org/drawingml/2006/main" noGrp="1"/>
          </p:cNvSpPr>
          <p:nvPr/>
        </p:nvSpPr>
        <p:spPr>
          <a:xfrm xmlns:a="http://schemas.openxmlformats.org/drawingml/2006/main">
            <a:off x="8572500" y="29908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326CE5"/>
                </a:solidFill>
                <a:latin typeface="Helvetica Neue"/>
                <a:ea typeface="Helvetica Neue"/>
                <a:cs typeface="Helvetica Neue"/>
              </a:defRPr>
            </a:pPr>
            <a:r>
              <a:rPr sz="1275" b="1">
                <a:solidFill>
                  <a:srgbClr val="326CE5"/>
                </a:solidFill>
                <a:latin typeface="Helvetica Neue"/>
                <a:ea typeface="Helvetica Neue"/>
                <a:cs typeface="Helvetica Neue"/>
              </a:rPr>
              <a:t>Evidence to submit</a:t>
            </a:r>
          </a:p>
        </p:txBody>
      </p:sp>
      <p:sp>
        <p:nvSpPr>
          <p:cNvPr id="18" name="lab-submit-28">
            <a:extLst xmlns:a="http://schemas.openxmlformats.org/drawingml/2006/main">
              <a:ext uri="{FF2B5EF4-FFF2-40B4-BE49-F238E27FC236}">
                <a16:creationId xmlns:a16="http://schemas.microsoft.com/office/drawing/2014/main" id="{18F4B785-3611-4A20-8768-57FFBA15994D}"/>
              </a:ext>
            </a:extLst>
          </p:cNvPr>
          <p:cNvSpPr>
            <a:spLocks xmlns:a="http://schemas.openxmlformats.org/drawingml/2006/main" noGrp="1"/>
          </p:cNvSpPr>
          <p:nvPr/>
        </p:nvSpPr>
        <p:spPr>
          <a:xfrm xmlns:a="http://schemas.openxmlformats.org/drawingml/2006/main">
            <a:off x="8515350" y="3314700"/>
            <a:ext cx="2667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600"/>
              </a:spcAft>
              <a:buChar char="•"/>
              <a:defRPr sz="1275">
                <a:solidFill>
                  <a:srgbClr val="0C1715"/>
                </a:solidFill>
                <a:latin typeface="Helvetica Neue"/>
                <a:ea typeface="Helvetica Neue"/>
                <a:cs typeface="Helvetica Neue"/>
              </a:defRPr>
            </a:pPr>
            <a:r>
              <a:rPr sz="1275">
                <a:solidFill>
                  <a:srgbClr val="0C1715"/>
                </a:solidFill>
                <a:latin typeface="Helvetica Neue"/>
                <a:ea typeface="Helvetica Neue"/>
                <a:cs typeface="Helvetica Neue"/>
              </a:rPr>
              <a:t>Finding IDs</a:t>
            </a:r>
          </a:p>
          <a:p xmlns:a="http://schemas.openxmlformats.org/drawingml/2006/main">
            <a:pPr marL="228600" indent="-114300">
              <a:spcAft>
                <a:spcPts val="600"/>
              </a:spcAft>
              <a:buChar char="•"/>
              <a:defRPr sz="1275">
                <a:solidFill>
                  <a:srgbClr val="0C1715"/>
                </a:solidFill>
                <a:latin typeface="Helvetica Neue"/>
                <a:ea typeface="Helvetica Neue"/>
                <a:cs typeface="Helvetica Neue"/>
              </a:defRPr>
            </a:pPr>
            <a:r>
              <a:rPr sz="1275">
                <a:solidFill>
                  <a:srgbClr val="0C1715"/>
                </a:solidFill>
                <a:latin typeface="Helvetica Neue"/>
                <a:ea typeface="Helvetica Neue"/>
                <a:cs typeface="Helvetica Neue"/>
              </a:rPr>
              <a:t>Workload evidence</a:t>
            </a:r>
          </a:p>
          <a:p xmlns:a="http://schemas.openxmlformats.org/drawingml/2006/main">
            <a:pPr marL="228600" indent="-114300">
              <a:spcAft>
                <a:spcPts val="600"/>
              </a:spcAft>
              <a:buChar char="•"/>
              <a:defRPr sz="1275">
                <a:solidFill>
                  <a:srgbClr val="0C1715"/>
                </a:solidFill>
                <a:latin typeface="Helvetica Neue"/>
                <a:ea typeface="Helvetica Neue"/>
                <a:cs typeface="Helvetica Neue"/>
              </a:defRPr>
            </a:pPr>
            <a:r>
              <a:rPr sz="1275">
                <a:solidFill>
                  <a:srgbClr val="0C1715"/>
                </a:solidFill>
                <a:latin typeface="Helvetica Neue"/>
                <a:ea typeface="Helvetica Neue"/>
                <a:cs typeface="Helvetica Neue"/>
              </a:rPr>
              <a:t>RBAC evidence</a:t>
            </a:r>
          </a:p>
          <a:p xmlns:a="http://schemas.openxmlformats.org/drawingml/2006/main">
            <a:pPr marL="228600" indent="-114300">
              <a:spcAft>
                <a:spcPts val="600"/>
              </a:spcAft>
              <a:buChar char="•"/>
              <a:defRPr sz="1275">
                <a:solidFill>
                  <a:srgbClr val="0C1715"/>
                </a:solidFill>
                <a:latin typeface="Helvetica Neue"/>
                <a:ea typeface="Helvetica Neue"/>
                <a:cs typeface="Helvetica Neue"/>
              </a:defRPr>
            </a:pPr>
            <a:r>
              <a:rPr sz="1275">
                <a:solidFill>
                  <a:srgbClr val="0C1715"/>
                </a:solidFill>
                <a:latin typeface="Helvetica Neue"/>
                <a:ea typeface="Helvetica Neue"/>
                <a:cs typeface="Helvetica Neue"/>
              </a:rPr>
              <a:t>Namespace deletion result</a:t>
            </a:r>
          </a:p>
        </p:txBody>
      </p:sp>
      <p:sp>
        <p:nvSpPr>
          <p:cNvPr id="19" name="lab-check-bg-28">
            <a:extLst xmlns:a="http://schemas.openxmlformats.org/drawingml/2006/main">
              <a:ext uri="{FF2B5EF4-FFF2-40B4-BE49-F238E27FC236}">
                <a16:creationId xmlns:a16="http://schemas.microsoft.com/office/drawing/2014/main" id="{00020660-9FE6-409E-8CD3-E7ED3C4D55F8}"/>
              </a:ext>
            </a:extLst>
          </p:cNvPr>
          <p:cNvSpPr>
            <a:spLocks xmlns:a="http://schemas.openxmlformats.org/drawingml/2006/main" noGrp="1"/>
          </p:cNvSpPr>
          <p:nvPr/>
        </p:nvSpPr>
        <p:spPr>
          <a:xfrm xmlns:a="http://schemas.openxmlformats.org/drawingml/2006/main">
            <a:off x="3333750" y="5238750"/>
            <a:ext cx="7848600" cy="609600"/>
          </a:xfrm>
          <a:prstGeom xmlns:a="http://schemas.openxmlformats.org/drawingml/2006/main" prst="rect">
            <a:avLst/>
          </a:prstGeom>
          <a:solidFill xmlns:a="http://schemas.openxmlformats.org/drawingml/2006/main">
            <a:srgbClr val="F2F7F5"/>
          </a:solidFill>
          <a:ln xmlns:a="http://schemas.openxmlformats.org/drawingml/2006/main" w="0">
            <a:solidFill>
              <a:srgbClr val="F2F7F5"/>
            </a:solidFill>
            <a:prstDash val="solid"/>
          </a:ln>
        </p:spPr>
      </p:sp>
      <p:sp>
        <p:nvSpPr>
          <p:cNvPr id="20" name="lab-check-28">
            <a:extLst xmlns:a="http://schemas.openxmlformats.org/drawingml/2006/main">
              <a:ext uri="{FF2B5EF4-FFF2-40B4-BE49-F238E27FC236}">
                <a16:creationId xmlns:a16="http://schemas.microsoft.com/office/drawing/2014/main" id="{AE00BBEC-0233-49F7-9428-7520F7AA7A41}"/>
              </a:ext>
            </a:extLst>
          </p:cNvPr>
          <p:cNvSpPr>
            <a:spLocks xmlns:a="http://schemas.openxmlformats.org/drawingml/2006/main" noGrp="1"/>
          </p:cNvSpPr>
          <p:nvPr/>
        </p:nvSpPr>
        <p:spPr>
          <a:xfrm xmlns:a="http://schemas.openxmlformats.org/drawingml/2006/main">
            <a:off x="3562350" y="5410200"/>
            <a:ext cx="739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1">
                <a:solidFill>
                  <a:srgbClr val="0C1715"/>
                </a:solidFill>
                <a:latin typeface="Helvetica Neue"/>
                <a:ea typeface="Helvetica Neue"/>
                <a:cs typeface="Helvetica Neue"/>
              </a:defRPr>
            </a:pPr>
            <a:r>
              <a:rPr sz="1350" b="1">
                <a:solidFill>
                  <a:srgbClr val="0C1715"/>
                </a:solidFill>
                <a:latin typeface="Helvetica Neue"/>
                <a:ea typeface="Helvetica Neue"/>
                <a:cs typeface="Helvetica Neue"/>
              </a:rPr>
              <a:t>Completion: the group explains the attack path and retains the cleanup event</a:t>
            </a:r>
          </a:p>
        </p:txBody>
      </p:sp>
    </p:spTree>
    <p:extLst>
      <p:ext uri="{BB962C8B-B14F-4D97-AF65-F5344CB8AC3E}">
        <p14:creationId xmlns:p14="http://schemas.microsoft.com/office/powerpoint/2010/main" val="25830203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ection-20">
            <a:extLst xmlns:a="http://schemas.openxmlformats.org/drawingml/2006/main">
              <a:ext uri="{FF2B5EF4-FFF2-40B4-BE49-F238E27FC236}">
                <a16:creationId xmlns:a16="http://schemas.microsoft.com/office/drawing/2014/main" id="{8BBF8892-2757-43B8-B1F0-8E61D8A997CE}"/>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5</a:t>
            </a:r>
          </a:p>
        </p:txBody>
      </p:sp>
      <p:sp>
        <p:nvSpPr>
          <p:cNvPr id="2" name="title-20">
            <a:extLst xmlns:a="http://schemas.openxmlformats.org/drawingml/2006/main">
              <a:ext uri="{FF2B5EF4-FFF2-40B4-BE49-F238E27FC236}">
                <a16:creationId xmlns:a16="http://schemas.microsoft.com/office/drawing/2014/main" id="{64FD81A7-710F-44C4-ACDC-EA9E2DE4D68D}"/>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IaC scanner coverage</a:t>
            </a:r>
          </a:p>
        </p:txBody>
      </p:sp>
      <p:sp>
        <p:nvSpPr>
          <p:cNvPr id="3" name="title-rule-20">
            <a:extLst xmlns:a="http://schemas.openxmlformats.org/drawingml/2006/main">
              <a:ext uri="{FF2B5EF4-FFF2-40B4-BE49-F238E27FC236}">
                <a16:creationId xmlns:a16="http://schemas.microsoft.com/office/drawing/2014/main" id="{9629A9FA-DC36-426E-AE22-C87803BF16C7}"/>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5e267d5fdb1742e9"/>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20">
            <a:extLst xmlns:a="http://schemas.openxmlformats.org/drawingml/2006/main">
              <a:ext uri="{FF2B5EF4-FFF2-40B4-BE49-F238E27FC236}">
                <a16:creationId xmlns:a16="http://schemas.microsoft.com/office/drawing/2014/main" id="{82D88923-6EBE-44AA-9F9A-1DBD19201228}"/>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20">
            <a:extLst xmlns:a="http://schemas.openxmlformats.org/drawingml/2006/main">
              <a:ext uri="{FF2B5EF4-FFF2-40B4-BE49-F238E27FC236}">
                <a16:creationId xmlns:a16="http://schemas.microsoft.com/office/drawing/2014/main" id="{7FA791C7-8889-4ED4-A3F1-B14EF580CE53}"/>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20">
            <a:extLst xmlns:a="http://schemas.openxmlformats.org/drawingml/2006/main">
              <a:ext uri="{FF2B5EF4-FFF2-40B4-BE49-F238E27FC236}">
                <a16:creationId xmlns:a16="http://schemas.microsoft.com/office/drawing/2014/main" id="{6AEEEF7C-9C1F-4FF9-B4CE-A2467EFB9955}"/>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20</a:t>
            </a:r>
          </a:p>
        </p:txBody>
      </p:sp>
      <p:graphicFrame>
        <p:nvGraphicFramePr>
          <p:cNvPr id="17" name=""/>
          <p:cNvGraphicFramePr/>
          <p:nvPr/>
        </p:nvGraphicFramePr>
        <p:xfrm>
          <a:off xmlns:a="http://schemas.openxmlformats.org/drawingml/2006/main" x="533400" y="1885950"/>
          <a:ext xmlns:a="http://schemas.openxmlformats.org/drawingml/2006/main" cx="11125200" cy="3333750"/>
        </p:xfrm>
        <a:graphic xmlns:a="http://schemas.openxmlformats.org/drawingml/2006/main">
          <a:graphicData uri="http://schemas.openxmlformats.org/drawingml/2006/table">
            <a:tbl>
              <a:tblPr/>
              <a:tblGrid>
                <a:gridCol w="2095500"/>
                <a:gridCol w="3143250"/>
                <a:gridCol w="5886450"/>
              </a:tblGrid>
              <a:tr h="833438">
                <a:tc>
                  <a:txBody>
                    <a:bodyPr/>
                    <a:lstStyle/>
                    <a:p>
                      <a:r>
                        <a:rPr sz="1125" b="1">
                          <a:solidFill>
                            <a:srgbClr val="FFFFFF"/>
                          </a:solidFill>
                          <a:latin typeface="Helvetica Neue"/>
                          <a:ea typeface="Helvetica Neue"/>
                          <a:cs typeface="Helvetica Neue"/>
                        </a:rPr>
                        <a:t>Template type</a:t>
                      </a:r>
                    </a:p>
                  </a:txBody>
                  <a:tcPr marL="91440" marR="91440" marT="45720" marB="45720">
                    <a:solidFill>
                      <a:srgbClr val="7C3AED"/>
                    </a:solidFill>
                  </a:tcPr>
                </a:tc>
                <a:tc>
                  <a:txBody>
                    <a:bodyPr/>
                    <a:lstStyle/>
                    <a:p>
                      <a:r>
                        <a:rPr sz="1125" b="1">
                          <a:solidFill>
                            <a:srgbClr val="FFFFFF"/>
                          </a:solidFill>
                          <a:latin typeface="Helvetica Neue"/>
                          <a:ea typeface="Helvetica Neue"/>
                          <a:cs typeface="Helvetica Neue"/>
                        </a:rPr>
                        <a:t>How CloudGuard identifies it</a:t>
                      </a:r>
                    </a:p>
                  </a:txBody>
                  <a:tcPr marL="91440" marR="91440" marT="45720" marB="45720">
                    <a:solidFill>
                      <a:srgbClr val="7C3AED"/>
                    </a:solidFill>
                  </a:tcPr>
                </a:tc>
                <a:tc>
                  <a:txBody>
                    <a:bodyPr/>
                    <a:lstStyle/>
                    <a:p>
                      <a:r>
                        <a:rPr sz="1125" b="1">
                          <a:solidFill>
                            <a:srgbClr val="FFFFFF"/>
                          </a:solidFill>
                          <a:latin typeface="Helvetica Neue"/>
                          <a:ea typeface="Helvetica Neue"/>
                          <a:cs typeface="Helvetica Neue"/>
                        </a:rPr>
                        <a:t>Examples of checks</a:t>
                      </a:r>
                    </a:p>
                  </a:txBody>
                  <a:tcPr marL="91440" marR="91440" marT="45720" marB="45720">
                    <a:solidFill>
                      <a:srgbClr val="7C3AED"/>
                    </a:solidFill>
                  </a:tcPr>
                </a:tc>
              </a:tr>
              <a:tr h="833438">
                <a:tc>
                  <a:txBody>
                    <a:bodyPr/>
                    <a:lstStyle/>
                    <a:p>
                      <a:r>
                        <a:rPr sz="1200" b="1">
                          <a:solidFill>
                            <a:srgbClr val="0C1715"/>
                          </a:solidFill>
                          <a:latin typeface="Helvetica Neue"/>
                          <a:ea typeface="Helvetica Neue"/>
                          <a:cs typeface="Helvetica Neue"/>
                        </a:rPr>
                        <a:t>Terraform</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.tf, .tfvars, or .hcl content</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Public S3 ACL, open security group, public database, missing encryption, wildcard IAM</a:t>
                      </a:r>
                    </a:p>
                  </a:txBody>
                  <a:tcPr marL="91440" marR="91440" marT="45720" marB="45720">
                    <a:solidFill>
                      <a:srgbClr val="F2F7F5"/>
                    </a:solidFill>
                  </a:tcPr>
                </a:tc>
              </a:tr>
              <a:tr h="833438">
                <a:tc>
                  <a:txBody>
                    <a:bodyPr/>
                    <a:lstStyle/>
                    <a:p>
                      <a:r>
                        <a:rPr sz="1200" b="1">
                          <a:solidFill>
                            <a:srgbClr val="0C1715"/>
                          </a:solidFill>
                          <a:latin typeface="Helvetica Neue"/>
                          <a:ea typeface="Helvetica Neue"/>
                          <a:cs typeface="Helvetica Neue"/>
                        </a:rPr>
                        <a:t>CloudFormation</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AWS template Resources in YAML or JSON</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Public bucket, missing public access block, open ingress, public RDS, broad IAM</a:t>
                      </a:r>
                    </a:p>
                  </a:txBody>
                  <a:tcPr marL="91440" marR="91440" marT="45720" marB="45720">
                    <a:solidFill>
                      <a:srgbClr val="FFFFFF"/>
                    </a:solidFill>
                  </a:tcPr>
                </a:tc>
              </a:tr>
              <a:tr h="833438">
                <a:tc>
                  <a:txBody>
                    <a:bodyPr/>
                    <a:lstStyle/>
                    <a:p>
                      <a:r>
                        <a:rPr sz="1200" b="1">
                          <a:solidFill>
                            <a:srgbClr val="0C1715"/>
                          </a:solidFill>
                          <a:latin typeface="Helvetica Neue"/>
                          <a:ea typeface="Helvetica Neue"/>
                          <a:cs typeface="Helvetica Neue"/>
                        </a:rPr>
                        <a:t>Kubernetes manifest</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apiVersion and kind in YAML or JSON</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Privileged workload, host access, mutable image, broad RBAC, exposed service, Secret in source</a:t>
                      </a:r>
                    </a:p>
                  </a:txBody>
                  <a:tcPr marL="91440" marR="91440" marT="45720" marB="45720">
                    <a:solidFill>
                      <a:srgbClr val="F2F7F5"/>
                    </a:solidFill>
                  </a:tcPr>
                </a:tc>
              </a:tr>
            </a:tbl>
          </a:graphicData>
        </a:graphic>
      </p:graphicFrame>
      <p:sp>
        <p:nvSpPr>
          <p:cNvPr id="9" name="iac-coverage-note">
            <a:extLst xmlns:a="http://schemas.openxmlformats.org/drawingml/2006/main">
              <a:ext uri="{FF2B5EF4-FFF2-40B4-BE49-F238E27FC236}">
                <a16:creationId xmlns:a16="http://schemas.microsoft.com/office/drawing/2014/main" id="{E64FF1BA-9E6A-4F7E-A20E-61F9C0486D22}"/>
              </a:ext>
            </a:extLst>
          </p:cNvPr>
          <p:cNvSpPr>
            <a:spLocks xmlns:a="http://schemas.openxmlformats.org/drawingml/2006/main" noGrp="1"/>
          </p:cNvSpPr>
          <p:nvPr/>
        </p:nvSpPr>
        <p:spPr>
          <a:xfrm xmlns:a="http://schemas.openxmlformats.org/drawingml/2006/main">
            <a:off x="533400" y="55626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0C1715"/>
                </a:solidFill>
                <a:latin typeface="Helvetica Neue"/>
                <a:ea typeface="Helvetica Neue"/>
                <a:cs typeface="Helvetica Neue"/>
              </a:defRPr>
            </a:pPr>
            <a:r>
              <a:rPr sz="1575" b="1">
                <a:solidFill>
                  <a:srgbClr val="0C1715"/>
                </a:solidFill>
                <a:latin typeface="Helvetica Neue"/>
                <a:ea typeface="Helvetica Neue"/>
                <a:cs typeface="Helvetica Neue"/>
              </a:rPr>
              <a:t>The scan accepts uploaded files or a repository path. It reads configuration only and does not deploy the templates.</a:t>
            </a:r>
          </a:p>
        </p:txBody>
      </p:sp>
    </p:spTree>
    <p:extLst>
      <p:ext uri="{BB962C8B-B14F-4D97-AF65-F5344CB8AC3E}">
        <p14:creationId xmlns:p14="http://schemas.microsoft.com/office/powerpoint/2010/main" val="61847988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21">
            <a:extLst xmlns:a="http://schemas.openxmlformats.org/drawingml/2006/main">
              <a:ext uri="{FF2B5EF4-FFF2-40B4-BE49-F238E27FC236}">
                <a16:creationId xmlns:a16="http://schemas.microsoft.com/office/drawing/2014/main" id="{74238247-EE84-4D7F-ACF9-EF9BB9D12393}"/>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5</a:t>
            </a:r>
          </a:p>
        </p:txBody>
      </p:sp>
      <p:sp>
        <p:nvSpPr>
          <p:cNvPr id="2" name="title-21">
            <a:extLst xmlns:a="http://schemas.openxmlformats.org/drawingml/2006/main">
              <a:ext uri="{FF2B5EF4-FFF2-40B4-BE49-F238E27FC236}">
                <a16:creationId xmlns:a16="http://schemas.microsoft.com/office/drawing/2014/main" id="{7F6354AC-BC98-4270-A324-4D939B4F9548}"/>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How IaC static analysis works</a:t>
            </a:r>
          </a:p>
        </p:txBody>
      </p:sp>
      <p:sp>
        <p:nvSpPr>
          <p:cNvPr id="3" name="title-rule-21">
            <a:extLst xmlns:a="http://schemas.openxmlformats.org/drawingml/2006/main">
              <a:ext uri="{FF2B5EF4-FFF2-40B4-BE49-F238E27FC236}">
                <a16:creationId xmlns:a16="http://schemas.microsoft.com/office/drawing/2014/main" id="{4D92F781-D7D8-40DA-B672-AC939E8012B3}"/>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5231a6bd013c4d91"/>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21">
            <a:extLst xmlns:a="http://schemas.openxmlformats.org/drawingml/2006/main">
              <a:ext uri="{FF2B5EF4-FFF2-40B4-BE49-F238E27FC236}">
                <a16:creationId xmlns:a16="http://schemas.microsoft.com/office/drawing/2014/main" id="{913C0337-9458-495B-A6C4-0D5C05A9A668}"/>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21">
            <a:extLst xmlns:a="http://schemas.openxmlformats.org/drawingml/2006/main">
              <a:ext uri="{FF2B5EF4-FFF2-40B4-BE49-F238E27FC236}">
                <a16:creationId xmlns:a16="http://schemas.microsoft.com/office/drawing/2014/main" id="{25F9AA22-DEFB-4E14-A334-8245FBA97FB9}"/>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21">
            <a:extLst xmlns:a="http://schemas.openxmlformats.org/drawingml/2006/main">
              <a:ext uri="{FF2B5EF4-FFF2-40B4-BE49-F238E27FC236}">
                <a16:creationId xmlns:a16="http://schemas.microsoft.com/office/drawing/2014/main" id="{00AFA27F-6DFC-4423-8CEA-759B478B9CE6}"/>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21</a:t>
            </a:r>
          </a:p>
        </p:txBody>
      </p:sp>
      <p:sp>
        <p:nvSpPr>
          <p:cNvPr id="8" name="part-num-31-0">
            <a:extLst xmlns:a="http://schemas.openxmlformats.org/drawingml/2006/main">
              <a:ext uri="{FF2B5EF4-FFF2-40B4-BE49-F238E27FC236}">
                <a16:creationId xmlns:a16="http://schemas.microsoft.com/office/drawing/2014/main" id="{1936FD18-195E-46E7-99DA-A1F98D884A6D}"/>
              </a:ext>
            </a:extLst>
          </p:cNvPr>
          <p:cNvSpPr>
            <a:spLocks xmlns:a="http://schemas.openxmlformats.org/drawingml/2006/main" noGrp="1"/>
          </p:cNvSpPr>
          <p:nvPr/>
        </p:nvSpPr>
        <p:spPr>
          <a:xfrm xmlns:a="http://schemas.openxmlformats.org/drawingml/2006/main">
            <a:off x="533400" y="1809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7C3AED"/>
                </a:solidFill>
                <a:latin typeface="Helvetica Neue"/>
                <a:ea typeface="Helvetica Neue"/>
                <a:cs typeface="Helvetica Neue"/>
              </a:defRPr>
            </a:pPr>
            <a:r>
              <a:rPr sz="2100" b="1">
                <a:solidFill>
                  <a:srgbClr val="7C3AED"/>
                </a:solidFill>
                <a:latin typeface="Helvetica Neue"/>
                <a:ea typeface="Helvetica Neue"/>
                <a:cs typeface="Helvetica Neue"/>
              </a:rPr>
              <a:t>01</a:t>
            </a:r>
          </a:p>
        </p:txBody>
      </p:sp>
      <p:sp>
        <p:nvSpPr>
          <p:cNvPr id="9" name="part-rule-31-0">
            <a:extLst xmlns:a="http://schemas.openxmlformats.org/drawingml/2006/main">
              <a:ext uri="{FF2B5EF4-FFF2-40B4-BE49-F238E27FC236}">
                <a16:creationId xmlns:a16="http://schemas.microsoft.com/office/drawing/2014/main" id="{649DAFFC-148F-42B7-8C03-24B8E4BAFC6D}"/>
              </a:ext>
            </a:extLst>
          </p:cNvPr>
          <p:cNvSpPr>
            <a:spLocks xmlns:a="http://schemas.openxmlformats.org/drawingml/2006/main" noGrp="1"/>
          </p:cNvSpPr>
          <p:nvPr/>
        </p:nvSpPr>
        <p:spPr>
          <a:xfrm xmlns:a="http://schemas.openxmlformats.org/drawingml/2006/main">
            <a:off x="533400" y="2381250"/>
            <a:ext cx="2362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10" name="part-title-31-0">
            <a:extLst xmlns:a="http://schemas.openxmlformats.org/drawingml/2006/main">
              <a:ext uri="{FF2B5EF4-FFF2-40B4-BE49-F238E27FC236}">
                <a16:creationId xmlns:a16="http://schemas.microsoft.com/office/drawing/2014/main" id="{AD0C504D-98BC-4A89-B366-2F96FABFFDBA}"/>
              </a:ext>
            </a:extLst>
          </p:cNvPr>
          <p:cNvSpPr>
            <a:spLocks xmlns:a="http://schemas.openxmlformats.org/drawingml/2006/main" noGrp="1"/>
          </p:cNvSpPr>
          <p:nvPr/>
        </p:nvSpPr>
        <p:spPr>
          <a:xfrm xmlns:a="http://schemas.openxmlformats.org/drawingml/2006/main">
            <a:off x="533400" y="2667000"/>
            <a:ext cx="2362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C1715"/>
                </a:solidFill>
                <a:latin typeface="Helvetica Neue"/>
                <a:ea typeface="Helvetica Neue"/>
                <a:cs typeface="Helvetica Neue"/>
              </a:defRPr>
            </a:pPr>
            <a:r>
              <a:rPr sz="1650" b="1">
                <a:solidFill>
                  <a:srgbClr val="0C1715"/>
                </a:solidFill>
                <a:latin typeface="Helvetica Neue"/>
                <a:ea typeface="Helvetica Neue"/>
                <a:cs typeface="Helvetica Neue"/>
              </a:rPr>
              <a:t>Discover files</a:t>
            </a:r>
          </a:p>
        </p:txBody>
      </p:sp>
      <p:sp>
        <p:nvSpPr>
          <p:cNvPr id="11" name="part-body-31-0">
            <a:extLst xmlns:a="http://schemas.openxmlformats.org/drawingml/2006/main">
              <a:ext uri="{FF2B5EF4-FFF2-40B4-BE49-F238E27FC236}">
                <a16:creationId xmlns:a16="http://schemas.microsoft.com/office/drawing/2014/main" id="{5D685D93-D963-46D2-8261-A39C53B901B0}"/>
              </a:ext>
            </a:extLst>
          </p:cNvPr>
          <p:cNvSpPr>
            <a:spLocks xmlns:a="http://schemas.openxmlformats.org/drawingml/2006/main" noGrp="1"/>
          </p:cNvSpPr>
          <p:nvPr/>
        </p:nvSpPr>
        <p:spPr>
          <a:xfrm xmlns:a="http://schemas.openxmlformats.org/drawingml/2006/main">
            <a:off x="533400" y="3143250"/>
            <a:ext cx="23622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60716D"/>
                </a:solidFill>
                <a:latin typeface="Helvetica Neue"/>
                <a:ea typeface="Helvetica Neue"/>
                <a:cs typeface="Helvetica Neue"/>
              </a:defRPr>
            </a:pPr>
            <a:r>
              <a:rPr sz="1350" b="0">
                <a:solidFill>
                  <a:srgbClr val="60716D"/>
                </a:solidFill>
                <a:latin typeface="Helvetica Neue"/>
                <a:ea typeface="Helvetica Neue"/>
                <a:cs typeface="Helvetica Neue"/>
              </a:rPr>
              <a:t>The scanner walks the selected repository or accepts uploaded files while excluding build, dependency, and report directories.</a:t>
            </a:r>
          </a:p>
        </p:txBody>
      </p:sp>
      <p:sp>
        <p:nvSpPr>
          <p:cNvPr id="12" name="part-num-31-1">
            <a:extLst xmlns:a="http://schemas.openxmlformats.org/drawingml/2006/main">
              <a:ext uri="{FF2B5EF4-FFF2-40B4-BE49-F238E27FC236}">
                <a16:creationId xmlns:a16="http://schemas.microsoft.com/office/drawing/2014/main" id="{72D1D16D-C9E3-4A36-81CF-A607E48D5DE8}"/>
              </a:ext>
            </a:extLst>
          </p:cNvPr>
          <p:cNvSpPr>
            <a:spLocks xmlns:a="http://schemas.openxmlformats.org/drawingml/2006/main" noGrp="1"/>
          </p:cNvSpPr>
          <p:nvPr/>
        </p:nvSpPr>
        <p:spPr>
          <a:xfrm xmlns:a="http://schemas.openxmlformats.org/drawingml/2006/main">
            <a:off x="3314700" y="1809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7C3AED"/>
                </a:solidFill>
                <a:latin typeface="Helvetica Neue"/>
                <a:ea typeface="Helvetica Neue"/>
                <a:cs typeface="Helvetica Neue"/>
              </a:defRPr>
            </a:pPr>
            <a:r>
              <a:rPr sz="2100" b="1">
                <a:solidFill>
                  <a:srgbClr val="7C3AED"/>
                </a:solidFill>
                <a:latin typeface="Helvetica Neue"/>
                <a:ea typeface="Helvetica Neue"/>
                <a:cs typeface="Helvetica Neue"/>
              </a:rPr>
              <a:t>02</a:t>
            </a:r>
          </a:p>
        </p:txBody>
      </p:sp>
      <p:sp>
        <p:nvSpPr>
          <p:cNvPr id="13" name="part-rule-31-1">
            <a:extLst xmlns:a="http://schemas.openxmlformats.org/drawingml/2006/main">
              <a:ext uri="{FF2B5EF4-FFF2-40B4-BE49-F238E27FC236}">
                <a16:creationId xmlns:a16="http://schemas.microsoft.com/office/drawing/2014/main" id="{D7EEABE1-489A-4C8C-88A1-98284C1EF07A}"/>
              </a:ext>
            </a:extLst>
          </p:cNvPr>
          <p:cNvSpPr>
            <a:spLocks xmlns:a="http://schemas.openxmlformats.org/drawingml/2006/main" noGrp="1"/>
          </p:cNvSpPr>
          <p:nvPr/>
        </p:nvSpPr>
        <p:spPr>
          <a:xfrm xmlns:a="http://schemas.openxmlformats.org/drawingml/2006/main">
            <a:off x="3314700" y="2381250"/>
            <a:ext cx="2362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14" name="part-title-31-1">
            <a:extLst xmlns:a="http://schemas.openxmlformats.org/drawingml/2006/main">
              <a:ext uri="{FF2B5EF4-FFF2-40B4-BE49-F238E27FC236}">
                <a16:creationId xmlns:a16="http://schemas.microsoft.com/office/drawing/2014/main" id="{79A02C48-9539-4BFF-9405-8F513A2B249F}"/>
              </a:ext>
            </a:extLst>
          </p:cNvPr>
          <p:cNvSpPr>
            <a:spLocks xmlns:a="http://schemas.openxmlformats.org/drawingml/2006/main" noGrp="1"/>
          </p:cNvSpPr>
          <p:nvPr/>
        </p:nvSpPr>
        <p:spPr>
          <a:xfrm xmlns:a="http://schemas.openxmlformats.org/drawingml/2006/main">
            <a:off x="3314700" y="2667000"/>
            <a:ext cx="2362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C1715"/>
                </a:solidFill>
                <a:latin typeface="Helvetica Neue"/>
                <a:ea typeface="Helvetica Neue"/>
                <a:cs typeface="Helvetica Neue"/>
              </a:defRPr>
            </a:pPr>
            <a:r>
              <a:rPr sz="1650" b="1">
                <a:solidFill>
                  <a:srgbClr val="0C1715"/>
                </a:solidFill>
                <a:latin typeface="Helvetica Neue"/>
                <a:ea typeface="Helvetica Neue"/>
                <a:cs typeface="Helvetica Neue"/>
              </a:rPr>
              <a:t>Classify</a:t>
            </a:r>
          </a:p>
        </p:txBody>
      </p:sp>
      <p:sp>
        <p:nvSpPr>
          <p:cNvPr id="15" name="part-body-31-1">
            <a:extLst xmlns:a="http://schemas.openxmlformats.org/drawingml/2006/main">
              <a:ext uri="{FF2B5EF4-FFF2-40B4-BE49-F238E27FC236}">
                <a16:creationId xmlns:a16="http://schemas.microsoft.com/office/drawing/2014/main" id="{89B5F91C-8EF9-4E1B-93DD-372BFA90DCFD}"/>
              </a:ext>
            </a:extLst>
          </p:cNvPr>
          <p:cNvSpPr>
            <a:spLocks xmlns:a="http://schemas.openxmlformats.org/drawingml/2006/main" noGrp="1"/>
          </p:cNvSpPr>
          <p:nvPr/>
        </p:nvSpPr>
        <p:spPr>
          <a:xfrm xmlns:a="http://schemas.openxmlformats.org/drawingml/2006/main">
            <a:off x="3314700" y="3143250"/>
            <a:ext cx="23622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60716D"/>
                </a:solidFill>
                <a:latin typeface="Helvetica Neue"/>
                <a:ea typeface="Helvetica Neue"/>
                <a:cs typeface="Helvetica Neue"/>
              </a:defRPr>
            </a:pPr>
            <a:r>
              <a:rPr sz="1350" b="0">
                <a:solidFill>
                  <a:srgbClr val="60716D"/>
                </a:solidFill>
                <a:latin typeface="Helvetica Neue"/>
                <a:ea typeface="Helvetica Neue"/>
                <a:cs typeface="Helvetica Neue"/>
              </a:rPr>
              <a:t>Extensions and content identify Terraform, CloudFormation, or Kubernetes configuration.</a:t>
            </a:r>
          </a:p>
        </p:txBody>
      </p:sp>
      <p:sp>
        <p:nvSpPr>
          <p:cNvPr id="16" name="part-num-31-2">
            <a:extLst xmlns:a="http://schemas.openxmlformats.org/drawingml/2006/main">
              <a:ext uri="{FF2B5EF4-FFF2-40B4-BE49-F238E27FC236}">
                <a16:creationId xmlns:a16="http://schemas.microsoft.com/office/drawing/2014/main" id="{068E47BB-2256-4DA5-80E4-EE7F68AA4D51}"/>
              </a:ext>
            </a:extLst>
          </p:cNvPr>
          <p:cNvSpPr>
            <a:spLocks xmlns:a="http://schemas.openxmlformats.org/drawingml/2006/main" noGrp="1"/>
          </p:cNvSpPr>
          <p:nvPr/>
        </p:nvSpPr>
        <p:spPr>
          <a:xfrm xmlns:a="http://schemas.openxmlformats.org/drawingml/2006/main">
            <a:off x="6096000" y="1809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7C3AED"/>
                </a:solidFill>
                <a:latin typeface="Helvetica Neue"/>
                <a:ea typeface="Helvetica Neue"/>
                <a:cs typeface="Helvetica Neue"/>
              </a:defRPr>
            </a:pPr>
            <a:r>
              <a:rPr sz="2100" b="1">
                <a:solidFill>
                  <a:srgbClr val="7C3AED"/>
                </a:solidFill>
                <a:latin typeface="Helvetica Neue"/>
                <a:ea typeface="Helvetica Neue"/>
                <a:cs typeface="Helvetica Neue"/>
              </a:rPr>
              <a:t>03</a:t>
            </a:r>
          </a:p>
        </p:txBody>
      </p:sp>
      <p:sp>
        <p:nvSpPr>
          <p:cNvPr id="17" name="part-rule-31-2">
            <a:extLst xmlns:a="http://schemas.openxmlformats.org/drawingml/2006/main">
              <a:ext uri="{FF2B5EF4-FFF2-40B4-BE49-F238E27FC236}">
                <a16:creationId xmlns:a16="http://schemas.microsoft.com/office/drawing/2014/main" id="{C335DB35-80E3-4727-AFA4-43999F761D5E}"/>
              </a:ext>
            </a:extLst>
          </p:cNvPr>
          <p:cNvSpPr>
            <a:spLocks xmlns:a="http://schemas.openxmlformats.org/drawingml/2006/main" noGrp="1"/>
          </p:cNvSpPr>
          <p:nvPr/>
        </p:nvSpPr>
        <p:spPr>
          <a:xfrm xmlns:a="http://schemas.openxmlformats.org/drawingml/2006/main">
            <a:off x="6096000" y="2381250"/>
            <a:ext cx="2362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18" name="part-title-31-2">
            <a:extLst xmlns:a="http://schemas.openxmlformats.org/drawingml/2006/main">
              <a:ext uri="{FF2B5EF4-FFF2-40B4-BE49-F238E27FC236}">
                <a16:creationId xmlns:a16="http://schemas.microsoft.com/office/drawing/2014/main" id="{C2B2BE60-5368-4D19-B825-39E826633074}"/>
              </a:ext>
            </a:extLst>
          </p:cNvPr>
          <p:cNvSpPr>
            <a:spLocks xmlns:a="http://schemas.openxmlformats.org/drawingml/2006/main" noGrp="1"/>
          </p:cNvSpPr>
          <p:nvPr/>
        </p:nvSpPr>
        <p:spPr>
          <a:xfrm xmlns:a="http://schemas.openxmlformats.org/drawingml/2006/main">
            <a:off x="6096000" y="2667000"/>
            <a:ext cx="2362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C1715"/>
                </a:solidFill>
                <a:latin typeface="Helvetica Neue"/>
                <a:ea typeface="Helvetica Neue"/>
                <a:cs typeface="Helvetica Neue"/>
              </a:defRPr>
            </a:pPr>
            <a:r>
              <a:rPr sz="1650" b="1">
                <a:solidFill>
                  <a:srgbClr val="0C1715"/>
                </a:solidFill>
                <a:latin typeface="Helvetica Neue"/>
                <a:ea typeface="Helvetica Neue"/>
                <a:cs typeface="Helvetica Neue"/>
              </a:rPr>
              <a:t>Match rules</a:t>
            </a:r>
          </a:p>
        </p:txBody>
      </p:sp>
      <p:sp>
        <p:nvSpPr>
          <p:cNvPr id="19" name="part-body-31-2">
            <a:extLst xmlns:a="http://schemas.openxmlformats.org/drawingml/2006/main">
              <a:ext uri="{FF2B5EF4-FFF2-40B4-BE49-F238E27FC236}">
                <a16:creationId xmlns:a16="http://schemas.microsoft.com/office/drawing/2014/main" id="{E685AF57-BC3F-4590-8E5E-7ABFC714AA37}"/>
              </a:ext>
            </a:extLst>
          </p:cNvPr>
          <p:cNvSpPr>
            <a:spLocks xmlns:a="http://schemas.openxmlformats.org/drawingml/2006/main" noGrp="1"/>
          </p:cNvSpPr>
          <p:nvPr/>
        </p:nvSpPr>
        <p:spPr>
          <a:xfrm xmlns:a="http://schemas.openxmlformats.org/drawingml/2006/main">
            <a:off x="6096000" y="3143250"/>
            <a:ext cx="23622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60716D"/>
                </a:solidFill>
                <a:latin typeface="Helvetica Neue"/>
                <a:ea typeface="Helvetica Neue"/>
                <a:cs typeface="Helvetica Neue"/>
              </a:defRPr>
            </a:pPr>
            <a:r>
              <a:rPr sz="1350" b="0">
                <a:solidFill>
                  <a:srgbClr val="60716D"/>
                </a:solidFill>
                <a:latin typeface="Helvetica Neue"/>
                <a:ea typeface="Helvetica Neue"/>
                <a:cs typeface="Helvetica Neue"/>
              </a:rPr>
              <a:t>Parsers and targeted patterns identify properties such as public access, wildcard permissions, or privileged execution.</a:t>
            </a:r>
          </a:p>
        </p:txBody>
      </p:sp>
      <p:sp>
        <p:nvSpPr>
          <p:cNvPr id="20" name="part-num-31-3">
            <a:extLst xmlns:a="http://schemas.openxmlformats.org/drawingml/2006/main">
              <a:ext uri="{FF2B5EF4-FFF2-40B4-BE49-F238E27FC236}">
                <a16:creationId xmlns:a16="http://schemas.microsoft.com/office/drawing/2014/main" id="{7E162FE9-37C2-42C2-A31B-B3BF14E1D7E0}"/>
              </a:ext>
            </a:extLst>
          </p:cNvPr>
          <p:cNvSpPr>
            <a:spLocks xmlns:a="http://schemas.openxmlformats.org/drawingml/2006/main" noGrp="1"/>
          </p:cNvSpPr>
          <p:nvPr/>
        </p:nvSpPr>
        <p:spPr>
          <a:xfrm xmlns:a="http://schemas.openxmlformats.org/drawingml/2006/main">
            <a:off x="8877300" y="1809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7C3AED"/>
                </a:solidFill>
                <a:latin typeface="Helvetica Neue"/>
                <a:ea typeface="Helvetica Neue"/>
                <a:cs typeface="Helvetica Neue"/>
              </a:defRPr>
            </a:pPr>
            <a:r>
              <a:rPr sz="2100" b="1">
                <a:solidFill>
                  <a:srgbClr val="7C3AED"/>
                </a:solidFill>
                <a:latin typeface="Helvetica Neue"/>
                <a:ea typeface="Helvetica Neue"/>
                <a:cs typeface="Helvetica Neue"/>
              </a:rPr>
              <a:t>04</a:t>
            </a:r>
          </a:p>
        </p:txBody>
      </p:sp>
      <p:sp>
        <p:nvSpPr>
          <p:cNvPr id="21" name="part-rule-31-3">
            <a:extLst xmlns:a="http://schemas.openxmlformats.org/drawingml/2006/main">
              <a:ext uri="{FF2B5EF4-FFF2-40B4-BE49-F238E27FC236}">
                <a16:creationId xmlns:a16="http://schemas.microsoft.com/office/drawing/2014/main" id="{97591597-9159-4E0E-8E74-174BD5017D60}"/>
              </a:ext>
            </a:extLst>
          </p:cNvPr>
          <p:cNvSpPr>
            <a:spLocks xmlns:a="http://schemas.openxmlformats.org/drawingml/2006/main" noGrp="1"/>
          </p:cNvSpPr>
          <p:nvPr/>
        </p:nvSpPr>
        <p:spPr>
          <a:xfrm xmlns:a="http://schemas.openxmlformats.org/drawingml/2006/main">
            <a:off x="8877300" y="2381250"/>
            <a:ext cx="2362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22" name="part-title-31-3">
            <a:extLst xmlns:a="http://schemas.openxmlformats.org/drawingml/2006/main">
              <a:ext uri="{FF2B5EF4-FFF2-40B4-BE49-F238E27FC236}">
                <a16:creationId xmlns:a16="http://schemas.microsoft.com/office/drawing/2014/main" id="{544331C9-15C3-4B51-AD16-77213C7B14CD}"/>
              </a:ext>
            </a:extLst>
          </p:cNvPr>
          <p:cNvSpPr>
            <a:spLocks xmlns:a="http://schemas.openxmlformats.org/drawingml/2006/main" noGrp="1"/>
          </p:cNvSpPr>
          <p:nvPr/>
        </p:nvSpPr>
        <p:spPr>
          <a:xfrm xmlns:a="http://schemas.openxmlformats.org/drawingml/2006/main">
            <a:off x="8877300" y="2667000"/>
            <a:ext cx="2362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C1715"/>
                </a:solidFill>
                <a:latin typeface="Helvetica Neue"/>
                <a:ea typeface="Helvetica Neue"/>
                <a:cs typeface="Helvetica Neue"/>
              </a:defRPr>
            </a:pPr>
            <a:r>
              <a:rPr sz="1650" b="1">
                <a:solidFill>
                  <a:srgbClr val="0C1715"/>
                </a:solidFill>
                <a:latin typeface="Helvetica Neue"/>
                <a:ea typeface="Helvetica Neue"/>
                <a:cs typeface="Helvetica Neue"/>
              </a:rPr>
              <a:t>Return evidence</a:t>
            </a:r>
          </a:p>
        </p:txBody>
      </p:sp>
      <p:sp>
        <p:nvSpPr>
          <p:cNvPr id="23" name="part-body-31-3">
            <a:extLst xmlns:a="http://schemas.openxmlformats.org/drawingml/2006/main">
              <a:ext uri="{FF2B5EF4-FFF2-40B4-BE49-F238E27FC236}">
                <a16:creationId xmlns:a16="http://schemas.microsoft.com/office/drawing/2014/main" id="{09A7DF87-1286-4A7E-99D8-77AC82499F42}"/>
              </a:ext>
            </a:extLst>
          </p:cNvPr>
          <p:cNvSpPr>
            <a:spLocks xmlns:a="http://schemas.openxmlformats.org/drawingml/2006/main" noGrp="1"/>
          </p:cNvSpPr>
          <p:nvPr/>
        </p:nvSpPr>
        <p:spPr>
          <a:xfrm xmlns:a="http://schemas.openxmlformats.org/drawingml/2006/main">
            <a:off x="8877300" y="3143250"/>
            <a:ext cx="23622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60716D"/>
                </a:solidFill>
                <a:latin typeface="Helvetica Neue"/>
                <a:ea typeface="Helvetica Neue"/>
                <a:cs typeface="Helvetica Neue"/>
              </a:defRPr>
            </a:pPr>
            <a:r>
              <a:rPr sz="1350" b="0">
                <a:solidFill>
                  <a:srgbClr val="60716D"/>
                </a:solidFill>
                <a:latin typeface="Helvetica Neue"/>
                <a:ea typeface="Helvetica Neue"/>
                <a:cs typeface="Helvetica Neue"/>
              </a:rPr>
              <a:t>The finding includes the template file, issue, severity, explanation, recommendation, and compliance references.</a:t>
            </a:r>
          </a:p>
        </p:txBody>
      </p:sp>
    </p:spTree>
    <p:extLst>
      <p:ext uri="{BB962C8B-B14F-4D97-AF65-F5344CB8AC3E}">
        <p14:creationId xmlns:p14="http://schemas.microsoft.com/office/powerpoint/2010/main" val="13688736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ection-22">
            <a:extLst xmlns:a="http://schemas.openxmlformats.org/drawingml/2006/main">
              <a:ext uri="{FF2B5EF4-FFF2-40B4-BE49-F238E27FC236}">
                <a16:creationId xmlns:a16="http://schemas.microsoft.com/office/drawing/2014/main" id="{F423953F-B077-425F-A2BD-EA07CD9B202E}"/>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5</a:t>
            </a:r>
          </a:p>
        </p:txBody>
      </p:sp>
      <p:sp>
        <p:nvSpPr>
          <p:cNvPr id="2" name="title-22">
            <a:extLst xmlns:a="http://schemas.openxmlformats.org/drawingml/2006/main">
              <a:ext uri="{FF2B5EF4-FFF2-40B4-BE49-F238E27FC236}">
                <a16:creationId xmlns:a16="http://schemas.microsoft.com/office/drawing/2014/main" id="{29DEFC23-C0E8-4C86-B5E0-AA9A333DBC0C}"/>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IaC vulnerabilities and associated risks</a:t>
            </a:r>
          </a:p>
        </p:txBody>
      </p:sp>
      <p:sp>
        <p:nvSpPr>
          <p:cNvPr id="3" name="title-rule-22">
            <a:extLst xmlns:a="http://schemas.openxmlformats.org/drawingml/2006/main">
              <a:ext uri="{FF2B5EF4-FFF2-40B4-BE49-F238E27FC236}">
                <a16:creationId xmlns:a16="http://schemas.microsoft.com/office/drawing/2014/main" id="{CDF90BA7-D95D-4DFB-820D-EC4903E9A900}"/>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3fb364a4dceb4145"/>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22">
            <a:extLst xmlns:a="http://schemas.openxmlformats.org/drawingml/2006/main">
              <a:ext uri="{FF2B5EF4-FFF2-40B4-BE49-F238E27FC236}">
                <a16:creationId xmlns:a16="http://schemas.microsoft.com/office/drawing/2014/main" id="{53E3C060-46EF-4507-AB9A-B81304346067}"/>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22">
            <a:extLst xmlns:a="http://schemas.openxmlformats.org/drawingml/2006/main">
              <a:ext uri="{FF2B5EF4-FFF2-40B4-BE49-F238E27FC236}">
                <a16:creationId xmlns:a16="http://schemas.microsoft.com/office/drawing/2014/main" id="{8F58994E-F61D-48F9-97AF-3D7193474657}"/>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22">
            <a:extLst xmlns:a="http://schemas.openxmlformats.org/drawingml/2006/main">
              <a:ext uri="{FF2B5EF4-FFF2-40B4-BE49-F238E27FC236}">
                <a16:creationId xmlns:a16="http://schemas.microsoft.com/office/drawing/2014/main" id="{F688B2AA-33CA-439A-95C1-2BB7F06F132F}"/>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22</a:t>
            </a:r>
          </a:p>
        </p:txBody>
      </p:sp>
      <p:graphicFrame>
        <p:nvGraphicFramePr>
          <p:cNvPr id="16" name=""/>
          <p:cNvGraphicFramePr/>
          <p:nvPr/>
        </p:nvGraphicFramePr>
        <p:xfrm>
          <a:off xmlns:a="http://schemas.openxmlformats.org/drawingml/2006/main" x="533400" y="1752600"/>
          <a:ext xmlns:a="http://schemas.openxmlformats.org/drawingml/2006/main" cx="11125200" cy="4095750"/>
        </p:xfrm>
        <a:graphic xmlns:a="http://schemas.openxmlformats.org/drawingml/2006/main">
          <a:graphicData uri="http://schemas.openxmlformats.org/drawingml/2006/table">
            <a:tbl>
              <a:tblPr/>
              <a:tblGrid>
                <a:gridCol w="2143125"/>
                <a:gridCol w="3143250"/>
                <a:gridCol w="4143375"/>
                <a:gridCol w="1695450"/>
              </a:tblGrid>
              <a:tr h="819150">
                <a:tc>
                  <a:txBody>
                    <a:bodyPr/>
                    <a:lstStyle/>
                    <a:p>
                      <a:r>
                        <a:rPr sz="1125" b="1">
                          <a:solidFill>
                            <a:srgbClr val="FFFFFF"/>
                          </a:solidFill>
                          <a:latin typeface="Helvetica Neue"/>
                          <a:ea typeface="Helvetica Neue"/>
                          <a:cs typeface="Helvetica Neue"/>
                        </a:rPr>
                        <a:t>Vulnerability type</a:t>
                      </a:r>
                    </a:p>
                  </a:txBody>
                  <a:tcPr marL="91440" marR="91440" marT="45720" marB="45720">
                    <a:solidFill>
                      <a:srgbClr val="7C3AED"/>
                    </a:solidFill>
                  </a:tcPr>
                </a:tc>
                <a:tc>
                  <a:txBody>
                    <a:bodyPr/>
                    <a:lstStyle/>
                    <a:p>
                      <a:r>
                        <a:rPr sz="1125" b="1">
                          <a:solidFill>
                            <a:srgbClr val="FFFFFF"/>
                          </a:solidFill>
                          <a:latin typeface="Helvetica Neue"/>
                          <a:ea typeface="Helvetica Neue"/>
                          <a:cs typeface="Helvetica Neue"/>
                        </a:rPr>
                        <a:t>Vulnerable configuration</a:t>
                      </a:r>
                    </a:p>
                  </a:txBody>
                  <a:tcPr marL="91440" marR="91440" marT="45720" marB="45720">
                    <a:solidFill>
                      <a:srgbClr val="7C3AED"/>
                    </a:solidFill>
                  </a:tcPr>
                </a:tc>
                <a:tc>
                  <a:txBody>
                    <a:bodyPr/>
                    <a:lstStyle/>
                    <a:p>
                      <a:r>
                        <a:rPr sz="1125" b="1">
                          <a:solidFill>
                            <a:srgbClr val="FFFFFF"/>
                          </a:solidFill>
                          <a:latin typeface="Helvetica Neue"/>
                          <a:ea typeface="Helvetica Neue"/>
                          <a:cs typeface="Helvetica Neue"/>
                        </a:rPr>
                        <a:t>Associated risk</a:t>
                      </a:r>
                    </a:p>
                  </a:txBody>
                  <a:tcPr marL="91440" marR="91440" marT="45720" marB="45720">
                    <a:solidFill>
                      <a:srgbClr val="7C3AED"/>
                    </a:solidFill>
                  </a:tcPr>
                </a:tc>
                <a:tc>
                  <a:txBody>
                    <a:bodyPr/>
                    <a:lstStyle/>
                    <a:p>
                      <a:r>
                        <a:rPr sz="1125" b="1">
                          <a:solidFill>
                            <a:srgbClr val="FFFFFF"/>
                          </a:solidFill>
                          <a:latin typeface="Helvetica Neue"/>
                          <a:ea typeface="Helvetica Neue"/>
                          <a:cs typeface="Helvetica Neue"/>
                        </a:rPr>
                        <a:t>Severity</a:t>
                      </a:r>
                    </a:p>
                  </a:txBody>
                  <a:tcPr marL="91440" marR="91440" marT="45720" marB="45720">
                    <a:solidFill>
                      <a:srgbClr val="7C3AED"/>
                    </a:solidFill>
                  </a:tcPr>
                </a:tc>
              </a:tr>
              <a:tr h="819150">
                <a:tc>
                  <a:txBody>
                    <a:bodyPr/>
                    <a:lstStyle/>
                    <a:p>
                      <a:r>
                        <a:rPr sz="1050" b="1">
                          <a:solidFill>
                            <a:srgbClr val="0C1715"/>
                          </a:solidFill>
                          <a:latin typeface="Helvetica Neue"/>
                          <a:ea typeface="Helvetica Neue"/>
                          <a:cs typeface="Helvetica Neue"/>
                        </a:rPr>
                        <a:t>Public storage or network access</a:t>
                      </a:r>
                    </a:p>
                  </a:txBody>
                  <a:tcPr marL="91440" marR="91440" marT="45720" marB="45720">
                    <a:solidFill>
                      <a:srgbClr val="F2F7F5"/>
                    </a:solidFill>
                  </a:tcPr>
                </a:tc>
                <a:tc>
                  <a:txBody>
                    <a:bodyPr/>
                    <a:lstStyle/>
                    <a:p>
                      <a:r>
                        <a:rPr sz="1050" b="0">
                          <a:solidFill>
                            <a:srgbClr val="0C1715"/>
                          </a:solidFill>
                          <a:latin typeface="Helvetica Neue"/>
                          <a:ea typeface="Helvetica Neue"/>
                          <a:cs typeface="Helvetica Neue"/>
                        </a:rPr>
                        <a:t>public-read ACL or ingress from 0.0.0.0/0</a:t>
                      </a:r>
                    </a:p>
                  </a:txBody>
                  <a:tcPr marL="91440" marR="91440" marT="45720" marB="45720">
                    <a:solidFill>
                      <a:srgbClr val="F2F7F5"/>
                    </a:solidFill>
                  </a:tcPr>
                </a:tc>
                <a:tc>
                  <a:txBody>
                    <a:bodyPr/>
                    <a:lstStyle/>
                    <a:p>
                      <a:r>
                        <a:rPr sz="1050" b="0">
                          <a:solidFill>
                            <a:srgbClr val="0C1715"/>
                          </a:solidFill>
                          <a:latin typeface="Helvetica Neue"/>
                          <a:ea typeface="Helvetica Neue"/>
                          <a:cs typeface="Helvetica Neue"/>
                        </a:rPr>
                        <a:t>Deployment could expose data or services to unauthorized internet users</a:t>
                      </a:r>
                    </a:p>
                  </a:txBody>
                  <a:tcPr marL="91440" marR="91440" marT="45720" marB="45720">
                    <a:solidFill>
                      <a:srgbClr val="F2F7F5"/>
                    </a:solidFill>
                  </a:tcPr>
                </a:tc>
                <a:tc>
                  <a:txBody>
                    <a:bodyPr/>
                    <a:lstStyle/>
                    <a:p>
                      <a:r>
                        <a:rPr sz="1050" b="0">
                          <a:solidFill>
                            <a:srgbClr val="0C1715"/>
                          </a:solidFill>
                          <a:latin typeface="Helvetica Neue"/>
                          <a:ea typeface="Helvetica Neue"/>
                          <a:cs typeface="Helvetica Neue"/>
                        </a:rPr>
                        <a:t>High or Critical</a:t>
                      </a:r>
                    </a:p>
                  </a:txBody>
                  <a:tcPr marL="91440" marR="91440" marT="45720" marB="45720">
                    <a:solidFill>
                      <a:srgbClr val="F2F7F5"/>
                    </a:solidFill>
                  </a:tcPr>
                </a:tc>
              </a:tr>
              <a:tr h="819150">
                <a:tc>
                  <a:txBody>
                    <a:bodyPr/>
                    <a:lstStyle/>
                    <a:p>
                      <a:r>
                        <a:rPr sz="1050" b="1">
                          <a:solidFill>
                            <a:srgbClr val="0C1715"/>
                          </a:solidFill>
                          <a:latin typeface="Helvetica Neue"/>
                          <a:ea typeface="Helvetica Neue"/>
                          <a:cs typeface="Helvetica Neue"/>
                        </a:rPr>
                        <a:t>Public or unencrypted database</a:t>
                      </a:r>
                    </a:p>
                  </a:txBody>
                  <a:tcPr marL="91440" marR="91440" marT="45720" marB="45720">
                    <a:solidFill>
                      <a:srgbClr val="FFFFFF"/>
                    </a:solidFill>
                  </a:tcPr>
                </a:tc>
                <a:tc>
                  <a:txBody>
                    <a:bodyPr/>
                    <a:lstStyle/>
                    <a:p>
                      <a:r>
                        <a:rPr sz="1050" b="0">
                          <a:solidFill>
                            <a:srgbClr val="0C1715"/>
                          </a:solidFill>
                          <a:latin typeface="Helvetica Neue"/>
                          <a:ea typeface="Helvetica Neue"/>
                          <a:cs typeface="Helvetica Neue"/>
                        </a:rPr>
                        <a:t>publicly_accessible = true or encryption is absent</a:t>
                      </a:r>
                    </a:p>
                  </a:txBody>
                  <a:tcPr marL="91440" marR="91440" marT="45720" marB="45720">
                    <a:solidFill>
                      <a:srgbClr val="FFFFFF"/>
                    </a:solidFill>
                  </a:tcPr>
                </a:tc>
                <a:tc>
                  <a:txBody>
                    <a:bodyPr/>
                    <a:lstStyle/>
                    <a:p>
                      <a:r>
                        <a:rPr sz="1050" b="0">
                          <a:solidFill>
                            <a:srgbClr val="0C1715"/>
                          </a:solidFill>
                          <a:latin typeface="Helvetica Neue"/>
                          <a:ea typeface="Helvetica Neue"/>
                          <a:cs typeface="Helvetica Neue"/>
                        </a:rPr>
                        <a:t>Attackers may access sensitive records or intercept stored data</a:t>
                      </a:r>
                    </a:p>
                  </a:txBody>
                  <a:tcPr marL="91440" marR="91440" marT="45720" marB="45720">
                    <a:solidFill>
                      <a:srgbClr val="FFFFFF"/>
                    </a:solidFill>
                  </a:tcPr>
                </a:tc>
                <a:tc>
                  <a:txBody>
                    <a:bodyPr/>
                    <a:lstStyle/>
                    <a:p>
                      <a:r>
                        <a:rPr sz="1050" b="0">
                          <a:solidFill>
                            <a:srgbClr val="0C1715"/>
                          </a:solidFill>
                          <a:latin typeface="Helvetica Neue"/>
                          <a:ea typeface="Helvetica Neue"/>
                          <a:cs typeface="Helvetica Neue"/>
                        </a:rPr>
                        <a:t>High</a:t>
                      </a:r>
                    </a:p>
                  </a:txBody>
                  <a:tcPr marL="91440" marR="91440" marT="45720" marB="45720">
                    <a:solidFill>
                      <a:srgbClr val="FFFFFF"/>
                    </a:solidFill>
                  </a:tcPr>
                </a:tc>
              </a:tr>
              <a:tr h="819150">
                <a:tc>
                  <a:txBody>
                    <a:bodyPr/>
                    <a:lstStyle/>
                    <a:p>
                      <a:r>
                        <a:rPr sz="1050" b="1">
                          <a:solidFill>
                            <a:srgbClr val="0C1715"/>
                          </a:solidFill>
                          <a:latin typeface="Helvetica Neue"/>
                          <a:ea typeface="Helvetica Neue"/>
                          <a:cs typeface="Helvetica Neue"/>
                        </a:rPr>
                        <a:t>Wildcard IAM permission</a:t>
                      </a:r>
                    </a:p>
                  </a:txBody>
                  <a:tcPr marL="91440" marR="91440" marT="45720" marB="45720">
                    <a:solidFill>
                      <a:srgbClr val="F2F7F5"/>
                    </a:solidFill>
                  </a:tcPr>
                </a:tc>
                <a:tc>
                  <a:txBody>
                    <a:bodyPr/>
                    <a:lstStyle/>
                    <a:p>
                      <a:r>
                        <a:rPr sz="1050" b="0">
                          <a:solidFill>
                            <a:srgbClr val="0C1715"/>
                          </a:solidFill>
                          <a:latin typeface="Helvetica Neue"/>
                          <a:ea typeface="Helvetica Neue"/>
                          <a:cs typeface="Helvetica Neue"/>
                        </a:rPr>
                        <a:t>Action '*' is allowed on Resource '*'</a:t>
                      </a:r>
                    </a:p>
                  </a:txBody>
                  <a:tcPr marL="91440" marR="91440" marT="45720" marB="45720">
                    <a:solidFill>
                      <a:srgbClr val="F2F7F5"/>
                    </a:solidFill>
                  </a:tcPr>
                </a:tc>
                <a:tc>
                  <a:txBody>
                    <a:bodyPr/>
                    <a:lstStyle/>
                    <a:p>
                      <a:r>
                        <a:rPr sz="1050" b="0">
                          <a:solidFill>
                            <a:srgbClr val="0C1715"/>
                          </a:solidFill>
                          <a:latin typeface="Helvetica Neue"/>
                          <a:ea typeface="Helvetica Neue"/>
                          <a:cs typeface="Helvetica Neue"/>
                        </a:rPr>
                        <a:t>A compromised identity may gain broad control across deployed resources</a:t>
                      </a:r>
                    </a:p>
                  </a:txBody>
                  <a:tcPr marL="91440" marR="91440" marT="45720" marB="45720">
                    <a:solidFill>
                      <a:srgbClr val="F2F7F5"/>
                    </a:solidFill>
                  </a:tcPr>
                </a:tc>
                <a:tc>
                  <a:txBody>
                    <a:bodyPr/>
                    <a:lstStyle/>
                    <a:p>
                      <a:r>
                        <a:rPr sz="1050" b="0">
                          <a:solidFill>
                            <a:srgbClr val="0C1715"/>
                          </a:solidFill>
                          <a:latin typeface="Helvetica Neue"/>
                          <a:ea typeface="Helvetica Neue"/>
                          <a:cs typeface="Helvetica Neue"/>
                        </a:rPr>
                        <a:t>Critical</a:t>
                      </a:r>
                    </a:p>
                  </a:txBody>
                  <a:tcPr marL="91440" marR="91440" marT="45720" marB="45720">
                    <a:solidFill>
                      <a:srgbClr val="F2F7F5"/>
                    </a:solidFill>
                  </a:tcPr>
                </a:tc>
              </a:tr>
              <a:tr h="819150">
                <a:tc>
                  <a:txBody>
                    <a:bodyPr/>
                    <a:lstStyle/>
                    <a:p>
                      <a:r>
                        <a:rPr sz="1050" b="1">
                          <a:solidFill>
                            <a:srgbClr val="0C1715"/>
                          </a:solidFill>
                          <a:latin typeface="Helvetica Neue"/>
                          <a:ea typeface="Helvetica Neue"/>
                          <a:cs typeface="Helvetica Neue"/>
                        </a:rPr>
                        <a:t>Privileged workload or exposed secret</a:t>
                      </a:r>
                    </a:p>
                  </a:txBody>
                  <a:tcPr marL="91440" marR="91440" marT="45720" marB="45720">
                    <a:solidFill>
                      <a:srgbClr val="FFFFFF"/>
                    </a:solidFill>
                  </a:tcPr>
                </a:tc>
                <a:tc>
                  <a:txBody>
                    <a:bodyPr/>
                    <a:lstStyle/>
                    <a:p>
                      <a:r>
                        <a:rPr sz="1050" b="0">
                          <a:solidFill>
                            <a:srgbClr val="0C1715"/>
                          </a:solidFill>
                          <a:latin typeface="Helvetica Neue"/>
                          <a:ea typeface="Helvetica Neue"/>
                          <a:cs typeface="Helvetica Neue"/>
                        </a:rPr>
                        <a:t>privileged: true, cluster-admin, LoadBalancer, or embedded Secret data</a:t>
                      </a:r>
                    </a:p>
                  </a:txBody>
                  <a:tcPr marL="91440" marR="91440" marT="45720" marB="45720">
                    <a:solidFill>
                      <a:srgbClr val="FFFFFF"/>
                    </a:solidFill>
                  </a:tcPr>
                </a:tc>
                <a:tc>
                  <a:txBody>
                    <a:bodyPr/>
                    <a:lstStyle/>
                    <a:p>
                      <a:r>
                        <a:rPr sz="1050" b="0">
                          <a:solidFill>
                            <a:srgbClr val="0C1715"/>
                          </a:solidFill>
                          <a:latin typeface="Helvetica Neue"/>
                          <a:ea typeface="Helvetica Neue"/>
                          <a:cs typeface="Helvetica Neue"/>
                        </a:rPr>
                        <a:t>Deployment may enable cluster takeover, public exposure, or credential leakage</a:t>
                      </a:r>
                    </a:p>
                  </a:txBody>
                  <a:tcPr marL="91440" marR="91440" marT="45720" marB="45720">
                    <a:solidFill>
                      <a:srgbClr val="FFFFFF"/>
                    </a:solidFill>
                  </a:tcPr>
                </a:tc>
                <a:tc>
                  <a:txBody>
                    <a:bodyPr/>
                    <a:lstStyle/>
                    <a:p>
                      <a:r>
                        <a:rPr sz="1050" b="0">
                          <a:solidFill>
                            <a:srgbClr val="0C1715"/>
                          </a:solidFill>
                          <a:latin typeface="Helvetica Neue"/>
                          <a:ea typeface="Helvetica Neue"/>
                          <a:cs typeface="Helvetica Neue"/>
                        </a:rPr>
                        <a:t>High or Critical</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35200511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ection-23">
            <a:extLst xmlns:a="http://schemas.openxmlformats.org/drawingml/2006/main">
              <a:ext uri="{FF2B5EF4-FFF2-40B4-BE49-F238E27FC236}">
                <a16:creationId xmlns:a16="http://schemas.microsoft.com/office/drawing/2014/main" id="{C8914C19-38DD-4378-B153-9AFA25FA4DD3}"/>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5</a:t>
            </a:r>
          </a:p>
        </p:txBody>
      </p:sp>
      <p:sp>
        <p:nvSpPr>
          <p:cNvPr id="2" name="title-23">
            <a:extLst xmlns:a="http://schemas.openxmlformats.org/drawingml/2006/main">
              <a:ext uri="{FF2B5EF4-FFF2-40B4-BE49-F238E27FC236}">
                <a16:creationId xmlns:a16="http://schemas.microsoft.com/office/drawing/2014/main" id="{CD7D6949-31EE-4CA7-840F-B7C218722C42}"/>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Lab 4: Infrastructure as Code scanner</a:t>
            </a:r>
          </a:p>
        </p:txBody>
      </p:sp>
      <p:sp>
        <p:nvSpPr>
          <p:cNvPr id="3" name="title-rule-23">
            <a:extLst xmlns:a="http://schemas.openxmlformats.org/drawingml/2006/main">
              <a:ext uri="{FF2B5EF4-FFF2-40B4-BE49-F238E27FC236}">
                <a16:creationId xmlns:a16="http://schemas.microsoft.com/office/drawing/2014/main" id="{0BFCF505-15EB-4430-8B8D-57FC0B4567BA}"/>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0f98dc4f6ef64a1e"/>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23">
            <a:extLst xmlns:a="http://schemas.openxmlformats.org/drawingml/2006/main">
              <a:ext uri="{FF2B5EF4-FFF2-40B4-BE49-F238E27FC236}">
                <a16:creationId xmlns:a16="http://schemas.microsoft.com/office/drawing/2014/main" id="{0B32312C-D83C-428D-B1A3-16B961BA4C3A}"/>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23">
            <a:extLst xmlns:a="http://schemas.openxmlformats.org/drawingml/2006/main">
              <a:ext uri="{FF2B5EF4-FFF2-40B4-BE49-F238E27FC236}">
                <a16:creationId xmlns:a16="http://schemas.microsoft.com/office/drawing/2014/main" id="{B03CD2D9-01A8-49F4-B59C-66F5066F7D72}"/>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23">
            <a:extLst xmlns:a="http://schemas.openxmlformats.org/drawingml/2006/main">
              <a:ext uri="{FF2B5EF4-FFF2-40B4-BE49-F238E27FC236}">
                <a16:creationId xmlns:a16="http://schemas.microsoft.com/office/drawing/2014/main" id="{2FE7A589-BF19-41AA-9324-78C0A49BFE0E}"/>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23</a:t>
            </a:r>
          </a:p>
        </p:txBody>
      </p:sp>
      <p:sp>
        <p:nvSpPr>
          <p:cNvPr id="8" name="lab-band-35">
            <a:extLst xmlns:a="http://schemas.openxmlformats.org/drawingml/2006/main">
              <a:ext uri="{FF2B5EF4-FFF2-40B4-BE49-F238E27FC236}">
                <a16:creationId xmlns:a16="http://schemas.microsoft.com/office/drawing/2014/main" id="{1F27D6AF-5602-4DF6-BBF1-73D6D1084B51}"/>
              </a:ext>
            </a:extLst>
          </p:cNvPr>
          <p:cNvSpPr>
            <a:spLocks xmlns:a="http://schemas.openxmlformats.org/drawingml/2006/main" noGrp="1"/>
          </p:cNvSpPr>
          <p:nvPr/>
        </p:nvSpPr>
        <p:spPr>
          <a:xfrm xmlns:a="http://schemas.openxmlformats.org/drawingml/2006/main">
            <a:off x="533400" y="1752600"/>
            <a:ext cx="2381250" cy="4095750"/>
          </a:xfrm>
          <a:prstGeom xmlns:a="http://schemas.openxmlformats.org/drawingml/2006/main" prst="rect">
            <a:avLst/>
          </a:prstGeom>
          <a:solidFill xmlns:a="http://schemas.openxmlformats.org/drawingml/2006/main">
            <a:srgbClr val="7C3AED"/>
          </a:solidFill>
          <a:ln xmlns:a="http://schemas.openxmlformats.org/drawingml/2006/main" w="0">
            <a:solidFill>
              <a:srgbClr val="7C3AED"/>
            </a:solidFill>
            <a:prstDash val="solid"/>
          </a:ln>
        </p:spPr>
      </p:sp>
      <p:sp>
        <p:nvSpPr>
          <p:cNvPr id="9" name="lab-number-35">
            <a:extLst xmlns:a="http://schemas.openxmlformats.org/drawingml/2006/main">
              <a:ext uri="{FF2B5EF4-FFF2-40B4-BE49-F238E27FC236}">
                <a16:creationId xmlns:a16="http://schemas.microsoft.com/office/drawing/2014/main" id="{126FCC74-5536-4839-9F9F-5F4F7FE5588B}"/>
              </a:ext>
            </a:extLst>
          </p:cNvPr>
          <p:cNvSpPr>
            <a:spLocks xmlns:a="http://schemas.openxmlformats.org/drawingml/2006/main" noGrp="1"/>
          </p:cNvSpPr>
          <p:nvPr/>
        </p:nvSpPr>
        <p:spPr>
          <a:xfrm xmlns:a="http://schemas.openxmlformats.org/drawingml/2006/main">
            <a:off x="781050" y="20383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LAB 4</a:t>
            </a:r>
          </a:p>
        </p:txBody>
      </p:sp>
      <p:sp>
        <p:nvSpPr>
          <p:cNvPr id="10" name="lab-provider-35">
            <a:extLst xmlns:a="http://schemas.openxmlformats.org/drawingml/2006/main">
              <a:ext uri="{FF2B5EF4-FFF2-40B4-BE49-F238E27FC236}">
                <a16:creationId xmlns:a16="http://schemas.microsoft.com/office/drawing/2014/main" id="{156459DE-3752-46E9-B1D3-47F6058CEDE0}"/>
              </a:ext>
            </a:extLst>
          </p:cNvPr>
          <p:cNvSpPr>
            <a:spLocks xmlns:a="http://schemas.openxmlformats.org/drawingml/2006/main" noGrp="1"/>
          </p:cNvSpPr>
          <p:nvPr/>
        </p:nvSpPr>
        <p:spPr>
          <a:xfrm xmlns:a="http://schemas.openxmlformats.org/drawingml/2006/main">
            <a:off x="781050" y="2609850"/>
            <a:ext cx="180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550" b="1">
                <a:solidFill>
                  <a:srgbClr val="FFFFFF"/>
                </a:solidFill>
                <a:latin typeface="Helvetica Neue"/>
                <a:ea typeface="Helvetica Neue"/>
                <a:cs typeface="Helvetica Neue"/>
              </a:defRPr>
            </a:pPr>
            <a:r>
              <a:rPr sz="2550" b="1">
                <a:solidFill>
                  <a:srgbClr val="FFFFFF"/>
                </a:solidFill>
                <a:latin typeface="Helvetica Neue"/>
                <a:ea typeface="Helvetica Neue"/>
                <a:cs typeface="Helvetica Neue"/>
              </a:rPr>
              <a:t>IaC</a:t>
            </a:r>
          </a:p>
        </p:txBody>
      </p:sp>
      <p:sp>
        <p:nvSpPr>
          <p:cNvPr id="11" name="lab-time-label-35">
            <a:extLst xmlns:a="http://schemas.openxmlformats.org/drawingml/2006/main">
              <a:ext uri="{FF2B5EF4-FFF2-40B4-BE49-F238E27FC236}">
                <a16:creationId xmlns:a16="http://schemas.microsoft.com/office/drawing/2014/main" id="{8FAEEC58-6F63-4F7E-A56E-D2E83CCFAEEB}"/>
              </a:ext>
            </a:extLst>
          </p:cNvPr>
          <p:cNvSpPr>
            <a:spLocks xmlns:a="http://schemas.openxmlformats.org/drawingml/2006/main" noGrp="1"/>
          </p:cNvSpPr>
          <p:nvPr/>
        </p:nvSpPr>
        <p:spPr>
          <a:xfrm xmlns:a="http://schemas.openxmlformats.org/drawingml/2006/main">
            <a:off x="781050" y="447675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Exercise time</a:t>
            </a:r>
          </a:p>
        </p:txBody>
      </p:sp>
      <p:sp>
        <p:nvSpPr>
          <p:cNvPr id="12" name="lab-time-35">
            <a:extLst xmlns:a="http://schemas.openxmlformats.org/drawingml/2006/main">
              <a:ext uri="{FF2B5EF4-FFF2-40B4-BE49-F238E27FC236}">
                <a16:creationId xmlns:a16="http://schemas.microsoft.com/office/drawing/2014/main" id="{998B17FA-AA4F-4EB4-8E2F-5140BD668E5F}"/>
              </a:ext>
            </a:extLst>
          </p:cNvPr>
          <p:cNvSpPr>
            <a:spLocks xmlns:a="http://schemas.openxmlformats.org/drawingml/2006/main" noGrp="1"/>
          </p:cNvSpPr>
          <p:nvPr/>
        </p:nvSpPr>
        <p:spPr>
          <a:xfrm xmlns:a="http://schemas.openxmlformats.org/drawingml/2006/main">
            <a:off x="781050" y="4857750"/>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5 minutes</a:t>
            </a:r>
          </a:p>
        </p:txBody>
      </p:sp>
      <p:sp>
        <p:nvSpPr>
          <p:cNvPr id="13" name="lab-goal-label-35">
            <a:extLst xmlns:a="http://schemas.openxmlformats.org/drawingml/2006/main">
              <a:ext uri="{FF2B5EF4-FFF2-40B4-BE49-F238E27FC236}">
                <a16:creationId xmlns:a16="http://schemas.microsoft.com/office/drawing/2014/main" id="{82ACC760-4D1C-4A84-B07C-7BF884E54713}"/>
              </a:ext>
            </a:extLst>
          </p:cNvPr>
          <p:cNvSpPr>
            <a:spLocks xmlns:a="http://schemas.openxmlformats.org/drawingml/2006/main" noGrp="1"/>
          </p:cNvSpPr>
          <p:nvPr/>
        </p:nvSpPr>
        <p:spPr>
          <a:xfrm xmlns:a="http://schemas.openxmlformats.org/drawingml/2006/main">
            <a:off x="3333750" y="18478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7C3AED"/>
                </a:solidFill>
                <a:latin typeface="Helvetica Neue"/>
                <a:ea typeface="Helvetica Neue"/>
                <a:cs typeface="Helvetica Neue"/>
              </a:defRPr>
            </a:pPr>
            <a:r>
              <a:rPr sz="1275" b="1">
                <a:solidFill>
                  <a:srgbClr val="7C3AED"/>
                </a:solidFill>
                <a:latin typeface="Helvetica Neue"/>
                <a:ea typeface="Helvetica Neue"/>
                <a:cs typeface="Helvetica Neue"/>
              </a:rPr>
              <a:t>Goal</a:t>
            </a:r>
          </a:p>
        </p:txBody>
      </p:sp>
      <p:sp>
        <p:nvSpPr>
          <p:cNvPr id="14" name="lab-goal-35">
            <a:extLst xmlns:a="http://schemas.openxmlformats.org/drawingml/2006/main">
              <a:ext uri="{FF2B5EF4-FFF2-40B4-BE49-F238E27FC236}">
                <a16:creationId xmlns:a16="http://schemas.microsoft.com/office/drawing/2014/main" id="{B7900569-AF2D-44B7-8592-FE1911F7A888}"/>
              </a:ext>
            </a:extLst>
          </p:cNvPr>
          <p:cNvSpPr>
            <a:spLocks xmlns:a="http://schemas.openxmlformats.org/drawingml/2006/main" noGrp="1"/>
          </p:cNvSpPr>
          <p:nvPr/>
        </p:nvSpPr>
        <p:spPr>
          <a:xfrm xmlns:a="http://schemas.openxmlformats.org/drawingml/2006/main">
            <a:off x="3333750" y="2171700"/>
            <a:ext cx="7524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0">
                <a:solidFill>
                  <a:srgbClr val="0C1715"/>
                </a:solidFill>
                <a:latin typeface="Helvetica Neue"/>
                <a:ea typeface="Helvetica Neue"/>
                <a:cs typeface="Helvetica Neue"/>
              </a:defRPr>
            </a:pPr>
            <a:r>
              <a:rPr sz="1500" b="0">
                <a:solidFill>
                  <a:srgbClr val="0C1715"/>
                </a:solidFill>
                <a:latin typeface="Helvetica Neue"/>
                <a:ea typeface="Helvetica Neue"/>
                <a:cs typeface="Helvetica Neue"/>
              </a:rPr>
              <a:t>Identify an unsafe design choice, correct it in source, and verify the change.</a:t>
            </a:r>
          </a:p>
        </p:txBody>
      </p:sp>
      <p:sp>
        <p:nvSpPr>
          <p:cNvPr id="15" name="lab-task-label-35">
            <a:extLst xmlns:a="http://schemas.openxmlformats.org/drawingml/2006/main">
              <a:ext uri="{FF2B5EF4-FFF2-40B4-BE49-F238E27FC236}">
                <a16:creationId xmlns:a16="http://schemas.microsoft.com/office/drawing/2014/main" id="{D2CFDA7B-9EF5-433F-AF65-D27FEF525847}"/>
              </a:ext>
            </a:extLst>
          </p:cNvPr>
          <p:cNvSpPr>
            <a:spLocks xmlns:a="http://schemas.openxmlformats.org/drawingml/2006/main" noGrp="1"/>
          </p:cNvSpPr>
          <p:nvPr/>
        </p:nvSpPr>
        <p:spPr>
          <a:xfrm xmlns:a="http://schemas.openxmlformats.org/drawingml/2006/main">
            <a:off x="3333750" y="29908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7C3AED"/>
                </a:solidFill>
                <a:latin typeface="Helvetica Neue"/>
                <a:ea typeface="Helvetica Neue"/>
                <a:cs typeface="Helvetica Neue"/>
              </a:defRPr>
            </a:pPr>
            <a:r>
              <a:rPr sz="1275" b="1">
                <a:solidFill>
                  <a:srgbClr val="7C3AED"/>
                </a:solidFill>
                <a:latin typeface="Helvetica Neue"/>
                <a:ea typeface="Helvetica Neue"/>
                <a:cs typeface="Helvetica Neue"/>
              </a:rPr>
              <a:t>Exercise</a:t>
            </a:r>
          </a:p>
        </p:txBody>
      </p:sp>
      <p:sp>
        <p:nvSpPr>
          <p:cNvPr id="16" name="lab-tasks-35">
            <a:extLst xmlns:a="http://schemas.openxmlformats.org/drawingml/2006/main">
              <a:ext uri="{FF2B5EF4-FFF2-40B4-BE49-F238E27FC236}">
                <a16:creationId xmlns:a16="http://schemas.microsoft.com/office/drawing/2014/main" id="{8BC4B710-DF79-442D-B06B-E75B097E89C0}"/>
              </a:ext>
            </a:extLst>
          </p:cNvPr>
          <p:cNvSpPr>
            <a:spLocks xmlns:a="http://schemas.openxmlformats.org/drawingml/2006/main" noGrp="1"/>
          </p:cNvSpPr>
          <p:nvPr/>
        </p:nvSpPr>
        <p:spPr>
          <a:xfrm xmlns:a="http://schemas.openxmlformats.org/drawingml/2006/main">
            <a:off x="3276600" y="3314700"/>
            <a:ext cx="4953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Open the provided IaC fixture folder without applying any template</a:t>
            </a:r>
          </a:p>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Predict the findings in one Terraform, CloudFormation, or Kubernetes file</a:t>
            </a:r>
          </a:p>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Run the IaC scan and compare the findings with the prediction</a:t>
            </a:r>
          </a:p>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Correct one setting and run the scan again</a:t>
            </a:r>
          </a:p>
        </p:txBody>
      </p:sp>
      <p:sp>
        <p:nvSpPr>
          <p:cNvPr id="17" name="lab-submit-label-35">
            <a:extLst xmlns:a="http://schemas.openxmlformats.org/drawingml/2006/main">
              <a:ext uri="{FF2B5EF4-FFF2-40B4-BE49-F238E27FC236}">
                <a16:creationId xmlns:a16="http://schemas.microsoft.com/office/drawing/2014/main" id="{39B7AC6C-67C0-4F14-ADF8-FF8DF34C9551}"/>
              </a:ext>
            </a:extLst>
          </p:cNvPr>
          <p:cNvSpPr>
            <a:spLocks xmlns:a="http://schemas.openxmlformats.org/drawingml/2006/main" noGrp="1"/>
          </p:cNvSpPr>
          <p:nvPr/>
        </p:nvSpPr>
        <p:spPr>
          <a:xfrm xmlns:a="http://schemas.openxmlformats.org/drawingml/2006/main">
            <a:off x="8572500" y="29908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7C3AED"/>
                </a:solidFill>
                <a:latin typeface="Helvetica Neue"/>
                <a:ea typeface="Helvetica Neue"/>
                <a:cs typeface="Helvetica Neue"/>
              </a:defRPr>
            </a:pPr>
            <a:r>
              <a:rPr sz="1275" b="1">
                <a:solidFill>
                  <a:srgbClr val="7C3AED"/>
                </a:solidFill>
                <a:latin typeface="Helvetica Neue"/>
                <a:ea typeface="Helvetica Neue"/>
                <a:cs typeface="Helvetica Neue"/>
              </a:rPr>
              <a:t>Evidence to submit</a:t>
            </a:r>
          </a:p>
        </p:txBody>
      </p:sp>
      <p:sp>
        <p:nvSpPr>
          <p:cNvPr id="18" name="lab-submit-35">
            <a:extLst xmlns:a="http://schemas.openxmlformats.org/drawingml/2006/main">
              <a:ext uri="{FF2B5EF4-FFF2-40B4-BE49-F238E27FC236}">
                <a16:creationId xmlns:a16="http://schemas.microsoft.com/office/drawing/2014/main" id="{8DA74227-E461-4AD4-B1EB-6F4DC4F7F106}"/>
              </a:ext>
            </a:extLst>
          </p:cNvPr>
          <p:cNvSpPr>
            <a:spLocks xmlns:a="http://schemas.openxmlformats.org/drawingml/2006/main" noGrp="1"/>
          </p:cNvSpPr>
          <p:nvPr/>
        </p:nvSpPr>
        <p:spPr>
          <a:xfrm xmlns:a="http://schemas.openxmlformats.org/drawingml/2006/main">
            <a:off x="8515350" y="3314700"/>
            <a:ext cx="2667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600"/>
              </a:spcAft>
              <a:buChar char="•"/>
              <a:defRPr sz="1275">
                <a:solidFill>
                  <a:srgbClr val="0C1715"/>
                </a:solidFill>
                <a:latin typeface="Helvetica Neue"/>
                <a:ea typeface="Helvetica Neue"/>
                <a:cs typeface="Helvetica Neue"/>
              </a:defRPr>
            </a:pPr>
            <a:r>
              <a:rPr sz="1275">
                <a:solidFill>
                  <a:srgbClr val="0C1715"/>
                </a:solidFill>
                <a:latin typeface="Helvetica Neue"/>
                <a:ea typeface="Helvetica Neue"/>
                <a:cs typeface="Helvetica Neue"/>
              </a:rPr>
              <a:t>Original finding</a:t>
            </a:r>
          </a:p>
          <a:p xmlns:a="http://schemas.openxmlformats.org/drawingml/2006/main">
            <a:pPr marL="228600" indent="-114300">
              <a:spcAft>
                <a:spcPts val="600"/>
              </a:spcAft>
              <a:buChar char="•"/>
              <a:defRPr sz="1275">
                <a:solidFill>
                  <a:srgbClr val="0C1715"/>
                </a:solidFill>
                <a:latin typeface="Helvetica Neue"/>
                <a:ea typeface="Helvetica Neue"/>
                <a:cs typeface="Helvetica Neue"/>
              </a:defRPr>
            </a:pPr>
            <a:r>
              <a:rPr sz="1275">
                <a:solidFill>
                  <a:srgbClr val="0C1715"/>
                </a:solidFill>
                <a:latin typeface="Helvetica Neue"/>
                <a:ea typeface="Helvetica Neue"/>
                <a:cs typeface="Helvetica Neue"/>
              </a:rPr>
              <a:t>File and matched setting</a:t>
            </a:r>
          </a:p>
          <a:p xmlns:a="http://schemas.openxmlformats.org/drawingml/2006/main">
            <a:pPr marL="228600" indent="-114300">
              <a:spcAft>
                <a:spcPts val="600"/>
              </a:spcAft>
              <a:buChar char="•"/>
              <a:defRPr sz="1275">
                <a:solidFill>
                  <a:srgbClr val="0C1715"/>
                </a:solidFill>
                <a:latin typeface="Helvetica Neue"/>
                <a:ea typeface="Helvetica Neue"/>
                <a:cs typeface="Helvetica Neue"/>
              </a:defRPr>
            </a:pPr>
            <a:r>
              <a:rPr sz="1275">
                <a:solidFill>
                  <a:srgbClr val="0C1715"/>
                </a:solidFill>
                <a:latin typeface="Helvetica Neue"/>
                <a:ea typeface="Helvetica Neue"/>
                <a:cs typeface="Helvetica Neue"/>
              </a:rPr>
              <a:t>Corrected value</a:t>
            </a:r>
          </a:p>
          <a:p xmlns:a="http://schemas.openxmlformats.org/drawingml/2006/main">
            <a:pPr marL="228600" indent="-114300">
              <a:spcAft>
                <a:spcPts val="600"/>
              </a:spcAft>
              <a:buChar char="•"/>
              <a:defRPr sz="1275">
                <a:solidFill>
                  <a:srgbClr val="0C1715"/>
                </a:solidFill>
                <a:latin typeface="Helvetica Neue"/>
                <a:ea typeface="Helvetica Neue"/>
                <a:cs typeface="Helvetica Neue"/>
              </a:defRPr>
            </a:pPr>
            <a:r>
              <a:rPr sz="1275">
                <a:solidFill>
                  <a:srgbClr val="0C1715"/>
                </a:solidFill>
                <a:latin typeface="Helvetica Neue"/>
                <a:ea typeface="Helvetica Neue"/>
                <a:cs typeface="Helvetica Neue"/>
              </a:rPr>
              <a:t>Second scan result</a:t>
            </a:r>
          </a:p>
        </p:txBody>
      </p:sp>
      <p:sp>
        <p:nvSpPr>
          <p:cNvPr id="19" name="lab-check-bg-35">
            <a:extLst xmlns:a="http://schemas.openxmlformats.org/drawingml/2006/main">
              <a:ext uri="{FF2B5EF4-FFF2-40B4-BE49-F238E27FC236}">
                <a16:creationId xmlns:a16="http://schemas.microsoft.com/office/drawing/2014/main" id="{31B9A96F-61DC-44E8-8717-8D86804AF9E2}"/>
              </a:ext>
            </a:extLst>
          </p:cNvPr>
          <p:cNvSpPr>
            <a:spLocks xmlns:a="http://schemas.openxmlformats.org/drawingml/2006/main" noGrp="1"/>
          </p:cNvSpPr>
          <p:nvPr/>
        </p:nvSpPr>
        <p:spPr>
          <a:xfrm xmlns:a="http://schemas.openxmlformats.org/drawingml/2006/main">
            <a:off x="3333750" y="5238750"/>
            <a:ext cx="7848600" cy="609600"/>
          </a:xfrm>
          <a:prstGeom xmlns:a="http://schemas.openxmlformats.org/drawingml/2006/main" prst="rect">
            <a:avLst/>
          </a:prstGeom>
          <a:solidFill xmlns:a="http://schemas.openxmlformats.org/drawingml/2006/main">
            <a:srgbClr val="F2F7F5"/>
          </a:solidFill>
          <a:ln xmlns:a="http://schemas.openxmlformats.org/drawingml/2006/main" w="0">
            <a:solidFill>
              <a:srgbClr val="F2F7F5"/>
            </a:solidFill>
            <a:prstDash val="solid"/>
          </a:ln>
        </p:spPr>
      </p:sp>
      <p:sp>
        <p:nvSpPr>
          <p:cNvPr id="20" name="lab-check-35">
            <a:extLst xmlns:a="http://schemas.openxmlformats.org/drawingml/2006/main">
              <a:ext uri="{FF2B5EF4-FFF2-40B4-BE49-F238E27FC236}">
                <a16:creationId xmlns:a16="http://schemas.microsoft.com/office/drawing/2014/main" id="{041C975B-0923-4547-900A-073E2F35A3C5}"/>
              </a:ext>
            </a:extLst>
          </p:cNvPr>
          <p:cNvSpPr>
            <a:spLocks xmlns:a="http://schemas.openxmlformats.org/drawingml/2006/main" noGrp="1"/>
          </p:cNvSpPr>
          <p:nvPr/>
        </p:nvSpPr>
        <p:spPr>
          <a:xfrm xmlns:a="http://schemas.openxmlformats.org/drawingml/2006/main">
            <a:off x="3562350" y="5410200"/>
            <a:ext cx="739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1">
                <a:solidFill>
                  <a:srgbClr val="0C1715"/>
                </a:solidFill>
                <a:latin typeface="Helvetica Neue"/>
                <a:ea typeface="Helvetica Neue"/>
                <a:cs typeface="Helvetica Neue"/>
              </a:defRPr>
            </a:pPr>
            <a:r>
              <a:rPr sz="1350" b="1">
                <a:solidFill>
                  <a:srgbClr val="0C1715"/>
                </a:solidFill>
                <a:latin typeface="Helvetica Neue"/>
                <a:ea typeface="Helvetica Neue"/>
                <a:cs typeface="Helvetica Neue"/>
              </a:rPr>
              <a:t>Completion: one finding has a documented before-and-after result</a:t>
            </a:r>
          </a:p>
        </p:txBody>
      </p:sp>
    </p:spTree>
    <p:extLst>
      <p:ext uri="{BB962C8B-B14F-4D97-AF65-F5344CB8AC3E}">
        <p14:creationId xmlns:p14="http://schemas.microsoft.com/office/powerpoint/2010/main" val="1578078220"/>
      </p:ext>
    </p:extLst>
  </p:cSld>
</p:sld>
</file>

<file path=ppt/slides/slide24.xml><?xml version="1.0" encoding="utf-8"?>
<p:sld xmlns:p="http://schemas.openxmlformats.org/presentationml/2006/main">
  <p:cSld>
    <p:bg>
      <p:bgPr>
        <a:solidFill xmlns:a="http://schemas.openxmlformats.org/drawingml/2006/main">
          <a:srgbClr val="0B1D19"/>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09450fcdce14010"/>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2" name="brand-name-24">
            <a:extLst xmlns:a="http://schemas.openxmlformats.org/drawingml/2006/main">
              <a:ext uri="{FF2B5EF4-FFF2-40B4-BE49-F238E27FC236}">
                <a16:creationId xmlns:a16="http://schemas.microsoft.com/office/drawing/2014/main" id="{B3192ECA-5E90-49B0-A563-383CBD2367A8}"/>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DeepTrustxAI</a:t>
            </a:r>
          </a:p>
        </p:txBody>
      </p:sp>
      <p:sp>
        <p:nvSpPr>
          <p:cNvPr id="3" name="module-label-24">
            <a:extLst xmlns:a="http://schemas.openxmlformats.org/drawingml/2006/main">
              <a:ext uri="{FF2B5EF4-FFF2-40B4-BE49-F238E27FC236}">
                <a16:creationId xmlns:a16="http://schemas.microsoft.com/office/drawing/2014/main" id="{21A15882-BF5E-4954-BEB2-7CF27569921F}"/>
              </a:ext>
            </a:extLst>
          </p:cNvPr>
          <p:cNvSpPr>
            <a:spLocks xmlns:a="http://schemas.openxmlformats.org/drawingml/2006/main" noGrp="1"/>
          </p:cNvSpPr>
          <p:nvPr/>
        </p:nvSpPr>
        <p:spPr>
          <a:xfrm xmlns:a="http://schemas.openxmlformats.org/drawingml/2006/main">
            <a:off x="666750" y="6096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42D7B0"/>
                </a:solidFill>
                <a:latin typeface="Helvetica Neue"/>
                <a:ea typeface="Helvetica Neue"/>
                <a:cs typeface="Helvetica Neue"/>
              </a:defRPr>
            </a:pPr>
            <a:r>
              <a:rPr sz="1275" b="1">
                <a:solidFill>
                  <a:srgbClr val="42D7B0"/>
                </a:solidFill>
                <a:latin typeface="Helvetica Neue"/>
                <a:ea typeface="Helvetica Neue"/>
                <a:cs typeface="Helvetica Neue"/>
              </a:rPr>
              <a:t>MODULE 6</a:t>
            </a:r>
          </a:p>
        </p:txBody>
      </p:sp>
      <p:sp>
        <p:nvSpPr>
          <p:cNvPr id="4" name="module-title-24">
            <a:extLst xmlns:a="http://schemas.openxmlformats.org/drawingml/2006/main">
              <a:ext uri="{FF2B5EF4-FFF2-40B4-BE49-F238E27FC236}">
                <a16:creationId xmlns:a16="http://schemas.microsoft.com/office/drawing/2014/main" id="{019E7266-CD37-4984-91C9-EC17ACB5DCEF}"/>
              </a:ext>
            </a:extLst>
          </p:cNvPr>
          <p:cNvSpPr>
            <a:spLocks xmlns:a="http://schemas.openxmlformats.org/drawingml/2006/main" noGrp="1"/>
          </p:cNvSpPr>
          <p:nvPr/>
        </p:nvSpPr>
        <p:spPr>
          <a:xfrm xmlns:a="http://schemas.openxmlformats.org/drawingml/2006/main">
            <a:off x="666750" y="1695450"/>
            <a:ext cx="8572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Governance, risk,</a:t>
            </a:r>
          </a:p>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and compliance</a:t>
            </a:r>
          </a:p>
        </p:txBody>
      </p:sp>
      <p:sp>
        <p:nvSpPr>
          <p:cNvPr id="5" name="module-purpose-24">
            <a:extLst xmlns:a="http://schemas.openxmlformats.org/drawingml/2006/main">
              <a:ext uri="{FF2B5EF4-FFF2-40B4-BE49-F238E27FC236}">
                <a16:creationId xmlns:a16="http://schemas.microsoft.com/office/drawing/2014/main" id="{7B6F3F1F-8188-4C78-9078-D0070E658B10}"/>
              </a:ext>
            </a:extLst>
          </p:cNvPr>
          <p:cNvSpPr>
            <a:spLocks xmlns:a="http://schemas.openxmlformats.org/drawingml/2006/main" noGrp="1"/>
          </p:cNvSpPr>
          <p:nvPr/>
        </p:nvSpPr>
        <p:spPr>
          <a:xfrm xmlns:a="http://schemas.openxmlformats.org/drawingml/2006/main">
            <a:off x="704850" y="3695700"/>
            <a:ext cx="7810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0">
                <a:solidFill>
                  <a:srgbClr val="B8CBC6"/>
                </a:solidFill>
                <a:latin typeface="Helvetica Neue"/>
                <a:ea typeface="Helvetica Neue"/>
                <a:cs typeface="Helvetica Neue"/>
              </a:defRPr>
            </a:pPr>
            <a:r>
              <a:rPr sz="1800" b="0">
                <a:solidFill>
                  <a:srgbClr val="B8CBC6"/>
                </a:solidFill>
                <a:latin typeface="Helvetica Neue"/>
                <a:ea typeface="Helvetica Neue"/>
                <a:cs typeface="Helvetica Neue"/>
              </a:rPr>
              <a:t>GRC connects technical findings to controls, business risk, accountable ownership, approval, and auditable closure.</a:t>
            </a:r>
          </a:p>
        </p:txBody>
      </p:sp>
      <p:sp>
        <p:nvSpPr>
          <p:cNvPr id="6" name="module-time-24">
            <a:extLst xmlns:a="http://schemas.openxmlformats.org/drawingml/2006/main">
              <a:ext uri="{FF2B5EF4-FFF2-40B4-BE49-F238E27FC236}">
                <a16:creationId xmlns:a16="http://schemas.microsoft.com/office/drawing/2014/main" id="{D0110948-32DD-4D15-83B7-D635367D0816}"/>
              </a:ext>
            </a:extLst>
          </p:cNvPr>
          <p:cNvSpPr>
            <a:spLocks xmlns:a="http://schemas.openxmlformats.org/drawingml/2006/main" noGrp="1"/>
          </p:cNvSpPr>
          <p:nvPr/>
        </p:nvSpPr>
        <p:spPr>
          <a:xfrm xmlns:a="http://schemas.openxmlformats.org/drawingml/2006/main">
            <a:off x="9334500" y="476250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2100" b="1">
                <a:solidFill>
                  <a:srgbClr val="42D7B0"/>
                </a:solidFill>
                <a:latin typeface="Helvetica Neue"/>
                <a:ea typeface="Helvetica Neue"/>
                <a:cs typeface="Helvetica Neue"/>
              </a:defRPr>
            </a:pPr>
            <a:r>
              <a:rPr sz="2100" b="1">
                <a:solidFill>
                  <a:srgbClr val="42D7B0"/>
                </a:solidFill>
                <a:latin typeface="Helvetica Neue"/>
                <a:ea typeface="Helvetica Neue"/>
                <a:cs typeface="Helvetica Neue"/>
              </a:rPr>
              <a:t>35 minutes</a:t>
            </a:r>
          </a:p>
        </p:txBody>
      </p:sp>
      <p:sp>
        <p:nvSpPr>
          <p:cNvPr id="7" name="module-rule-24">
            <a:extLst xmlns:a="http://schemas.openxmlformats.org/drawingml/2006/main">
              <a:ext uri="{FF2B5EF4-FFF2-40B4-BE49-F238E27FC236}">
                <a16:creationId xmlns:a16="http://schemas.microsoft.com/office/drawing/2014/main" id="{FB49972B-3BEB-4141-9D4B-A3BEEA179AAE}"/>
              </a:ext>
            </a:extLst>
          </p:cNvPr>
          <p:cNvSpPr>
            <a:spLocks xmlns:a="http://schemas.openxmlformats.org/drawingml/2006/main" noGrp="1"/>
          </p:cNvSpPr>
          <p:nvPr/>
        </p:nvSpPr>
        <p:spPr>
          <a:xfrm xmlns:a="http://schemas.openxmlformats.org/drawingml/2006/main">
            <a:off x="666750" y="5391150"/>
            <a:ext cx="10763250" cy="19050"/>
          </a:xfrm>
          <a:prstGeom xmlns:a="http://schemas.openxmlformats.org/drawingml/2006/main" prst="rect">
            <a:avLst/>
          </a:prstGeom>
          <a:solidFill xmlns:a="http://schemas.openxmlformats.org/drawingml/2006/main">
            <a:srgbClr val="11856E"/>
          </a:solidFill>
          <a:ln xmlns:a="http://schemas.openxmlformats.org/drawingml/2006/main" w="0">
            <a:solidFill>
              <a:srgbClr val="11856E"/>
            </a:solidFill>
            <a:prstDash val="solid"/>
          </a:ln>
        </p:spPr>
      </p:sp>
      <p:sp>
        <p:nvSpPr>
          <p:cNvPr id="8" name="module-footer-24">
            <a:extLst xmlns:a="http://schemas.openxmlformats.org/drawingml/2006/main">
              <a:ext uri="{FF2B5EF4-FFF2-40B4-BE49-F238E27FC236}">
                <a16:creationId xmlns:a16="http://schemas.microsoft.com/office/drawing/2014/main" id="{69A5F06B-635C-45B0-A477-956C741125E5}"/>
              </a:ext>
            </a:extLst>
          </p:cNvPr>
          <p:cNvSpPr>
            <a:spLocks xmlns:a="http://schemas.openxmlformats.org/drawingml/2006/main" noGrp="1"/>
          </p:cNvSpPr>
          <p:nvPr/>
        </p:nvSpPr>
        <p:spPr>
          <a:xfrm xmlns:a="http://schemas.openxmlformats.org/drawingml/2006/main">
            <a:off x="666750" y="584835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86A39C"/>
                </a:solidFill>
                <a:latin typeface="Helvetica Neue"/>
                <a:ea typeface="Helvetica Neue"/>
                <a:cs typeface="Helvetica Neue"/>
              </a:defRPr>
            </a:pPr>
            <a:r>
              <a:rPr sz="975" b="0">
                <a:solidFill>
                  <a:srgbClr val="86A39C"/>
                </a:solidFill>
                <a:latin typeface="Helvetica Neue"/>
                <a:ea typeface="Helvetica Neue"/>
                <a:cs typeface="Helvetica Neue"/>
              </a:rPr>
              <a:t>DeepTrustxAI CloudGuard workshop</a:t>
            </a:r>
          </a:p>
        </p:txBody>
      </p:sp>
      <p:sp>
        <p:nvSpPr>
          <p:cNvPr id="9" name="module-page-24">
            <a:extLst xmlns:a="http://schemas.openxmlformats.org/drawingml/2006/main">
              <a:ext uri="{FF2B5EF4-FFF2-40B4-BE49-F238E27FC236}">
                <a16:creationId xmlns:a16="http://schemas.microsoft.com/office/drawing/2014/main" id="{00B37003-2988-4A90-96B8-3F92E42F65A9}"/>
              </a:ext>
            </a:extLst>
          </p:cNvPr>
          <p:cNvSpPr>
            <a:spLocks xmlns:a="http://schemas.openxmlformats.org/drawingml/2006/main" noGrp="1"/>
          </p:cNvSpPr>
          <p:nvPr/>
        </p:nvSpPr>
        <p:spPr>
          <a:xfrm xmlns:a="http://schemas.openxmlformats.org/drawingml/2006/main">
            <a:off x="10934700" y="584835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75" b="1">
                <a:solidFill>
                  <a:srgbClr val="86A39C"/>
                </a:solidFill>
                <a:latin typeface="Helvetica Neue"/>
                <a:ea typeface="Helvetica Neue"/>
                <a:cs typeface="Helvetica Neue"/>
              </a:defRPr>
            </a:pPr>
            <a:r>
              <a:rPr sz="975" b="1">
                <a:solidFill>
                  <a:srgbClr val="86A39C"/>
                </a:solidFill>
                <a:latin typeface="Helvetica Neue"/>
                <a:ea typeface="Helvetica Neue"/>
                <a:cs typeface="Helvetica Neue"/>
              </a:rPr>
              <a:t>24</a:t>
            </a:r>
          </a:p>
        </p:txBody>
      </p:sp>
    </p:spTree>
    <p:extLst>
      <p:ext uri="{BB962C8B-B14F-4D97-AF65-F5344CB8AC3E}">
        <p14:creationId xmlns:p14="http://schemas.microsoft.com/office/powerpoint/2010/main" val="559394911"/>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ection-25">
            <a:extLst xmlns:a="http://schemas.openxmlformats.org/drawingml/2006/main">
              <a:ext uri="{FF2B5EF4-FFF2-40B4-BE49-F238E27FC236}">
                <a16:creationId xmlns:a16="http://schemas.microsoft.com/office/drawing/2014/main" id="{E9701B53-0AED-478D-A8E4-68AF7694D384}"/>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6</a:t>
            </a:r>
          </a:p>
        </p:txBody>
      </p:sp>
      <p:sp>
        <p:nvSpPr>
          <p:cNvPr id="2" name="title-25">
            <a:extLst xmlns:a="http://schemas.openxmlformats.org/drawingml/2006/main">
              <a:ext uri="{FF2B5EF4-FFF2-40B4-BE49-F238E27FC236}">
                <a16:creationId xmlns:a16="http://schemas.microsoft.com/office/drawing/2014/main" id="{84356BE9-270A-4D2E-8ACE-20774BD1CBAB}"/>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What GRC adds to scanner results</a:t>
            </a:r>
          </a:p>
        </p:txBody>
      </p:sp>
      <p:sp>
        <p:nvSpPr>
          <p:cNvPr id="3" name="title-rule-25">
            <a:extLst xmlns:a="http://schemas.openxmlformats.org/drawingml/2006/main">
              <a:ext uri="{FF2B5EF4-FFF2-40B4-BE49-F238E27FC236}">
                <a16:creationId xmlns:a16="http://schemas.microsoft.com/office/drawing/2014/main" id="{42343CF9-6160-4315-89D8-92733FE20E5D}"/>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00ce79a1f6984317"/>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25">
            <a:extLst xmlns:a="http://schemas.openxmlformats.org/drawingml/2006/main">
              <a:ext uri="{FF2B5EF4-FFF2-40B4-BE49-F238E27FC236}">
                <a16:creationId xmlns:a16="http://schemas.microsoft.com/office/drawing/2014/main" id="{EDE58A8D-E3DC-41A9-ACFC-D29BC9C54661}"/>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25">
            <a:extLst xmlns:a="http://schemas.openxmlformats.org/drawingml/2006/main">
              <a:ext uri="{FF2B5EF4-FFF2-40B4-BE49-F238E27FC236}">
                <a16:creationId xmlns:a16="http://schemas.microsoft.com/office/drawing/2014/main" id="{565F5854-D634-4D43-A8E2-B7BE67F1883A}"/>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25">
            <a:extLst xmlns:a="http://schemas.openxmlformats.org/drawingml/2006/main">
              <a:ext uri="{FF2B5EF4-FFF2-40B4-BE49-F238E27FC236}">
                <a16:creationId xmlns:a16="http://schemas.microsoft.com/office/drawing/2014/main" id="{991BB461-179C-4D2D-80D7-AC178A1845BA}"/>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25</a:t>
            </a:r>
          </a:p>
        </p:txBody>
      </p:sp>
      <p:sp>
        <p:nvSpPr>
          <p:cNvPr id="8" name="pair-left-title-25">
            <a:extLst xmlns:a="http://schemas.openxmlformats.org/drawingml/2006/main">
              <a:ext uri="{FF2B5EF4-FFF2-40B4-BE49-F238E27FC236}">
                <a16:creationId xmlns:a16="http://schemas.microsoft.com/office/drawing/2014/main" id="{174B2308-3E13-4206-B3D2-22C45E489723}"/>
              </a:ext>
            </a:extLst>
          </p:cNvPr>
          <p:cNvSpPr>
            <a:spLocks xmlns:a="http://schemas.openxmlformats.org/drawingml/2006/main" noGrp="1"/>
          </p:cNvSpPr>
          <p:nvPr/>
        </p:nvSpPr>
        <p:spPr>
          <a:xfrm xmlns:a="http://schemas.openxmlformats.org/drawingml/2006/main">
            <a:off x="533400" y="180975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1">
                <a:solidFill>
                  <a:srgbClr val="11856E"/>
                </a:solidFill>
                <a:latin typeface="Helvetica Neue"/>
                <a:ea typeface="Helvetica Neue"/>
                <a:cs typeface="Helvetica Neue"/>
              </a:defRPr>
            </a:pPr>
            <a:r>
              <a:rPr sz="1800" b="1">
                <a:solidFill>
                  <a:srgbClr val="11856E"/>
                </a:solidFill>
                <a:latin typeface="Helvetica Neue"/>
                <a:ea typeface="Helvetica Neue"/>
                <a:cs typeface="Helvetica Neue"/>
              </a:rPr>
              <a:t>Scanner result</a:t>
            </a:r>
          </a:p>
        </p:txBody>
      </p:sp>
      <p:sp>
        <p:nvSpPr>
          <p:cNvPr id="9" name="pair-left-25">
            <a:extLst xmlns:a="http://schemas.openxmlformats.org/drawingml/2006/main">
              <a:ext uri="{FF2B5EF4-FFF2-40B4-BE49-F238E27FC236}">
                <a16:creationId xmlns:a16="http://schemas.microsoft.com/office/drawing/2014/main" id="{6C56BDEF-BD0D-4D83-A012-906C1F29F397}"/>
              </a:ext>
            </a:extLst>
          </p:cNvPr>
          <p:cNvSpPr>
            <a:spLocks xmlns:a="http://schemas.openxmlformats.org/drawingml/2006/main" noGrp="1"/>
          </p:cNvSpPr>
          <p:nvPr/>
        </p:nvSpPr>
        <p:spPr>
          <a:xfrm xmlns:a="http://schemas.openxmlformats.org/drawingml/2006/main">
            <a:off x="476250" y="2362200"/>
            <a:ext cx="47625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A technical observation captured at a point in time</a:t>
            </a:r>
          </a:p>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A provider-specific asset, severity, evidence, and recommendation</a:t>
            </a:r>
          </a:p>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A starting point for investigation and engineering correction</a:t>
            </a:r>
          </a:p>
        </p:txBody>
      </p:sp>
      <p:sp>
        <p:nvSpPr>
          <p:cNvPr id="10" name="pair-divider-25">
            <a:extLst xmlns:a="http://schemas.openxmlformats.org/drawingml/2006/main">
              <a:ext uri="{FF2B5EF4-FFF2-40B4-BE49-F238E27FC236}">
                <a16:creationId xmlns:a16="http://schemas.microsoft.com/office/drawing/2014/main" id="{A9E2A31E-CA81-44F7-94D6-4595D9C9FF48}"/>
              </a:ext>
            </a:extLst>
          </p:cNvPr>
          <p:cNvSpPr>
            <a:spLocks xmlns:a="http://schemas.openxmlformats.org/drawingml/2006/main" noGrp="1"/>
          </p:cNvSpPr>
          <p:nvPr/>
        </p:nvSpPr>
        <p:spPr>
          <a:xfrm xmlns:a="http://schemas.openxmlformats.org/drawingml/2006/main">
            <a:off x="6000750" y="1771650"/>
            <a:ext cx="9525" cy="3848100"/>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11" name="pair-right-title-25">
            <a:extLst xmlns:a="http://schemas.openxmlformats.org/drawingml/2006/main">
              <a:ext uri="{FF2B5EF4-FFF2-40B4-BE49-F238E27FC236}">
                <a16:creationId xmlns:a16="http://schemas.microsoft.com/office/drawing/2014/main" id="{C653CC77-CE9A-47DC-84C5-758FE65C8F3F}"/>
              </a:ext>
            </a:extLst>
          </p:cNvPr>
          <p:cNvSpPr>
            <a:spLocks xmlns:a="http://schemas.openxmlformats.org/drawingml/2006/main" noGrp="1"/>
          </p:cNvSpPr>
          <p:nvPr/>
        </p:nvSpPr>
        <p:spPr>
          <a:xfrm xmlns:a="http://schemas.openxmlformats.org/drawingml/2006/main">
            <a:off x="6572250" y="1809750"/>
            <a:ext cx="4667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1">
                <a:solidFill>
                  <a:srgbClr val="11856E"/>
                </a:solidFill>
                <a:latin typeface="Helvetica Neue"/>
                <a:ea typeface="Helvetica Neue"/>
                <a:cs typeface="Helvetica Neue"/>
              </a:defRPr>
            </a:pPr>
            <a:r>
              <a:rPr sz="1800" b="1">
                <a:solidFill>
                  <a:srgbClr val="11856E"/>
                </a:solidFill>
                <a:latin typeface="Helvetica Neue"/>
                <a:ea typeface="Helvetica Neue"/>
                <a:cs typeface="Helvetica Neue"/>
              </a:rPr>
              <a:t>GRC context</a:t>
            </a:r>
          </a:p>
        </p:txBody>
      </p:sp>
      <p:sp>
        <p:nvSpPr>
          <p:cNvPr id="12" name="pair-right-25">
            <a:extLst xmlns:a="http://schemas.openxmlformats.org/drawingml/2006/main">
              <a:ext uri="{FF2B5EF4-FFF2-40B4-BE49-F238E27FC236}">
                <a16:creationId xmlns:a16="http://schemas.microsoft.com/office/drawing/2014/main" id="{AB9FE678-EFD0-4E31-8B67-5AA7A98A6FE2}"/>
              </a:ext>
            </a:extLst>
          </p:cNvPr>
          <p:cNvSpPr>
            <a:spLocks xmlns:a="http://schemas.openxmlformats.org/drawingml/2006/main" noGrp="1"/>
          </p:cNvSpPr>
          <p:nvPr/>
        </p:nvSpPr>
        <p:spPr>
          <a:xfrm xmlns:a="http://schemas.openxmlformats.org/drawingml/2006/main">
            <a:off x="6515100" y="2362200"/>
            <a:ext cx="47625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The control objective and compliance obligation behind the finding</a:t>
            </a:r>
          </a:p>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The business service, risk owner, due date, and current status</a:t>
            </a:r>
          </a:p>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The exception, approval, and decision history needed for governance</a:t>
            </a:r>
          </a:p>
        </p:txBody>
      </p:sp>
      <p:sp>
        <p:nvSpPr>
          <p:cNvPr id="13" name="grc-purpose-bg">
            <a:extLst xmlns:a="http://schemas.openxmlformats.org/drawingml/2006/main">
              <a:ext uri="{FF2B5EF4-FFF2-40B4-BE49-F238E27FC236}">
                <a16:creationId xmlns:a16="http://schemas.microsoft.com/office/drawing/2014/main" id="{00F1792A-9AF4-4277-B02C-5A3D77287DA2}"/>
              </a:ext>
            </a:extLst>
          </p:cNvPr>
          <p:cNvSpPr>
            <a:spLocks xmlns:a="http://schemas.openxmlformats.org/drawingml/2006/main" noGrp="1"/>
          </p:cNvSpPr>
          <p:nvPr/>
        </p:nvSpPr>
        <p:spPr>
          <a:xfrm xmlns:a="http://schemas.openxmlformats.org/drawingml/2006/main">
            <a:off x="533400" y="5657850"/>
            <a:ext cx="11125200" cy="552450"/>
          </a:xfrm>
          <a:prstGeom xmlns:a="http://schemas.openxmlformats.org/drawingml/2006/main" prst="rect">
            <a:avLst/>
          </a:prstGeom>
          <a:solidFill xmlns:a="http://schemas.openxmlformats.org/drawingml/2006/main">
            <a:srgbClr val="DDF7EF"/>
          </a:solidFill>
          <a:ln xmlns:a="http://schemas.openxmlformats.org/drawingml/2006/main" w="0">
            <a:solidFill>
              <a:srgbClr val="DDF7EF"/>
            </a:solidFill>
            <a:prstDash val="solid"/>
          </a:ln>
        </p:spPr>
      </p:sp>
      <p:sp>
        <p:nvSpPr>
          <p:cNvPr id="14" name="grc-purpose-note">
            <a:extLst xmlns:a="http://schemas.openxmlformats.org/drawingml/2006/main">
              <a:ext uri="{FF2B5EF4-FFF2-40B4-BE49-F238E27FC236}">
                <a16:creationId xmlns:a16="http://schemas.microsoft.com/office/drawing/2014/main" id="{07925DAE-E0F4-43B0-AFED-F679D214B3C4}"/>
              </a:ext>
            </a:extLst>
          </p:cNvPr>
          <p:cNvSpPr>
            <a:spLocks xmlns:a="http://schemas.openxmlformats.org/drawingml/2006/main" noGrp="1"/>
          </p:cNvSpPr>
          <p:nvPr/>
        </p:nvSpPr>
        <p:spPr>
          <a:xfrm xmlns:a="http://schemas.openxmlformats.org/drawingml/2006/main">
            <a:off x="781050" y="5819775"/>
            <a:ext cx="10629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0C1715"/>
                </a:solidFill>
                <a:latin typeface="Helvetica Neue"/>
                <a:ea typeface="Helvetica Neue"/>
                <a:cs typeface="Helvetica Neue"/>
              </a:defRPr>
            </a:pPr>
            <a:r>
              <a:rPr sz="1425" b="1">
                <a:solidFill>
                  <a:srgbClr val="0C1715"/>
                </a:solidFill>
                <a:latin typeface="Helvetica Neue"/>
                <a:ea typeface="Helvetica Neue"/>
                <a:cs typeface="Helvetica Neue"/>
              </a:rPr>
              <a:t>GRC preserves the technical evidence while adding accountability and decision history.</a:t>
            </a:r>
          </a:p>
        </p:txBody>
      </p:sp>
    </p:spTree>
    <p:extLst>
      <p:ext uri="{BB962C8B-B14F-4D97-AF65-F5344CB8AC3E}">
        <p14:creationId xmlns:p14="http://schemas.microsoft.com/office/powerpoint/2010/main" val="1362588508"/>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ection-26">
            <a:extLst xmlns:a="http://schemas.openxmlformats.org/drawingml/2006/main">
              <a:ext uri="{FF2B5EF4-FFF2-40B4-BE49-F238E27FC236}">
                <a16:creationId xmlns:a16="http://schemas.microsoft.com/office/drawing/2014/main" id="{3C92B59F-8851-47D4-B07F-416CBEB892B2}"/>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6</a:t>
            </a:r>
          </a:p>
        </p:txBody>
      </p:sp>
      <p:sp>
        <p:nvSpPr>
          <p:cNvPr id="2" name="title-26">
            <a:extLst xmlns:a="http://schemas.openxmlformats.org/drawingml/2006/main">
              <a:ext uri="{FF2B5EF4-FFF2-40B4-BE49-F238E27FC236}">
                <a16:creationId xmlns:a16="http://schemas.microsoft.com/office/drawing/2014/main" id="{43627361-E325-494F-AA0C-2AE3C6A0822B}"/>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Core GRC records</a:t>
            </a:r>
          </a:p>
        </p:txBody>
      </p:sp>
      <p:sp>
        <p:nvSpPr>
          <p:cNvPr id="3" name="title-rule-26">
            <a:extLst xmlns:a="http://schemas.openxmlformats.org/drawingml/2006/main">
              <a:ext uri="{FF2B5EF4-FFF2-40B4-BE49-F238E27FC236}">
                <a16:creationId xmlns:a16="http://schemas.microsoft.com/office/drawing/2014/main" id="{3C97D2CE-79C0-4219-9475-03E3CD93ED7C}"/>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0e2922f1c9874f0e"/>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26">
            <a:extLst xmlns:a="http://schemas.openxmlformats.org/drawingml/2006/main">
              <a:ext uri="{FF2B5EF4-FFF2-40B4-BE49-F238E27FC236}">
                <a16:creationId xmlns:a16="http://schemas.microsoft.com/office/drawing/2014/main" id="{9F166A1F-3341-4542-BDC6-4799775AC263}"/>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26">
            <a:extLst xmlns:a="http://schemas.openxmlformats.org/drawingml/2006/main">
              <a:ext uri="{FF2B5EF4-FFF2-40B4-BE49-F238E27FC236}">
                <a16:creationId xmlns:a16="http://schemas.microsoft.com/office/drawing/2014/main" id="{91950E68-CDF3-4699-870D-5C60E7E296FD}"/>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26">
            <a:extLst xmlns:a="http://schemas.openxmlformats.org/drawingml/2006/main">
              <a:ext uri="{FF2B5EF4-FFF2-40B4-BE49-F238E27FC236}">
                <a16:creationId xmlns:a16="http://schemas.microsoft.com/office/drawing/2014/main" id="{E20A24B7-5D42-4A24-A685-0C33AB57DCCA}"/>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26</a:t>
            </a:r>
          </a:p>
        </p:txBody>
      </p:sp>
      <p:graphicFrame>
        <p:nvGraphicFramePr>
          <p:cNvPr id="18" name=""/>
          <p:cNvGraphicFramePr/>
          <p:nvPr/>
        </p:nvGraphicFramePr>
        <p:xfrm>
          <a:off xmlns:a="http://schemas.openxmlformats.org/drawingml/2006/main" x="533400" y="1752600"/>
          <a:ext xmlns:a="http://schemas.openxmlformats.org/drawingml/2006/main" cx="11125200" cy="4000500"/>
        </p:xfrm>
        <a:graphic xmlns:a="http://schemas.openxmlformats.org/drawingml/2006/main">
          <a:graphicData uri="http://schemas.openxmlformats.org/drawingml/2006/table">
            <a:tbl>
              <a:tblPr/>
              <a:tblGrid>
                <a:gridCol w="1714500"/>
                <a:gridCol w="4095750"/>
                <a:gridCol w="5314950"/>
              </a:tblGrid>
              <a:tr h="666750">
                <a:tc>
                  <a:txBody>
                    <a:bodyPr/>
                    <a:lstStyle/>
                    <a:p>
                      <a:r>
                        <a:rPr sz="1125" b="1">
                          <a:solidFill>
                            <a:srgbClr val="FFFFFF"/>
                          </a:solidFill>
                          <a:latin typeface="Helvetica Neue"/>
                          <a:ea typeface="Helvetica Neue"/>
                          <a:cs typeface="Helvetica Neue"/>
                        </a:rPr>
                        <a:t>Record</a:t>
                      </a:r>
                    </a:p>
                  </a:txBody>
                  <a:tcPr marL="91440" marR="91440" marT="45720" marB="45720">
                    <a:solidFill>
                      <a:srgbClr val="11856E"/>
                    </a:solidFill>
                  </a:tcPr>
                </a:tc>
                <a:tc>
                  <a:txBody>
                    <a:bodyPr/>
                    <a:lstStyle/>
                    <a:p>
                      <a:r>
                        <a:rPr sz="1125" b="1">
                          <a:solidFill>
                            <a:srgbClr val="FFFFFF"/>
                          </a:solidFill>
                          <a:latin typeface="Helvetica Neue"/>
                          <a:ea typeface="Helvetica Neue"/>
                          <a:cs typeface="Helvetica Neue"/>
                        </a:rPr>
                        <a:t>Purpose</a:t>
                      </a:r>
                    </a:p>
                  </a:txBody>
                  <a:tcPr marL="91440" marR="91440" marT="45720" marB="45720">
                    <a:solidFill>
                      <a:srgbClr val="11856E"/>
                    </a:solidFill>
                  </a:tcPr>
                </a:tc>
                <a:tc>
                  <a:txBody>
                    <a:bodyPr/>
                    <a:lstStyle/>
                    <a:p>
                      <a:r>
                        <a:rPr sz="1125" b="1">
                          <a:solidFill>
                            <a:srgbClr val="FFFFFF"/>
                          </a:solidFill>
                          <a:latin typeface="Helvetica Neue"/>
                          <a:ea typeface="Helvetica Neue"/>
                          <a:cs typeface="Helvetica Neue"/>
                        </a:rPr>
                        <a:t>Key information</a:t>
                      </a:r>
                    </a:p>
                  </a:txBody>
                  <a:tcPr marL="91440" marR="91440" marT="45720" marB="45720">
                    <a:solidFill>
                      <a:srgbClr val="11856E"/>
                    </a:solidFill>
                  </a:tcPr>
                </a:tc>
              </a:tr>
              <a:tr h="666750">
                <a:tc>
                  <a:txBody>
                    <a:bodyPr/>
                    <a:lstStyle/>
                    <a:p>
                      <a:r>
                        <a:rPr sz="1125" b="1">
                          <a:solidFill>
                            <a:srgbClr val="0C1715"/>
                          </a:solidFill>
                          <a:latin typeface="Helvetica Neue"/>
                          <a:ea typeface="Helvetica Neue"/>
                          <a:cs typeface="Helvetica Neue"/>
                        </a:rPr>
                        <a:t>Control</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Defines the security outcome the organization expects</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Owner, framework reference, test frequency, status</a:t>
                      </a:r>
                    </a:p>
                  </a:txBody>
                  <a:tcPr marL="91440" marR="91440" marT="45720" marB="45720">
                    <a:solidFill>
                      <a:srgbClr val="F2F7F5"/>
                    </a:solidFill>
                  </a:tcPr>
                </a:tc>
              </a:tr>
              <a:tr h="666750">
                <a:tc>
                  <a:txBody>
                    <a:bodyPr/>
                    <a:lstStyle/>
                    <a:p>
                      <a:r>
                        <a:rPr sz="1125" b="1">
                          <a:solidFill>
                            <a:srgbClr val="0C1715"/>
                          </a:solidFill>
                          <a:latin typeface="Helvetica Neue"/>
                          <a:ea typeface="Helvetica Neue"/>
                          <a:cs typeface="Helvetica Neue"/>
                        </a:rPr>
                        <a:t>Evidence</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Proves how the control operated at a point in time</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Source, asset, timestamp, checksum or lineage, reviewer</a:t>
                      </a:r>
                    </a:p>
                  </a:txBody>
                  <a:tcPr marL="91440" marR="91440" marT="45720" marB="45720">
                    <a:solidFill>
                      <a:srgbClr val="FFFFFF"/>
                    </a:solidFill>
                  </a:tcPr>
                </a:tc>
              </a:tr>
              <a:tr h="666750">
                <a:tc>
                  <a:txBody>
                    <a:bodyPr/>
                    <a:lstStyle/>
                    <a:p>
                      <a:r>
                        <a:rPr sz="1125" b="1">
                          <a:solidFill>
                            <a:srgbClr val="0C1715"/>
                          </a:solidFill>
                          <a:latin typeface="Helvetica Neue"/>
                          <a:ea typeface="Helvetica Neue"/>
                          <a:cs typeface="Helvetica Neue"/>
                        </a:rPr>
                        <a:t>Risk</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Expresses business impact and likelihood</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Affected service, exposure, impact, treatment decision</a:t>
                      </a:r>
                    </a:p>
                  </a:txBody>
                  <a:tcPr marL="91440" marR="91440" marT="45720" marB="45720">
                    <a:solidFill>
                      <a:srgbClr val="F2F7F5"/>
                    </a:solidFill>
                  </a:tcPr>
                </a:tc>
              </a:tr>
              <a:tr h="666750">
                <a:tc>
                  <a:txBody>
                    <a:bodyPr/>
                    <a:lstStyle/>
                    <a:p>
                      <a:r>
                        <a:rPr sz="1125" b="1">
                          <a:solidFill>
                            <a:srgbClr val="0C1715"/>
                          </a:solidFill>
                          <a:latin typeface="Helvetica Neue"/>
                          <a:ea typeface="Helvetica Neue"/>
                          <a:cs typeface="Helvetica Neue"/>
                        </a:rPr>
                        <a:t>Issue or action</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Tracks the work needed to correct a gap</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Finding, assignee, due date, remediation plan, status</a:t>
                      </a:r>
                    </a:p>
                  </a:txBody>
                  <a:tcPr marL="91440" marR="91440" marT="45720" marB="45720">
                    <a:solidFill>
                      <a:srgbClr val="FFFFFF"/>
                    </a:solidFill>
                  </a:tcPr>
                </a:tc>
              </a:tr>
              <a:tr h="666750">
                <a:tc>
                  <a:txBody>
                    <a:bodyPr/>
                    <a:lstStyle/>
                    <a:p>
                      <a:r>
                        <a:rPr sz="1125" b="1">
                          <a:solidFill>
                            <a:srgbClr val="0C1715"/>
                          </a:solidFill>
                          <a:latin typeface="Helvetica Neue"/>
                          <a:ea typeface="Helvetica Neue"/>
                          <a:cs typeface="Helvetica Neue"/>
                        </a:rPr>
                        <a:t>Audit history</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Preserves decisions and state changes</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Reviewer comments, approvals, exceptions, closure proof</a:t>
                      </a:r>
                    </a:p>
                  </a:txBody>
                  <a:tcPr marL="91440" marR="91440" marT="45720" marB="45720">
                    <a:solidFill>
                      <a:srgbClr val="F2F7F5"/>
                    </a:solidFill>
                  </a:tcPr>
                </a:tc>
              </a:tr>
            </a:tbl>
          </a:graphicData>
        </a:graphic>
      </p:graphicFrame>
      <p:sp>
        <p:nvSpPr>
          <p:cNvPr id="9" name="grc-records-bg">
            <a:extLst xmlns:a="http://schemas.openxmlformats.org/drawingml/2006/main">
              <a:ext uri="{FF2B5EF4-FFF2-40B4-BE49-F238E27FC236}">
                <a16:creationId xmlns:a16="http://schemas.microsoft.com/office/drawing/2014/main" id="{5C0546A9-7E37-4CD7-B1BA-E1224EAE68A9}"/>
              </a:ext>
            </a:extLst>
          </p:cNvPr>
          <p:cNvSpPr>
            <a:spLocks xmlns:a="http://schemas.openxmlformats.org/drawingml/2006/main" noGrp="1"/>
          </p:cNvSpPr>
          <p:nvPr/>
        </p:nvSpPr>
        <p:spPr>
          <a:xfrm xmlns:a="http://schemas.openxmlformats.org/drawingml/2006/main">
            <a:off x="533400" y="5905500"/>
            <a:ext cx="11125200" cy="381000"/>
          </a:xfrm>
          <a:prstGeom xmlns:a="http://schemas.openxmlformats.org/drawingml/2006/main" prst="rect">
            <a:avLst/>
          </a:prstGeom>
          <a:solidFill xmlns:a="http://schemas.openxmlformats.org/drawingml/2006/main">
            <a:srgbClr val="F2F7F5"/>
          </a:solidFill>
          <a:ln xmlns:a="http://schemas.openxmlformats.org/drawingml/2006/main" w="0">
            <a:solidFill>
              <a:srgbClr val="F2F7F5"/>
            </a:solidFill>
            <a:prstDash val="solid"/>
          </a:ln>
        </p:spPr>
      </p:sp>
      <p:sp>
        <p:nvSpPr>
          <p:cNvPr id="10" name="grc-records-note">
            <a:extLst xmlns:a="http://schemas.openxmlformats.org/drawingml/2006/main">
              <a:ext uri="{FF2B5EF4-FFF2-40B4-BE49-F238E27FC236}">
                <a16:creationId xmlns:a16="http://schemas.microsoft.com/office/drawing/2014/main" id="{9C1D93AD-47CC-4E0F-8AC3-452CEBDDA3C1}"/>
              </a:ext>
            </a:extLst>
          </p:cNvPr>
          <p:cNvSpPr>
            <a:spLocks xmlns:a="http://schemas.openxmlformats.org/drawingml/2006/main" noGrp="1"/>
          </p:cNvSpPr>
          <p:nvPr/>
        </p:nvSpPr>
        <p:spPr>
          <a:xfrm xmlns:a="http://schemas.openxmlformats.org/drawingml/2006/main">
            <a:off x="723900" y="5981700"/>
            <a:ext cx="10744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0C1715"/>
                </a:solidFill>
                <a:latin typeface="Helvetica Neue"/>
                <a:ea typeface="Helvetica Neue"/>
                <a:cs typeface="Helvetica Neue"/>
              </a:defRPr>
            </a:pPr>
            <a:r>
              <a:rPr sz="1275" b="1">
                <a:solidFill>
                  <a:srgbClr val="0C1715"/>
                </a:solidFill>
                <a:latin typeface="Helvetica Neue"/>
                <a:ea typeface="Helvetica Neue"/>
                <a:cs typeface="Helvetica Neue"/>
              </a:rPr>
              <a:t>These records keep the technical fact, the business decision, and the proof of closure connected.</a:t>
            </a:r>
          </a:p>
        </p:txBody>
      </p:sp>
    </p:spTree>
    <p:extLst>
      <p:ext uri="{BB962C8B-B14F-4D97-AF65-F5344CB8AC3E}">
        <p14:creationId xmlns:p14="http://schemas.microsoft.com/office/powerpoint/2010/main" val="365609675"/>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ection-27">
            <a:extLst xmlns:a="http://schemas.openxmlformats.org/drawingml/2006/main">
              <a:ext uri="{FF2B5EF4-FFF2-40B4-BE49-F238E27FC236}">
                <a16:creationId xmlns:a16="http://schemas.microsoft.com/office/drawing/2014/main" id="{D8BD2C8C-762A-4D8B-89A1-EFE0B813BE36}"/>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6</a:t>
            </a:r>
          </a:p>
        </p:txBody>
      </p:sp>
      <p:sp>
        <p:nvSpPr>
          <p:cNvPr id="2" name="title-27">
            <a:extLst xmlns:a="http://schemas.openxmlformats.org/drawingml/2006/main">
              <a:ext uri="{FF2B5EF4-FFF2-40B4-BE49-F238E27FC236}">
                <a16:creationId xmlns:a16="http://schemas.microsoft.com/office/drawing/2014/main" id="{1C433D02-012D-4A91-9E43-AC09A818AE51}"/>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Mapping a finding to a control</a:t>
            </a:r>
          </a:p>
        </p:txBody>
      </p:sp>
      <p:sp>
        <p:nvSpPr>
          <p:cNvPr id="3" name="title-rule-27">
            <a:extLst xmlns:a="http://schemas.openxmlformats.org/drawingml/2006/main">
              <a:ext uri="{FF2B5EF4-FFF2-40B4-BE49-F238E27FC236}">
                <a16:creationId xmlns:a16="http://schemas.microsoft.com/office/drawing/2014/main" id="{2A40BDE6-E63E-4E12-B424-717555649FF3}"/>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513c6ea3fa774894"/>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27">
            <a:extLst xmlns:a="http://schemas.openxmlformats.org/drawingml/2006/main">
              <a:ext uri="{FF2B5EF4-FFF2-40B4-BE49-F238E27FC236}">
                <a16:creationId xmlns:a16="http://schemas.microsoft.com/office/drawing/2014/main" id="{B452EBCB-4578-4BEA-8A63-684DCEA19512}"/>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27">
            <a:extLst xmlns:a="http://schemas.openxmlformats.org/drawingml/2006/main">
              <a:ext uri="{FF2B5EF4-FFF2-40B4-BE49-F238E27FC236}">
                <a16:creationId xmlns:a16="http://schemas.microsoft.com/office/drawing/2014/main" id="{A9A221CB-4DDF-4BA6-B8AD-73713F25194E}"/>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27">
            <a:extLst xmlns:a="http://schemas.openxmlformats.org/drawingml/2006/main">
              <a:ext uri="{FF2B5EF4-FFF2-40B4-BE49-F238E27FC236}">
                <a16:creationId xmlns:a16="http://schemas.microsoft.com/office/drawing/2014/main" id="{DAC8FE59-2628-4520-8A36-CB244FADA61C}"/>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27</a:t>
            </a:r>
          </a:p>
        </p:txBody>
      </p:sp>
      <p:graphicFrame>
        <p:nvGraphicFramePr>
          <p:cNvPr id="18" name=""/>
          <p:cNvGraphicFramePr/>
          <p:nvPr/>
        </p:nvGraphicFramePr>
        <p:xfrm>
          <a:off xmlns:a="http://schemas.openxmlformats.org/drawingml/2006/main" x="533400" y="1752600"/>
          <a:ext xmlns:a="http://schemas.openxmlformats.org/drawingml/2006/main" cx="11125200" cy="4000500"/>
        </p:xfrm>
        <a:graphic xmlns:a="http://schemas.openxmlformats.org/drawingml/2006/main">
          <a:graphicData uri="http://schemas.openxmlformats.org/drawingml/2006/table">
            <a:tbl>
              <a:tblPr/>
              <a:tblGrid>
                <a:gridCol w="2857500"/>
                <a:gridCol w="8267700"/>
              </a:tblGrid>
              <a:tr h="571500">
                <a:tc>
                  <a:txBody>
                    <a:bodyPr/>
                    <a:lstStyle/>
                    <a:p>
                      <a:r>
                        <a:rPr sz="1125" b="1">
                          <a:solidFill>
                            <a:srgbClr val="FFFFFF"/>
                          </a:solidFill>
                          <a:latin typeface="Helvetica Neue"/>
                          <a:ea typeface="Helvetica Neue"/>
                          <a:cs typeface="Helvetica Neue"/>
                        </a:rPr>
                        <a:t>GRC question</a:t>
                      </a:r>
                    </a:p>
                  </a:txBody>
                  <a:tcPr marL="91440" marR="91440" marT="45720" marB="45720">
                    <a:solidFill>
                      <a:srgbClr val="11856E"/>
                    </a:solidFill>
                  </a:tcPr>
                </a:tc>
                <a:tc>
                  <a:txBody>
                    <a:bodyPr/>
                    <a:lstStyle/>
                    <a:p>
                      <a:r>
                        <a:rPr sz="1125" b="1">
                          <a:solidFill>
                            <a:srgbClr val="FFFFFF"/>
                          </a:solidFill>
                          <a:latin typeface="Helvetica Neue"/>
                          <a:ea typeface="Helvetica Neue"/>
                          <a:cs typeface="Helvetica Neue"/>
                        </a:rPr>
                        <a:t>Workshop example</a:t>
                      </a:r>
                    </a:p>
                  </a:txBody>
                  <a:tcPr marL="91440" marR="91440" marT="45720" marB="45720">
                    <a:solidFill>
                      <a:srgbClr val="11856E"/>
                    </a:solidFill>
                  </a:tcPr>
                </a:tc>
              </a:tr>
              <a:tr h="571500">
                <a:tc>
                  <a:txBody>
                    <a:bodyPr/>
                    <a:lstStyle/>
                    <a:p>
                      <a:r>
                        <a:rPr sz="1200" b="1">
                          <a:solidFill>
                            <a:srgbClr val="0C1715"/>
                          </a:solidFill>
                          <a:latin typeface="Helvetica Neue"/>
                          <a:ea typeface="Helvetica Neue"/>
                          <a:cs typeface="Helvetica Neue"/>
                        </a:rPr>
                        <a:t>What failed?</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Public object storage allows access outside the approved boundary</a:t>
                      </a:r>
                    </a:p>
                  </a:txBody>
                  <a:tcPr marL="91440" marR="91440" marT="45720" marB="45720">
                    <a:solidFill>
                      <a:srgbClr val="F2F7F5"/>
                    </a:solidFill>
                  </a:tcPr>
                </a:tc>
              </a:tr>
              <a:tr h="571500">
                <a:tc>
                  <a:txBody>
                    <a:bodyPr/>
                    <a:lstStyle/>
                    <a:p>
                      <a:r>
                        <a:rPr sz="1200" b="1">
                          <a:solidFill>
                            <a:srgbClr val="0C1715"/>
                          </a:solidFill>
                          <a:latin typeface="Helvetica Neue"/>
                          <a:ea typeface="Helvetica Neue"/>
                          <a:cs typeface="Helvetica Neue"/>
                        </a:rPr>
                        <a:t>Which control?</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Storage access must remain restricted to authorized identities</a:t>
                      </a:r>
                    </a:p>
                  </a:txBody>
                  <a:tcPr marL="91440" marR="91440" marT="45720" marB="45720">
                    <a:solidFill>
                      <a:srgbClr val="FFFFFF"/>
                    </a:solidFill>
                  </a:tcPr>
                </a:tc>
              </a:tr>
              <a:tr h="571500">
                <a:tc>
                  <a:txBody>
                    <a:bodyPr/>
                    <a:lstStyle/>
                    <a:p>
                      <a:r>
                        <a:rPr sz="1200" b="1">
                          <a:solidFill>
                            <a:srgbClr val="0C1715"/>
                          </a:solidFill>
                          <a:latin typeface="Helvetica Neue"/>
                          <a:ea typeface="Helvetica Neue"/>
                          <a:cs typeface="Helvetica Neue"/>
                        </a:rPr>
                        <a:t>What proves it?</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Bucket IAM or policy, scanner observation, and collection timestamp</a:t>
                      </a:r>
                    </a:p>
                  </a:txBody>
                  <a:tcPr marL="91440" marR="91440" marT="45720" marB="45720">
                    <a:solidFill>
                      <a:srgbClr val="F2F7F5"/>
                    </a:solidFill>
                  </a:tcPr>
                </a:tc>
              </a:tr>
              <a:tr h="571500">
                <a:tc>
                  <a:txBody>
                    <a:bodyPr/>
                    <a:lstStyle/>
                    <a:p>
                      <a:r>
                        <a:rPr sz="1200" b="1">
                          <a:solidFill>
                            <a:srgbClr val="0C1715"/>
                          </a:solidFill>
                          <a:latin typeface="Helvetica Neue"/>
                          <a:ea typeface="Helvetica Neue"/>
                          <a:cs typeface="Helvetica Neue"/>
                        </a:rPr>
                        <a:t>What is the risk?</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Unauthorized access to data and loss of confidentiality</a:t>
                      </a:r>
                    </a:p>
                  </a:txBody>
                  <a:tcPr marL="91440" marR="91440" marT="45720" marB="45720">
                    <a:solidFill>
                      <a:srgbClr val="FFFFFF"/>
                    </a:solidFill>
                  </a:tcPr>
                </a:tc>
              </a:tr>
              <a:tr h="571500">
                <a:tc>
                  <a:txBody>
                    <a:bodyPr/>
                    <a:lstStyle/>
                    <a:p>
                      <a:r>
                        <a:rPr sz="1200" b="1">
                          <a:solidFill>
                            <a:srgbClr val="0C1715"/>
                          </a:solidFill>
                          <a:latin typeface="Helvetica Neue"/>
                          <a:ea typeface="Helvetica Neue"/>
                          <a:cs typeface="Helvetica Neue"/>
                        </a:rPr>
                        <a:t>Who owns the response?</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The accountable cloud platform or application owner</a:t>
                      </a:r>
                    </a:p>
                  </a:txBody>
                  <a:tcPr marL="91440" marR="91440" marT="45720" marB="45720">
                    <a:solidFill>
                      <a:srgbClr val="F2F7F5"/>
                    </a:solidFill>
                  </a:tcPr>
                </a:tc>
              </a:tr>
              <a:tr h="571500">
                <a:tc>
                  <a:txBody>
                    <a:bodyPr/>
                    <a:lstStyle/>
                    <a:p>
                      <a:r>
                        <a:rPr sz="1200" b="1">
                          <a:solidFill>
                            <a:srgbClr val="0C1715"/>
                          </a:solidFill>
                          <a:latin typeface="Helvetica Neue"/>
                          <a:ea typeface="Helvetica Neue"/>
                          <a:cs typeface="Helvetica Neue"/>
                        </a:rPr>
                        <a:t>What proves closure?</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Restricted policy, approved change record, and clean rescan</a:t>
                      </a:r>
                    </a:p>
                  </a:txBody>
                  <a:tcPr marL="91440" marR="91440" marT="45720" marB="45720">
                    <a:solidFill>
                      <a:srgbClr val="FFFFFF"/>
                    </a:solidFill>
                  </a:tcPr>
                </a:tc>
              </a:tr>
            </a:tbl>
          </a:graphicData>
        </a:graphic>
      </p:graphicFrame>
      <p:sp>
        <p:nvSpPr>
          <p:cNvPr id="9" name="finding-control-bg">
            <a:extLst xmlns:a="http://schemas.openxmlformats.org/drawingml/2006/main">
              <a:ext uri="{FF2B5EF4-FFF2-40B4-BE49-F238E27FC236}">
                <a16:creationId xmlns:a16="http://schemas.microsoft.com/office/drawing/2014/main" id="{A582AB94-4520-4B27-BFC0-77259AFB66F3}"/>
              </a:ext>
            </a:extLst>
          </p:cNvPr>
          <p:cNvSpPr>
            <a:spLocks xmlns:a="http://schemas.openxmlformats.org/drawingml/2006/main" noGrp="1"/>
          </p:cNvSpPr>
          <p:nvPr/>
        </p:nvSpPr>
        <p:spPr>
          <a:xfrm xmlns:a="http://schemas.openxmlformats.org/drawingml/2006/main">
            <a:off x="533400" y="5905500"/>
            <a:ext cx="11125200" cy="381000"/>
          </a:xfrm>
          <a:prstGeom xmlns:a="http://schemas.openxmlformats.org/drawingml/2006/main" prst="rect">
            <a:avLst/>
          </a:prstGeom>
          <a:solidFill xmlns:a="http://schemas.openxmlformats.org/drawingml/2006/main">
            <a:srgbClr val="DDF7EF"/>
          </a:solidFill>
          <a:ln xmlns:a="http://schemas.openxmlformats.org/drawingml/2006/main" w="0">
            <a:solidFill>
              <a:srgbClr val="DDF7EF"/>
            </a:solidFill>
            <a:prstDash val="solid"/>
          </a:ln>
        </p:spPr>
      </p:sp>
      <p:sp>
        <p:nvSpPr>
          <p:cNvPr id="10" name="finding-control-note">
            <a:extLst xmlns:a="http://schemas.openxmlformats.org/drawingml/2006/main">
              <a:ext uri="{FF2B5EF4-FFF2-40B4-BE49-F238E27FC236}">
                <a16:creationId xmlns:a16="http://schemas.microsoft.com/office/drawing/2014/main" id="{DB298F68-24BD-4244-9AD0-D0989DB579F0}"/>
              </a:ext>
            </a:extLst>
          </p:cNvPr>
          <p:cNvSpPr>
            <a:spLocks xmlns:a="http://schemas.openxmlformats.org/drawingml/2006/main" noGrp="1"/>
          </p:cNvSpPr>
          <p:nvPr/>
        </p:nvSpPr>
        <p:spPr>
          <a:xfrm xmlns:a="http://schemas.openxmlformats.org/drawingml/2006/main">
            <a:off x="723900" y="5981700"/>
            <a:ext cx="10744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0C1715"/>
                </a:solidFill>
                <a:latin typeface="Helvetica Neue"/>
                <a:ea typeface="Helvetica Neue"/>
                <a:cs typeface="Helvetica Neue"/>
              </a:defRPr>
            </a:pPr>
            <a:r>
              <a:rPr sz="1275" b="1">
                <a:solidFill>
                  <a:srgbClr val="0C1715"/>
                </a:solidFill>
                <a:latin typeface="Helvetica Neue"/>
                <a:ea typeface="Helvetica Neue"/>
                <a:cs typeface="Helvetica Neue"/>
              </a:rPr>
              <a:t>The finding is one piece of evidence about control performance; it does not replace the control.</a:t>
            </a:r>
          </a:p>
        </p:txBody>
      </p:sp>
    </p:spTree>
    <p:extLst>
      <p:ext uri="{BB962C8B-B14F-4D97-AF65-F5344CB8AC3E}">
        <p14:creationId xmlns:p14="http://schemas.microsoft.com/office/powerpoint/2010/main" val="994067967"/>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28">
            <a:extLst xmlns:a="http://schemas.openxmlformats.org/drawingml/2006/main">
              <a:ext uri="{FF2B5EF4-FFF2-40B4-BE49-F238E27FC236}">
                <a16:creationId xmlns:a16="http://schemas.microsoft.com/office/drawing/2014/main" id="{D679D4BB-FB3A-4E6D-A437-654BB73E8501}"/>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6</a:t>
            </a:r>
          </a:p>
        </p:txBody>
      </p:sp>
      <p:sp>
        <p:nvSpPr>
          <p:cNvPr id="2" name="title-28">
            <a:extLst xmlns:a="http://schemas.openxmlformats.org/drawingml/2006/main">
              <a:ext uri="{FF2B5EF4-FFF2-40B4-BE49-F238E27FC236}">
                <a16:creationId xmlns:a16="http://schemas.microsoft.com/office/drawing/2014/main" id="{11E92585-4C2E-4E3A-9C02-111235BAD2D8}"/>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Evidence lifecycle in GRC</a:t>
            </a:r>
          </a:p>
        </p:txBody>
      </p:sp>
      <p:sp>
        <p:nvSpPr>
          <p:cNvPr id="3" name="title-rule-28">
            <a:extLst xmlns:a="http://schemas.openxmlformats.org/drawingml/2006/main">
              <a:ext uri="{FF2B5EF4-FFF2-40B4-BE49-F238E27FC236}">
                <a16:creationId xmlns:a16="http://schemas.microsoft.com/office/drawing/2014/main" id="{0F11FAAD-979F-4AA7-A067-B4AC3ADD62DE}"/>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0532c3cf2e64648"/>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28">
            <a:extLst xmlns:a="http://schemas.openxmlformats.org/drawingml/2006/main">
              <a:ext uri="{FF2B5EF4-FFF2-40B4-BE49-F238E27FC236}">
                <a16:creationId xmlns:a16="http://schemas.microsoft.com/office/drawing/2014/main" id="{CA309FBD-AA86-4B25-AFD8-5BC80636B60B}"/>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28">
            <a:extLst xmlns:a="http://schemas.openxmlformats.org/drawingml/2006/main">
              <a:ext uri="{FF2B5EF4-FFF2-40B4-BE49-F238E27FC236}">
                <a16:creationId xmlns:a16="http://schemas.microsoft.com/office/drawing/2014/main" id="{A1887A1E-0E4B-4DA8-B0F4-A4E2ADD73597}"/>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28">
            <a:extLst xmlns:a="http://schemas.openxmlformats.org/drawingml/2006/main">
              <a:ext uri="{FF2B5EF4-FFF2-40B4-BE49-F238E27FC236}">
                <a16:creationId xmlns:a16="http://schemas.microsoft.com/office/drawing/2014/main" id="{B3B1D7DA-7AA3-4224-9D4B-3E43DB4A96C6}"/>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28</a:t>
            </a:r>
          </a:p>
        </p:txBody>
      </p:sp>
      <p:sp>
        <p:nvSpPr>
          <p:cNvPr id="8" name="evidence-frame">
            <a:extLst xmlns:a="http://schemas.openxmlformats.org/drawingml/2006/main">
              <a:ext uri="{FF2B5EF4-FFF2-40B4-BE49-F238E27FC236}">
                <a16:creationId xmlns:a16="http://schemas.microsoft.com/office/drawing/2014/main" id="{19DF9436-2146-443A-BB30-6C499DF86815}"/>
              </a:ext>
            </a:extLst>
          </p:cNvPr>
          <p:cNvSpPr>
            <a:spLocks xmlns:a="http://schemas.openxmlformats.org/drawingml/2006/main" noGrp="1"/>
          </p:cNvSpPr>
          <p:nvPr/>
        </p:nvSpPr>
        <p:spPr>
          <a:xfrm xmlns:a="http://schemas.openxmlformats.org/drawingml/2006/main">
            <a:off x="533400" y="1752600"/>
            <a:ext cx="7429500" cy="4095750"/>
          </a:xfrm>
          <a:prstGeom xmlns:a="http://schemas.openxmlformats.org/drawingml/2006/main" prst="rect">
            <a:avLst/>
          </a:prstGeom>
          <a:solidFill xmlns:a="http://schemas.openxmlformats.org/drawingml/2006/main">
            <a:srgbClr val="F2F7F5"/>
          </a:solidFill>
          <a:ln xmlns:a="http://schemas.openxmlformats.org/drawingml/2006/main" w="9525">
            <a:solidFill>
              <a:srgbClr val="B9C9C5"/>
            </a:solidFill>
            <a:prstDash val="solid"/>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abae31e7b5e84db8"/>
          <a:stretch xmlns:a="http://schemas.openxmlformats.org/drawingml/2006/main"/>
        </p:blipFill>
        <p:spPr>
          <a:xfrm xmlns:a="http://schemas.openxmlformats.org/drawingml/2006/main">
            <a:off x="878417" y="1905000"/>
            <a:ext cx="6739467" cy="3790950"/>
          </a:xfrm>
          <a:prstGeom xmlns:a="http://schemas.openxmlformats.org/drawingml/2006/main" prst="roundRect">
            <a:avLst>
              <a:gd name="adj" fmla="val 1005"/>
            </a:avLst>
          </a:prstGeom>
        </p:spPr>
      </p:pic>
      <p:sp>
        <p:nvSpPr>
          <p:cNvPr id="10" name="evidence-title">
            <a:extLst xmlns:a="http://schemas.openxmlformats.org/drawingml/2006/main">
              <a:ext uri="{FF2B5EF4-FFF2-40B4-BE49-F238E27FC236}">
                <a16:creationId xmlns:a16="http://schemas.microsoft.com/office/drawing/2014/main" id="{BB42415B-F092-4868-838E-5FA2C0320AF9}"/>
              </a:ext>
            </a:extLst>
          </p:cNvPr>
          <p:cNvSpPr>
            <a:spLocks xmlns:a="http://schemas.openxmlformats.org/drawingml/2006/main" noGrp="1"/>
          </p:cNvSpPr>
          <p:nvPr/>
        </p:nvSpPr>
        <p:spPr>
          <a:xfrm xmlns:a="http://schemas.openxmlformats.org/drawingml/2006/main">
            <a:off x="8382000" y="1885950"/>
            <a:ext cx="295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1">
                <a:solidFill>
                  <a:srgbClr val="11856E"/>
                </a:solidFill>
                <a:latin typeface="Helvetica Neue"/>
                <a:ea typeface="Helvetica Neue"/>
                <a:cs typeface="Helvetica Neue"/>
              </a:defRPr>
            </a:pPr>
            <a:r>
              <a:rPr sz="1800" b="1">
                <a:solidFill>
                  <a:srgbClr val="11856E"/>
                </a:solidFill>
                <a:latin typeface="Helvetica Neue"/>
                <a:ea typeface="Helvetica Neue"/>
                <a:cs typeface="Helvetica Neue"/>
              </a:rPr>
              <a:t>From collection to closure</a:t>
            </a:r>
          </a:p>
        </p:txBody>
      </p:sp>
      <p:sp>
        <p:nvSpPr>
          <p:cNvPr id="11" name="evidence-list">
            <a:extLst xmlns:a="http://schemas.openxmlformats.org/drawingml/2006/main">
              <a:ext uri="{FF2B5EF4-FFF2-40B4-BE49-F238E27FC236}">
                <a16:creationId xmlns:a16="http://schemas.microsoft.com/office/drawing/2014/main" id="{F8C69C56-05E6-409F-A323-1857BCCCD8DF}"/>
              </a:ext>
            </a:extLst>
          </p:cNvPr>
          <p:cNvSpPr>
            <a:spLocks xmlns:a="http://schemas.openxmlformats.org/drawingml/2006/main" noGrp="1"/>
          </p:cNvSpPr>
          <p:nvPr/>
        </p:nvSpPr>
        <p:spPr>
          <a:xfrm xmlns:a="http://schemas.openxmlformats.org/drawingml/2006/main">
            <a:off x="8305800" y="2628900"/>
            <a:ext cx="304800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8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Collect the original scanner payload and asset context</a:t>
            </a:r>
          </a:p>
          <a:p xmlns:a="http://schemas.openxmlformats.org/drawingml/2006/main">
            <a:pPr marL="228600" indent="-114300">
              <a:spcAft>
                <a:spcPts val="8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Preserve source, timestamp, checksum, and lineage</a:t>
            </a:r>
          </a:p>
          <a:p xmlns:a="http://schemas.openxmlformats.org/drawingml/2006/main">
            <a:pPr marL="228600" indent="-114300">
              <a:spcAft>
                <a:spcPts val="8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Review evidence quality and map it to the control</a:t>
            </a:r>
          </a:p>
          <a:p xmlns:a="http://schemas.openxmlformats.org/drawingml/2006/main">
            <a:pPr marL="228600" indent="-114300">
              <a:spcAft>
                <a:spcPts val="8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Attach remediation, rescan, or cleanup proof</a:t>
            </a:r>
          </a:p>
          <a:p xmlns:a="http://schemas.openxmlformats.org/drawingml/2006/main">
            <a:pPr marL="228600" indent="-114300">
              <a:spcAft>
                <a:spcPts val="8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Retain the complete history for audit and future testing</a:t>
            </a:r>
          </a:p>
        </p:txBody>
      </p:sp>
    </p:spTree>
    <p:extLst>
      <p:ext uri="{BB962C8B-B14F-4D97-AF65-F5344CB8AC3E}">
        <p14:creationId xmlns:p14="http://schemas.microsoft.com/office/powerpoint/2010/main" val="1206741202"/>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ection-29">
            <a:extLst xmlns:a="http://schemas.openxmlformats.org/drawingml/2006/main">
              <a:ext uri="{FF2B5EF4-FFF2-40B4-BE49-F238E27FC236}">
                <a16:creationId xmlns:a16="http://schemas.microsoft.com/office/drawing/2014/main" id="{F9E4FCBC-BF03-4A3E-A78F-4472FAB07C20}"/>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6</a:t>
            </a:r>
          </a:p>
        </p:txBody>
      </p:sp>
      <p:sp>
        <p:nvSpPr>
          <p:cNvPr id="2" name="title-29">
            <a:extLst xmlns:a="http://schemas.openxmlformats.org/drawingml/2006/main">
              <a:ext uri="{FF2B5EF4-FFF2-40B4-BE49-F238E27FC236}">
                <a16:creationId xmlns:a16="http://schemas.microsoft.com/office/drawing/2014/main" id="{64915C40-8868-4840-AB98-4581579F9D1D}"/>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Risk, remediation, and approval</a:t>
            </a:r>
          </a:p>
        </p:txBody>
      </p:sp>
      <p:sp>
        <p:nvSpPr>
          <p:cNvPr id="3" name="title-rule-29">
            <a:extLst xmlns:a="http://schemas.openxmlformats.org/drawingml/2006/main">
              <a:ext uri="{FF2B5EF4-FFF2-40B4-BE49-F238E27FC236}">
                <a16:creationId xmlns:a16="http://schemas.microsoft.com/office/drawing/2014/main" id="{95F49A89-DE86-490B-9112-FBB702C1A0E2}"/>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ada59baa16b54959"/>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29">
            <a:extLst xmlns:a="http://schemas.openxmlformats.org/drawingml/2006/main">
              <a:ext uri="{FF2B5EF4-FFF2-40B4-BE49-F238E27FC236}">
                <a16:creationId xmlns:a16="http://schemas.microsoft.com/office/drawing/2014/main" id="{693BD429-D0D9-4BAF-9F7B-478A14A660C2}"/>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29">
            <a:extLst xmlns:a="http://schemas.openxmlformats.org/drawingml/2006/main">
              <a:ext uri="{FF2B5EF4-FFF2-40B4-BE49-F238E27FC236}">
                <a16:creationId xmlns:a16="http://schemas.microsoft.com/office/drawing/2014/main" id="{FA856A69-4F9B-47CA-B9C1-6A7075D5D376}"/>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29">
            <a:extLst xmlns:a="http://schemas.openxmlformats.org/drawingml/2006/main">
              <a:ext uri="{FF2B5EF4-FFF2-40B4-BE49-F238E27FC236}">
                <a16:creationId xmlns:a16="http://schemas.microsoft.com/office/drawing/2014/main" id="{B93A913F-E4A7-49A3-96B0-36EDEADC8AC5}"/>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29</a:t>
            </a:r>
          </a:p>
        </p:txBody>
      </p:sp>
      <p:sp>
        <p:nvSpPr>
          <p:cNvPr id="8" name="reason-frame">
            <a:extLst xmlns:a="http://schemas.openxmlformats.org/drawingml/2006/main">
              <a:ext uri="{FF2B5EF4-FFF2-40B4-BE49-F238E27FC236}">
                <a16:creationId xmlns:a16="http://schemas.microsoft.com/office/drawing/2014/main" id="{80913E1F-8975-46D1-8694-40232DEB212D}"/>
              </a:ext>
            </a:extLst>
          </p:cNvPr>
          <p:cNvSpPr>
            <a:spLocks xmlns:a="http://schemas.openxmlformats.org/drawingml/2006/main" noGrp="1"/>
          </p:cNvSpPr>
          <p:nvPr/>
        </p:nvSpPr>
        <p:spPr>
          <a:xfrm xmlns:a="http://schemas.openxmlformats.org/drawingml/2006/main">
            <a:off x="533400" y="1752600"/>
            <a:ext cx="7239000" cy="4095750"/>
          </a:xfrm>
          <a:prstGeom xmlns:a="http://schemas.openxmlformats.org/drawingml/2006/main" prst="rect">
            <a:avLst/>
          </a:prstGeom>
          <a:solidFill xmlns:a="http://schemas.openxmlformats.org/drawingml/2006/main">
            <a:srgbClr val="0B1D19"/>
          </a:solidFill>
          <a:ln xmlns:a="http://schemas.openxmlformats.org/drawingml/2006/main" w="0">
            <a:solidFill>
              <a:srgbClr val="0B1D19"/>
            </a:solidFill>
            <a:prstDash val="solid"/>
          </a:ln>
        </p:spPr>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35806aebdc0b4efb"/>
          <a:srcRect xmlns:a="http://schemas.openxmlformats.org/drawingml/2006/main" l="0" t="1404" r="0" b="1404"/>
          <a:stretch xmlns:a="http://schemas.openxmlformats.org/drawingml/2006/main">
            <a:fillRect l="0" t="0" r="0" b="0"/>
          </a:stretch>
        </p:blipFill>
        <p:spPr>
          <a:xfrm xmlns:a="http://schemas.openxmlformats.org/drawingml/2006/main">
            <a:off x="685800" y="1905000"/>
            <a:ext cx="6934200" cy="3790950"/>
          </a:xfrm>
          <a:prstGeom xmlns:a="http://schemas.openxmlformats.org/drawingml/2006/main" prst="roundRect">
            <a:avLst>
              <a:gd name="adj" fmla="val 1508"/>
            </a:avLst>
          </a:prstGeom>
        </p:spPr>
      </p:pic>
      <p:sp>
        <p:nvSpPr>
          <p:cNvPr id="10" name="reason-num-0">
            <a:extLst xmlns:a="http://schemas.openxmlformats.org/drawingml/2006/main">
              <a:ext uri="{FF2B5EF4-FFF2-40B4-BE49-F238E27FC236}">
                <a16:creationId xmlns:a16="http://schemas.microsoft.com/office/drawing/2014/main" id="{D3EB30CE-4741-4DFE-99C6-30F1F0825076}"/>
              </a:ext>
            </a:extLst>
          </p:cNvPr>
          <p:cNvSpPr>
            <a:spLocks xmlns:a="http://schemas.openxmlformats.org/drawingml/2006/main" noGrp="1"/>
          </p:cNvSpPr>
          <p:nvPr/>
        </p:nvSpPr>
        <p:spPr>
          <a:xfrm xmlns:a="http://schemas.openxmlformats.org/drawingml/2006/main">
            <a:off x="8115300" y="1885950"/>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42D7B0"/>
                </a:solidFill>
                <a:latin typeface="Helvetica Neue"/>
                <a:ea typeface="Helvetica Neue"/>
                <a:cs typeface="Helvetica Neue"/>
              </a:defRPr>
            </a:pPr>
            <a:r>
              <a:rPr sz="1275" b="1">
                <a:solidFill>
                  <a:srgbClr val="42D7B0"/>
                </a:solidFill>
                <a:latin typeface="Helvetica Neue"/>
                <a:ea typeface="Helvetica Neue"/>
                <a:cs typeface="Helvetica Neue"/>
              </a:rPr>
              <a:t>1</a:t>
            </a:r>
          </a:p>
        </p:txBody>
      </p:sp>
      <p:sp>
        <p:nvSpPr>
          <p:cNvPr id="11" name="reason-title-0">
            <a:extLst xmlns:a="http://schemas.openxmlformats.org/drawingml/2006/main">
              <a:ext uri="{FF2B5EF4-FFF2-40B4-BE49-F238E27FC236}">
                <a16:creationId xmlns:a16="http://schemas.microsoft.com/office/drawing/2014/main" id="{609490A7-0591-4FA4-86DE-D3BC1C8378E6}"/>
              </a:ext>
            </a:extLst>
          </p:cNvPr>
          <p:cNvSpPr>
            <a:spLocks xmlns:a="http://schemas.openxmlformats.org/drawingml/2006/main" noGrp="1"/>
          </p:cNvSpPr>
          <p:nvPr/>
        </p:nvSpPr>
        <p:spPr>
          <a:xfrm xmlns:a="http://schemas.openxmlformats.org/drawingml/2006/main">
            <a:off x="8591550" y="18478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0C1715"/>
                </a:solidFill>
                <a:latin typeface="Helvetica Neue"/>
                <a:ea typeface="Helvetica Neue"/>
                <a:cs typeface="Helvetica Neue"/>
              </a:defRPr>
            </a:pPr>
            <a:r>
              <a:rPr sz="1575" b="1">
                <a:solidFill>
                  <a:srgbClr val="0C1715"/>
                </a:solidFill>
                <a:latin typeface="Helvetica Neue"/>
                <a:ea typeface="Helvetica Neue"/>
                <a:cs typeface="Helvetica Neue"/>
              </a:rPr>
              <a:t>Assess</a:t>
            </a:r>
          </a:p>
        </p:txBody>
      </p:sp>
      <p:sp>
        <p:nvSpPr>
          <p:cNvPr id="12" name="reason-body-0">
            <a:extLst xmlns:a="http://schemas.openxmlformats.org/drawingml/2006/main">
              <a:ext uri="{FF2B5EF4-FFF2-40B4-BE49-F238E27FC236}">
                <a16:creationId xmlns:a16="http://schemas.microsoft.com/office/drawing/2014/main" id="{E7AA1BFD-26FE-45A4-A597-C5C5FFDF1FFC}"/>
              </a:ext>
            </a:extLst>
          </p:cNvPr>
          <p:cNvSpPr>
            <a:spLocks xmlns:a="http://schemas.openxmlformats.org/drawingml/2006/main" noGrp="1"/>
          </p:cNvSpPr>
          <p:nvPr/>
        </p:nvSpPr>
        <p:spPr>
          <a:xfrm xmlns:a="http://schemas.openxmlformats.org/drawingml/2006/main">
            <a:off x="8591550" y="211455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00" b="0">
                <a:solidFill>
                  <a:srgbClr val="60716D"/>
                </a:solidFill>
                <a:latin typeface="Helvetica Neue"/>
                <a:ea typeface="Helvetica Neue"/>
                <a:cs typeface="Helvetica Neue"/>
              </a:defRPr>
            </a:pPr>
            <a:r>
              <a:rPr sz="1200" b="0">
                <a:solidFill>
                  <a:srgbClr val="60716D"/>
                </a:solidFill>
                <a:latin typeface="Helvetica Neue"/>
                <a:ea typeface="Helvetica Neue"/>
                <a:cs typeface="Helvetica Neue"/>
              </a:rPr>
              <a:t>Combine severity with exposure, identity, and business criticality</a:t>
            </a:r>
          </a:p>
        </p:txBody>
      </p:sp>
      <p:sp>
        <p:nvSpPr>
          <p:cNvPr id="13" name="reason-num-1">
            <a:extLst xmlns:a="http://schemas.openxmlformats.org/drawingml/2006/main">
              <a:ext uri="{FF2B5EF4-FFF2-40B4-BE49-F238E27FC236}">
                <a16:creationId xmlns:a16="http://schemas.microsoft.com/office/drawing/2014/main" id="{68504CDC-A0EC-4B7F-A16E-4108E3635D66}"/>
              </a:ext>
            </a:extLst>
          </p:cNvPr>
          <p:cNvSpPr>
            <a:spLocks xmlns:a="http://schemas.openxmlformats.org/drawingml/2006/main" noGrp="1"/>
          </p:cNvSpPr>
          <p:nvPr/>
        </p:nvSpPr>
        <p:spPr>
          <a:xfrm xmlns:a="http://schemas.openxmlformats.org/drawingml/2006/main">
            <a:off x="8115300" y="2571750"/>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42D7B0"/>
                </a:solidFill>
                <a:latin typeface="Helvetica Neue"/>
                <a:ea typeface="Helvetica Neue"/>
                <a:cs typeface="Helvetica Neue"/>
              </a:defRPr>
            </a:pPr>
            <a:r>
              <a:rPr sz="1275" b="1">
                <a:solidFill>
                  <a:srgbClr val="42D7B0"/>
                </a:solidFill>
                <a:latin typeface="Helvetica Neue"/>
                <a:ea typeface="Helvetica Neue"/>
                <a:cs typeface="Helvetica Neue"/>
              </a:rPr>
              <a:t>2</a:t>
            </a:r>
          </a:p>
        </p:txBody>
      </p:sp>
      <p:sp>
        <p:nvSpPr>
          <p:cNvPr id="14" name="reason-title-1">
            <a:extLst xmlns:a="http://schemas.openxmlformats.org/drawingml/2006/main">
              <a:ext uri="{FF2B5EF4-FFF2-40B4-BE49-F238E27FC236}">
                <a16:creationId xmlns:a16="http://schemas.microsoft.com/office/drawing/2014/main" id="{CE861DD3-ACB8-4271-AAF7-F12FBB627702}"/>
              </a:ext>
            </a:extLst>
          </p:cNvPr>
          <p:cNvSpPr>
            <a:spLocks xmlns:a="http://schemas.openxmlformats.org/drawingml/2006/main" noGrp="1"/>
          </p:cNvSpPr>
          <p:nvPr/>
        </p:nvSpPr>
        <p:spPr>
          <a:xfrm xmlns:a="http://schemas.openxmlformats.org/drawingml/2006/main">
            <a:off x="8591550" y="25336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0C1715"/>
                </a:solidFill>
                <a:latin typeface="Helvetica Neue"/>
                <a:ea typeface="Helvetica Neue"/>
                <a:cs typeface="Helvetica Neue"/>
              </a:defRPr>
            </a:pPr>
            <a:r>
              <a:rPr sz="1575" b="1">
                <a:solidFill>
                  <a:srgbClr val="0C1715"/>
                </a:solidFill>
                <a:latin typeface="Helvetica Neue"/>
                <a:ea typeface="Helvetica Neue"/>
                <a:cs typeface="Helvetica Neue"/>
              </a:rPr>
              <a:t>Assign</a:t>
            </a:r>
          </a:p>
        </p:txBody>
      </p:sp>
      <p:sp>
        <p:nvSpPr>
          <p:cNvPr id="15" name="reason-body-1">
            <a:extLst xmlns:a="http://schemas.openxmlformats.org/drawingml/2006/main">
              <a:ext uri="{FF2B5EF4-FFF2-40B4-BE49-F238E27FC236}">
                <a16:creationId xmlns:a16="http://schemas.microsoft.com/office/drawing/2014/main" id="{EA93AD50-9163-4BF4-AEE1-716CA4EBF9B5}"/>
              </a:ext>
            </a:extLst>
          </p:cNvPr>
          <p:cNvSpPr>
            <a:spLocks xmlns:a="http://schemas.openxmlformats.org/drawingml/2006/main" noGrp="1"/>
          </p:cNvSpPr>
          <p:nvPr/>
        </p:nvSpPr>
        <p:spPr>
          <a:xfrm xmlns:a="http://schemas.openxmlformats.org/drawingml/2006/main">
            <a:off x="8591550" y="280035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00" b="0">
                <a:solidFill>
                  <a:srgbClr val="60716D"/>
                </a:solidFill>
                <a:latin typeface="Helvetica Neue"/>
                <a:ea typeface="Helvetica Neue"/>
                <a:cs typeface="Helvetica Neue"/>
              </a:defRPr>
            </a:pPr>
            <a:r>
              <a:rPr sz="1200" b="0">
                <a:solidFill>
                  <a:srgbClr val="60716D"/>
                </a:solidFill>
                <a:latin typeface="Helvetica Neue"/>
                <a:ea typeface="Helvetica Neue"/>
                <a:cs typeface="Helvetica Neue"/>
              </a:rPr>
              <a:t>Choose the accountable owner and target date</a:t>
            </a:r>
          </a:p>
        </p:txBody>
      </p:sp>
      <p:sp>
        <p:nvSpPr>
          <p:cNvPr id="16" name="reason-num-2">
            <a:extLst xmlns:a="http://schemas.openxmlformats.org/drawingml/2006/main">
              <a:ext uri="{FF2B5EF4-FFF2-40B4-BE49-F238E27FC236}">
                <a16:creationId xmlns:a16="http://schemas.microsoft.com/office/drawing/2014/main" id="{1FF8C062-90E1-45AB-BC12-4F2A10FB7FE7}"/>
              </a:ext>
            </a:extLst>
          </p:cNvPr>
          <p:cNvSpPr>
            <a:spLocks xmlns:a="http://schemas.openxmlformats.org/drawingml/2006/main" noGrp="1"/>
          </p:cNvSpPr>
          <p:nvPr/>
        </p:nvSpPr>
        <p:spPr>
          <a:xfrm xmlns:a="http://schemas.openxmlformats.org/drawingml/2006/main">
            <a:off x="8115300" y="3257550"/>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42D7B0"/>
                </a:solidFill>
                <a:latin typeface="Helvetica Neue"/>
                <a:ea typeface="Helvetica Neue"/>
                <a:cs typeface="Helvetica Neue"/>
              </a:defRPr>
            </a:pPr>
            <a:r>
              <a:rPr sz="1275" b="1">
                <a:solidFill>
                  <a:srgbClr val="42D7B0"/>
                </a:solidFill>
                <a:latin typeface="Helvetica Neue"/>
                <a:ea typeface="Helvetica Neue"/>
                <a:cs typeface="Helvetica Neue"/>
              </a:rPr>
              <a:t>3</a:t>
            </a:r>
          </a:p>
        </p:txBody>
      </p:sp>
      <p:sp>
        <p:nvSpPr>
          <p:cNvPr id="17" name="reason-title-2">
            <a:extLst xmlns:a="http://schemas.openxmlformats.org/drawingml/2006/main">
              <a:ext uri="{FF2B5EF4-FFF2-40B4-BE49-F238E27FC236}">
                <a16:creationId xmlns:a16="http://schemas.microsoft.com/office/drawing/2014/main" id="{055BEF69-34D0-4BEF-85C3-854787091628}"/>
              </a:ext>
            </a:extLst>
          </p:cNvPr>
          <p:cNvSpPr>
            <a:spLocks xmlns:a="http://schemas.openxmlformats.org/drawingml/2006/main" noGrp="1"/>
          </p:cNvSpPr>
          <p:nvPr/>
        </p:nvSpPr>
        <p:spPr>
          <a:xfrm xmlns:a="http://schemas.openxmlformats.org/drawingml/2006/main">
            <a:off x="8591550" y="32194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0C1715"/>
                </a:solidFill>
                <a:latin typeface="Helvetica Neue"/>
                <a:ea typeface="Helvetica Neue"/>
                <a:cs typeface="Helvetica Neue"/>
              </a:defRPr>
            </a:pPr>
            <a:r>
              <a:rPr sz="1575" b="1">
                <a:solidFill>
                  <a:srgbClr val="0C1715"/>
                </a:solidFill>
                <a:latin typeface="Helvetica Neue"/>
                <a:ea typeface="Helvetica Neue"/>
                <a:cs typeface="Helvetica Neue"/>
              </a:rPr>
              <a:t>Plan</a:t>
            </a:r>
          </a:p>
        </p:txBody>
      </p:sp>
      <p:sp>
        <p:nvSpPr>
          <p:cNvPr id="18" name="reason-body-2">
            <a:extLst xmlns:a="http://schemas.openxmlformats.org/drawingml/2006/main">
              <a:ext uri="{FF2B5EF4-FFF2-40B4-BE49-F238E27FC236}">
                <a16:creationId xmlns:a16="http://schemas.microsoft.com/office/drawing/2014/main" id="{00130C2A-F1E5-48E8-9FD7-EA9470457118}"/>
              </a:ext>
            </a:extLst>
          </p:cNvPr>
          <p:cNvSpPr>
            <a:spLocks xmlns:a="http://schemas.openxmlformats.org/drawingml/2006/main" noGrp="1"/>
          </p:cNvSpPr>
          <p:nvPr/>
        </p:nvSpPr>
        <p:spPr>
          <a:xfrm xmlns:a="http://schemas.openxmlformats.org/drawingml/2006/main">
            <a:off x="8591550" y="348615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00" b="0">
                <a:solidFill>
                  <a:srgbClr val="60716D"/>
                </a:solidFill>
                <a:latin typeface="Helvetica Neue"/>
                <a:ea typeface="Helvetica Neue"/>
                <a:cs typeface="Helvetica Neue"/>
              </a:defRPr>
            </a:pPr>
            <a:r>
              <a:rPr sz="1200" b="0">
                <a:solidFill>
                  <a:srgbClr val="60716D"/>
                </a:solidFill>
                <a:latin typeface="Helvetica Neue"/>
                <a:ea typeface="Helvetica Neue"/>
                <a:cs typeface="Helvetica Neue"/>
              </a:rPr>
              <a:t>Document remediation, rollback, and validation</a:t>
            </a:r>
          </a:p>
        </p:txBody>
      </p:sp>
      <p:sp>
        <p:nvSpPr>
          <p:cNvPr id="19" name="reason-num-3">
            <a:extLst xmlns:a="http://schemas.openxmlformats.org/drawingml/2006/main">
              <a:ext uri="{FF2B5EF4-FFF2-40B4-BE49-F238E27FC236}">
                <a16:creationId xmlns:a16="http://schemas.microsoft.com/office/drawing/2014/main" id="{53C3BB66-A5EF-4F4D-B0D5-D311CF71F5D5}"/>
              </a:ext>
            </a:extLst>
          </p:cNvPr>
          <p:cNvSpPr>
            <a:spLocks xmlns:a="http://schemas.openxmlformats.org/drawingml/2006/main" noGrp="1"/>
          </p:cNvSpPr>
          <p:nvPr/>
        </p:nvSpPr>
        <p:spPr>
          <a:xfrm xmlns:a="http://schemas.openxmlformats.org/drawingml/2006/main">
            <a:off x="8115300" y="3943350"/>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42D7B0"/>
                </a:solidFill>
                <a:latin typeface="Helvetica Neue"/>
                <a:ea typeface="Helvetica Neue"/>
                <a:cs typeface="Helvetica Neue"/>
              </a:defRPr>
            </a:pPr>
            <a:r>
              <a:rPr sz="1275" b="1">
                <a:solidFill>
                  <a:srgbClr val="42D7B0"/>
                </a:solidFill>
                <a:latin typeface="Helvetica Neue"/>
                <a:ea typeface="Helvetica Neue"/>
                <a:cs typeface="Helvetica Neue"/>
              </a:rPr>
              <a:t>4</a:t>
            </a:r>
          </a:p>
        </p:txBody>
      </p:sp>
      <p:sp>
        <p:nvSpPr>
          <p:cNvPr id="20" name="reason-title-3">
            <a:extLst xmlns:a="http://schemas.openxmlformats.org/drawingml/2006/main">
              <a:ext uri="{FF2B5EF4-FFF2-40B4-BE49-F238E27FC236}">
                <a16:creationId xmlns:a16="http://schemas.microsoft.com/office/drawing/2014/main" id="{E7A997A6-6734-44F6-8A09-1CBF7E15DC59}"/>
              </a:ext>
            </a:extLst>
          </p:cNvPr>
          <p:cNvSpPr>
            <a:spLocks xmlns:a="http://schemas.openxmlformats.org/drawingml/2006/main" noGrp="1"/>
          </p:cNvSpPr>
          <p:nvPr/>
        </p:nvSpPr>
        <p:spPr>
          <a:xfrm xmlns:a="http://schemas.openxmlformats.org/drawingml/2006/main">
            <a:off x="8591550" y="39052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0C1715"/>
                </a:solidFill>
                <a:latin typeface="Helvetica Neue"/>
                <a:ea typeface="Helvetica Neue"/>
                <a:cs typeface="Helvetica Neue"/>
              </a:defRPr>
            </a:pPr>
            <a:r>
              <a:rPr sz="1575" b="1">
                <a:solidFill>
                  <a:srgbClr val="0C1715"/>
                </a:solidFill>
                <a:latin typeface="Helvetica Neue"/>
                <a:ea typeface="Helvetica Neue"/>
                <a:cs typeface="Helvetica Neue"/>
              </a:rPr>
              <a:t>Approve</a:t>
            </a:r>
          </a:p>
        </p:txBody>
      </p:sp>
      <p:sp>
        <p:nvSpPr>
          <p:cNvPr id="21" name="reason-body-3">
            <a:extLst xmlns:a="http://schemas.openxmlformats.org/drawingml/2006/main">
              <a:ext uri="{FF2B5EF4-FFF2-40B4-BE49-F238E27FC236}">
                <a16:creationId xmlns:a16="http://schemas.microsoft.com/office/drawing/2014/main" id="{77368E9C-0FDB-4871-98C1-7054D0E015A6}"/>
              </a:ext>
            </a:extLst>
          </p:cNvPr>
          <p:cNvSpPr>
            <a:spLocks xmlns:a="http://schemas.openxmlformats.org/drawingml/2006/main" noGrp="1"/>
          </p:cNvSpPr>
          <p:nvPr/>
        </p:nvSpPr>
        <p:spPr>
          <a:xfrm xmlns:a="http://schemas.openxmlformats.org/drawingml/2006/main">
            <a:off x="8591550" y="417195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00" b="0">
                <a:solidFill>
                  <a:srgbClr val="60716D"/>
                </a:solidFill>
                <a:latin typeface="Helvetica Neue"/>
                <a:ea typeface="Helvetica Neue"/>
                <a:cs typeface="Helvetica Neue"/>
              </a:defRPr>
            </a:pPr>
            <a:r>
              <a:rPr sz="1200" b="0">
                <a:solidFill>
                  <a:srgbClr val="60716D"/>
                </a:solidFill>
                <a:latin typeface="Helvetica Neue"/>
                <a:ea typeface="Helvetica Neue"/>
                <a:cs typeface="Helvetica Neue"/>
              </a:rPr>
              <a:t>A human authorizes the production-impacting change</a:t>
            </a:r>
          </a:p>
        </p:txBody>
      </p:sp>
      <p:sp>
        <p:nvSpPr>
          <p:cNvPr id="22" name="reason-num-4">
            <a:extLst xmlns:a="http://schemas.openxmlformats.org/drawingml/2006/main">
              <a:ext uri="{FF2B5EF4-FFF2-40B4-BE49-F238E27FC236}">
                <a16:creationId xmlns:a16="http://schemas.microsoft.com/office/drawing/2014/main" id="{87288C68-086F-49FF-A488-45487B6FC393}"/>
              </a:ext>
            </a:extLst>
          </p:cNvPr>
          <p:cNvSpPr>
            <a:spLocks xmlns:a="http://schemas.openxmlformats.org/drawingml/2006/main" noGrp="1"/>
          </p:cNvSpPr>
          <p:nvPr/>
        </p:nvSpPr>
        <p:spPr>
          <a:xfrm xmlns:a="http://schemas.openxmlformats.org/drawingml/2006/main">
            <a:off x="8115300" y="4629150"/>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42D7B0"/>
                </a:solidFill>
                <a:latin typeface="Helvetica Neue"/>
                <a:ea typeface="Helvetica Neue"/>
                <a:cs typeface="Helvetica Neue"/>
              </a:defRPr>
            </a:pPr>
            <a:r>
              <a:rPr sz="1275" b="1">
                <a:solidFill>
                  <a:srgbClr val="42D7B0"/>
                </a:solidFill>
                <a:latin typeface="Helvetica Neue"/>
                <a:ea typeface="Helvetica Neue"/>
                <a:cs typeface="Helvetica Neue"/>
              </a:rPr>
              <a:t>5</a:t>
            </a:r>
          </a:p>
        </p:txBody>
      </p:sp>
      <p:sp>
        <p:nvSpPr>
          <p:cNvPr id="23" name="reason-title-4">
            <a:extLst xmlns:a="http://schemas.openxmlformats.org/drawingml/2006/main">
              <a:ext uri="{FF2B5EF4-FFF2-40B4-BE49-F238E27FC236}">
                <a16:creationId xmlns:a16="http://schemas.microsoft.com/office/drawing/2014/main" id="{0E90378A-CD01-4AEF-BD49-3AF944ECFDE7}"/>
              </a:ext>
            </a:extLst>
          </p:cNvPr>
          <p:cNvSpPr>
            <a:spLocks xmlns:a="http://schemas.openxmlformats.org/drawingml/2006/main" noGrp="1"/>
          </p:cNvSpPr>
          <p:nvPr/>
        </p:nvSpPr>
        <p:spPr>
          <a:xfrm xmlns:a="http://schemas.openxmlformats.org/drawingml/2006/main">
            <a:off x="8591550" y="45910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0C1715"/>
                </a:solidFill>
                <a:latin typeface="Helvetica Neue"/>
                <a:ea typeface="Helvetica Neue"/>
                <a:cs typeface="Helvetica Neue"/>
              </a:defRPr>
            </a:pPr>
            <a:r>
              <a:rPr sz="1575" b="1">
                <a:solidFill>
                  <a:srgbClr val="0C1715"/>
                </a:solidFill>
                <a:latin typeface="Helvetica Neue"/>
                <a:ea typeface="Helvetica Neue"/>
                <a:cs typeface="Helvetica Neue"/>
              </a:rPr>
              <a:t>Verify</a:t>
            </a:r>
          </a:p>
        </p:txBody>
      </p:sp>
      <p:sp>
        <p:nvSpPr>
          <p:cNvPr id="24" name="reason-body-4">
            <a:extLst xmlns:a="http://schemas.openxmlformats.org/drawingml/2006/main">
              <a:ext uri="{FF2B5EF4-FFF2-40B4-BE49-F238E27FC236}">
                <a16:creationId xmlns:a16="http://schemas.microsoft.com/office/drawing/2014/main" id="{CC69E5EA-2FF1-42FE-A1E7-67286760B172}"/>
              </a:ext>
            </a:extLst>
          </p:cNvPr>
          <p:cNvSpPr>
            <a:spLocks xmlns:a="http://schemas.openxmlformats.org/drawingml/2006/main" noGrp="1"/>
          </p:cNvSpPr>
          <p:nvPr/>
        </p:nvSpPr>
        <p:spPr>
          <a:xfrm xmlns:a="http://schemas.openxmlformats.org/drawingml/2006/main">
            <a:off x="8591550" y="485775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00" b="0">
                <a:solidFill>
                  <a:srgbClr val="60716D"/>
                </a:solidFill>
                <a:latin typeface="Helvetica Neue"/>
                <a:ea typeface="Helvetica Neue"/>
                <a:cs typeface="Helvetica Neue"/>
              </a:defRPr>
            </a:pPr>
            <a:r>
              <a:rPr sz="1200" b="0">
                <a:solidFill>
                  <a:srgbClr val="60716D"/>
                </a:solidFill>
                <a:latin typeface="Helvetica Neue"/>
                <a:ea typeface="Helvetica Neue"/>
                <a:cs typeface="Helvetica Neue"/>
              </a:rPr>
              <a:t>A rescan or validation record proves closure</a:t>
            </a:r>
          </a:p>
        </p:txBody>
      </p:sp>
    </p:spTree>
    <p:extLst>
      <p:ext uri="{BB962C8B-B14F-4D97-AF65-F5344CB8AC3E}">
        <p14:creationId xmlns:p14="http://schemas.microsoft.com/office/powerpoint/2010/main" val="1127074430"/>
      </p:ext>
    </p:extLst>
  </p:cSld>
</p:sld>
</file>

<file path=ppt/slides/slide30.xml><?xml version="1.0" encoding="utf-8"?>
<p:sld xmlns:p="http://schemas.openxmlformats.org/presentationml/2006/main">
  <p:cSld>
    <p:bg>
      <p:bgPr>
        <a:solidFill xmlns:a="http://schemas.openxmlformats.org/drawingml/2006/main">
          <a:srgbClr val="0B1D19"/>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6f42e53009d42aa"/>
          <a:stretch xmlns:a="http://schemas.openxmlformats.org/drawingml/2006/main"/>
        </p:blipFill>
        <p:spPr>
          <a:xfrm xmlns:a="http://schemas.openxmlformats.org/drawingml/2006/main">
            <a:off x="10287000" y="590550"/>
            <a:ext cx="1047750" cy="1047750"/>
          </a:xfrm>
          <a:prstGeom xmlns:a="http://schemas.openxmlformats.org/drawingml/2006/main" prst="rect">
            <a:avLst/>
          </a:prstGeom>
        </p:spPr>
      </p:pic>
      <p:sp>
        <p:nvSpPr>
          <p:cNvPr id="2" name="close-brand">
            <a:extLst xmlns:a="http://schemas.openxmlformats.org/drawingml/2006/main">
              <a:ext uri="{FF2B5EF4-FFF2-40B4-BE49-F238E27FC236}">
                <a16:creationId xmlns:a16="http://schemas.microsoft.com/office/drawing/2014/main" id="{23B6D9DA-4841-4F35-A2B5-2F27BFC0C2F7}"/>
              </a:ext>
            </a:extLst>
          </p:cNvPr>
          <p:cNvSpPr>
            <a:spLocks xmlns:a="http://schemas.openxmlformats.org/drawingml/2006/main" noGrp="1"/>
          </p:cNvSpPr>
          <p:nvPr/>
        </p:nvSpPr>
        <p:spPr>
          <a:xfrm xmlns:a="http://schemas.openxmlformats.org/drawingml/2006/main">
            <a:off x="9353550" y="17526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DeepTrustxAI</a:t>
            </a:r>
          </a:p>
        </p:txBody>
      </p:sp>
      <p:sp>
        <p:nvSpPr>
          <p:cNvPr id="3" name="close-title">
            <a:extLst xmlns:a="http://schemas.openxmlformats.org/drawingml/2006/main">
              <a:ext uri="{FF2B5EF4-FFF2-40B4-BE49-F238E27FC236}">
                <a16:creationId xmlns:a16="http://schemas.microsoft.com/office/drawing/2014/main" id="{752D4338-2D3C-4D46-A174-959A22DF0D28}"/>
              </a:ext>
            </a:extLst>
          </p:cNvPr>
          <p:cNvSpPr>
            <a:spLocks xmlns:a="http://schemas.openxmlformats.org/drawingml/2006/main" noGrp="1"/>
          </p:cNvSpPr>
          <p:nvPr/>
        </p:nvSpPr>
        <p:spPr>
          <a:xfrm xmlns:a="http://schemas.openxmlformats.org/drawingml/2006/main">
            <a:off x="609600" y="762000"/>
            <a:ext cx="7239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Audit-ready</a:t>
            </a:r>
          </a:p>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closure</a:t>
            </a:r>
          </a:p>
        </p:txBody>
      </p:sp>
      <p:sp>
        <p:nvSpPr>
          <p:cNvPr id="4" name="close-sub">
            <a:extLst xmlns:a="http://schemas.openxmlformats.org/drawingml/2006/main">
              <a:ext uri="{FF2B5EF4-FFF2-40B4-BE49-F238E27FC236}">
                <a16:creationId xmlns:a16="http://schemas.microsoft.com/office/drawing/2014/main" id="{8496E8BD-93B3-4F6F-B242-A1A71C40828E}"/>
              </a:ext>
            </a:extLst>
          </p:cNvPr>
          <p:cNvSpPr>
            <a:spLocks xmlns:a="http://schemas.openxmlformats.org/drawingml/2006/main" noGrp="1"/>
          </p:cNvSpPr>
          <p:nvPr/>
        </p:nvSpPr>
        <p:spPr>
          <a:xfrm xmlns:a="http://schemas.openxmlformats.org/drawingml/2006/main">
            <a:off x="628650" y="2514600"/>
            <a:ext cx="7524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0">
                <a:solidFill>
                  <a:srgbClr val="B7CBC5"/>
                </a:solidFill>
                <a:latin typeface="Helvetica Neue"/>
                <a:ea typeface="Helvetica Neue"/>
                <a:cs typeface="Helvetica Neue"/>
              </a:defRPr>
            </a:pPr>
            <a:r>
              <a:rPr sz="1800" b="0">
                <a:solidFill>
                  <a:srgbClr val="B7CBC5"/>
                </a:solidFill>
                <a:latin typeface="Helvetica Neue"/>
                <a:ea typeface="Helvetica Neue"/>
                <a:cs typeface="Helvetica Neue"/>
              </a:rPr>
              <a:t>A closed issue keeps the technical proof and the governance decision together.</a:t>
            </a:r>
          </a:p>
        </p:txBody>
      </p:sp>
      <p:sp>
        <p:nvSpPr>
          <p:cNvPr id="5" name="close-list">
            <a:extLst xmlns:a="http://schemas.openxmlformats.org/drawingml/2006/main">
              <a:ext uri="{FF2B5EF4-FFF2-40B4-BE49-F238E27FC236}">
                <a16:creationId xmlns:a16="http://schemas.microsoft.com/office/drawing/2014/main" id="{41A85F74-F0BD-4D03-ADEC-42D0A75E1610}"/>
              </a:ext>
            </a:extLst>
          </p:cNvPr>
          <p:cNvSpPr>
            <a:spLocks xmlns:a="http://schemas.openxmlformats.org/drawingml/2006/main" noGrp="1"/>
          </p:cNvSpPr>
          <p:nvPr/>
        </p:nvSpPr>
        <p:spPr>
          <a:xfrm xmlns:a="http://schemas.openxmlformats.org/drawingml/2006/main">
            <a:off x="552450" y="3257550"/>
            <a:ext cx="77152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800"/>
              </a:spcAft>
              <a:buChar char="•"/>
              <a:defRPr sz="1575">
                <a:solidFill>
                  <a:srgbClr val="FFFFFF"/>
                </a:solidFill>
                <a:latin typeface="Helvetica Neue"/>
                <a:ea typeface="Helvetica Neue"/>
                <a:cs typeface="Helvetica Neue"/>
              </a:defRPr>
            </a:pPr>
            <a:r>
              <a:rPr sz="1575">
                <a:solidFill>
                  <a:srgbClr val="FFFFFF"/>
                </a:solidFill>
                <a:latin typeface="Helvetica Neue"/>
                <a:ea typeface="Helvetica Neue"/>
                <a:cs typeface="Helvetica Neue"/>
              </a:rPr>
              <a:t>The finding identifies the exact asset and unsafe condition</a:t>
            </a:r>
          </a:p>
          <a:p xmlns:a="http://schemas.openxmlformats.org/drawingml/2006/main">
            <a:pPr marL="228600" indent="-114300">
              <a:spcAft>
                <a:spcPts val="800"/>
              </a:spcAft>
              <a:buChar char="•"/>
              <a:defRPr sz="1575">
                <a:solidFill>
                  <a:srgbClr val="FFFFFF"/>
                </a:solidFill>
                <a:latin typeface="Helvetica Neue"/>
                <a:ea typeface="Helvetica Neue"/>
                <a:cs typeface="Helvetica Neue"/>
              </a:defRPr>
            </a:pPr>
            <a:r>
              <a:rPr sz="1575">
                <a:solidFill>
                  <a:srgbClr val="FFFFFF"/>
                </a:solidFill>
                <a:latin typeface="Helvetica Neue"/>
                <a:ea typeface="Helvetica Neue"/>
                <a:cs typeface="Helvetica Neue"/>
              </a:rPr>
              <a:t>The control mapping explains the expected security outcome</a:t>
            </a:r>
          </a:p>
          <a:p xmlns:a="http://schemas.openxmlformats.org/drawingml/2006/main">
            <a:pPr marL="228600" indent="-114300">
              <a:spcAft>
                <a:spcPts val="800"/>
              </a:spcAft>
              <a:buChar char="•"/>
              <a:defRPr sz="1575">
                <a:solidFill>
                  <a:srgbClr val="FFFFFF"/>
                </a:solidFill>
                <a:latin typeface="Helvetica Neue"/>
                <a:ea typeface="Helvetica Neue"/>
                <a:cs typeface="Helvetica Neue"/>
              </a:defRPr>
            </a:pPr>
            <a:r>
              <a:rPr sz="1575">
                <a:solidFill>
                  <a:srgbClr val="FFFFFF"/>
                </a:solidFill>
                <a:latin typeface="Helvetica Neue"/>
                <a:ea typeface="Helvetica Neue"/>
                <a:cs typeface="Helvetica Neue"/>
              </a:rPr>
              <a:t>The risk record captures business impact and treatment decision</a:t>
            </a:r>
          </a:p>
          <a:p xmlns:a="http://schemas.openxmlformats.org/drawingml/2006/main">
            <a:pPr marL="228600" indent="-114300">
              <a:spcAft>
                <a:spcPts val="800"/>
              </a:spcAft>
              <a:buChar char="•"/>
              <a:defRPr sz="1575">
                <a:solidFill>
                  <a:srgbClr val="FFFFFF"/>
                </a:solidFill>
                <a:latin typeface="Helvetica Neue"/>
                <a:ea typeface="Helvetica Neue"/>
                <a:cs typeface="Helvetica Neue"/>
              </a:defRPr>
            </a:pPr>
            <a:r>
              <a:rPr sz="1575">
                <a:solidFill>
                  <a:srgbClr val="FFFFFF"/>
                </a:solidFill>
                <a:latin typeface="Helvetica Neue"/>
                <a:ea typeface="Helvetica Neue"/>
                <a:cs typeface="Helvetica Neue"/>
              </a:rPr>
              <a:t>The owner and approval history show accountability</a:t>
            </a:r>
          </a:p>
          <a:p xmlns:a="http://schemas.openxmlformats.org/drawingml/2006/main">
            <a:pPr marL="228600" indent="-114300">
              <a:spcAft>
                <a:spcPts val="800"/>
              </a:spcAft>
              <a:buChar char="•"/>
              <a:defRPr sz="1575">
                <a:solidFill>
                  <a:srgbClr val="FFFFFF"/>
                </a:solidFill>
                <a:latin typeface="Helvetica Neue"/>
                <a:ea typeface="Helvetica Neue"/>
                <a:cs typeface="Helvetica Neue"/>
              </a:defRPr>
            </a:pPr>
            <a:r>
              <a:rPr sz="1575">
                <a:solidFill>
                  <a:srgbClr val="FFFFFF"/>
                </a:solidFill>
                <a:latin typeface="Helvetica Neue"/>
                <a:ea typeface="Helvetica Neue"/>
                <a:cs typeface="Helvetica Neue"/>
              </a:rPr>
              <a:t>A rescan, code change, or cleanup event proves the final state</a:t>
            </a:r>
          </a:p>
        </p:txBody>
      </p:sp>
      <p:sp>
        <p:nvSpPr>
          <p:cNvPr id="6" name="close-quote-bg">
            <a:extLst xmlns:a="http://schemas.openxmlformats.org/drawingml/2006/main">
              <a:ext uri="{FF2B5EF4-FFF2-40B4-BE49-F238E27FC236}">
                <a16:creationId xmlns:a16="http://schemas.microsoft.com/office/drawing/2014/main" id="{EA8BD07E-A710-4A7B-8F25-C488C945D161}"/>
              </a:ext>
            </a:extLst>
          </p:cNvPr>
          <p:cNvSpPr>
            <a:spLocks xmlns:a="http://schemas.openxmlformats.org/drawingml/2006/main" noGrp="1"/>
          </p:cNvSpPr>
          <p:nvPr/>
        </p:nvSpPr>
        <p:spPr>
          <a:xfrm xmlns:a="http://schemas.openxmlformats.org/drawingml/2006/main">
            <a:off x="8858250" y="3143250"/>
            <a:ext cx="2571750" cy="2381250"/>
          </a:xfrm>
          <a:prstGeom xmlns:a="http://schemas.openxmlformats.org/drawingml/2006/main" prst="rect">
            <a:avLst/>
          </a:prstGeom>
          <a:solidFill xmlns:a="http://schemas.openxmlformats.org/drawingml/2006/main">
            <a:srgbClr val="42D7B0"/>
          </a:solidFill>
          <a:ln xmlns:a="http://schemas.openxmlformats.org/drawingml/2006/main" w="0">
            <a:solidFill>
              <a:srgbClr val="42D7B0"/>
            </a:solidFill>
            <a:prstDash val="solid"/>
          </a:ln>
        </p:spPr>
      </p:sp>
      <p:sp>
        <p:nvSpPr>
          <p:cNvPr id="7" name="close-quote-label">
            <a:extLst xmlns:a="http://schemas.openxmlformats.org/drawingml/2006/main">
              <a:ext uri="{FF2B5EF4-FFF2-40B4-BE49-F238E27FC236}">
                <a16:creationId xmlns:a16="http://schemas.microsoft.com/office/drawing/2014/main" id="{823C2942-954A-4DE3-A760-2EE2151F7A3F}"/>
              </a:ext>
            </a:extLst>
          </p:cNvPr>
          <p:cNvSpPr>
            <a:spLocks xmlns:a="http://schemas.openxmlformats.org/drawingml/2006/main" noGrp="1"/>
          </p:cNvSpPr>
          <p:nvPr/>
        </p:nvSpPr>
        <p:spPr>
          <a:xfrm xmlns:a="http://schemas.openxmlformats.org/drawingml/2006/main">
            <a:off x="9144000" y="34290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0B1D19"/>
                </a:solidFill>
                <a:latin typeface="Helvetica Neue"/>
                <a:ea typeface="Helvetica Neue"/>
                <a:cs typeface="Helvetica Neue"/>
              </a:defRPr>
            </a:pPr>
            <a:r>
              <a:rPr sz="1050" b="1">
                <a:solidFill>
                  <a:srgbClr val="0B1D19"/>
                </a:solidFill>
                <a:latin typeface="Helvetica Neue"/>
                <a:ea typeface="Helvetica Neue"/>
                <a:cs typeface="Helvetica Neue"/>
              </a:rPr>
              <a:t>GRC RESULT</a:t>
            </a:r>
          </a:p>
        </p:txBody>
      </p:sp>
      <p:sp>
        <p:nvSpPr>
          <p:cNvPr id="8" name="close-quote">
            <a:extLst xmlns:a="http://schemas.openxmlformats.org/drawingml/2006/main">
              <a:ext uri="{FF2B5EF4-FFF2-40B4-BE49-F238E27FC236}">
                <a16:creationId xmlns:a16="http://schemas.microsoft.com/office/drawing/2014/main" id="{5A870FFA-9175-4164-A2D3-2D53A7E4F783}"/>
              </a:ext>
            </a:extLst>
          </p:cNvPr>
          <p:cNvSpPr>
            <a:spLocks xmlns:a="http://schemas.openxmlformats.org/drawingml/2006/main" noGrp="1"/>
          </p:cNvSpPr>
          <p:nvPr/>
        </p:nvSpPr>
        <p:spPr>
          <a:xfrm xmlns:a="http://schemas.openxmlformats.org/drawingml/2006/main">
            <a:off x="9144000" y="3943350"/>
            <a:ext cx="2000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1">
                <a:solidFill>
                  <a:srgbClr val="0B1D19"/>
                </a:solidFill>
                <a:latin typeface="Helvetica Neue"/>
                <a:ea typeface="Helvetica Neue"/>
                <a:cs typeface="Helvetica Neue"/>
              </a:defRPr>
            </a:pPr>
            <a:r>
              <a:rPr sz="1800" b="1">
                <a:solidFill>
                  <a:srgbClr val="0B1D19"/>
                </a:solidFill>
                <a:latin typeface="Helvetica Neue"/>
                <a:ea typeface="Helvetica Neue"/>
                <a:cs typeface="Helvetica Neue"/>
              </a:rPr>
              <a:t>Evidence,</a:t>
            </a:r>
          </a:p>
          <a:p xmlns:a="http://schemas.openxmlformats.org/drawingml/2006/main">
            <a:pPr algn="l">
              <a:defRPr sz="1800" b="1">
                <a:solidFill>
                  <a:srgbClr val="0B1D19"/>
                </a:solidFill>
                <a:latin typeface="Helvetica Neue"/>
                <a:ea typeface="Helvetica Neue"/>
                <a:cs typeface="Helvetica Neue"/>
              </a:defRPr>
            </a:pPr>
            <a:r>
              <a:rPr sz="1800" b="1">
                <a:solidFill>
                  <a:srgbClr val="0B1D19"/>
                </a:solidFill>
                <a:latin typeface="Helvetica Neue"/>
                <a:ea typeface="Helvetica Neue"/>
                <a:cs typeface="Helvetica Neue"/>
              </a:rPr>
              <a:t>ownership,</a:t>
            </a:r>
          </a:p>
          <a:p xmlns:a="http://schemas.openxmlformats.org/drawingml/2006/main">
            <a:pPr algn="l">
              <a:defRPr sz="1800" b="1">
                <a:solidFill>
                  <a:srgbClr val="0B1D19"/>
                </a:solidFill>
                <a:latin typeface="Helvetica Neue"/>
                <a:ea typeface="Helvetica Neue"/>
                <a:cs typeface="Helvetica Neue"/>
              </a:defRPr>
            </a:pPr>
            <a:r>
              <a:rPr sz="1800" b="1">
                <a:solidFill>
                  <a:srgbClr val="0B1D19"/>
                </a:solidFill>
                <a:latin typeface="Helvetica Neue"/>
                <a:ea typeface="Helvetica Neue"/>
                <a:cs typeface="Helvetica Neue"/>
              </a:rPr>
              <a:t>decision history,</a:t>
            </a:r>
          </a:p>
          <a:p xmlns:a="http://schemas.openxmlformats.org/drawingml/2006/main">
            <a:pPr algn="l">
              <a:defRPr sz="1800" b="1">
                <a:solidFill>
                  <a:srgbClr val="0B1D19"/>
                </a:solidFill>
                <a:latin typeface="Helvetica Neue"/>
                <a:ea typeface="Helvetica Neue"/>
                <a:cs typeface="Helvetica Neue"/>
              </a:defRPr>
            </a:pPr>
            <a:r>
              <a:rPr sz="1800" b="1">
                <a:solidFill>
                  <a:srgbClr val="0B1D19"/>
                </a:solidFill>
                <a:latin typeface="Helvetica Neue"/>
                <a:ea typeface="Helvetica Neue"/>
                <a:cs typeface="Helvetica Neue"/>
              </a:rPr>
              <a:t>and verified closure</a:t>
            </a:r>
          </a:p>
        </p:txBody>
      </p:sp>
      <p:sp>
        <p:nvSpPr>
          <p:cNvPr id="9" name="close-footer">
            <a:extLst xmlns:a="http://schemas.openxmlformats.org/drawingml/2006/main">
              <a:ext uri="{FF2B5EF4-FFF2-40B4-BE49-F238E27FC236}">
                <a16:creationId xmlns:a16="http://schemas.microsoft.com/office/drawing/2014/main" id="{B3D2DF5D-E9AE-412B-8524-B2E083EE2B00}"/>
              </a:ext>
            </a:extLst>
          </p:cNvPr>
          <p:cNvSpPr>
            <a:spLocks xmlns:a="http://schemas.openxmlformats.org/drawingml/2006/main" noGrp="1"/>
          </p:cNvSpPr>
          <p:nvPr/>
        </p:nvSpPr>
        <p:spPr>
          <a:xfrm xmlns:a="http://schemas.openxmlformats.org/drawingml/2006/main">
            <a:off x="609600" y="62103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00" b="1">
                <a:solidFill>
                  <a:srgbClr val="42D7B0"/>
                </a:solidFill>
                <a:latin typeface="Helvetica Neue"/>
                <a:ea typeface="Helvetica Neue"/>
                <a:cs typeface="Helvetica Neue"/>
              </a:defRPr>
            </a:pPr>
            <a:r>
              <a:rPr sz="1200" b="1">
                <a:solidFill>
                  <a:srgbClr val="42D7B0"/>
                </a:solidFill>
                <a:latin typeface="Helvetica Neue"/>
                <a:ea typeface="Helvetica Neue"/>
                <a:cs typeface="Helvetica Neue"/>
              </a:rPr>
              <a:t>Questions and discussion</a:t>
            </a:r>
          </a:p>
        </p:txBody>
      </p:sp>
    </p:spTree>
    <p:extLst>
      <p:ext uri="{BB962C8B-B14F-4D97-AF65-F5344CB8AC3E}">
        <p14:creationId xmlns:p14="http://schemas.microsoft.com/office/powerpoint/2010/main" val="9970932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2026-09-06T08:07:42.6510000Z</dcterms:created>
  <dcterms:modified xsi:type="dcterms:W3CDTF">2026-09-06T08:07:42.6510000Z</dcterms:modified>
</coreProperties>
</file>