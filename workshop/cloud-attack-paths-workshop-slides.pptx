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22aba844b743f4" /><Relationship Type="http://schemas.openxmlformats.org/officeDocument/2006/relationships/extended-properties" Target="/docProps/app.xml" Id="R0a21ff93f6e045d0" /><Relationship Type="http://schemas.openxmlformats.org/officeDocument/2006/relationships/officeDocument" Target="/ppt/presentation.xml" Id="R2845b00f0bda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f89cc9d644e38"/>
  </p:sldMasterIdLst>
  <p:notesMasterIdLst>
    <p:notesMasterId xmlns:r="http://schemas.openxmlformats.org/officeDocument/2006/relationships" r:id="R863ea07ed86a49d4"/>
  </p:notesMasterIdLst>
  <p:sldIdLst>
    <p:sldId xmlns:r="http://schemas.openxmlformats.org/officeDocument/2006/relationships" id="256" r:id="Re547319faeb34600"/>
    <p:sldId xmlns:r="http://schemas.openxmlformats.org/officeDocument/2006/relationships" id="257" r:id="R9c13d1bf5d554a79"/>
    <p:sldId xmlns:r="http://schemas.openxmlformats.org/officeDocument/2006/relationships" id="258" r:id="R1c4d52daa22a4270"/>
    <p:sldId xmlns:r="http://schemas.openxmlformats.org/officeDocument/2006/relationships" id="259" r:id="R238916ec0b0842a2"/>
    <p:sldId xmlns:r="http://schemas.openxmlformats.org/officeDocument/2006/relationships" id="260" r:id="Rfaabeee719ef40d8"/>
    <p:sldId xmlns:r="http://schemas.openxmlformats.org/officeDocument/2006/relationships" id="261" r:id="R0cff107ffcab40ea"/>
    <p:sldId xmlns:r="http://schemas.openxmlformats.org/officeDocument/2006/relationships" id="262" r:id="R673ec859562041c3"/>
    <p:sldId xmlns:r="http://schemas.openxmlformats.org/officeDocument/2006/relationships" id="263" r:id="R3f017a548e1546d1"/>
    <p:sldId xmlns:r="http://schemas.openxmlformats.org/officeDocument/2006/relationships" id="264" r:id="R336d07d322db426c"/>
    <p:sldId xmlns:r="http://schemas.openxmlformats.org/officeDocument/2006/relationships" id="265" r:id="R1da879012ae6438b"/>
    <p:sldId xmlns:r="http://schemas.openxmlformats.org/officeDocument/2006/relationships" id="266" r:id="Rd69ffc794a97484a"/>
    <p:sldId xmlns:r="http://schemas.openxmlformats.org/officeDocument/2006/relationships" id="267" r:id="R89bfcfb98fd84305"/>
    <p:sldId xmlns:r="http://schemas.openxmlformats.org/officeDocument/2006/relationships" id="268" r:id="R538be01ddac146ee"/>
    <p:sldId xmlns:r="http://schemas.openxmlformats.org/officeDocument/2006/relationships" id="269" r:id="R3cdbd5b36ddf414b"/>
    <p:sldId xmlns:r="http://schemas.openxmlformats.org/officeDocument/2006/relationships" id="270" r:id="Rab88143a5d414db5"/>
    <p:sldId xmlns:r="http://schemas.openxmlformats.org/officeDocument/2006/relationships" id="271" r:id="R6d9079a5cb1c4f64"/>
    <p:sldId xmlns:r="http://schemas.openxmlformats.org/officeDocument/2006/relationships" id="272" r:id="R37fd01b1af564a0a"/>
    <p:sldId xmlns:r="http://schemas.openxmlformats.org/officeDocument/2006/relationships" id="273" r:id="R3f14ef7b16a54637"/>
    <p:sldId xmlns:r="http://schemas.openxmlformats.org/officeDocument/2006/relationships" id="274" r:id="R05e4bcae38504c38"/>
    <p:sldId xmlns:r="http://schemas.openxmlformats.org/officeDocument/2006/relationships" id="275" r:id="R7b9baedb1bae405f"/>
    <p:sldId xmlns:r="http://schemas.openxmlformats.org/officeDocument/2006/relationships" id="276" r:id="R130d972cb5de4829"/>
    <p:sldId xmlns:r="http://schemas.openxmlformats.org/officeDocument/2006/relationships" id="277" r:id="Rf0faa1c577754f5a"/>
    <p:sldId xmlns:r="http://schemas.openxmlformats.org/officeDocument/2006/relationships" id="278" r:id="R709bb610ab94417a"/>
    <p:sldId xmlns:r="http://schemas.openxmlformats.org/officeDocument/2006/relationships" id="279" r:id="R6a940e73180641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9d667497424519" /><Relationship Type="http://schemas.openxmlformats.org/officeDocument/2006/relationships/slideMaster" Target="/ppt/slideMasters/slideMaster1.xml" Id="Rcb0f89cc9d644e38" /><Relationship Type="http://schemas.openxmlformats.org/officeDocument/2006/relationships/notesMaster" Target="/ppt/notesMasters/notesMaster1.xml" Id="R863ea07ed86a49d4" /><Relationship Type="http://schemas.openxmlformats.org/officeDocument/2006/relationships/presProps" Target="/ppt/presProps.xml" Id="R7d0488fe42934167" /><Relationship Type="http://schemas.openxmlformats.org/officeDocument/2006/relationships/viewProps" Target="/ppt/viewProps.xml" Id="R99cfb701bc084f98" /><Relationship Type="http://schemas.openxmlformats.org/officeDocument/2006/relationships/tableStyles" Target="/ppt/tableStyles.xml" Id="R43aba471adfc4e4a" /><Relationship Type="http://schemas.openxmlformats.org/officeDocument/2006/relationships/slide" Target="/ppt/slides/slide1.xml" Id="Re547319faeb34600" /><Relationship Type="http://schemas.openxmlformats.org/officeDocument/2006/relationships/slide" Target="/ppt/slides/slide2.xml" Id="R9c13d1bf5d554a79" /><Relationship Type="http://schemas.openxmlformats.org/officeDocument/2006/relationships/slide" Target="/ppt/slides/slide3.xml" Id="R1c4d52daa22a4270" /><Relationship Type="http://schemas.openxmlformats.org/officeDocument/2006/relationships/slide" Target="/ppt/slides/slide4.xml" Id="R238916ec0b0842a2" /><Relationship Type="http://schemas.openxmlformats.org/officeDocument/2006/relationships/slide" Target="/ppt/slides/slide5.xml" Id="Rfaabeee719ef40d8" /><Relationship Type="http://schemas.openxmlformats.org/officeDocument/2006/relationships/slide" Target="/ppt/slides/slide6.xml" Id="R0cff107ffcab40ea" /><Relationship Type="http://schemas.openxmlformats.org/officeDocument/2006/relationships/slide" Target="/ppt/slides/slide7.xml" Id="R673ec859562041c3" /><Relationship Type="http://schemas.openxmlformats.org/officeDocument/2006/relationships/slide" Target="/ppt/slides/slide8.xml" Id="R3f017a548e1546d1" /><Relationship Type="http://schemas.openxmlformats.org/officeDocument/2006/relationships/slide" Target="/ppt/slides/slide9.xml" Id="R336d07d322db426c" /><Relationship Type="http://schemas.openxmlformats.org/officeDocument/2006/relationships/slide" Target="/ppt/slides/slide10.xml" Id="R1da879012ae6438b" /><Relationship Type="http://schemas.openxmlformats.org/officeDocument/2006/relationships/slide" Target="/ppt/slides/slide11.xml" Id="Rd69ffc794a97484a" /><Relationship Type="http://schemas.openxmlformats.org/officeDocument/2006/relationships/slide" Target="/ppt/slides/slide12.xml" Id="R89bfcfb98fd84305" /><Relationship Type="http://schemas.openxmlformats.org/officeDocument/2006/relationships/slide" Target="/ppt/slides/slide13.xml" Id="R538be01ddac146ee" /><Relationship Type="http://schemas.openxmlformats.org/officeDocument/2006/relationships/slide" Target="/ppt/slides/slide14.xml" Id="R3cdbd5b36ddf414b" /><Relationship Type="http://schemas.openxmlformats.org/officeDocument/2006/relationships/slide" Target="/ppt/slides/slide15.xml" Id="Rab88143a5d414db5" /><Relationship Type="http://schemas.openxmlformats.org/officeDocument/2006/relationships/slide" Target="/ppt/slides/slide16.xml" Id="R6d9079a5cb1c4f64" /><Relationship Type="http://schemas.openxmlformats.org/officeDocument/2006/relationships/slide" Target="/ppt/slides/slide17.xml" Id="R37fd01b1af564a0a" /><Relationship Type="http://schemas.openxmlformats.org/officeDocument/2006/relationships/slide" Target="/ppt/slides/slide18.xml" Id="R3f14ef7b16a54637" /><Relationship Type="http://schemas.openxmlformats.org/officeDocument/2006/relationships/slide" Target="/ppt/slides/slide19.xml" Id="R05e4bcae38504c38" /><Relationship Type="http://schemas.openxmlformats.org/officeDocument/2006/relationships/slide" Target="/ppt/slides/slide20.xml" Id="R7b9baedb1bae405f" /><Relationship Type="http://schemas.openxmlformats.org/officeDocument/2006/relationships/slide" Target="/ppt/slides/slide21.xml" Id="R130d972cb5de4829" /><Relationship Type="http://schemas.openxmlformats.org/officeDocument/2006/relationships/slide" Target="/ppt/slides/slide22.xml" Id="Rf0faa1c577754f5a" /><Relationship Type="http://schemas.openxmlformats.org/officeDocument/2006/relationships/slide" Target="/ppt/slides/slide23.xml" Id="R709bb610ab94417a" /><Relationship Type="http://schemas.openxmlformats.org/officeDocument/2006/relationships/slide" Target="/ppt/slides/slide24.xml" Id="R6a940e731806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a2662d50d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e673315674d57" /><Relationship Type="http://schemas.openxmlformats.org/officeDocument/2006/relationships/notesMaster" Target="/ppt/notesMasters/notesMaster1.xml" Id="R8d99299208d7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b3f7a93194230" /><Relationship Type="http://schemas.openxmlformats.org/officeDocument/2006/relationships/notesMaster" Target="/ppt/notesMasters/notesMaster1.xml" Id="Rc67f66ae3660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fccb9cfb647d4" /><Relationship Type="http://schemas.openxmlformats.org/officeDocument/2006/relationships/notesMaster" Target="/ppt/notesMasters/notesMaster1.xml" Id="Reb40844c108b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8d44ce74884e16" /><Relationship Type="http://schemas.openxmlformats.org/officeDocument/2006/relationships/notesMaster" Target="/ppt/notesMasters/notesMaster1.xml" Id="R0a1b1bbe0de443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c77a1252be4eee" /><Relationship Type="http://schemas.openxmlformats.org/officeDocument/2006/relationships/notesMaster" Target="/ppt/notesMasters/notesMaster1.xml" Id="R9b19d7345335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339b9a0bbf46fc" /><Relationship Type="http://schemas.openxmlformats.org/officeDocument/2006/relationships/notesMaster" Target="/ppt/notesMasters/notesMaster1.xml" Id="R49ab16047713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41e4eae6d34201" /><Relationship Type="http://schemas.openxmlformats.org/officeDocument/2006/relationships/notesMaster" Target="/ppt/notesMasters/notesMaster1.xml" Id="R0568a3af9ee940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d7ffc48cff4bb5" /><Relationship Type="http://schemas.openxmlformats.org/officeDocument/2006/relationships/notesMaster" Target="/ppt/notesMasters/notesMaster1.xml" Id="R575ab6076ccd42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59d76a075d41a2" /><Relationship Type="http://schemas.openxmlformats.org/officeDocument/2006/relationships/notesMaster" Target="/ppt/notesMasters/notesMaster1.xml" Id="Rca27d8f5485a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40dd79cde54110" /><Relationship Type="http://schemas.openxmlformats.org/officeDocument/2006/relationships/notesMaster" Target="/ppt/notesMasters/notesMaster1.xml" Id="Rc30a10c1730f4a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df678849bf42f7" /><Relationship Type="http://schemas.openxmlformats.org/officeDocument/2006/relationships/notesMaster" Target="/ppt/notesMasters/notesMaster1.xml" Id="R0a7f741e971c40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32220e730c44cd" /><Relationship Type="http://schemas.openxmlformats.org/officeDocument/2006/relationships/notesMaster" Target="/ppt/notesMasters/notesMaster1.xml" Id="R7f9ef5adf0294c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b9a99a38544972" /><Relationship Type="http://schemas.openxmlformats.org/officeDocument/2006/relationships/notesMaster" Target="/ppt/notesMasters/notesMaster1.xml" Id="R4980b5eb2a5e40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873c41295f4c3f" /><Relationship Type="http://schemas.openxmlformats.org/officeDocument/2006/relationships/notesMaster" Target="/ppt/notesMasters/notesMaster1.xml" Id="R28ce6e56f93b48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2c577b97a74f7e" /><Relationship Type="http://schemas.openxmlformats.org/officeDocument/2006/relationships/notesMaster" Target="/ppt/notesMasters/notesMaster1.xml" Id="R44538a4200454a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794faa678243d7" /><Relationship Type="http://schemas.openxmlformats.org/officeDocument/2006/relationships/notesMaster" Target="/ppt/notesMasters/notesMaster1.xml" Id="R0e50dcafe9a440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5bcd54b6e949e8" /><Relationship Type="http://schemas.openxmlformats.org/officeDocument/2006/relationships/notesMaster" Target="/ppt/notesMasters/notesMaster1.xml" Id="R1441246c65624a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93810580b547fd" /><Relationship Type="http://schemas.openxmlformats.org/officeDocument/2006/relationships/notesMaster" Target="/ppt/notesMasters/notesMaster1.xml" Id="R1af40998430b42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3fcfcb7b374528" /><Relationship Type="http://schemas.openxmlformats.org/officeDocument/2006/relationships/notesMaster" Target="/ppt/notesMasters/notesMaster1.xml" Id="R9dc5501ed4dc4e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99c232cd3f4dd9" /><Relationship Type="http://schemas.openxmlformats.org/officeDocument/2006/relationships/notesMaster" Target="/ppt/notesMasters/notesMaster1.xml" Id="R88284ac4c2bf4c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2a6ad003ad4f2b" /><Relationship Type="http://schemas.openxmlformats.org/officeDocument/2006/relationships/notesMaster" Target="/ppt/notesMasters/notesMaster1.xml" Id="R8b552c5b9af242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46822ef8584ca7" /><Relationship Type="http://schemas.openxmlformats.org/officeDocument/2006/relationships/notesMaster" Target="/ppt/notesMasters/notesMaster1.xml" Id="Rb303818d37604c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3510fddda549e5" /><Relationship Type="http://schemas.openxmlformats.org/officeDocument/2006/relationships/notesMaster" Target="/ppt/notesMasters/notesMaster1.xml" Id="R653f6d3c088e42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2b157a3ee4480f" /><Relationship Type="http://schemas.openxmlformats.org/officeDocument/2006/relationships/notesMaster" Target="/ppt/notesMasters/notesMaster1.xml" Id="Ra60f968f631c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61fb7f348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18ac39779c4268" /><Relationship Type="http://schemas.openxmlformats.org/officeDocument/2006/relationships/slideLayout" Target="/ppt/slideLayouts/slideLayout1.xml" Id="Re1d0f33cf684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d0f33cf684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f7fb410734b5c" /><Relationship Type="http://schemas.openxmlformats.org/officeDocument/2006/relationships/notesSlide" Target="/ppt/notesSlides/notesSlide1.xml" Id="R390e024af3c1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6f3e54b514967" /><Relationship Type="http://schemas.openxmlformats.org/officeDocument/2006/relationships/notesSlide" Target="/ppt/notesSlides/notesSlide2.xml" Id="Rd3acbeb5532f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bfce3d98f4f8f" /><Relationship Type="http://schemas.openxmlformats.org/officeDocument/2006/relationships/notesSlide" Target="/ppt/notesSlides/notesSlide3.xml" Id="Rd591e453b53646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088ea36194abf" /><Relationship Type="http://schemas.openxmlformats.org/officeDocument/2006/relationships/notesSlide" Target="/ppt/notesSlides/notesSlide4.xml" Id="R09304a1e8d6f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54d8ac57045c7" /><Relationship Type="http://schemas.openxmlformats.org/officeDocument/2006/relationships/notesSlide" Target="/ppt/notesSlides/notesSlide5.xml" Id="R0ec0e447656349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3db939fb84400" /><Relationship Type="http://schemas.openxmlformats.org/officeDocument/2006/relationships/notesSlide" Target="/ppt/notesSlides/notesSlide6.xml" Id="R95a14d7af2e040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6cabd995d4fcb" /><Relationship Type="http://schemas.openxmlformats.org/officeDocument/2006/relationships/notesSlide" Target="/ppt/notesSlides/notesSlide7.xml" Id="R0dd5a858208340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bbff27183438a" /><Relationship Type="http://schemas.openxmlformats.org/officeDocument/2006/relationships/notesSlide" Target="/ppt/notesSlides/notesSlide8.xml" Id="R8a803e568f4e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d5b9903594a05" /><Relationship Type="http://schemas.openxmlformats.org/officeDocument/2006/relationships/notesSlide" Target="/ppt/notesSlides/notesSlide9.xml" Id="R386a85ac80d145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9be38ad644c23" /><Relationship Type="http://schemas.openxmlformats.org/officeDocument/2006/relationships/notesSlide" Target="/ppt/notesSlides/notesSlide10.xml" Id="Rc756bcefa7834d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3bba4ed7841a4" /><Relationship Type="http://schemas.openxmlformats.org/officeDocument/2006/relationships/notesSlide" Target="/ppt/notesSlides/notesSlide11.xml" Id="Red3d28b43c6e4a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fbd72fa543e3" /><Relationship Type="http://schemas.openxmlformats.org/officeDocument/2006/relationships/notesSlide" Target="/ppt/notesSlides/notesSlide12.xml" Id="Rbe4f809475e54b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e8241cd94f4e" /><Relationship Type="http://schemas.openxmlformats.org/officeDocument/2006/relationships/notesSlide" Target="/ppt/notesSlides/notesSlide13.xml" Id="Rb9b0928bf50a4a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6fd110ee64d2e" /><Relationship Type="http://schemas.openxmlformats.org/officeDocument/2006/relationships/notesSlide" Target="/ppt/notesSlides/notesSlide14.xml" Id="Raf62075ff5ec47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ca680ed4a440b" /><Relationship Type="http://schemas.openxmlformats.org/officeDocument/2006/relationships/notesSlide" Target="/ppt/notesSlides/notesSlide15.xml" Id="Rf337ffc4feaf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a08f1d614140" /><Relationship Type="http://schemas.openxmlformats.org/officeDocument/2006/relationships/notesSlide" Target="/ppt/notesSlides/notesSlide16.xml" Id="R4300def50ecc4b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81cb9ec88499c" /><Relationship Type="http://schemas.openxmlformats.org/officeDocument/2006/relationships/notesSlide" Target="/ppt/notesSlides/notesSlide17.xml" Id="R2b225664882a42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483dd0cd745e8" /><Relationship Type="http://schemas.openxmlformats.org/officeDocument/2006/relationships/notesSlide" Target="/ppt/notesSlides/notesSlide18.xml" Id="R727f3caafaf143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2bb7d5d9649b8" /><Relationship Type="http://schemas.openxmlformats.org/officeDocument/2006/relationships/notesSlide" Target="/ppt/notesSlides/notesSlide19.xml" Id="Raafdbbcc1ef945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93f115b34713" /><Relationship Type="http://schemas.openxmlformats.org/officeDocument/2006/relationships/notesSlide" Target="/ppt/notesSlides/notesSlide20.xml" Id="Rbaeed443611243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e4934da6f4a5c" /><Relationship Type="http://schemas.openxmlformats.org/officeDocument/2006/relationships/notesSlide" Target="/ppt/notesSlides/notesSlide21.xml" Id="R45acf979ff2444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a6caba8764277" /><Relationship Type="http://schemas.openxmlformats.org/officeDocument/2006/relationships/notesSlide" Target="/ppt/notesSlides/notesSlide22.xml" Id="Ra31ef594760a4f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92efa58641bd" /><Relationship Type="http://schemas.openxmlformats.org/officeDocument/2006/relationships/notesSlide" Target="/ppt/notesSlides/notesSlide23.xml" Id="R2eaeb958a15146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09db947fb493b" /><Relationship Type="http://schemas.openxmlformats.org/officeDocument/2006/relationships/notesSlide" Target="/ppt/notesSlides/notesSlide24.xml" Id="R576ae24bb30f43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4097F-8A2E-4FA2-B533-20CC597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BD8A3-0F1C-4C5F-9B8B-1E6DA69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225EF-7704-4B26-A2F8-CEEA59D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68D5E-1A0C-453D-AD58-9FE8E0D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AD301-41C3-444D-9647-00EFAA4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2CE94-F451-4F24-B722-70AD33F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01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BACD7-109B-4F4E-A825-79D1E63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Cloud Attack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486B5-E56F-4DDD-B837-9D962086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and Evidence-Driven Defense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7D91F-DE9D-4820-B616-33B1B614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 two-day lab workshop for multi-cloud security, scanner validation, tenant-aware evidence, and compliance-ready remediation.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715A7-951F-4944-9225-ED24CC6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9479-ACED-4D30-B9F4-C113986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AWS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B43B-1130-4EF7-9EE1-35BC622D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385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03B83-2221-4487-A627-CBA2BEE3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0517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Azure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F3777-E990-4BD1-B513-8CCFFCA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3C619-E06A-4B19-9F88-E1FB989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05175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GCP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9C508-D2AC-49C1-B1A7-630E3411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EDE9A-E994-4840-96A0-6A767493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051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DigitalOcean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936BF-3098-4840-9FAE-286776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34F14-1C9D-49ED-B40B-E005A0C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051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7171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7171"/>
                </a:solidFill>
                <a:latin typeface="Aptos Display"/>
                <a:ea typeface="Aptos Display"/>
                <a:cs typeface="Aptos Display"/>
              </a:rPr>
              <a:t>Kubernetes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4AC28-F534-4D39-AE4D-567F7037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63B7E-3406-436E-BAAA-93D3B997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6345E-250A-4BA1-B40B-952E88B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F81BD-8E60-4BD3-944D-E59938B1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066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Exposed asset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1D6CF-2246-4075-9E5B-9BC9635C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2917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Find weak entry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335137-D868-4F97-8DC9-4142728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291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934B3-7C60-4C6E-A91B-A222F40C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E8452-2043-4F5F-8960-0A4C7BC6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81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B7C00-4F85-4C2E-A324-40C7043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29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B7DBA-FD81-40F7-B380-8CC15FF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1066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Identity abuse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09A3B-80D5-4848-98E6-63CFDA0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2917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Map permissions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4CE58-1F6C-420B-9517-60ED768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291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30DF7-8996-4A9E-9F52-A1E5DB7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2912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709114-6243-4F98-B9E5-E9260729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81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78D7E-B742-43FA-AC89-6447C69F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9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61FBB-0775-4E59-BB31-3FA130F3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066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Data access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B8D90F-62F9-499B-80E5-7500576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2917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Verify impact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9570D-459C-4B34-A9CE-5D862C76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91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6CD77A-8EDF-4E5B-9956-A6B8BF87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2912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92850-F640-43FD-84CC-031DD676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81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6201BB-5D9C-425E-B0F9-85A7D300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B72260-BB8A-4D83-9A0D-7E232138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72000"/>
            <a:ext cx="1066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Runtime pivot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7524B7-CAB1-49B4-9B60-9B602300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2917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Trace blast radius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29E9C0-CF36-4073-B476-AF4633C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291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0C5A30-D2CF-465C-87A8-C0DC0C8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CD2638-CE00-4040-8D4B-5CA3367A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81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EAC62-960A-48F3-B3E7-C219C402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6C61C4-1735-4657-9A5C-4260CA5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72000"/>
            <a:ext cx="1066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 and fix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7FFBC7-F343-487A-A5FE-38CCEC4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2917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Prove remediation</a:t>
            </a:r>
          </a:p>
        </p:txBody>
      </p:sp>
    </p:spTree>
    <p:extLst>
      <p:ext uri="{BB962C8B-B14F-4D97-AF65-F5344CB8AC3E}">
        <p14:creationId xmlns:p14="http://schemas.microsoft.com/office/powerpoint/2010/main" val="409458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56FA7-A0C8-4F77-8B9D-5B05A8E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DAA5-64E7-4C80-AD35-39735B40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9C512-21A8-492B-9013-9A56BD5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6ED79-2308-40AB-B1A6-995B67B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EF5DE-45D9-4E2B-B7C3-BCCA5C57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DB305-B750-475F-9751-D95476CF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779F8-D9DB-4757-89B8-97A45739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553F3-2C48-4423-BB0B-3592835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Public reference, original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345C0-E577-47EA-854D-7D6660E0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We use the public training page as a scope signal, then build our own authorized internal curriculum around scanner evidence and dashboard outcomes.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4448D-5B5A-4230-B0F7-20AB2EB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57BA9-B133-4F46-BC91-8EC4958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17CF9-5E7F-457D-9AA0-DE896E7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Public page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FD8EC-CBD0-4FC9-8B40-03B81B2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Two-day, hands-on, intermediate-to-advanced multi-cloud security training. The published outline mentions recon, SSRF and metadata, serverless, data tier, containers, Kubernetes, IAM, AI integrations, developer platforms, and defenses.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561AB-B88E-40A6-81A7-9EBBEF6B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238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3F9A1-AE81-46DC-ADD3-41D4CE00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91347-7583-4F9D-9C5F-9515550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1932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Our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B7910-994F-4464-B1BB-04B9B9D6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81275"/>
            <a:ext cx="2895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Lab-safe, tenant-aware, and tied to our project. Every exercise produces normalized evidence that flows through connectors into the compliance dashboard.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32C2C-732A-481A-B582-0A9A0D16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857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E12EA-E284-4413-84B9-9811817B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EE86E-908B-4FAB-A923-14EE2A6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19325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What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09ECB-490C-4281-99A3-9767742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81275"/>
            <a:ext cx="2514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We add CloudGuard scanner validation, IaC file uploads, kubeconfig scanning, evidence processors, tenant_id segregation, and executive-ready reporting.</a:t>
            </a:r>
          </a:p>
        </p:txBody>
      </p:sp>
    </p:spTree>
    <p:extLst>
      <p:ext uri="{BB962C8B-B14F-4D97-AF65-F5344CB8AC3E}">
        <p14:creationId xmlns:p14="http://schemas.microsoft.com/office/powerpoint/2010/main" val="175260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DAFDF-4ACD-4B6F-937C-7BE227F4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48D86-9AE7-4FD0-AC89-8221E1D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C21D0-57E9-4215-A65E-E8F69DA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9C250-17C9-4098-BD01-68BBA50D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323A-57F6-4CE9-8ABB-19A297E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80877-F60A-4414-9D0B-D9FD4BE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E17F3-3914-4642-A987-863D231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858D2-0F13-4F42-BACB-C676B42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What participants should be able to 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5A134-89AB-40E6-BDC0-03A24DB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workshop is designed around useful operational skills, not just cloud trivia.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65908-BBB5-4ED6-A941-26C61490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F4CDE-1307-470B-9787-5AD40399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7508D-D026-4169-98EA-A90793D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A8C47-923D-4961-8F7A-77BF63CD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Read cloud exposure, IAM, runtime, Kubernetes, and IaC evidence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27D24-0030-45FD-B3A9-3B4BC99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C0504-7F9F-4132-811F-04C6B13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83002-DE0D-4096-B6E1-31E17435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86DED-96F2-48B9-B6C3-B047FFDE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Collect artifacts and scanner output that supports an audit-ready finding.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2D710-56F8-4D3D-89FD-3D145C4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83330-E278-4C03-A142-30B1F21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D8FDF-2494-427B-BFEC-B62EC05F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53065-B205-4909-A5F0-1AB87A00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Map each issue to an owner, control, blast radius, and remediation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A9A0D-BDB9-4697-8FAE-B8A11878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142B9-33FD-4B59-B234-EF1D5DE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D0DB5-4033-4236-B697-5CEBD0F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Standardize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AB1AE-6AA8-4815-8A4D-766CCA1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038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Emit normalized evidence with tenant_id so every scanner follows the same contract.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FC2CD-E828-4D0F-A916-478C9067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3DABA-D2A6-4EF4-A40F-549868F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2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0CDA7-04AA-4AF1-A50E-F374A7C1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Instructor-led practical labs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60BC4-D47C-4253-BDD1-5C441B0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62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8E9110-49AB-4AD6-9049-E0EBC07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9585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4 scanners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E5231-FD0B-48FA-8711-065280D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578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AWS, GCP, Kubernetes, IaC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864EF8-F824-4586-BC13-1BFC3DE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62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C6818-268F-46D3-9D3B-50EE0DB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1 capstone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858ABB-E979-47FA-8B18-287B412F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57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End-to-end evidence 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594B0-CC15-4DEA-B9BB-5B547172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15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FB046-48B3-4452-9307-2F9E144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tenant_id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9DBB9-7C64-4E6F-9A23-70711BE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5780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Mandatory segregation key</a:t>
            </a:r>
          </a:p>
        </p:txBody>
      </p:sp>
    </p:spTree>
    <p:extLst>
      <p:ext uri="{BB962C8B-B14F-4D97-AF65-F5344CB8AC3E}">
        <p14:creationId xmlns:p14="http://schemas.microsoft.com/office/powerpoint/2010/main" val="17312430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79DED-1563-4F60-9E0B-CB3234F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4D62D-4927-4A42-AB78-E812EC2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6E1B2-0FA5-473D-A4B4-CBBE0AC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7BE75-A696-4A9D-9DCA-F8B0EBF9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4E5FC-E6CE-4AEE-83A3-D3587E27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FB9BC-E4A8-45F8-8FDF-86537B0D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53A25-C64D-4938-8136-55EDEC5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CD94B-423D-48D3-81AE-6464D409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Authorized labs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FBD4E-B04B-42F2-ABFF-DC65CC1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Every lab is isolated, logged, budgeted, and intentionally vulnerable.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8A728-62E2-43E9-9957-9DB14EB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2E1D5-D1D3-49F7-B908-DA538F0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5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8BB5C-E492-4E46-B908-6669F3FD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Approved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15A37-1E8E-4D30-802A-65A5E4AD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05075"/>
            <a:ext cx="382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Use only instructor-provided accounts, lab tenants, local clusters, or disposable projects.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32108-463C-4D23-804C-D5C99F3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43125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3C46D-144A-48A5-BDA5-E2411980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95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C6E62-6258-4C56-9855-3CCB9EAE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No real secrets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825A6-56A0-43FE-A014-5894143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382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Credentials are lab-only. Raw secrets must never be stored in findings or reports.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7D5A9-525B-4256-8064-00D08DEE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BAE88-BB53-4909-82E1-FDD5707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65EEF-BA47-4EFD-B6EE-357333A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Least privilege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92D03-B56C-47CE-9FAB-5C37BE4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382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Scanner credentials are scoped by tenant and scanner type.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27363-A084-49E4-B7E9-C655AECB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71875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DDDEE-BF8F-400F-AC25-39CE2F9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F8465-99A4-45D0-AA5C-29159BA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86175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Cleanup 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4E120-5545-4FB6-AAF1-C8C4DE9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33825"/>
            <a:ext cx="382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Budgets, teardown scripts, and credential rotation are part of the exercise.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C6ADC-8A78-4820-8175-F5F42D3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Workshop mantra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6E82A-656E-4046-AD4E-193206A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If it is not owned, isolated, and approved, it is not a workshop target.</a:t>
            </a:r>
          </a:p>
        </p:txBody>
      </p:sp>
    </p:spTree>
    <p:extLst>
      <p:ext uri="{BB962C8B-B14F-4D97-AF65-F5344CB8AC3E}">
        <p14:creationId xmlns:p14="http://schemas.microsoft.com/office/powerpoint/2010/main" val="1323761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ABA6C-FCD3-4ECE-8421-A6D6585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7322B-C656-4B41-A1EB-AD30147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F8CAD-4E9F-41F8-AD29-370E57EC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3FF02-8BE2-4B55-8BCF-58C91E3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5C31B-C492-409F-A4A9-EFA2CFD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B0F43-E2BA-49FC-801A-04351DB8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05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8F1B1-B011-4C36-8373-7E317AA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MENTAL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06AA-91CA-4E53-886F-4147892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Cloud breaches are chains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4739D-920C-481D-A4DD-00070F24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useful unit of analysis is the path from exposure to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72D44-0187-4723-B933-4BEE0589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6A86F-9F4D-46B8-847C-4D85B932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BF53C-7798-4214-A6EC-F44578D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84E57-BEB7-4245-A31C-D9D0AE1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7F602-CEF1-4407-9C9F-0F788F1D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DNS, assets, repos,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EF6AF-D63F-4AD0-A67D-6902B1A6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670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89D1D-79B1-4BE7-A5D8-84242FC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39018-EC0F-4491-9D81-400B4DD7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B8DF9-D75F-4C5E-8685-D2660C03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627A8-BC87-4FB3-9974-62E69935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Foothold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30DA7-8730-4ECD-831F-12CFF80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Public service, token, weak 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0C10C-10FA-4D4F-953D-75E19FD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0F349-19F0-4074-9040-CA8F0F8C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BCA6B-2D16-44BA-8A34-985A1EC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52302-E586-4DF5-AA65-C196F75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713B6-4BA6-4ACF-B1C1-35F6290E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0CCEA-EA95-4E35-BDC4-A4A8C8B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Role, service account, managed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CB711-C336-40DB-9C29-A4BF1CD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670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8A6B9-9D8A-4979-93DB-89AEAFC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FD821-2DEF-4075-8CE7-0A5F8460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F8EB0-5326-4A2F-95E0-A8AD452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5AFCB-FFA2-448B-8B36-C695A0A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Pivot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33D92-ED1B-4FA7-8F10-3D3310CF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Runtime, serverless, data tier, cluster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F6445B-8FEB-4DA8-B28B-7603AD9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DF40D-FAC1-47C6-8494-64575DA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C1FD3-5128-4B15-8A44-165633C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AD5646-E491-4178-AE0D-0EC53845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4EC5A-78D3-423E-880F-BB534A1A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E76A2F-2CFC-47D6-8C4B-B787D13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Data access or control-plane 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F4C6E-1EF5-42D9-9445-7C508E1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670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21BC2-3717-4D6C-8EE2-A3E1AD1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8ED4C1-DBD0-4F03-9D2F-A5DC9006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B8B8C7-626F-404C-B240-3F1214E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CF7358-2692-4B86-9B4B-8669C3DF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9875"/>
            <a:ext cx="87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16182-E5CF-4083-BC23-7807661D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670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Scanner result, artifact, control 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C3BA17-00B7-4701-8A91-24C50B4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71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C0814-8C5F-480E-8FAD-78072B5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71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6E2AC8-4A6F-4CAF-B686-DCD218C5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937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Why this matters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502139-FC73-4A3C-82FF-CB1C24E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937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Scanner findings are easier to prioritize when they are attached to an attack path: entry point, identity, reachable data, blast radius, and remediation proof.</a:t>
            </a:r>
          </a:p>
        </p:txBody>
      </p:sp>
    </p:spTree>
    <p:extLst>
      <p:ext uri="{BB962C8B-B14F-4D97-AF65-F5344CB8AC3E}">
        <p14:creationId xmlns:p14="http://schemas.microsoft.com/office/powerpoint/2010/main" val="16771483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99236-5898-4C93-B8F9-887E3426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EDE0C-1A6E-4B5A-9F33-BA955FA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496F7-A590-4C12-A132-01D93DC5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BB7C5-840D-4636-803D-E1C5E958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CAFD-8D32-45E9-9487-33AA241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FB9EE-D871-4A8B-BE49-D71DB532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06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F52C2-87F8-44C8-894A-119258B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LAB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993EF-4D83-4586-8E31-E9E868E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Decoupled scanners plus evidence connectors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82E59-E535-4BE6-99DD-79A7B733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Scan jobs run separately. The portal ingests evidence in a standard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B0F7D-AB1A-4804-A428-D00635A7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13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D1556-0C6E-4994-93D9-18850CBA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Student tenant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3E9D3-63A9-41B4-BDCC-D8C201CE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09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13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09530-52AF-422D-B14E-F4F4651D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Scanner workers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5057B-6D20-4E75-933D-87038D36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209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13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CC904-7E33-4499-B909-0F8D891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Evidence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56661-79E1-434B-BB3C-6EC71D64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095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13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C9C95-88EF-4542-AE24-C9F00681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83A36-71DA-4C01-AC44-71090CC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9F279-50C3-4D0D-AB1F-F712B538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000A9-6D60-4D4E-908E-E4E9130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Cloud accounts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43788-00C9-413D-93D4-2DDA034E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AWS, GCP, Azure, DO labs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5F8AF-AE6B-4FA3-9437-FC6E966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65E87-8489-429B-9EA9-0513AE78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10FEC-DB38-449F-BBB5-DF58203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Local cluster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5E597-479B-4C62-A49A-D763691C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Kind or test kubeconfig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D519C-7606-4BFF-B507-E5F8148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88850-013D-431F-BFDE-7FA9335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B164A0-3603-442C-8F2B-23BB789A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908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AWS/GCP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112B2-11F9-4B48-B4C0-B8C1384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384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API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CFBDD8-B04E-4FC0-A7F8-9398D1E4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90875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8B4AE-38F4-4CD4-AABC-D7C9335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D9BCD5-2460-4B57-BA20-9785170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051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Kubernetes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D6FBB-19DE-4062-BB4C-1247D2F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52825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Pods, RBAC, network policies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1C821-EDCB-4B5B-BA8B-4B19EA4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5A4F6C-587B-426F-B0CE-5529E29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B6A66C-7286-46A4-957D-BAEAEFB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9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IaC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46252E-37C4-47A8-B3EA-D20685F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6720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Full files and repos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F6E0AD-463C-4FD4-BEF7-5D5A955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DAD014-47E2-4EE4-9A52-31F5F3B3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AA18AD-99FB-4292-94B4-9BA61C20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Gateway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429EFA-D2CB-4C11-9B4B-CBC1071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Schema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611572-1FF4-4367-B911-BE49BA6A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90875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83BEFA-1C9C-48C5-9DA8-AC0CFF06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67F155-63F8-4DE0-A13E-A23BFB8F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Queue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07402F-C7A3-4AAE-9FCF-EBF827BB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Async decoupling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EFFC4A-391F-4CEB-AA25-78020FB1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DEFCC4-541E-4A1E-AB07-8F0F9940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1258E3-2C01-49D0-8B16-B2A1A687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Processor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5ED22-8200-4A1A-B015-029EF06F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Artifact and finding map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4D925D-E6B6-498F-8BC1-1A7940F4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14625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44B917-C31F-4A65-AC6E-32032FCD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B671C4-6A3C-4104-B448-6C948C1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Findings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4BD850-DD1C-4285-B078-039110DB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765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Severity, owner, status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91907C-5A31-4A7D-9416-BE051E7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1676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450D3C-DB15-468F-BA11-00CE688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9C6F1C-0426-4244-A1A9-6CD93534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Controls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D893AF-270F-49E2-BF6A-EBE2C6C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767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Evidence and remediation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0D8D49-5162-4B89-88C3-9274F71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0F161E-F284-48AA-A983-D8A61E6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DAB6A5-6FE8-4154-8269-C67B0595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5493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086D3-D45F-4F81-A0B4-2B5674B8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B2F97-946F-4299-A8AD-127EF8AA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C88C0-6D76-46AE-B7A4-4C3B41E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66606-CF15-40CF-8EE4-B29EFB2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B81CE-EBFA-48C1-9560-5F71D34F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1F039-1FED-4AEA-BF2D-12CE6F78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07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2DAD8-AEB1-4B1E-A683-98D98125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65562-8C56-4440-B59D-420D358C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Two-day workshop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159B8-3543-41A5-A22A-40028B3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Day 1 builds the attack-path foundation. Day 2 turns it into scanner validation, evidence, and dashboard outcomes.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B2284-D464-457F-9E18-7A6FBC7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285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BC1F7-7891-47BF-9623-EF8448F4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95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6AE1E-2A62-4D67-B1C3-12EB48FE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461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43515-F060-46B1-ABC0-AB5454A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442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Day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D645E-DD58-4CA1-A846-C38E4B50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19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2784F-1751-4357-8562-291F9DAA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429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Day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277E1-A09E-4345-8A3E-94DC66A9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FBF56-86FF-4228-909E-9AA77CB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09:00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991F2-7C59-4890-A29B-5B53102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622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EED8E-D87B-4C6B-9F08-DEC64A4C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574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Orientation and multi-cloud mindset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F454B-47C0-4270-B4A7-706F2D89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03378-5C57-484E-8477-040819A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Kubernetes and live cluster scanning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E586D-724C-4AC0-AF26-D828F475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E6E32-5890-4A4F-9E38-7061C4C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10:30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28F11-AE41-4801-8AF0-B520CA4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F2B0B-D89E-49AC-83B1-72BACD6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099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Recon to first foothold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2A355-8856-4FDD-AA4A-8E308A6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87C0A-110C-48C0-B551-4946EB0E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IAM escalation and cloud-native abuse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6A024-16D3-4F4D-ABA4-5FD8068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88BCC-C8BF-46B4-88CB-F19E2DAD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13:15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5B9C4-77E9-4824-B9C9-859AD58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671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34244-73D8-4228-A2DE-982FC4C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Storage and artifact exposure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443320-8655-4082-874D-B64A261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FCDE1-3F59-46DA-A467-4851891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Provider-specific kill chains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A4FF4E-FA6D-4BD9-9BE4-92EBB1D5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85E6D4-4B94-48EF-9017-2477798C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14:45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94CBC3-7E72-4E5C-A5E4-84D919AE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1955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0E7395-498F-4727-BE0D-F0BE04F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148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SSRF, metadata, and identity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85369-5075-4A60-8C34-3AEEB1AE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7B8F2-5CE7-498E-BA1D-7E889FA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CI/CD, developer platforms, AI integrations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09F6C-5311-4E14-980E-60A66D1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28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FC320A-678E-43C6-8159-25E3372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16:00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4F92E-8215-48FC-A75D-0920F91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7DDC8B-740D-4DA0-9526-D9A11C0F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Serverless and data tier attacks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648D4D-9067-46BF-BBEC-563F128C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619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D866E-BA6E-4C94-BB38-02FB51D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4429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Defenses, evidence, and capstone</a:t>
            </a:r>
          </a:p>
        </p:txBody>
      </p:sp>
    </p:spTree>
    <p:extLst>
      <p:ext uri="{BB962C8B-B14F-4D97-AF65-F5344CB8AC3E}">
        <p14:creationId xmlns:p14="http://schemas.microsoft.com/office/powerpoint/2010/main" val="2839671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281D8-199E-43B3-9E8E-53701C9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D92E-2487-4FE4-9F49-8B98F113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86F5D-BEC5-4FB4-82DD-796918B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19D6F-0EDF-4F1B-A758-110D8B4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9483-8177-4877-AFCF-1CCEBEBA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F7E9D-A4B7-4E1A-97BE-CCACD89D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08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A048F-7F25-4310-80C0-5945A586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F8CB3-38ED-48D5-A089-211116C8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From exposure to runtime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BB6C-52F6-4A5E-B279-62CE082F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first day shows how small mistakes combine into serious cloud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07FBA-F941-469F-AC3D-7A9CA73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C28BC-ECFB-4F58-A1BB-EDB6C066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7CB69-6691-4361-A36B-49987EF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M0 -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C0BFB-7D5F-4FA0-A44F-A3015DC7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Tenant, portal, dry-run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89EAD-7577-4810-88EF-309C17F7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5576B-BB50-4DA0-BAD0-1CAD7016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50853-8C81-49DD-A7DF-86DA8F06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M1 - Mindset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04AC1-AF7E-414B-A219-6ECC1E5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Attack path grammar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A7F4D-BA15-4F95-8674-060D475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24CBB-6F7A-4B2B-927F-2A8FAAA2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12E70-AD17-4E69-A51F-6490F915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M2 - Recon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6E539-E924-46F3-9E13-B18F64F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Owned asset exposure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01A05-C611-4706-9D1E-B5427AF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F48B2-86E6-41DB-8CA1-992AD23E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0E807-379A-4084-A95C-EDA5B2C0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M3 -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7F376-AAD7-499D-B4F1-C1E04D45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Policies, backups, 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A516D-E4D7-4262-B3FF-22495F40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6BD7A-CDC7-4CC7-AF0B-B2132F7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C54A5-46D5-4E66-96A1-8D7C88E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M4 - Metadata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61EE1-42E6-4C59-87C3-F20DF2F9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Identity from runtime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7EF81-22C5-4010-857E-AC27DB00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BB766-E210-444F-9A68-77D6E2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2404A-4D14-4D26-B708-EF55903A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M5 - Serverless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B25DF7-3C7F-492F-B4C2-17BAF66B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Function, queue, data tier risk</a:t>
            </a:r>
          </a:p>
        </p:txBody>
      </p:sp>
    </p:spTree>
    <p:extLst>
      <p:ext uri="{BB962C8B-B14F-4D97-AF65-F5344CB8AC3E}">
        <p14:creationId xmlns:p14="http://schemas.microsoft.com/office/powerpoint/2010/main" val="3440461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16EB2-8214-456A-A1F8-CAD494A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DABF-A883-44C0-900E-D541DC2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9C619-937F-4721-A7B3-D411CA5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464F1-E4A4-417F-81BF-C6C3D1C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EA2A0-480C-4C42-A794-7CCFB5C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76918-445B-4A69-94AE-5EDC4D1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09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082F-C768-421F-802E-2B632079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89504-5195-4CC9-BED3-986F95C7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Recon to first foothold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03D28-7D8D-4F5F-9A40-7D07B6F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Safe recon inside owned lab assets, then scanner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3DA17-D340-4909-91D4-03B402F2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99CD7-4326-42E3-8223-4D4496CF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60AAE-C40F-4614-B9D5-06D7942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9CAC-D7B3-49AC-81F4-B23D8D7F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assets, DNS, repos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797BD-C2A9-4EC5-B82C-282EB28B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62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DF823-E257-42B6-904B-ABAB381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765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35672-7950-4A48-AAA9-9616D71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765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3B76E-A575-43AB-BF57-DA30C98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47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Exposure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8700F-B60F-407B-9B0F-F394F90F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9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Public endpoints and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3BC6E-DDAD-44AC-9E4A-BC4934E6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5A217-2B0D-4167-9E56-4F76B978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6E99C-59FB-4C46-8E40-CC2A4A4F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C8C5F-5005-4D6F-812A-845BD2FF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E23B2-69F1-446B-B566-CD4BAF00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Manual proof and scanner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35229-93E5-41E9-AF54-A3172D8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C86DC-32A5-486D-B17F-937CC6F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765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3C4EA-3318-4D28-9645-6A43B830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765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9BCF8-303D-4EF6-B43F-1D070418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47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Prioritize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DAF53-F4DB-4686-80A1-C7E1B21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Blast radius and owner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70C1D-FF49-47EB-B19E-54E2BF4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62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77EE73-56BD-4E5A-A7B4-FCCBD4B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2F8FD-F414-4D5A-A106-66DA8AD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898FA-A5DB-4AF1-86B2-915647F3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50592B-6BE8-4539-BC58-F1B32F2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33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Evidence payload and control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C2410-5E32-4B67-B334-BF66D456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3E0B13-88FC-45D0-9488-E23D4AA0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01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Outputs: exposed asset list, screenshot/API evidence, scanner result, remediation owner.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056C81-771A-4976-910A-1A2AF75F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21803D-D83D-4E69-B9F9-DADF2012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9010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Key teaching point: an exposed asset is only a finding when impact and evidence are clear.</a:t>
            </a:r>
          </a:p>
        </p:txBody>
      </p:sp>
    </p:spTree>
    <p:extLst>
      <p:ext uri="{BB962C8B-B14F-4D97-AF65-F5344CB8AC3E}">
        <p14:creationId xmlns:p14="http://schemas.microsoft.com/office/powerpoint/2010/main" val="15259498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DD868-A438-4080-8EFC-D6BD97C1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9A117-4F7B-4E3C-8FD2-3A6820E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071C8-5C0F-4046-886D-E4A4E50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18043-E0FA-4928-8748-F9359FEE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68746-2606-41CF-8267-EEA1167E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28C4D-ECC1-40D7-8C9B-5770F82F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10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3D61B-EB20-425F-B513-F1EFB107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55B40-AC72-4936-B7DA-318BDF6C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Storage and artifact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18046-1564-4F72-9408-E042DD5A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Object storage, backups, logs, and build artifacts are common evidence 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A9300-2DB7-46B2-A902-3C5FC24F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BEEB0-0322-4124-941E-5BF1236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Weakness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FB410-29DC-48A8-B088-43E6F6E5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99F38-C66F-41F5-8B22-0AB90712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2AA95-0832-4903-9C86-2C72FEE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313EF-1788-4922-B92C-87499DC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907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AB3E8-6E17-4F7D-AE85-71768C7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F1BC3-81D2-4F80-9FE5-8E09574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CB89B-2C30-4F4A-8D8A-3D86856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7163E-D8B2-41DE-A5AD-E8B2785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Public 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B59A2-E443-4161-BF69-76ED31F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6C4F2-922C-4FE6-AEEC-DF8EB38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Data exposure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6AF4D-19BD-4078-B130-D15EF4B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FD967-559A-452D-8F50-49A102A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Policy plus object sample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7B617-EBE2-4D2B-9ED7-E50D3C16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6480B-6F3E-424E-9954-5FF4013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Block public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E6413-C77A-4D54-98C3-2A43D2A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538383-E7B2-486F-A52B-FDBADA6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Broad principals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58B985-8815-4A6F-B446-6C7521C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1CB211-86BA-4D9B-B41C-0EB6ED3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Unintended tenant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7BDF4-8F6A-461A-B401-4B1231F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87EBC7-FD1C-4364-85D2-5391736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385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IAM or ACL snapshot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F6710-5686-4765-A4CA-D061B826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6732B8-B9CA-461A-9E2C-6907B1EB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Least-privilege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7FD2C8-F6C1-4039-8F90-DD7B066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F47B0-B184-4877-83E9-02D4C67A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Build artifacts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390DCB-2BE9-44B4-9F76-59A5E119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53F55-EE53-40B8-BD04-65F8EC7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24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Secret or config leak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81ECB1-5C0C-4E7B-83B9-4C734CF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290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98A5A-47FA-4709-98C9-D6BF647A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43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Artifact hash and path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F6362F-8FB0-444A-ACD5-379C12B0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92DA35-C738-49DA-B5CE-D83E2F0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Sanitize pipeline output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101CC3-8417-4B67-8099-E868B53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5FD109-52AC-4361-97A8-C3FFFD7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Backups/logs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327746-7D97-4691-BBBC-074E467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148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BB8D42-0413-4CC4-9ACB-C6955647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10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Historical secret leakage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05343-6E57-4E0D-A493-C00E2184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5EC439-932A-4852-9C8B-82F00F3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010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Retention and access proof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66D2E1-3ED7-4390-A61E-890671B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8F16E1-9E71-4767-A757-2B1A6F41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01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Encrypt and restrict</a:t>
            </a:r>
          </a:p>
        </p:txBody>
      </p:sp>
    </p:spTree>
    <p:extLst>
      <p:ext uri="{BB962C8B-B14F-4D97-AF65-F5344CB8AC3E}">
        <p14:creationId xmlns:p14="http://schemas.microsoft.com/office/powerpoint/2010/main" val="9929494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F7A51-2236-4BEA-B08F-191AAD45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F7609-0D9F-47EC-8E82-41387A4C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94482-AAA9-411E-B316-0F6C2B1D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DE009-64A8-418E-A727-E998FCE1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40EFD-4647-4B1B-8EDD-BD33BF49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10835-7EFE-44A8-BC8E-10C40CB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11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7A686-EF62-4F4B-978B-EF9F333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14DF8-84E0-40E3-8A48-DE718009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SSRF, metadata, and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933EE-6F7E-4966-B42D-B3BC5097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lab focuses on understanding the chain, evidence, and fixes, not public exploitation.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CEA90-FD3F-4560-97C9-4D2EF9DC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83F2F-95D9-4553-BCBF-B04B69C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8742-EC2F-401C-950A-F46B0401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1EBB1-6F56-4323-AFA2-FE70DBE6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App weakness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4AC3B-0C80-44F1-BE12-5A7D1997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146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Request reaches an internal-only metadata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2C563-17C8-4AFA-A311-84439CFA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14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8308F-493E-4FEA-8A8F-A69E7407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1462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60B7E-CEA2-42DE-B9DC-41E721F7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BADCB-1B86-4E66-927A-D61FEA4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14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17361-17D6-4F91-8504-09F995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575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64293A-0ECF-4B51-9C83-9C1C6971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146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Short-lived runtime identity details become 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F42EF-AF12-4ACE-88EC-7C085EC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14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A2F41-37C1-4AC4-BBEE-BC19A73D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A70B1-0EA0-45F9-9642-6C0D142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70961-D4CE-4914-A9DA-1338EBF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96D3F-3145-4E92-A646-DE87620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Permissions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88063-1551-48E2-B9BA-E7ACD63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146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Role or managed identity defines the real blast radius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051A3-1D27-4FB2-8C95-F12F1D99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14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6DC23-DB7E-4178-A5D9-1DA7F295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1462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51B5E-2C00-42D1-B573-1613D758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75EEC-6BCF-4281-9E89-701078E6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2A6E3-99E8-4DF8-8328-D04A5FC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5750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Controls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64A47-B351-4220-B8AD-2D4135B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146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IMDS hardening, egress limits, app fix, least privilege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A7256-A46A-460A-ABBC-EC2DA619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C383B-8BF1-4472-A9F4-421E242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95BA1-3C78-4D5B-A831-1DAADDB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72025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 to capture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BC38D-D3BF-4737-BCD1-6638279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9675"/>
            <a:ext cx="822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Application route, metadata protection setting, attached identity, effective permissions, scanner output, and remediation ownership across app and cloud teams.</a:t>
            </a:r>
          </a:p>
        </p:txBody>
      </p:sp>
    </p:spTree>
    <p:extLst>
      <p:ext uri="{BB962C8B-B14F-4D97-AF65-F5344CB8AC3E}">
        <p14:creationId xmlns:p14="http://schemas.microsoft.com/office/powerpoint/2010/main" val="13582677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82DC5-9FB3-4194-A042-7BB7F5EC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BEA0A-6FEF-4CCF-9798-268AD6A6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5AB0C-2E58-4C5A-962A-289C3DA8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F6F10-9FAF-4637-956C-371A8811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08579-18CD-4D0E-B13F-3DAF1200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A3041-7A7A-4B4E-8D95-A3332D0E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CAD82-BF50-445A-8394-407816C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07EFE-5AF3-4C3E-B697-17C22CF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Serverless and data tier attacks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9F2DC-230F-447D-AB4D-5F58926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Automation identities, queues, databases, and secrets stores create cloud-native lateral movement.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6E1DB-C035-4494-B68B-86B4D85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9968A-26FD-47F3-8089-E0D1593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A4EA-0BB0-4B9D-956F-6E45ED91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Function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CC6E5-6A59-40C9-AB70-4492CA25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24479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Excessive permissions attached to a function or job identity.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52BF5-8217-4DEC-A29F-EB2961AB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9CF89-5D29-4ECB-8D00-E85A636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5226A-8489-4301-BC9F-0E50CB85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0505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Configuration leak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C0AA5-1C1B-4CF1-AF8F-770A08C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52700"/>
            <a:ext cx="24479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Environment variables, logs, and build-time secrets.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3240F-834B-4EDD-B934-3F04A6A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29CF8-6F00-41C2-81C1-69530EB8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3AD0F-1FFD-4265-A60C-AF6751D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Managed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6955E-1F5A-4C2A-8F31-E0420E3A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479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Database, queue, or object store reachable beyond intended boundary.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697C4-38AD-454A-AB0A-BE192B7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F99C4-19B7-43D8-AB4F-D2710B56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3CB98-7105-4662-A4B6-E9414EC5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1480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Scanner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5BF97-F19B-4B6C-9A2A-391A1578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62450"/>
            <a:ext cx="24479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Role policy, network exposure, secret class, and resource lineage.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46134-B3D9-4E97-BF5E-17B395AD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0"/>
            <a:ext cx="29051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8CA81-831F-4296-9C54-6DDDD9EF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9F698-D9A7-46C7-93D9-63DFBF6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1480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Remediation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076BC-1073-48E6-8551-2499564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62450"/>
            <a:ext cx="24479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Reduce permissions, rotate secrets, restrict network, add detection.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6F351-8E26-4273-BE98-EB1EA4D7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8EDD53-EDA1-4056-BBDC-B29C988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4587E-0B34-45D8-AFBC-0D7C3F4C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24375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89373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57992-172F-4DD4-81A1-0F24B020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71A1-E3B5-4029-B182-2166C240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E50D8-5BEF-456A-972C-925BB3B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C320B-84C6-442E-A525-5178C4C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99364-09C0-4B5E-A3CB-E2E0A043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4FE74-46B4-4D7E-BC54-6903389F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1B1D8-C970-4291-B0F3-8D4FEED0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5910A-1364-4C2E-927D-D3AC970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Containers and Kubernetes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5BE2-7EFF-42E9-94E8-8C9D40F7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Live cluster scanning through kubeconfig plus IaC drift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C9B38-EE62-4E0D-A756-EBFC273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C9B92-3DEE-44EA-9E0E-45377A9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CCA6B-FED7-41F3-9B87-5396B9A9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Workloads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A77DC-AA3A-4984-9FD9-D9E25A49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Privileged pods, host mounts, default namespace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96795-578D-43C0-9F5C-DFBC1D22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E1C56-BCD3-4DC6-B068-F1C5F53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5B19F-31D0-412A-916F-9C42398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45CB3-6881-4608-8A41-3428C4E1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Service accounts, cluster roles, role bindings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6FECB-9481-49DA-875B-E14B83D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F8221-0281-44CC-8C00-6586D7E8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C4722-95BD-4783-982A-363CB67B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D5497-D736-4868-9423-FC2CDCAD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Exposed services and missing network policies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8521A-BB92-4044-AA5E-7800BC01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0FC36-B302-4FF6-9CD3-C252BAA6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5496E-AB4F-4CC6-9BAC-60CA07C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Secrets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A36E4-C410-4421-9241-D28EA921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3382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Mounted secrets and broad namespace visibility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45D4D-98BE-4CDD-9156-1D3E8B55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71875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15203-1BE9-4E2B-BC5E-87222E51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24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88BFE-3BE2-4C89-B961-F01EC13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86175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Drift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0A5B8-C813-4D3D-AB03-88E6BA60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3382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Live cluster state versus YAML or Terraform intent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F00AF-07F6-434B-A657-427059D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12D66-73FD-441B-B811-0EF53F2B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B4D639-61F3-478B-B264-1E0E89A4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956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Scanner requirement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446B9-4689-4A1E-A84B-AB2E7578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56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With credentials or kubeconfig: query pods, services, namespaces, RBAC, network policies, and compare running infrastructure against IaC files.</a:t>
            </a:r>
          </a:p>
        </p:txBody>
      </p:sp>
    </p:spTree>
    <p:extLst>
      <p:ext uri="{BB962C8B-B14F-4D97-AF65-F5344CB8AC3E}">
        <p14:creationId xmlns:p14="http://schemas.microsoft.com/office/powerpoint/2010/main" val="9986504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83907-C5D8-4BA1-B57C-9712B09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F1113-17E1-44A6-8556-EA7B37CC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A17F5-264F-4968-BD3B-DEBF2B4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95C2-E1D5-4816-8004-2FB6F927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02923-B09A-465B-9E82-E323496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5AD2B-53FD-4A6F-843F-9CA5CF76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C66F7-9F2D-41D2-B069-40F5382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DAY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F284-A6AA-4ACB-9175-71151FF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From scanner validation to executive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C045C-4BDE-4E0E-9CAB-BB4E525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second day standardizes findings across providers and turns them into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69AAD-A458-4EED-819C-5191B861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4684D-651D-4200-BE3E-88DA24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F92C2-C16B-4B3F-84FE-C52E530E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M6 - Kubernetes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5EAAC-2F71-4F60-BBF8-BA4418D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Live state, RBAC, policy,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7C2B-91B1-40D6-A286-435D7D7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65D93-E491-4431-AFE7-5B868D0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61EAC-35C8-47DC-A715-B27B8FD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M7 - IAM abuse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4BDDB-70CC-4D96-9E70-0D26FC11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Identity graph and escalation 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4A95B-BA03-4261-9A08-B8B2FDAF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0EE56-5E03-406C-B7CB-7DC7476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67945-C1F8-47A6-801A-A6DB5B9A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M8 - Provider chains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37E67-DC61-405C-9CE2-B40DF70B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AWS, Azure, GCP, DO equivalents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6EEB2-59E4-4CAC-B2B0-55877C9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76128-C755-4078-9784-562743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44B901-52C2-4DAC-8AD1-7C57887C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M9 - CI/CD and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44D3D-5097-4355-88C6-69317FC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Automation identities and guardrails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CC999-3AA7-4CA6-84FA-2B14648C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986F8F-D8A3-4F5F-B725-896097D6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E32FA-0D30-4757-B04A-FEE0EB4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M10 - Defenses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BECD3-7B1F-4D9F-AA90-680B4905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Prevention, detection,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B4FC0-E623-4811-85BF-11C76C5C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62A4C-A34F-4AAB-BFE4-D3B6CB9E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441693-34CE-4869-AB1A-D63623BD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Capstone - Briefing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0E321-FADF-412E-8231-380713EE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Attack path plus remediation proof</a:t>
            </a:r>
          </a:p>
        </p:txBody>
      </p:sp>
    </p:spTree>
    <p:extLst>
      <p:ext uri="{BB962C8B-B14F-4D97-AF65-F5344CB8AC3E}">
        <p14:creationId xmlns:p14="http://schemas.microsoft.com/office/powerpoint/2010/main" val="5589054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2AC2D-A135-4525-A96F-91F0F41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F1C45-C517-4FA9-9966-7102413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27802-5DC0-4495-9373-148915A3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19122-0892-48D1-808F-3DBAF911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96884-DE56-4A23-B18C-8AE3D8E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F3E2C-5ED0-41E9-8636-11F584A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15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1B6A5-682D-479B-8297-F0E96D0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35269-31A0-4787-A8ED-7B78978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IAM escalation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80229-019A-40A4-8DDC-6C7EEF38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Participants learn to see permissions as graph edges, then validate high-risk edges with scanner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ACB92-7D5E-49E1-925C-4149E98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2664C-2706-4C2C-B72D-77F9335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1495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User or CI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B25AA-9E85-4C89-B1CF-49833DE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CF1AC-B389-4D2B-80DF-667D87B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495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Assumable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29C43-0BAD-4FD6-8A61-01213B70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F8CA6-A63E-48E5-8DA5-985C97E3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95725"/>
            <a:ext cx="1495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Service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274F7-6CED-4C20-A35C-50432E2E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A03D2-A729-4D0B-92F0-EB4F624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495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7171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7171"/>
                </a:solidFill>
                <a:latin typeface="Aptos Display"/>
                <a:ea typeface="Aptos Display"/>
                <a:cs typeface="Aptos Display"/>
              </a:rPr>
              <a:t>Admin-like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54BD5-B473-4C9F-92D8-4A395ED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92353-7B7C-4796-91C2-E7203C68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14954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Sensitive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59AD9-45E2-42AD-9201-B9E539E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7182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C8ABB-ED97-4657-92C9-3C2B455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2A50F-5DA2-4709-BEC4-937F719D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8145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3E634-7D8B-4626-B315-E9AF34B2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718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4584F-931E-4555-93A4-442AA123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Graph edges are where remediation starts: trust policy, action, condition, resource scope, and exception reason.</a:t>
            </a:r>
          </a:p>
        </p:txBody>
      </p:sp>
    </p:spTree>
    <p:extLst>
      <p:ext uri="{BB962C8B-B14F-4D97-AF65-F5344CB8AC3E}">
        <p14:creationId xmlns:p14="http://schemas.microsoft.com/office/powerpoint/2010/main" val="20253267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F77F7-3875-49C6-9347-31C6AF0F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05592-7F4A-4CC2-B2A8-41F29A5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9C1C8-8C67-4878-9748-DDA5C61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AA6B1-EF55-4DD1-B305-A3DBF17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D50B3-424A-422E-8BCC-8827091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3449A-9141-403D-A10A-51F79ED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16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A3573-6955-489C-8809-1F83E58A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9D2CE-FF1D-4852-AA60-EDDD259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Provider-specific equivalence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FFD2D-D362-4E04-8989-97C54477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Different clouds, same core evidence questions: identity, exposure, data, runtime, logs.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A63C4-1438-4CF4-9599-B7E89D7C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CE6A1-A2A2-4ED4-9159-C2B7927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B18F6-4B6B-43F1-ABBE-EC70818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13379-2841-4836-B164-6246797C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0275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IAM role, S3 policy, Lambda role, EC2 metadata, EKS 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A4A13-BAED-4215-9EC3-38A085D2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E4C17-3E10-43A4-8C66-C062A3A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5ED9B-E87A-45B1-BD14-B8282135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Azure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56300-C3C3-4D1F-BA0C-141DA7A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Entra ID, managed identity, storage account, Functions, AKS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14D5F-8B67-4B8A-9D47-083A05E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650FA-4FDB-4118-8F3A-89AC111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DB3CD-A668-492E-B660-14A07CA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GCP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1F0BC-2F28-4551-B0A3-43DBCEC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9525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Project IAM, service account, Cloud Storage, Functions, GKE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65498-AC7C-4605-BCB7-ED1DE73E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32BED-5FD9-44EC-A171-F6B43D84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A654F-DDCA-47EB-B9A9-BDEDA62F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EB032-6665-4FC0-8ADC-9D2E0450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Projects, Spaces, Droplets, registries, managed DB, DOKS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D2333-5AE9-46F8-9635-4F4CF76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Normalize the evidence, not the provider terminology.</a:t>
            </a:r>
          </a:p>
        </p:txBody>
      </p:sp>
    </p:spTree>
    <p:extLst>
      <p:ext uri="{BB962C8B-B14F-4D97-AF65-F5344CB8AC3E}">
        <p14:creationId xmlns:p14="http://schemas.microsoft.com/office/powerpoint/2010/main" val="173806174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A8ED6-0824-4538-B434-1F71167F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0E9E9-7EA0-4773-B6ED-29A0B023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ACE03-60AE-426A-B70E-B47B28C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937D2-5A23-4E54-B7A1-3D49E8C1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12E82-5237-42B3-B160-4BABC10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91E20-AC86-4162-B313-A143B79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17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F5D79-BCFC-4C97-B9A9-068C2ECE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0F181-7CDA-4805-89B6-A84B8033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CI/CD and developer platforms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DAE7C-40CC-4A96-9DA1-0C2BB93C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Deployment platforms are cloud-adjacent control planes with secrets, identities, and build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C3170-9903-4940-8763-4863EB9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B57CA-4D50-49DA-A77F-1C3486B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17199-C06B-43BE-B773-9CAC611F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590E0-2B73-4116-AB2F-8A9531A6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37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Workflow file and secrets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D55FD-E4E8-47A2-A2DE-3BD624A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E0B02-226B-4311-B578-2F30DA4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688F2-B79B-419B-9EDF-78B5F38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36392-38C6-4EC5-9198-8DD1BC8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479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CI 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41762-41FD-44AA-8C4C-07D0882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37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Build logs and 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72DAE-9830-4AD7-86ED-66132BBD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99716-5316-4B10-BC8D-0297798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0A51B-D8F3-4025-A8FF-2995A75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1E593-ECF5-48D4-B377-B8FFEB3C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Deploy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D9004-F251-4E54-9562-1649F4F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137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Project token and env vars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A4F43-FE32-4543-AA67-989A0FC3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B8B43-44D5-4DCD-A0CC-F8EE2DA0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8EDFD-38FA-4D25-96F9-98F72DD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B68C3-4E28-49B9-93AE-972EC4C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Cloud account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B0D0D-1B7E-4C9C-9212-7F64E2AA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9900"/>
            <a:ext cx="137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OIDC trust and runtime role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0B671-344E-4A92-B8ED-3D6FFF5E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623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9DACF-2BEE-4E66-A64A-5A7E14EA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ED687-C2A3-4CD1-B8F2-2F45F35D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B9AA7-E4E0-44AD-AC7E-78C80977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B5974-B6B5-4355-BC82-F2FD9711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137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Connector payload to dashboard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0705D6-32CE-40E5-8343-4979AFC7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A73B81-3536-4137-8974-C5B3B6F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72000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Key checks: secret scope, OIDC audience, build artifact exposure, deployment token privileges, branch protections.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D1AE2-1FEF-4419-A7DC-3AA2D01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14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778B1-51B9-48FE-B073-011A1E8A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48250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Evidence connector: source_system=ci_cd, asset_type=pipeline, provider=github_or_platform.</a:t>
            </a:r>
          </a:p>
        </p:txBody>
      </p:sp>
    </p:spTree>
    <p:extLst>
      <p:ext uri="{BB962C8B-B14F-4D97-AF65-F5344CB8AC3E}">
        <p14:creationId xmlns:p14="http://schemas.microsoft.com/office/powerpoint/2010/main" val="178489898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8535B-07A6-4F6C-AA80-4C14E4D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272A3-F616-4371-A56C-D9367BB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90CF6-8366-48CD-8344-567A3A1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77109-533A-43F3-B0D0-55D0046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F86DD-8C1D-4F89-A0E9-D259F83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7B9AE-159B-43CF-A0D2-A7BF605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18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1F89F-60A6-46E0-9DD8-DAA2A71E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6C7B5-2BCC-4C07-9420-BC0A9279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AI integrations and over-privileged automation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63F39-CA04-4642-8B27-E8F983B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AI-assisted workflows are useful, but they must be contained like any other automation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0A227-A796-4BA1-BF5B-723A09D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28003-0FFD-45AF-87C3-3388243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E7ED0-05C4-4FCB-83EF-F02DD32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Risk 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0F6B8-D06C-4822-B523-B3A19C9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2514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Agent or model-serving workflow receives broad cloud credentials, reads sensitive context, or can trigger scanner actions without approvals.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FFAD7-FD56-40ED-BCBB-5DA4594D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BD63A-21C4-4511-B183-EF46776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67A8A-6E01-4936-93AF-EE618681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6695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Containment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F339F-0B2D-4854-AFA2-A234DBF3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514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Host private models on controlled VMs when needed, isolate scanner permissions, log prompts and actions, and enforce approval gates.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0EDB3-EDB3-4494-8A05-9547A406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17DA1-B539-4391-90DA-A5DFF96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E9D94-00CA-4FA8-AF1F-13E7B2B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Cost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A7A18-0937-4EA3-8686-565F43F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514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Prefer small models for summarization, batch findings, cache recommendations, and reserve heavier models for capstone-quality explanations.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29128-3566-4174-99E9-AFF7263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FB267-A4D4-45A6-A6FC-C5CE118B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B0C93-3044-4C33-9214-934D98B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90B4C-0186-41EA-B0E8-8845F633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Workshop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D3562-E71F-4BE7-9DCD-A8F556F5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F67F6-9471-4256-9692-DCD8DB78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Permission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96F68-C3BB-4DED-95D7-ECDF354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2051B-E1AF-430E-898E-7AD8AE18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102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Role policy and denied action sample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1A877-4D58-4232-9617-E847AC34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560EB-6C0E-41ED-BBE0-796233AF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Action logging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20EF6-3D28-438F-BEA8-7B0C6C76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578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0A5E1-2E64-429A-8BD5-7A9BB98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531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Audit event linked to scan_job_id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80F85-F412-48FA-9CB6-FAF0E9E9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ACEB1-179E-48A1-ACC5-E2EE159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Data minimization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82B7F3-8BFE-451A-AE91-F803B40B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00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D44CA1-951A-4053-865F-EA87AC39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960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Redacted prompt and artifact hash</a:t>
            </a:r>
          </a:p>
        </p:txBody>
      </p:sp>
    </p:spTree>
    <p:extLst>
      <p:ext uri="{BB962C8B-B14F-4D97-AF65-F5344CB8AC3E}">
        <p14:creationId xmlns:p14="http://schemas.microsoft.com/office/powerpoint/2010/main" val="7051009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68C26-5258-412D-A05B-1457A95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5971F-3D1E-4969-ACF7-3E73C5A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62F19-5811-49A8-863F-4009AF56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4B1F2-87E8-4023-A8E1-0B0DA7C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398ED-C78F-4CDA-A387-26B69D0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0C611-BA55-41C2-82A9-7DD4542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19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6FE0B-D30A-412B-887E-23EA3934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MODULE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7401-031A-4301-A26B-77E2E53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Defenses that actually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17245-0014-4E2E-A1EB-757A72DF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Every finding should map to prevention, detection, evidence, and owner.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DC709-38CC-4C16-82BA-2A9703B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1714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B4E27-2D56-4F40-A9C8-BC1E96A9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Prevent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90E5C-823F-4415-A939-4F16A4C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Least privilege, private endpoints, policy-as-code, protected branches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E9E7A-534B-46B3-BD6B-85FA098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57425"/>
            <a:ext cx="1714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D8CA9-B064-4395-8283-4C5C710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431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AB2F6-03A1-4F63-958E-72FD66EC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67050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Cloud logs, scanner cadence, drift checks, anomaly alerts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D8271-0DE8-416E-9372-3086600C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85975"/>
            <a:ext cx="1714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62D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85027-04D8-4776-ADFA-CF49548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172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B84B"/>
                </a:solidFill>
                <a:latin typeface="Aptos Display"/>
                <a:ea typeface="Aptos Display"/>
                <a:cs typeface="Aptos Display"/>
              </a:rPr>
              <a:t>Respond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94929-5C4C-444C-953B-3D845413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Owner, severity, due date, ticket, rollback or rotation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DB3C1-8616-479E-96E4-D94A23F8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14525"/>
            <a:ext cx="17145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2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B9D87-9A72-4074-9EFA-0611FD2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02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79D22-4CAF-4B3C-9B5F-46BD71E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133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Evidence artifact, scan result, control mapping, remediation proof</a:t>
            </a:r>
          </a:p>
        </p:txBody>
      </p:sp>
    </p:spTree>
    <p:extLst>
      <p:ext uri="{BB962C8B-B14F-4D97-AF65-F5344CB8AC3E}">
        <p14:creationId xmlns:p14="http://schemas.microsoft.com/office/powerpoint/2010/main" val="21364969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D7A5E-C02E-4EB1-BA4C-94DE542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A674B-3ED1-416A-A6DC-7AF96BE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A9ED-13A0-41E1-A67E-5C758DDD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F23C8-24A0-4EF3-B6BB-6224436F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D28D-21B1-47C6-954A-E7E8A045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075E7-EFDC-4B8C-8319-6B13C156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20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A40D8-D4FF-4ACF-95C4-CD0F9B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CLOUDGUARD 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6D746-F9A7-4CD3-B9BC-BA34798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 connector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C1FBB-8445-4298-AB43-779E8B7A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This is the project architecture your boss asked for: portal decoupled from scan jobs, with connectors feeding normalized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E6FB3-80ED-4622-B343-FEB285F7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0367C-1BFC-4A71-9FFA-A04F76A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AC291-6179-4D4C-9364-947D62BE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A243E-0A9D-4EBA-B113-C57C44D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104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1. Scan job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D5771-36F4-4BF3-88FB-0AEF672C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Worker runs independently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BB35E-DF2F-4554-899B-ED041C5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67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1513-0762-4940-B8E4-93392A0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48401-E424-4F06-A2BA-BE2000FB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AFC66-40C9-4606-B18D-48C2DB1F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5E8F8-453B-4A18-B823-B3B84E22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104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2. Connector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3B628-1CFF-4D83-BD24-5CEF678B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Normalizes evidence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6A46C-BFA0-49EB-B8EB-26B9E4A8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67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99550-5781-4114-B0D5-ECDDDB5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670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DC24F-BFBF-40E2-86A8-82F0EDE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F9CB5-7172-4807-800E-219954F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6AA11-A487-40F6-8581-5DC581B3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104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3. Gateway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F2CA6-29A8-466F-AB7D-24F9CC8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Validates tenant_id and payload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A199C-F7B2-4D15-9D0F-2A0D1AF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40952-4751-4568-AA1F-9DEEC75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670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BD8EC-3CF9-410D-9F6D-64888138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2427C-C08C-432E-8280-A1E6D07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0DEDBA-6343-4CD5-908D-1CD357D2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9875"/>
            <a:ext cx="104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4. Processor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FE8E1-85BA-413E-A71B-E132BF4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Stores artifact and maps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E7808-E30A-4A7B-AB95-4A67D5D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48"/>
          </a:solidFill>
          <a:ln xmlns:a="http://schemas.openxmlformats.org/drawingml/2006/main" w="0">
            <a:solidFill>
              <a:srgbClr val="3153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6678C-CA8C-46EB-B097-6FCABC0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695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8CB6BA-154C-4114-9641-3F4328C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28E8E-1F61-4C19-AB57-0AF5CD2C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B3F8B7-4454-4C78-80B8-B4190F11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9875"/>
            <a:ext cx="1047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5.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5F0A2A-7A82-4BF2-A82A-D4C831CE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Shows risk, owner, remediation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9340A7-74E8-47AD-9D34-0AAEA75B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8667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DF2A6-331A-48F5-911F-75C90FF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866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3CA266-20CA-4B40-B075-4E2BDD91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832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Contract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503727-A5B0-450D-86F0-BE6936F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832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Every scanner must send tenant_id, scanner_type, scan_job_id, asset_id, finding_id, severity, control_ids, evidence_type, evidence_uri, observed_at, status, and remediation.</a:t>
            </a:r>
          </a:p>
        </p:txBody>
      </p:sp>
    </p:spTree>
    <p:extLst>
      <p:ext uri="{BB962C8B-B14F-4D97-AF65-F5344CB8AC3E}">
        <p14:creationId xmlns:p14="http://schemas.microsoft.com/office/powerpoint/2010/main" val="14642914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4AFDDD-EA65-451B-8D8A-19F1039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D4EB2-EF4F-4680-9D2D-2E2E54A4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124D8-C65A-440F-9371-265B6F2C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97DB7-3FA1-4494-AE5D-328CDCD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E8967-23A2-439A-B57B-421D883A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BC403-C77C-44C0-A329-C21FA7B4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21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3FCCE-44C8-4076-9E17-98106CA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CAPSTONE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4A0CA-A0EB-43B6-A0CE-9781C26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End-to-end investigation and briefing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BC9E4-DD71-4BD2-AB55-79065D83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Teams must find the most important path, prove it, and explain how to fix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C887F-E0DA-4650-B079-DA56321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C016C-AB4D-4EF7-9265-E5A4B944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DA4C2-E00B-4B3D-ACDD-BE15C9F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F1EF2-DB1D-4938-A432-82A021D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DA4FB-D661-4A5F-88D0-B3E386EA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82E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29BC2-442A-4061-9CC5-DF21360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What good looks like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DA9C3-9D80-40C4-8C74-B7841C9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0109C-17AE-4BA8-8D49-1DDFE46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Attack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0E28B-F23A-437A-B9E0-01C7C1D9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0521E-3161-4700-B160-74E3AFC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8CCDA-B457-498B-9875-CD2A569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CF03A-BEEB-43E4-97B8-7A31AD8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Correct chain from exposure to impact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EFB88-5ECE-408F-AD10-5937157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29737-A77A-4332-8048-0A807233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553AF-38AD-40E2-8EC8-C799AFA3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66C82-E7C6-4910-9CC9-344A682A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C2C9A-4319-413B-81EE-FC4D4CA9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7FBBB-49DF-40E1-82BE-CFCD0FB5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Clean artifacts with tenant_id and lineage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8C4C3-BB9D-4FF7-A1A8-3B751E0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47F78-897F-4116-8C9C-C9676CCE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Scanner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DAD6D-7847-4703-A4BD-5456FC9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E651F-3AE9-4B13-BAD8-279C8777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6920C-C806-450F-A5B1-805BE92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5D302-34CB-48D1-A3AE-9B672AD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671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Manual proof matches scanner findings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8489BF-845D-4A02-A20A-F6C956F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758AC-6CA9-4CCE-BCD3-3B91DF1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Control mapping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958463-195B-45AF-A5B8-B868DBB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E323D-D2B2-43D9-8E86-0A4D960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241E0C-3AF3-4AC3-813A-BEB355DF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3B5D01-36E6-4E45-96DB-57224FF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Findings linked to controls and owners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B5945-6C64-485B-9318-B32C8D81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65E3E9-5BAC-48E2-82BF-63A4906A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Remediation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7DC13-8F4B-41B5-8125-FF7DF63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D2788C-67B5-4EE7-A63D-D260C035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0A5A3-F5C8-411D-9212-0B0C7F9F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022438-A665-4E10-84B1-EF1960E4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815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Practical fix with proof requirement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0433C6-C753-4BB4-9719-8C55C1AE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E7FFAB-8A45-4580-9064-E44A4E56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Briefing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26312F-F0D4-4EAD-ADC4-9524F62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6D1DE1-61CB-40C9-B923-D6C02F29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0D19D1-4AC1-4D7D-BE97-9231A51C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18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D7C249-61B7-4B24-8324-69B83B79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387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Leadership-ready risk story</a:t>
            </a:r>
          </a:p>
        </p:txBody>
      </p:sp>
    </p:spTree>
    <p:extLst>
      <p:ext uri="{BB962C8B-B14F-4D97-AF65-F5344CB8AC3E}">
        <p14:creationId xmlns:p14="http://schemas.microsoft.com/office/powerpoint/2010/main" val="6113735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6DBBD-B60E-449C-9FC3-26DC59F5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DDF6F-0FC0-4714-90FF-AF093519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757C9-587C-4945-B313-E4BA720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2D884-E6C6-4F99-BD52-0DD161D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4135F-95C8-49FC-88FF-200C4A0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DCC1D-2214-4C27-BFA4-764BAFC5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22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03FA2-4622-440A-89DE-106B07F1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INSTRUCTOR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E4707-67DF-4D4C-8564-94CB7F6F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What must exist before workshop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D665E-C8CA-4F37-AAA2-929E0A95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quality of the lab depends on predictable setup, reset, budgets, and evidence fixtures.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D0B5F-CBB3-4104-893F-CB2B896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88C93-A8CF-4D06-99B0-3FBD9016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Disposable cloud accounts/projects with budgets and region restrictions.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61D5E-0ECC-4848-AF1D-7809C41C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B3170-8359-43CE-9F4A-ABB6216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Terraform and Kubernetes lab modules with reset and teardown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14943-0D7D-413A-A76A-18679B32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52442-4A39-4D6D-9BA4-FD980758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Scanner worker compose files and sample credentials by tenant.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5CE34-FE2A-4DA9-9FC0-2B9C976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D140F-B736-468D-A7D8-94573E72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Evidence schema examples and negative test cases.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849FC-72EE-44CA-9F57-836E11ED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F0607-F9DF-4983-BCAB-109E62F8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Capstone flags, scoring sheet, solution guide, and cleanup checklist.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6C786-03CA-4294-B470-B14E4AA0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2E1A2-5C26-4A4A-A215-28C6236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882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Known-good dashboard tenant with sample data for demo fallback.</a:t>
            </a:r>
          </a:p>
        </p:txBody>
      </p:sp>
    </p:spTree>
    <p:extLst>
      <p:ext uri="{BB962C8B-B14F-4D97-AF65-F5344CB8AC3E}">
        <p14:creationId xmlns:p14="http://schemas.microsoft.com/office/powerpoint/2010/main" val="78686021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FEBD9-0446-4F88-8EA1-3F44169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38864-45AB-433D-A390-74A0B12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1233D-A2AC-41C9-AFB1-6ED576DF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C9E26-751B-4EDA-AC0C-8E520B0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8AC1A-6EC0-4A2E-9265-1A948BF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B6BB9-D14B-4EAB-9E10-EB4D36B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23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D7A84-CBE8-4E7F-BF26-AF3478C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STUDENT PACK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3318-1B0F-42E2-9DDD-A9E0B025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What every participant receives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FA83D-38F7-4A30-9C99-A75A1240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handout makes the workshop reusable after the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EC7A-BC4F-4E95-AE89-77189A3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BFC31-CE80-4546-BF8D-2442587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CFA4-F8BD-4B42-82CE-DDB50605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Lab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3E0B8-DA72-406F-9425-098410C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Step-by-step authorized exercises with expected evidence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C7BAA-B76E-465D-9F71-1B1ED915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7D6C7-9AF7-42E4-80B7-3406B29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715FC-44F9-4343-823B-66039FE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Cheat sheets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3CF40-5CB3-458D-A22F-387E065A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CLI, kubectl, Terraform, evidence schema, severity guide.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A2023-8D10-4252-879E-5B0C4A75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88B33-F337-40FB-AAE9-B0A9C17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EC25B-C979-47C4-B9A6-4496900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Hardening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AD818-9BB6-46D1-AAC5-39EF4DA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Provider-specific controls mapped to scanner findings.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5043-9AF7-4F00-9C71-AD0335AB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53270-5AC2-451D-A923-5615BF0F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C8C2B-F76B-46F9-8163-5669D2A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Connector 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835E9-6A8D-4505-93B6-B8C276A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AWS, GCP, Kubernetes, IaC, CI/CD payload templates.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BA6B58-EBE1-4D85-AA48-5219E667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FB825-89C9-45BB-A017-CFD54D5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521D6-1376-403C-91D8-3C75D15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Cleanup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D3E99-4E5D-4635-93D3-F1B0E1B2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Credential rotation, resource teardown, cost check, audit log export.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AD90B-BE14-4BA4-BEB7-FE45C9A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4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99EB60-83CD-45F1-9B10-7F93451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0AD37B-8F1B-41FF-97CA-FCB5A02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Backlog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FFD91C-DEBF-454C-AC3A-8862D79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400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Scanner improvements and dashboard work items after the workshop.</a:t>
            </a:r>
          </a:p>
        </p:txBody>
      </p:sp>
    </p:spTree>
    <p:extLst>
      <p:ext uri="{BB962C8B-B14F-4D97-AF65-F5344CB8AC3E}">
        <p14:creationId xmlns:p14="http://schemas.microsoft.com/office/powerpoint/2010/main" val="8770563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6842D-BE8A-449B-9005-81C346D9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0711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34240-5F54-4030-A079-46F8DF8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E5E32-3A82-43A5-AC81-62583741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9E20D-E9A7-4CC4-9DB2-810CDE8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2F"/>
          </a:solidFill>
          <a:ln xmlns:a="http://schemas.openxmlformats.org/drawingml/2006/main" w="0">
            <a:solidFill>
              <a:srgbClr val="203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61658-1622-4564-86C8-D2B122D3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Cloud Attack Paths and Evidence-Driven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2F8C1-3CF5-4B79-8707-240FDD9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43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24 / 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5A625-3AE9-4B04-9ED1-7E41EBB4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D39F"/>
                </a:solidFill>
                <a:latin typeface="Aptos Display"/>
                <a:ea typeface="Aptos Display"/>
                <a:cs typeface="Aptos Display"/>
              </a:rPr>
              <a:t>ROLLOUT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915A3-9BF0-4D34-8ACB-8A8BF8B8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How to make this workshop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1EBE9-4AA0-4665-8DB6-8747645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Start small, validate the labs, then expand providers and capstone depth.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AE887-EDC8-4057-80DD-3A02C60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30236-6362-44AD-B89F-2B5B9E9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9525">
            <a:solidFill>
              <a:srgbClr val="38D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5738B-EC1E-4C66-9D50-909519D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194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EF119-50ED-4B3A-A3E2-0405FDC8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Week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F0550-5C11-4D89-B0F7-D8FBDAF6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Finalize syllabus, evidence schema, and lab account boundaries.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598B1-9399-4D17-A55C-FA6303BD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1937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F5B5E-8B75-47B3-8493-F97F3AC9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71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C4AA9-4AAD-4E5B-A8AF-7E38E0D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7EC04-7124-4105-ACE8-57BB6BFF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Week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C6A5A-A59E-4098-B134-726CEA6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1942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Build vulnerable AWS, GCP, Kubernetes, and IaC fixtures.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B1542-BF89-48CC-B19F-DEFE8364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1937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2D21C-6160-448F-99EF-B42F3479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743EF-CA4B-4374-9A29-CF7158B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BDBBC-854F-4D93-9E63-9CC8CFF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Week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4FD0E-18E4-4E23-A530-88409E3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Run internal dry run with scanner workers and dashboard ingestion.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B69DA-622B-4986-BF41-A4F9E31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19375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92E91-C508-4D93-A2EE-66F124B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71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0490A-F74A-40B4-A03E-BCD2E8D8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51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7831E-74C1-46FF-ACAF-FB81C35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1447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Week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6DB91-0924-4EC0-B562-9558608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1942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Deliver workshop, collect feedback, create scanner backlog.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E01B29-1219-4BAF-8DCC-3A03151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1B"/>
          </a:solidFill>
          <a:ln xmlns:a="http://schemas.openxmlformats.org/drawingml/2006/main" w="9525">
            <a:solidFill>
              <a:srgbClr val="3153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BC843-8D3A-41BA-A942-51F73B6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819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39F"/>
          </a:solidFill>
          <a:ln xmlns:a="http://schemas.openxmlformats.org/drawingml/2006/main" w="0">
            <a:solidFill>
              <a:srgbClr val="38D3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36AE5-1B33-47BD-AC27-FC3D782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962525"/>
            <a:ext cx="784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Final message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B8131B-F217-4CAA-8EB4-85186EDE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10175"/>
            <a:ext cx="784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DB5A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DB5AE"/>
                </a:solidFill>
                <a:latin typeface="Aptos"/>
                <a:ea typeface="Aptos"/>
                <a:cs typeface="Aptos"/>
              </a:rPr>
              <a:t>The workshop should prove the architecture as much as it teaches cloud security: decoupled scanners, tenant-safe evidence, and a dashboard that turns technical findings into accountable remediation.</a:t>
            </a:r>
          </a:p>
        </p:txBody>
      </p:sp>
    </p:spTree>
    <p:extLst>
      <p:ext uri="{BB962C8B-B14F-4D97-AF65-F5344CB8AC3E}">
        <p14:creationId xmlns:p14="http://schemas.microsoft.com/office/powerpoint/2010/main" val="1050847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2026-06-11T13:13:27.9010000Z</dcterms:created>
  <dcterms:modified xsi:type="dcterms:W3CDTF">2026-06-11T13:13:27.9010000Z</dcterms:modified>
</coreProperties>
</file>