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2b753368114c17" /><Relationship Type="http://schemas.openxmlformats.org/officeDocument/2006/relationships/extended-properties" Target="/docProps/app.xml" Id="R0457f8f5756a4068" /><Relationship Type="http://schemas.openxmlformats.org/officeDocument/2006/relationships/officeDocument" Target="/ppt/presentation.xml" Id="R276765fcdc5c47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7e04ed6bd24b10"/>
  </p:sldMasterIdLst>
  <p:notesMasterIdLst>
    <p:notesMasterId xmlns:r="http://schemas.openxmlformats.org/officeDocument/2006/relationships" r:id="R475186c1144542d1"/>
  </p:notesMasterIdLst>
  <p:sldIdLst>
    <p:sldId xmlns:r="http://schemas.openxmlformats.org/officeDocument/2006/relationships" id="256" r:id="Raf743911c3f94b30"/>
    <p:sldId xmlns:r="http://schemas.openxmlformats.org/officeDocument/2006/relationships" id="257" r:id="R77de1019b12e45f2"/>
    <p:sldId xmlns:r="http://schemas.openxmlformats.org/officeDocument/2006/relationships" id="258" r:id="R67bbae7067e249c7"/>
    <p:sldId xmlns:r="http://schemas.openxmlformats.org/officeDocument/2006/relationships" id="259" r:id="R88900b3faf0b4c14"/>
    <p:sldId xmlns:r="http://schemas.openxmlformats.org/officeDocument/2006/relationships" id="260" r:id="R2893a7cf417a4a48"/>
    <p:sldId xmlns:r="http://schemas.openxmlformats.org/officeDocument/2006/relationships" id="261" r:id="R3e6f5cd71ef943d8"/>
    <p:sldId xmlns:r="http://schemas.openxmlformats.org/officeDocument/2006/relationships" id="262" r:id="R5894df4fec834b66"/>
    <p:sldId xmlns:r="http://schemas.openxmlformats.org/officeDocument/2006/relationships" id="263" r:id="R48a88cc282e1452e"/>
    <p:sldId xmlns:r="http://schemas.openxmlformats.org/officeDocument/2006/relationships" id="264" r:id="Rc4ca987634344dd2"/>
    <p:sldId xmlns:r="http://schemas.openxmlformats.org/officeDocument/2006/relationships" id="265" r:id="Rba5be6d918a24f15"/>
    <p:sldId xmlns:r="http://schemas.openxmlformats.org/officeDocument/2006/relationships" id="266" r:id="R512d5de12e3246fc"/>
    <p:sldId xmlns:r="http://schemas.openxmlformats.org/officeDocument/2006/relationships" id="267" r:id="R27ac77a4c40949b8"/>
    <p:sldId xmlns:r="http://schemas.openxmlformats.org/officeDocument/2006/relationships" id="268" r:id="Rd2d80086fd4a489e"/>
    <p:sldId xmlns:r="http://schemas.openxmlformats.org/officeDocument/2006/relationships" id="269" r:id="R463c935f7ee54a21"/>
    <p:sldId xmlns:r="http://schemas.openxmlformats.org/officeDocument/2006/relationships" id="270" r:id="R47c39fe941fd49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523d1f55a74355" /><Relationship Type="http://schemas.openxmlformats.org/officeDocument/2006/relationships/slideMaster" Target="/ppt/slideMasters/slideMaster1.xml" Id="Rc87e04ed6bd24b10" /><Relationship Type="http://schemas.openxmlformats.org/officeDocument/2006/relationships/notesMaster" Target="/ppt/notesMasters/notesMaster1.xml" Id="R475186c1144542d1" /><Relationship Type="http://schemas.openxmlformats.org/officeDocument/2006/relationships/presProps" Target="/ppt/presProps.xml" Id="Rfe6c81c259d7477d" /><Relationship Type="http://schemas.openxmlformats.org/officeDocument/2006/relationships/tableStyles" Target="/ppt/tableStyles.xml" Id="Rdc42e57a63a84026" /><Relationship Type="http://schemas.openxmlformats.org/officeDocument/2006/relationships/slide" Target="/ppt/slides/slide1.xml" Id="Raf743911c3f94b30" /><Relationship Type="http://schemas.openxmlformats.org/officeDocument/2006/relationships/slide" Target="/ppt/slides/slide2.xml" Id="R77de1019b12e45f2" /><Relationship Type="http://schemas.openxmlformats.org/officeDocument/2006/relationships/slide" Target="/ppt/slides/slide3.xml" Id="R67bbae7067e249c7" /><Relationship Type="http://schemas.openxmlformats.org/officeDocument/2006/relationships/slide" Target="/ppt/slides/slide4.xml" Id="R88900b3faf0b4c14" /><Relationship Type="http://schemas.openxmlformats.org/officeDocument/2006/relationships/slide" Target="/ppt/slides/slide5.xml" Id="R2893a7cf417a4a48" /><Relationship Type="http://schemas.openxmlformats.org/officeDocument/2006/relationships/slide" Target="/ppt/slides/slide6.xml" Id="R3e6f5cd71ef943d8" /><Relationship Type="http://schemas.openxmlformats.org/officeDocument/2006/relationships/slide" Target="/ppt/slides/slide7.xml" Id="R5894df4fec834b66" /><Relationship Type="http://schemas.openxmlformats.org/officeDocument/2006/relationships/slide" Target="/ppt/slides/slide8.xml" Id="R48a88cc282e1452e" /><Relationship Type="http://schemas.openxmlformats.org/officeDocument/2006/relationships/slide" Target="/ppt/slides/slide9.xml" Id="Rc4ca987634344dd2" /><Relationship Type="http://schemas.openxmlformats.org/officeDocument/2006/relationships/slide" Target="/ppt/slides/slide10.xml" Id="Rba5be6d918a24f15" /><Relationship Type="http://schemas.openxmlformats.org/officeDocument/2006/relationships/slide" Target="/ppt/slides/slide11.xml" Id="R512d5de12e3246fc" /><Relationship Type="http://schemas.openxmlformats.org/officeDocument/2006/relationships/slide" Target="/ppt/slides/slide12.xml" Id="R27ac77a4c40949b8" /><Relationship Type="http://schemas.openxmlformats.org/officeDocument/2006/relationships/slide" Target="/ppt/slides/slide13.xml" Id="Rd2d80086fd4a489e" /><Relationship Type="http://schemas.openxmlformats.org/officeDocument/2006/relationships/slide" Target="/ppt/slides/slide14.xml" Id="R463c935f7ee54a21" /><Relationship Type="http://schemas.openxmlformats.org/officeDocument/2006/relationships/slide" Target="/ppt/slides/slide15.xml" Id="R47c39fe941fd49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3d0d4584e747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d20d1200e14e0d" /><Relationship Type="http://schemas.openxmlformats.org/officeDocument/2006/relationships/notesMaster" Target="/ppt/notesMasters/notesMaster1.xml" Id="R90caac9a2d41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2dd18001b944fd" /><Relationship Type="http://schemas.openxmlformats.org/officeDocument/2006/relationships/notesMaster" Target="/ppt/notesMasters/notesMaster1.xml" Id="Re869de24e0794b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04617ea0d74e19" /><Relationship Type="http://schemas.openxmlformats.org/officeDocument/2006/relationships/notesMaster" Target="/ppt/notesMasters/notesMaster1.xml" Id="R6297057afb3d47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d18f5a9557468f" /><Relationship Type="http://schemas.openxmlformats.org/officeDocument/2006/relationships/notesMaster" Target="/ppt/notesMasters/notesMaster1.xml" Id="R6c28e778834249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c0a44bbf294987" /><Relationship Type="http://schemas.openxmlformats.org/officeDocument/2006/relationships/notesMaster" Target="/ppt/notesMasters/notesMaster1.xml" Id="R4ed225139e0947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b62aef099e4504" /><Relationship Type="http://schemas.openxmlformats.org/officeDocument/2006/relationships/notesMaster" Target="/ppt/notesMasters/notesMaster1.xml" Id="R1252498da90e49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694b1b12044208" /><Relationship Type="http://schemas.openxmlformats.org/officeDocument/2006/relationships/notesMaster" Target="/ppt/notesMasters/notesMaster1.xml" Id="Rc58facb0c57449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94024aa2934fd4" /><Relationship Type="http://schemas.openxmlformats.org/officeDocument/2006/relationships/notesMaster" Target="/ppt/notesMasters/notesMaster1.xml" Id="R4a113dfd4be443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660c2992184da3" /><Relationship Type="http://schemas.openxmlformats.org/officeDocument/2006/relationships/notesMaster" Target="/ppt/notesMasters/notesMaster1.xml" Id="R978eeda85ae54e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15f7a4ced44f1f" /><Relationship Type="http://schemas.openxmlformats.org/officeDocument/2006/relationships/notesMaster" Target="/ppt/notesMasters/notesMaster1.xml" Id="R74e8afc0dcf547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677ea7d79d47e4" /><Relationship Type="http://schemas.openxmlformats.org/officeDocument/2006/relationships/notesMaster" Target="/ppt/notesMasters/notesMaster1.xml" Id="R7d04e6370fe947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3aad9574324d90" /><Relationship Type="http://schemas.openxmlformats.org/officeDocument/2006/relationships/notesMaster" Target="/ppt/notesMasters/notesMaster1.xml" Id="Ref3a7b7a1ccf40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57bf3ce00646b0" /><Relationship Type="http://schemas.openxmlformats.org/officeDocument/2006/relationships/notesMaster" Target="/ppt/notesMasters/notesMaster1.xml" Id="Rde92e7cf042b41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ebf5fb38da432e" /><Relationship Type="http://schemas.openxmlformats.org/officeDocument/2006/relationships/notesMaster" Target="/ppt/notesMasters/notesMaster1.xml" Id="Rf6a8c1d787c14f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956baf5a1a47e4" /><Relationship Type="http://schemas.openxmlformats.org/officeDocument/2006/relationships/notesMaster" Target="/ppt/notesMasters/notesMaster1.xml" Id="Rb36c9d359c8340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fc9f8ec1741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f538c6d77c47da" /><Relationship Type="http://schemas.openxmlformats.org/officeDocument/2006/relationships/slideLayout" Target="/ppt/slideLayouts/slideLayout1.xml" Id="R22a55413a13140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a55413a13140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65646ef8b472c" /><Relationship Type="http://schemas.openxmlformats.org/officeDocument/2006/relationships/image" Target="/ppt/media/image.png" Id="R9cb15967f9c34c42" /><Relationship Type="http://schemas.openxmlformats.org/officeDocument/2006/relationships/notesSlide" Target="/ppt/notesSlides/notesSlide1.xml" Id="R6636375c3ee849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cd5dab26841ec" /><Relationship Type="http://schemas.openxmlformats.org/officeDocument/2006/relationships/image" Target="/ppt/media/image2.png" Id="R2bf9f2fd048d4475" /><Relationship Type="http://schemas.openxmlformats.org/officeDocument/2006/relationships/notesSlide" Target="/ppt/notesSlides/notesSlide2.xml" Id="R5f72b4f15eed40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0bf556a604d1c" /><Relationship Type="http://schemas.openxmlformats.org/officeDocument/2006/relationships/image" Target="/ppt/media/image3.png" Id="R6f6a9f2541e84da4" /><Relationship Type="http://schemas.openxmlformats.org/officeDocument/2006/relationships/notesSlide" Target="/ppt/notesSlides/notesSlide3.xml" Id="R4b72f123996346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7c7845c8347a0" /><Relationship Type="http://schemas.openxmlformats.org/officeDocument/2006/relationships/image" Target="/ppt/media/image4.png" Id="Rd993c194082a471b" /><Relationship Type="http://schemas.openxmlformats.org/officeDocument/2006/relationships/notesSlide" Target="/ppt/notesSlides/notesSlide4.xml" Id="R006cd725478742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39a76ad474bd8" /><Relationship Type="http://schemas.openxmlformats.org/officeDocument/2006/relationships/image" Target="/ppt/media/image5.png" Id="R1e00ea1ba41c41de" /><Relationship Type="http://schemas.openxmlformats.org/officeDocument/2006/relationships/notesSlide" Target="/ppt/notesSlides/notesSlide5.xml" Id="Rd45a94c0b6b54c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3e5ede7464c07" /><Relationship Type="http://schemas.openxmlformats.org/officeDocument/2006/relationships/image" Target="/ppt/media/image6.png" Id="R89c7588b36d141bf" /><Relationship Type="http://schemas.openxmlformats.org/officeDocument/2006/relationships/notesSlide" Target="/ppt/notesSlides/notesSlide6.xml" Id="R618e103bae3e43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22626c20f49d2" /><Relationship Type="http://schemas.openxmlformats.org/officeDocument/2006/relationships/image" Target="/ppt/media/image7.png" Id="R0a2bdcd4ead543b9" /><Relationship Type="http://schemas.openxmlformats.org/officeDocument/2006/relationships/notesSlide" Target="/ppt/notesSlides/notesSlide7.xml" Id="R7ee947324ac143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dae64dc124c9a" /><Relationship Type="http://schemas.openxmlformats.org/officeDocument/2006/relationships/image" Target="/ppt/media/image8.png" Id="R3e07cb034c61497d" /><Relationship Type="http://schemas.openxmlformats.org/officeDocument/2006/relationships/notesSlide" Target="/ppt/notesSlides/notesSlide8.xml" Id="R7f82e8e6382e49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749524e674b0d" /><Relationship Type="http://schemas.openxmlformats.org/officeDocument/2006/relationships/image" Target="/ppt/media/image9.png" Id="R3e8824d2da7244bc" /><Relationship Type="http://schemas.openxmlformats.org/officeDocument/2006/relationships/notesSlide" Target="/ppt/notesSlides/notesSlide9.xml" Id="R00a2f04236ff49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1f60dfeff4499" /><Relationship Type="http://schemas.openxmlformats.org/officeDocument/2006/relationships/image" Target="/ppt/media/image10.png" Id="Raabfa724fea44fa2" /><Relationship Type="http://schemas.openxmlformats.org/officeDocument/2006/relationships/notesSlide" Target="/ppt/notesSlides/notesSlide10.xml" Id="R90414610a7b544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0676acbfb4194" /><Relationship Type="http://schemas.openxmlformats.org/officeDocument/2006/relationships/image" Target="/ppt/media/image11.png" Id="R8e191e264d2d473e" /><Relationship Type="http://schemas.openxmlformats.org/officeDocument/2006/relationships/notesSlide" Target="/ppt/notesSlides/notesSlide11.xml" Id="R822c2b360b804d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40f5346844420" /><Relationship Type="http://schemas.openxmlformats.org/officeDocument/2006/relationships/image" Target="/ppt/media/image12.png" Id="Ra541442ec7e049c9" /><Relationship Type="http://schemas.openxmlformats.org/officeDocument/2006/relationships/notesSlide" Target="/ppt/notesSlides/notesSlide12.xml" Id="R6ef35d3bbae94b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dd8fe9b0a4d79" /><Relationship Type="http://schemas.openxmlformats.org/officeDocument/2006/relationships/image" Target="/ppt/media/image13.png" Id="R920d0d3f13384d87" /><Relationship Type="http://schemas.openxmlformats.org/officeDocument/2006/relationships/notesSlide" Target="/ppt/notesSlides/notesSlide13.xml" Id="R4c280fee050b49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6e6072919443f" /><Relationship Type="http://schemas.openxmlformats.org/officeDocument/2006/relationships/image" Target="/ppt/media/image14.png" Id="R4dcf071acdf9425c" /><Relationship Type="http://schemas.openxmlformats.org/officeDocument/2006/relationships/notesSlide" Target="/ppt/notesSlides/notesSlide14.xml" Id="R1f103e248fd24c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c4b515b884a00" /><Relationship Type="http://schemas.openxmlformats.org/officeDocument/2006/relationships/image" Target="/ppt/media/image15.png" Id="R902e9e7a39af4b9f" /><Relationship Type="http://schemas.openxmlformats.org/officeDocument/2006/relationships/notesSlide" Target="/ppt/notesSlides/notesSlide15.xml" Id="R9623e558885b4d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A0E638-B9F7-4954-A5C7-F43761E0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15967f9c34c42"/>
          <a:stretch xmlns:a="http://schemas.openxmlformats.org/drawingml/2006/main"/>
        </p:blipFill>
        <p:spPr>
          <a:xfrm xmlns:a="http://schemas.openxmlformats.org/drawingml/2006/main">
            <a:off x="685800" y="21336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B14C2-75D2-4D02-8A18-D93A5746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3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4FBD7-7957-481E-88D0-C69B8EDF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Cloud Security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1CF71-3E7A-466A-AAA2-00296A9D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EFFF"/>
                </a:solidFill>
              </a:defRPr>
            </a:pPr>
            <a:r>
              <a:rPr sz="1875" b="1">
                <a:solidFill>
                  <a:srgbClr val="8FEFFF"/>
                </a:solidFill>
              </a:rPr>
              <a:t>Module-wise syllabus and delivery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82204-076C-4730-BCB3-8AB4A9FB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3EB"/>
                </a:solidFill>
              </a:defRPr>
            </a:pPr>
            <a:r>
              <a:rPr sz="1575" b="0">
                <a:solidFill>
                  <a:srgbClr val="D7E3EB"/>
                </a:solidFill>
              </a:rPr>
              <a:t>2 days · cloud foundations · vulnerabilities · CloudGuard evidence and GRC</a:t>
            </a:r>
          </a:p>
        </p:txBody>
      </p:sp>
    </p:spTree>
    <p:extLst>
      <p:ext uri="{BB962C8B-B14F-4D97-AF65-F5344CB8AC3E}">
        <p14:creationId xmlns:p14="http://schemas.microsoft.com/office/powerpoint/2010/main" val="1187802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E95AC3-F53E-41DF-A03A-2624B81C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9f2fd048d4475"/>
          <a:stretch xmlns:a="http://schemas.openxmlformats.org/drawingml/2006/main"/>
        </p:blipFill>
        <p:spPr>
          <a:xfrm xmlns:a="http://schemas.openxmlformats.org/drawingml/2006/main">
            <a:off x="10668000" y="266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D9F8E-E41D-4888-82B0-D99D73A9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52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9F"/>
                </a:solidFill>
              </a:defRPr>
            </a:pPr>
            <a:r>
              <a:rPr sz="1050" b="1">
                <a:solidFill>
                  <a:srgbClr val="007F9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4ED42-D43E-4F09-BA58-6E34BB50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DeepTrustxAI | Cloud Security Module-Wise Syllabus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7C1DC-E630-413A-9EA1-547C80AF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E7E6E-47A1-447A-BBF4-1BBB8AA3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2A"/>
                </a:solidFill>
              </a:defRPr>
            </a:pPr>
            <a:r>
              <a:rPr sz="3150" b="1">
                <a:solidFill>
                  <a:srgbClr val="14202A"/>
                </a:solidFill>
              </a:rPr>
              <a:t>Two-Day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823C3-8E6E-4564-84FF-F3478BA4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0673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80EE7-61CD-4855-917B-E290113F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06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solidFill>
              <a:srgbClr val="00B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ECFFA-725D-476E-84FB-5C43ED58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F9F"/>
                </a:solidFill>
              </a:defRPr>
            </a:pPr>
            <a:r>
              <a:rPr sz="1500" b="1">
                <a:solidFill>
                  <a:srgbClr val="007F9F"/>
                </a:solidFill>
              </a:rPr>
              <a:t>Day 1: Cloud 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26997-9AB3-4236-8F38-6BE6DE70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Cloud models, shared responsibility, identity, network, compute, storage, data, IaC, logging and secure architecture.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D4C44-3539-4EF4-A97D-F6374BCB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50673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3196D-3C18-4709-B16C-A64EA0E9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506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0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E0DCF-ED32-4361-BC16-A4A70A0B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813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56D9"/>
                </a:solidFill>
              </a:defRPr>
            </a:pPr>
            <a:r>
              <a:rPr sz="1500" b="1">
                <a:solidFill>
                  <a:srgbClr val="6556D9"/>
                </a:solidFill>
              </a:rPr>
              <a:t>Day 2: Vulnerabilities and 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B869D-A36C-4455-9273-41321C82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8140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Vulnerability lifecycle, attack paths, provider equivalence, CloudGuard scanners, evidence connectors, GRC and capstone.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AE3DF-6F30-4240-B0F3-F18226A2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013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F9F"/>
                </a:solidFill>
              </a:defRPr>
            </a:pPr>
            <a:r>
              <a:rPr sz="1650" b="1">
                <a:solidFill>
                  <a:srgbClr val="007F9F"/>
                </a:solidFill>
              </a:rPr>
              <a:t>Foundation → Vulnerability → Attack path → Scan → Evidence → GRC → Remediation proof</a:t>
            </a:r>
          </a:p>
        </p:txBody>
      </p:sp>
    </p:spTree>
    <p:extLst>
      <p:ext uri="{BB962C8B-B14F-4D97-AF65-F5344CB8AC3E}">
        <p14:creationId xmlns:p14="http://schemas.microsoft.com/office/powerpoint/2010/main" val="1107521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AD826C-B138-4243-A74A-8394E5F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a9f2541e84da4"/>
          <a:stretch xmlns:a="http://schemas.openxmlformats.org/drawingml/2006/main"/>
        </p:blipFill>
        <p:spPr>
          <a:xfrm xmlns:a="http://schemas.openxmlformats.org/drawingml/2006/main">
            <a:off x="10668000" y="266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657DD-9C51-4F58-8CA8-C098CF63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52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9F"/>
                </a:solidFill>
              </a:defRPr>
            </a:pPr>
            <a:r>
              <a:rPr sz="1050" b="1">
                <a:solidFill>
                  <a:srgbClr val="007F9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E2685-A8EE-413F-8434-781D08C6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DeepTrustxAI | Cloud Security Module-Wise Syllabus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72555-F0DC-40D2-8AFB-B0445CE3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2EDAE-057B-4C65-83C2-D86097D6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2A"/>
                </a:solidFill>
              </a:defRPr>
            </a:pPr>
            <a:r>
              <a:rPr sz="3150" b="1">
                <a:solidFill>
                  <a:srgbClr val="14202A"/>
                </a:solidFill>
              </a:rPr>
              <a:t>Module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3363E-A11D-416F-87FB-43A1E3C4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35FD2-46D6-42A2-B2A8-3DE4D309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64BE7-FE35-422C-8A17-45423AC4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527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037CF-ADAE-4130-99F9-3C0D173A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289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C05C8-212E-422E-8C5A-648A75A0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527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D1A48-CB40-408A-8067-E398E0EC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28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Main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50FCE-1500-4528-BE28-7453375A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2A757-E440-4314-9EAE-4D133A4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M0 Orientation and lab setup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04514-0E71-42A9-B6D9-72D8878A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528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2C79E-8454-4124-A20E-954DA0DB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290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30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7C31D-0D8A-41F8-B0BD-DEA1EA97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528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3117E-EB12-4276-A72D-3B7D71FC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Confirm scope, tenant and evidence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E48D3-1644-465C-BA5E-DA994446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D6085-CBD4-4872-AA9F-71BF7491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M1 Cloud foundations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3386C-2D82-48BF-A97C-F4751878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528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A18F7-249A-4499-ABA0-42303A4C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29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75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A26F3A-115C-4AF3-9B79-941737E8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528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46D644-4E3E-405C-BA46-B76737DD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Explain models, planes and responsibility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65F07-02F8-457C-BA70-91222315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9EEFC9-9E1F-4C2E-8E7B-221F7B07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M2 Identity and access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421B30-592F-493F-B65A-F05E2C44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529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19213-A02F-47AB-9625-B941A0A1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29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75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5A70DD-ACD6-411C-8424-DD851DBC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529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444985-3DA0-4A1E-8FF9-31EC6F9F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29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Review identities, trust and least privilege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1AAEBC-A1F3-4A3E-91D9-9996CF21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B135C2-02EB-4E77-BD10-D306C435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M3 Network, compute, storage and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016BD9-838C-4A4D-9A1A-814EC9CC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1667A6-7554-4AE3-89C1-48934F8B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29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90 min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DE11C3-821C-4499-A19B-8007DDCB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529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8E5CB8-6BAC-43EA-A2F9-9C5085C3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291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Draw trust boundaries and exposure paths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E36E61-0A98-418F-BB34-9ED171DC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F59711-872E-4EF3-8D6B-7BA769AF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M4 Secure architecture, IaC and logging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1A75D5-C0CF-416A-BE41-C2B599F1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530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63DB17-AF3F-4517-837F-18875C27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29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90 min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AE9CB6-6B46-4675-995D-855A52D9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530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467044-D0C5-46FA-B237-7F606F8A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29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Connect landing zones, guardrails and evidence</a:t>
            </a:r>
          </a:p>
        </p:txBody>
      </p:sp>
    </p:spTree>
    <p:extLst>
      <p:ext uri="{BB962C8B-B14F-4D97-AF65-F5344CB8AC3E}">
        <p14:creationId xmlns:p14="http://schemas.microsoft.com/office/powerpoint/2010/main" val="1576391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5AABDC-3BF3-4858-AD90-82972AA7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3c194082a471b"/>
          <a:stretch xmlns:a="http://schemas.openxmlformats.org/drawingml/2006/main"/>
        </p:blipFill>
        <p:spPr>
          <a:xfrm xmlns:a="http://schemas.openxmlformats.org/drawingml/2006/main">
            <a:off x="10668000" y="266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7E391-3255-4ED3-A6D8-FC064A85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52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9F"/>
                </a:solidFill>
              </a:defRPr>
            </a:pPr>
            <a:r>
              <a:rPr sz="1050" b="1">
                <a:solidFill>
                  <a:srgbClr val="007F9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51CAF-9D77-4038-8779-42E7BF0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DeepTrustxAI | Cloud Security Module-Wise Syllabus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10CE9-6C0D-48DE-8D2B-C277B030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D6321-31ED-465C-B0F8-98DAC3C6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2A"/>
                </a:solidFill>
              </a:defRPr>
            </a:pPr>
            <a:r>
              <a:rPr sz="3150" b="1">
                <a:solidFill>
                  <a:srgbClr val="14202A"/>
                </a:solidFill>
              </a:rPr>
              <a:t>Module Map Continued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A8301-A8B3-492A-A1B2-EE34E7AD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CF007-F3C1-4342-AAE2-E6D3B12C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60F27-D104-4E0D-BEE6-95C2D446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527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B1709-E838-4304-A01C-68A4AC87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289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61B8D-A7A9-41F0-A669-625B7C31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527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87659-7434-4F55-8617-A3C3E7AC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28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Main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78B3D-CD6B-4A05-8B62-8CE44136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7624F-51F1-4FE9-B6FC-04CA8F77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M5 Vulnerability lifecycle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F7AE4-D8DF-4E6F-9E4B-9A37B0F5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528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2599E-B7AD-4403-9EC6-FFEC2344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290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60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653C8-A1C6-4ED0-A848-877C80C1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528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FBD5F-1561-4F44-A9EF-CBFE74C4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Explain how weaknesses enter and persist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680EF4-A98D-484D-BB5F-73F23CE4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96AAC-EAE7-4F8A-85B5-746C6575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M6 Attack paths and provider equivalence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11940-4ACF-4B41-93CC-A5BA3C83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528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1B053-8896-4864-BF18-D46A3EB2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29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75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C215B-38EB-4909-88ED-316646B4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528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47637-07F0-4CAB-9952-D3E163FB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Connect exposure, identity, privilege and impact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4852C-9F4B-4847-8FC9-A57D7E0E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C26497-D687-4694-8F93-7495837C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M7 CloudGuard scanners and jobs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43EE99-14AA-4E2A-BCC8-B0B226D9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529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3ED337-B3AE-42CE-BD50-0DA30327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29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90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23861F-9722-4CF8-AD77-1D15D0EB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529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1E45A0-1E0B-42B4-A0D8-88D94AF6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29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Run decoupled scanner workflows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441090-168C-4B93-B3F8-B3E888B1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C6F86-6638-4D7E-8DD1-5271E71C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M8 Evidence, GRC and reason-and-act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7502B3-0930-47F7-8560-7FE4F5B1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E57534-8094-467B-A216-68AB9FCD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29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75 min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835866-6C6D-4A89-B5C7-417889EC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529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233F7E-AAE8-4592-BD1F-BF36674F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291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Map evidence to controls, proof and approvals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19CD67-70B1-4854-AF9B-EF2CC9E4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9550E9-5F3D-4F4B-9AE7-8B9304DD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M9 Capstone and briefing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DBC2C6-A683-41FF-8391-8CEDB360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530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06B02A-B934-4C58-AF01-1A8CE14D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29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90 min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0304F8-1683-4829-9772-D24056B9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530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0EDECB-C0F6-44F9-BAB0-C386525A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29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Investigate, prioritize and present risk story</a:t>
            </a:r>
          </a:p>
        </p:txBody>
      </p:sp>
    </p:spTree>
    <p:extLst>
      <p:ext uri="{BB962C8B-B14F-4D97-AF65-F5344CB8AC3E}">
        <p14:creationId xmlns:p14="http://schemas.microsoft.com/office/powerpoint/2010/main" val="388656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4F087A-915E-4B7F-969E-87389AB2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0ea1ba41c41de"/>
          <a:stretch xmlns:a="http://schemas.openxmlformats.org/drawingml/2006/main"/>
        </p:blipFill>
        <p:spPr>
          <a:xfrm xmlns:a="http://schemas.openxmlformats.org/drawingml/2006/main">
            <a:off x="10668000" y="266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989AA-342E-4F7C-B31D-A5B20EAD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52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9F"/>
                </a:solidFill>
              </a:defRPr>
            </a:pPr>
            <a:r>
              <a:rPr sz="1050" b="1">
                <a:solidFill>
                  <a:srgbClr val="007F9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E360A-B8CF-4DC5-BB40-7D736E82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DeepTrustxAI | Cloud Security Module-Wise Syllabus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1B77A-6873-40A6-A3C0-003BAB83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3796C-8022-46E6-95F0-6E13827E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2A"/>
                </a:solidFill>
              </a:defRPr>
            </a:pPr>
            <a:r>
              <a:rPr sz="3150" b="1">
                <a:solidFill>
                  <a:srgbClr val="14202A"/>
                </a:solidFill>
              </a:rPr>
              <a:t>Day 1 Modules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8C2E0-C920-423E-AE24-7ACCFF91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06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955FD-A581-4F5F-A9E2-F3F7A030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06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solidFill>
              <a:srgbClr val="00B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11EA6-A897-4A1D-979D-6DA68941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F9F"/>
                </a:solidFill>
              </a:defRPr>
            </a:pPr>
            <a:r>
              <a:rPr sz="1500" b="1">
                <a:solidFill>
                  <a:srgbClr val="007F9F"/>
                </a:solidFill>
              </a:rPr>
              <a:t>M0 · Orientation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FF346-0430-4D3D-9431-AD6EF67D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Rules of engagement, assigned tenants, disposable labs, credential references and evidence quality.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06ABA-9A98-49A3-81C0-A773600F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506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AAA4A-150E-4CF6-AC15-CCBEC289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506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0">
            <a:solidFill>
              <a:srgbClr val="655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2065A-E5F8-4C60-8B56-73E57B4A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56D9"/>
                </a:solidFill>
              </a:defRPr>
            </a:pPr>
            <a:r>
              <a:rPr sz="1500" b="1">
                <a:solidFill>
                  <a:srgbClr val="6556D9"/>
                </a:solidFill>
              </a:rPr>
              <a:t>M1 · Cloud Foundations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1E49E-BAF9-4FEF-88B2-A692FE13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05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IaaS, PaaS, SaaS, serverless, deployment models, shared responsibility and cloud planes.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3A48D-F263-4002-9CEF-FF920ED0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06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9F033-DF54-4FCB-AAD5-87560A0F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06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DC3F0-683F-4716-905C-2FFE8989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M2 · 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B3D33-D454-4A05-AB1D-499DDFE6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Users, roles, service accounts, trust relationships, temporary sessions and least privilege.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7B3BF-59B3-4E9B-A034-EF3D4AE4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48150"/>
            <a:ext cx="506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BCC2E-A774-461F-B431-68FB2507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48150"/>
            <a:ext cx="506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0">
            <a:solidFill>
              <a:srgbClr val="1786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2A875-BA6E-4517-AFD6-D8DCAF5A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76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864B"/>
                </a:solidFill>
              </a:defRPr>
            </a:pPr>
            <a:r>
              <a:rPr sz="1500" b="1">
                <a:solidFill>
                  <a:srgbClr val="17864B"/>
                </a:solidFill>
              </a:rPr>
              <a:t>M3 · Core Building Blocks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D3512-BAB4-423A-B653-2ECB834A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76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Network, compute, storage, data lifecycle, encryption, backup and recovery proof.</a:t>
            </a:r>
          </a:p>
        </p:txBody>
      </p:sp>
    </p:spTree>
    <p:extLst>
      <p:ext uri="{BB962C8B-B14F-4D97-AF65-F5344CB8AC3E}">
        <p14:creationId xmlns:p14="http://schemas.microsoft.com/office/powerpoint/2010/main" val="621021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F5C157-35E9-464B-8AFD-346DFB29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7588b36d141bf"/>
          <a:stretch xmlns:a="http://schemas.openxmlformats.org/drawingml/2006/main"/>
        </p:blipFill>
        <p:spPr>
          <a:xfrm xmlns:a="http://schemas.openxmlformats.org/drawingml/2006/main">
            <a:off x="10668000" y="266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24C69-9EFF-4273-A295-BB8C164A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52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9F"/>
                </a:solidFill>
              </a:defRPr>
            </a:pPr>
            <a:r>
              <a:rPr sz="1050" b="1">
                <a:solidFill>
                  <a:srgbClr val="007F9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B29D4-4172-4124-8EC9-D8E1F78E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DeepTrustxAI | Cloud Security Module-Wise Syllabus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57D34-3124-4D7F-A33F-14C2F364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6F0B6-59EE-4EC2-9D82-50D5D80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2A"/>
                </a:solidFill>
              </a:defRPr>
            </a:pPr>
            <a:r>
              <a:rPr sz="3150" b="1">
                <a:solidFill>
                  <a:srgbClr val="14202A"/>
                </a:solidFill>
              </a:rPr>
              <a:t>Day 1 Practical Outputs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664C1-E63F-447C-912F-CF4E8853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E2BFC-9059-45A5-ACC1-F8EB072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Exercise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3D105-C6C0-42CA-AFEB-89CA226B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956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70339-56C1-4E89-805E-36280475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71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Participant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75D4C-0B3E-4993-9567-E7DFECB4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EB06C-8668-4DE1-96DC-4469973A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71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63C95-28F0-4FB9-A757-127365FB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F4429-E545-47FE-A423-C626A46D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Tenant and dry-run setup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65E8E-2B37-4975-AC68-18664625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956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57EA8-4EF4-4C17-A619-5B7B650F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71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Confirm assigned tenant and lab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5FE3B-4A9A-4E10-83CC-7B3ECEC9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4542A-C887-4A6A-94C2-D12567BE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Job ID and evidence 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67275-B322-457E-BAA7-6A31DA9A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E3E13-6742-43A2-99CF-BD0354DC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Shared responsibility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7DCCB-C63A-4DC1-9C2D-3B37343F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957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51D66-2105-4C20-AD74-EBED5463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71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Classify provider/customer/shared controls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DC8974-AFA8-4F43-AB84-2FEA06A5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E90C41-4153-4433-8960-36811DEC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Ownership table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A20839-5AE2-4096-AFEE-F56FD1F7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B160B7-6A01-4D34-A5A5-38DFF473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IAM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403F7B-26F8-44B1-A085-D60583AE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957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4B13DA-03B4-48BB-8D2B-745AC772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7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Identify over-permission and stale access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12E28-041A-4312-82C5-EA12B376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65DE5D-A34B-4C55-A070-0B24ACD4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71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Least-privilege notes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F7561B-1311-426E-B238-EE68E401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CC8319-6214-48C3-913E-115CD497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Trust-boundary drawing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68A7C0-1C1F-4F6E-9D06-CFC23A9E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958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0C73C6-3CBB-4E4B-824A-C1B39460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72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Mark internet, admin, data and logging paths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B5F2F5-618A-436D-8D70-2343EA35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CAC308-C1F5-4003-B90D-5C2B8619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Architecture notes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B2B989-A80A-4296-A0B9-CF9AAABE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BC060D-04E9-4E46-96E8-84CCCA63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IaC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5D7333-04BE-4C1E-8836-0F19BE41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958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600D4B-5041-417C-BB50-436708B3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720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Upload vulnerable IaC and map controls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3B6DDB-3BEC-4B68-A269-3EB843EA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958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0C68CF-B787-492B-8455-6FB05D46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72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IaC finding and control mapping</a:t>
            </a:r>
          </a:p>
        </p:txBody>
      </p:sp>
    </p:spTree>
    <p:extLst>
      <p:ext uri="{BB962C8B-B14F-4D97-AF65-F5344CB8AC3E}">
        <p14:creationId xmlns:p14="http://schemas.microsoft.com/office/powerpoint/2010/main" val="712632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147E4C-D052-4CC0-AD2B-05476E93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bdcd4ead543b9"/>
          <a:stretch xmlns:a="http://schemas.openxmlformats.org/drawingml/2006/main"/>
        </p:blipFill>
        <p:spPr>
          <a:xfrm xmlns:a="http://schemas.openxmlformats.org/drawingml/2006/main">
            <a:off x="10668000" y="266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8E266-E127-4030-B8CB-85391744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52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9F"/>
                </a:solidFill>
              </a:defRPr>
            </a:pPr>
            <a:r>
              <a:rPr sz="1050" b="1">
                <a:solidFill>
                  <a:srgbClr val="007F9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58DDF-7DCF-4DC1-BBE4-6379312B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DeepTrustxAI | Cloud Security Module-Wise Syllabus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FD45F-6FC0-4557-AEB5-F04A1729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8523A-2E57-44FD-833A-AC123FAB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2A"/>
                </a:solidFill>
              </a:defRPr>
            </a:pPr>
            <a:r>
              <a:rPr sz="3150" b="1">
                <a:solidFill>
                  <a:srgbClr val="14202A"/>
                </a:solidFill>
              </a:rPr>
              <a:t>Day 2 Modules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FECFC-DCBC-4B2F-90DA-E1B5D919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06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8CD1C-448E-4C78-B3CB-9A5CA114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06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0">
            <a:solidFill>
              <a:srgbClr val="B83B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38B4E-0373-4D55-94FD-15E99967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3B36"/>
                </a:solidFill>
              </a:defRPr>
            </a:pPr>
            <a:r>
              <a:rPr sz="1500" b="1">
                <a:solidFill>
                  <a:srgbClr val="B83B36"/>
                </a:solidFill>
              </a:rPr>
              <a:t>M5 · Vulnerability Lifecycle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D351B-C72E-4747-B858-36CD6054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Design gaps, unsafe IaC, broad roles, public rules, drift, stale assets and missing logs.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84248-5C41-4AE2-A155-82ED4F18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506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121A3-DA42-4E19-9F39-EB2C9646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506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00F16-B148-4518-84D0-349DA2DC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</a:defRPr>
            </a:pPr>
            <a:r>
              <a:rPr sz="1500" b="1">
                <a:solidFill>
                  <a:srgbClr val="B7791F"/>
                </a:solidFill>
              </a:rPr>
              <a:t>M6 · Attack Paths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E780D-F6CE-4F4B-9823-C31D3A36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05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Exposure, identity, privilege, target and impact across AWS, GCP, Azure and DigitalOcean.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F9EB6-D7C6-43AE-A9A7-0C9E6535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06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FB62B-A013-4B3B-B93F-48258421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06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solidFill>
              <a:srgbClr val="00B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4F745-5EA7-45D6-8FCD-04A80367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F9F"/>
                </a:solidFill>
              </a:defRPr>
            </a:pPr>
            <a:r>
              <a:rPr sz="1500" b="1">
                <a:solidFill>
                  <a:srgbClr val="007F9F"/>
                </a:solidFill>
              </a:rPr>
              <a:t>M7 · CloudGuard Scanners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BFAED-D0B0-460C-B003-2A09DF47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Portal/API, PostgreSQL scan jobs, scanner workers, retries and multi-stream coverage.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59DD38-8075-4D24-9FB4-8ACCF9F2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48150"/>
            <a:ext cx="506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8F1C9-8D93-4FD5-9DF5-E95BD481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48150"/>
            <a:ext cx="506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0">
            <a:solidFill>
              <a:srgbClr val="1786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15E5E-F2A9-4BB3-BC2B-70AB4034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76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864B"/>
                </a:solidFill>
              </a:defRPr>
            </a:pPr>
            <a:r>
              <a:rPr sz="1500" b="1">
                <a:solidFill>
                  <a:srgbClr val="17864B"/>
                </a:solidFill>
              </a:rPr>
              <a:t>M8 · Evidence and GRC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EAC04-1FFF-4DAE-85CF-FECA697D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76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Connectors, tenant IDs, checksums, control mapping, validation proof and remediation approval.</a:t>
            </a:r>
          </a:p>
        </p:txBody>
      </p:sp>
    </p:spTree>
    <p:extLst>
      <p:ext uri="{BB962C8B-B14F-4D97-AF65-F5344CB8AC3E}">
        <p14:creationId xmlns:p14="http://schemas.microsoft.com/office/powerpoint/2010/main" val="11549927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7F1EF3-8B33-4EE0-8226-F9039906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7cb034c61497d"/>
          <a:stretch xmlns:a="http://schemas.openxmlformats.org/drawingml/2006/main"/>
        </p:blipFill>
        <p:spPr>
          <a:xfrm xmlns:a="http://schemas.openxmlformats.org/drawingml/2006/main">
            <a:off x="10668000" y="266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EE81B-5B13-4D61-8FCE-190AC761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52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9F"/>
                </a:solidFill>
              </a:defRPr>
            </a:pPr>
            <a:r>
              <a:rPr sz="1050" b="1">
                <a:solidFill>
                  <a:srgbClr val="007F9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15DF0-E487-4901-A9FA-F58E1E7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DeepTrustxAI | Cloud Security Module-Wise Syllabus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9FE84-E026-4C75-B6A2-55EA7BA0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C9365-DEA4-42BF-8ED8-6BC5AB0C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2A"/>
                </a:solidFill>
              </a:defRPr>
            </a:pPr>
            <a:r>
              <a:rPr sz="3150" b="1">
                <a:solidFill>
                  <a:srgbClr val="14202A"/>
                </a:solidFill>
              </a:rPr>
              <a:t>Day 2 Practical Outputs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AEC1C-8663-44EC-A17B-68522F20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63ACA-0925-4242-96AE-F189AE17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Exercise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1DA39-5E66-41EB-9A3E-BD01129B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956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8D2D8-485F-4CC4-9965-6BFEEF71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71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Participant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DEF5A-828E-4492-9B3E-A6FAED56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E7E5A-0E79-4385-8A9B-CD46C49F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71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D6D44-4162-48C4-AD40-C6B66F3B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A1B14-4F91-4160-9569-FC54CE07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Vulnerability lifecycle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E0558-5750-4DF4-9B86-83D38175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956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80C06-BD01-4233-8F83-CDB9DE04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71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Trace one weakness from design to closure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C3D70-597F-4419-8F1D-BCF6DF6D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868B0-B48B-4373-81A2-E153AA12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Lifecycle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A7A1E-2E82-4394-911D-1035E84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47C27-CA56-45A4-941C-E2B60600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Attack-path 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6A643-CC02-4D4A-A7E9-611C1C8C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957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C151A-D198-4849-A550-E086BE5D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71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Identify highest-risk connected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880D0-B625-4D15-B9A1-77DBAE7B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64C4AE-7E3C-4A53-9852-F5749EE3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Prioritized risk 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2703A-1090-41D7-BE59-C57B0840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58A3FA-AB35-4664-B017-48B93224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Scanner 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00B267-B564-4CC8-97D2-E110631D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957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EA43F8-8545-4A3F-93FF-C9F85217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7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Queue and observe authorized scan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ED7904-516E-446D-97A5-818689F2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47C299-B06B-4B2E-B374-3C0FCEFC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71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Job status and finding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A3117D-1B4B-49D0-99E2-B4D0321E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A85A0A-AE29-48DD-811D-3342DD7A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Connector submission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B2B6F1-8F43-463F-9CD0-5CBA5390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958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90B09E-151E-41E5-AF79-01C3AF22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72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Normalize external scanner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0D0016-A443-4E1F-994E-F7DC62A8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F5869B-3C39-4011-93BE-44012374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Accepted evidence artifact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8725EB-F2AA-4FEF-8399-8D0B03DB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BCAFC1-F019-44DE-930D-5820CA4E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STRIDE/reason-and-act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EFB6F1-A9BF-4831-8476-E82FA6AE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958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864B29-B212-4CC1-AA53-59DB5B33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720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Create threat model and remediation workflow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A36635-F105-4877-BFAE-15FAF7D4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958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9080E4-664D-4E2A-BCC9-913A876E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72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Proof, owner and approval record</a:t>
            </a:r>
          </a:p>
        </p:txBody>
      </p:sp>
    </p:spTree>
    <p:extLst>
      <p:ext uri="{BB962C8B-B14F-4D97-AF65-F5344CB8AC3E}">
        <p14:creationId xmlns:p14="http://schemas.microsoft.com/office/powerpoint/2010/main" val="4231498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AD4C68-8054-4694-8889-A223BB06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824d2da7244bc"/>
          <a:stretch xmlns:a="http://schemas.openxmlformats.org/drawingml/2006/main"/>
        </p:blipFill>
        <p:spPr>
          <a:xfrm xmlns:a="http://schemas.openxmlformats.org/drawingml/2006/main">
            <a:off x="10668000" y="266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1E8D0-CA1A-42B3-B72A-6B26D6CC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52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9F"/>
                </a:solidFill>
              </a:defRPr>
            </a:pPr>
            <a:r>
              <a:rPr sz="1050" b="1">
                <a:solidFill>
                  <a:srgbClr val="007F9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CC33C-C452-4665-B31C-1C9FDE12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DeepTrustxAI | Cloud Security Module-Wise Syllabus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DFE7F-A3B1-4916-8A93-251647F1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0D068-EA79-4672-A147-7FF2B6D6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2A"/>
                </a:solidFill>
              </a:defRPr>
            </a:pPr>
            <a:r>
              <a:rPr sz="3150" b="1">
                <a:solidFill>
                  <a:srgbClr val="14202A"/>
                </a:solidFill>
              </a:rPr>
              <a:t>CloudGuard Role in the Workshop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1CF4B-B421-4B00-9071-E5309F3E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981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1E346-15E3-4602-B9CF-C68F86B2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solidFill>
              <a:srgbClr val="00B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3F816-93DF-4755-8D11-03627A5F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F9F"/>
                </a:solidFill>
              </a:defRPr>
            </a:pPr>
            <a:r>
              <a:rPr sz="1500" b="1">
                <a:solidFill>
                  <a:srgbClr val="007F9F"/>
                </a:solidFill>
              </a:rPr>
              <a:t>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C0F6A-AA86-44F1-8AAB-B71C0D3C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Scope, tenant, credential reference and scan config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C142A-77D5-45FB-B27B-DFAA24B5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338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F9F"/>
                </a:solidFill>
              </a:defRPr>
            </a:pPr>
            <a:r>
              <a:rPr sz="1800" b="1">
                <a:solidFill>
                  <a:srgbClr val="007F9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F2C16-6A9F-444D-8EE1-B385D22A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1981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D4EDC-AF2C-4FAD-8270-E12CDC61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0">
            <a:solidFill>
              <a:srgbClr val="6556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1794B-B156-463A-BF37-7E0B85A3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718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56D9"/>
                </a:solidFill>
              </a:defRPr>
            </a:pPr>
            <a:r>
              <a:rPr sz="1500" b="1">
                <a:solidFill>
                  <a:srgbClr val="6556D9"/>
                </a:solidFill>
              </a:rPr>
              <a:t>Queue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269D6-E6BE-464F-A29D-62118467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7190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PostgreSQL scan jobs, status, retries and cancellation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D743E-6659-4F22-98C5-17D2A0F0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338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F9F"/>
                </a:solidFill>
              </a:defRPr>
            </a:pPr>
            <a:r>
              <a:rPr sz="1800" b="1">
                <a:solidFill>
                  <a:srgbClr val="007F9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2A5CB-FC9F-4BE3-98B5-21AA1B5F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43250"/>
            <a:ext cx="1981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4F6FD-3A3E-45C3-A4C2-12FFFC0B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4325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solidFill>
              <a:srgbClr val="00BF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D3A56-023E-4F47-81BF-17727DFB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718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F9F"/>
                </a:solidFill>
              </a:defRPr>
            </a:pPr>
            <a:r>
              <a:rPr sz="1500" b="1">
                <a:solidFill>
                  <a:srgbClr val="007F9F"/>
                </a:solidFill>
              </a:rPr>
              <a:t>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4C002-A357-4C43-8175-6489D979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7190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AWS, GCP, Kubernetes, IaC, web, secret and dependency scans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81B24-27CD-43DC-816C-0F6D3614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F9F"/>
                </a:solidFill>
              </a:defRPr>
            </a:pPr>
            <a:r>
              <a:rPr sz="1800" b="1">
                <a:solidFill>
                  <a:srgbClr val="007F9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46E62-3643-4C2A-8844-A857F078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981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252C9-A6EF-4042-B834-A7BEA08A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6D9"/>
          </a:solidFill>
          <a:ln xmlns:a="http://schemas.openxmlformats.org/drawingml/2006/main" w="0">
            <a:solidFill>
              <a:srgbClr val="6556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F962C-2080-4D20-989F-447DEFAF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718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56D9"/>
                </a:solidFill>
              </a:defRPr>
            </a:pPr>
            <a:r>
              <a:rPr sz="1500" b="1">
                <a:solidFill>
                  <a:srgbClr val="6556D9"/>
                </a:solidFill>
              </a:rPr>
              <a:t>Connectors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17E66-501D-49D4-A1F2-31257CA2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7190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Normalize evidence with tenant and source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ED91EB-0D45-49C8-A7E7-63D9640E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338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F9F"/>
                </a:solidFill>
              </a:defRPr>
            </a:pPr>
            <a:r>
              <a:rPr sz="1800" b="1">
                <a:solidFill>
                  <a:srgbClr val="007F9F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4AF4E-4B99-4DA1-BE03-D5B0FF86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981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80BE96-6D6B-4E02-A651-FDAB8A89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solidFill>
              <a:srgbClr val="00BF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A590A2-BA40-4F7F-994A-2AE0CE50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718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F9F"/>
                </a:solidFill>
              </a:defRPr>
            </a:pPr>
            <a:r>
              <a:rPr sz="1500" b="1">
                <a:solidFill>
                  <a:srgbClr val="007F9F"/>
                </a:solidFill>
              </a:rPr>
              <a:t>GRC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C047F2-622C-44FF-BF7C-E408AD5D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7190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Controls, owners, validation and remediation proof</a:t>
            </a:r>
          </a:p>
        </p:txBody>
      </p:sp>
    </p:spTree>
    <p:extLst>
      <p:ext uri="{BB962C8B-B14F-4D97-AF65-F5344CB8AC3E}">
        <p14:creationId xmlns:p14="http://schemas.microsoft.com/office/powerpoint/2010/main" val="11091082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38F3A-07C5-4C5E-B4E2-CC1FE255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fa724fea44fa2"/>
          <a:stretch xmlns:a="http://schemas.openxmlformats.org/drawingml/2006/main"/>
        </p:blipFill>
        <p:spPr>
          <a:xfrm xmlns:a="http://schemas.openxmlformats.org/drawingml/2006/main">
            <a:off x="10668000" y="266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4AE3D-7B2F-4D91-A67C-74D557AC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52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9F"/>
                </a:solidFill>
              </a:defRPr>
            </a:pPr>
            <a:r>
              <a:rPr sz="1050" b="1">
                <a:solidFill>
                  <a:srgbClr val="007F9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E3F90-DAD3-4BD2-A792-2D4C2361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DeepTrustxAI | Cloud Security Module-Wise Syllabus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30B20-71B0-462D-A9D5-E9646E9E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F8AF6-CB60-4B98-AAD3-7B4CC3B3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2A"/>
                </a:solidFill>
              </a:defRPr>
            </a:pPr>
            <a:r>
              <a:rPr sz="3150" b="1">
                <a:solidFill>
                  <a:srgbClr val="14202A"/>
                </a:solidFill>
              </a:rPr>
              <a:t>Reason-and-Act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EE919-8824-42D7-91CE-6CB06400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37915-2B55-4190-B379-1D5A76E0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23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12497-EB75-43EF-A1F3-9FA48D08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433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BA54A-9282-4BE8-B07E-2D989280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33700"/>
            <a:ext cx="414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What participants learn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78358-53CC-4C4C-A9CB-E51E154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57500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C45BB-EF4F-4197-BFC9-EBFA22F2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3370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CloudGuard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68CAE-5711-48AB-A514-8E56704C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53273-039A-401C-A192-79E825AF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123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Discover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3DF16-868B-47E7-8AA2-035D074A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86125"/>
            <a:ext cx="433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13093-985A-418B-9D80-70FB1F74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62325"/>
            <a:ext cx="414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Findings come from scanner jobs and connectors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1A088-734A-41DB-8EFC-80B18092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86125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7DD32-7499-4804-8D57-7FE958FA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6232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Evidence artifact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A9645-2FF5-4364-A255-E4EBCB9A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824CB-5608-4540-86BB-4AF0FD6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23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Prioritize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4E3D0-5BF5-493E-84B0-84CED1A5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14750"/>
            <a:ext cx="433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83DC0-490D-4E6B-95F6-C313749B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90950"/>
            <a:ext cx="414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Context changes severity into business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7CDF9-8D8E-475F-97A5-3C6CEEDA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14750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6C3C3-C4BA-4340-A1D8-0FE058F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7909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Risk score and priority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AA98A1-6177-49DC-95F8-948DF112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08BC2C-9E41-4963-BB7B-D4DD93C3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123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Validate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5C93CC-8942-4F73-9A53-A74DDFA5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43375"/>
            <a:ext cx="433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304E6E-3E71-47C7-AF31-411EA5A3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19575"/>
            <a:ext cx="414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Proof must be safe and reproducible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4BADA2-2DCD-439E-9BE3-50491E0B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43375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815167-0FCD-4771-8EEE-C0BE8036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21957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Validation job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372E43-5E5D-46CE-9438-F2246880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43EB9B-B332-451A-9162-394EB198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123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Approve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035B3B-73A7-4667-822C-DC07FD88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72000"/>
            <a:ext cx="433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1E00A2-E7F9-4065-A120-6679D3DC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48200"/>
            <a:ext cx="414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Remediation needs owner and rollback 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856217-1531-44EE-A189-5E7223BC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572000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4AA852-101F-4CDC-8102-3842CFD3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4820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Action in learn/approve/enforce mode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505454-A935-4F61-8BCC-38ABF531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40A32-043A-4336-A19B-F00F3EF8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76825"/>
            <a:ext cx="123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Govern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8113F5-DE06-4E9B-B887-44ACABD6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00625"/>
            <a:ext cx="433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51A4E4-BA34-4586-B0D2-EFA9014C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76825"/>
            <a:ext cx="414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Closure must map to controls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7E76B3-503E-4E25-B22F-6F2FD933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000625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9EBADC-91B7-49C5-A83E-84AB5E09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07682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GRC status and audit proof</a:t>
            </a:r>
          </a:p>
        </p:txBody>
      </p:sp>
    </p:spTree>
    <p:extLst>
      <p:ext uri="{BB962C8B-B14F-4D97-AF65-F5344CB8AC3E}">
        <p14:creationId xmlns:p14="http://schemas.microsoft.com/office/powerpoint/2010/main" val="18875236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DC8B4C-997A-45A9-8D54-A18FB0D7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91e264d2d473e"/>
          <a:stretch xmlns:a="http://schemas.openxmlformats.org/drawingml/2006/main"/>
        </p:blipFill>
        <p:spPr>
          <a:xfrm xmlns:a="http://schemas.openxmlformats.org/drawingml/2006/main">
            <a:off x="10668000" y="266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1E63C-E63C-4454-A680-A74894F0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52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9F"/>
                </a:solidFill>
              </a:defRPr>
            </a:pPr>
            <a:r>
              <a:rPr sz="1050" b="1">
                <a:solidFill>
                  <a:srgbClr val="007F9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FA1E6-B387-4141-A1D3-2A3934B2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DeepTrustxAI | Cloud Security Module-Wise Syllabus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111B5-5868-4360-A1DC-DB1AD355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7C978-AA79-4936-AE94-CB3E957A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2A"/>
                </a:solidFill>
              </a:defRPr>
            </a:pPr>
            <a:r>
              <a:rPr sz="3150" b="1">
                <a:solidFill>
                  <a:srgbClr val="14202A"/>
                </a:solidFill>
              </a:rPr>
              <a:t>CISSP and CCSP Mapping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A7236-C37E-441F-9DF4-7D95C779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524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C033B-6510-41A6-AE3C-DDC03427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Workshop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B942F-D609-4B8F-AEA6-EF5B5F3A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38450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23BB6-B4BA-4BBE-A910-4974F382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CISSP alignment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70A75-803E-40E2-8E7B-72E193C6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38450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287E3-05A4-4134-8466-BEAE5399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146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CCSP alignment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D29CD-8A31-49AD-A3BC-F20CB512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3524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5D584-48AE-4DE0-99AD-1952C1C0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Governance, scope and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E36F5-5BC4-416F-B6BE-B786795B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28975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A8463-C39F-4C97-89BF-5EF484FB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051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83A3D-085D-467B-BDA5-B72D3F20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28975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EE94E-983F-471A-B49D-FA142175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051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D1, D6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85E6BF-3F67-44FD-A67B-2860558C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524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219D1-D358-4EEC-8B11-0EF88432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Asset and data protection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64600-91EF-4C08-AA9F-83E0007E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19500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A05DD-D339-477F-AF73-79ACB976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D2, D3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D9AACA-AE70-419F-8ACF-86337C18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BFDC0E-3FDD-44E3-952E-1FCB4594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D2, D3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F55B6A-CC39-4D71-AE0C-A9C8D9EB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3524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49BD4-FDD6-4354-9624-4C128EB0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Cloud architecture and network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E23D76-C0EF-4F95-8F97-FD0E2778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10025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44D599-416F-4F68-95E6-59DEB44F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8622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D3, D4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4E45BF-FB99-4232-88FC-C558D202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10025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D058A1-23C2-489E-ACBD-33E8100A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8622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D1, D3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E31CF6-92D6-4A98-A670-4AF566B4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3524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339AB8-8C27-4905-BC6B-5F5F4E11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Identity and access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09F10F-DB72-4CE3-AFB8-733A4DBB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00550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62BD6A-93D5-4EB6-868B-C5BF2C6A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6A4ED7-D64D-4F10-B8F4-6A1E5DD9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00550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F6A83E-2800-464D-9F93-73C60B9F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767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D1, D3, D5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0EBA57-8148-4C42-A789-D3769B4A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3524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14E0E3-B5AB-45D5-8449-2FDDFE72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Security assessment and scanning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49A384-DA47-46C5-8A96-121410B3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91075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6E1491-C07A-45E9-8566-CAB0F2CD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672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55EA17-9BA9-4FB7-A513-C56C9BE5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91075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F6EF09-6702-478F-A539-B680CF2C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672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6F45BD-12E0-4CB4-997E-3047B9FE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524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269431-13AD-41A3-8D76-0D2E5C3E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Operations, monitoring and evidence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319689-E398-41FC-B314-F773575C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81600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1ADD2E-7F01-4BB2-9958-861DE166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5780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DDE290-62EA-47AB-B6D5-97297687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81600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C0ACD2-AA18-4B5F-BEFF-2014011B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5780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D5, D6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5BCF8F-D4DB-4528-BE16-AE2C57B6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3524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DD2D22-2F94-46AE-83D9-39505B85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IaC, CI/CD and application security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F98E06-35C3-4A23-90F1-459C5910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72125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3D397D-0375-40ED-ACB9-D7680F41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4832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13E74D-C432-4432-96D7-3AC67237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72125"/>
            <a:ext cx="23812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AA7904-BC35-45A8-9D4D-CFA36E18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64832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D4</a:t>
            </a:r>
          </a:p>
        </p:txBody>
      </p:sp>
    </p:spTree>
    <p:extLst>
      <p:ext uri="{BB962C8B-B14F-4D97-AF65-F5344CB8AC3E}">
        <p14:creationId xmlns:p14="http://schemas.microsoft.com/office/powerpoint/2010/main" val="20811004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44E1D3-E1F4-4069-AA5C-86657B57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1442ec7e049c9"/>
          <a:stretch xmlns:a="http://schemas.openxmlformats.org/drawingml/2006/main"/>
        </p:blipFill>
        <p:spPr>
          <a:xfrm xmlns:a="http://schemas.openxmlformats.org/drawingml/2006/main">
            <a:off x="10668000" y="266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06284-9B93-467B-9AFE-AC117A61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52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9F"/>
                </a:solidFill>
              </a:defRPr>
            </a:pPr>
            <a:r>
              <a:rPr sz="1050" b="1">
                <a:solidFill>
                  <a:srgbClr val="007F9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349B2-CAB4-43B8-A392-7D9D57DD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DeepTrustxAI | Cloud Security Module-Wise Syllabus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D619B-66FD-43C3-992C-28B34B03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2148F-3F4E-4261-BB57-25E7D932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2A"/>
                </a:solidFill>
              </a:defRPr>
            </a:pPr>
            <a:r>
              <a:rPr sz="3150" b="1">
                <a:solidFill>
                  <a:srgbClr val="14202A"/>
                </a:solidFill>
              </a:rPr>
              <a:t>Lab and Setup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4539F-C203-4177-9F32-050984FF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F9F"/>
                </a:solidFill>
              </a:defRPr>
            </a:pPr>
            <a:r>
              <a:rPr sz="1575" b="1">
                <a:solidFill>
                  <a:srgbClr val="007F9F"/>
                </a:solidFill>
              </a:rPr>
              <a:t>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7D001-6CD6-4204-BFF9-2129D1B7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02A"/>
                </a:solidFill>
              </a:defRPr>
            </a:pPr>
            <a:r>
              <a:rPr sz="1575" b="0">
                <a:solidFill>
                  <a:srgbClr val="14202A"/>
                </a:solidFill>
              </a:rPr>
              <a:t>Disposable cloud/IaC/Kubernetes lab targets or prepared fallback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09C76-32A4-46F6-B5B2-4F9D0DAE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F9F"/>
                </a:solidFill>
              </a:defRPr>
            </a:pPr>
            <a:r>
              <a:rPr sz="1575" b="1">
                <a:solidFill>
                  <a:srgbClr val="007F9F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CDCC1-A4DF-44C2-A46E-1F387492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02A"/>
                </a:solidFill>
              </a:defRPr>
            </a:pPr>
            <a:r>
              <a:rPr sz="1575" b="0">
                <a:solidFill>
                  <a:srgbClr val="14202A"/>
                </a:solidFill>
              </a:rPr>
              <a:t>CloudGuard portal with scanner worker service running separately.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F875A-DB87-42B1-85BF-277CDAF8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F9F"/>
                </a:solidFill>
              </a:defRPr>
            </a:pPr>
            <a:r>
              <a:rPr sz="1575" b="1">
                <a:solidFill>
                  <a:srgbClr val="007F9F"/>
                </a:solidFill>
              </a:rPr>
              <a:t>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045D7-0C41-43B8-AB15-9EFE12ED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2905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02A"/>
                </a:solidFill>
              </a:defRPr>
            </a:pPr>
            <a:r>
              <a:rPr sz="1575" b="0">
                <a:solidFill>
                  <a:srgbClr val="14202A"/>
                </a:solidFill>
              </a:rPr>
              <a:t>Evidence connector token and sample connector payloads.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053E5-991D-4C9B-B774-B23A75B2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F9F"/>
                </a:solidFill>
              </a:defRPr>
            </a:pPr>
            <a:r>
              <a:rPr sz="1575" b="1">
                <a:solidFill>
                  <a:srgbClr val="007F9F"/>
                </a:solidFill>
              </a:rPr>
              <a:t>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0D0D9-FA78-41B6-8498-ACC9BEFA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02A"/>
                </a:solidFill>
              </a:defRPr>
            </a:pPr>
            <a:r>
              <a:rPr sz="1575" b="0">
                <a:solidFill>
                  <a:srgbClr val="14202A"/>
                </a:solidFill>
              </a:rPr>
              <a:t>Assigned tenant IDs for each participant/team.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96B98-F8EB-4BB8-A65E-BF27AB7A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F9F"/>
                </a:solidFill>
              </a:defRPr>
            </a:pPr>
            <a:r>
              <a:rPr sz="1575" b="1">
                <a:solidFill>
                  <a:srgbClr val="007F9F"/>
                </a:solidFill>
              </a:rPr>
              <a:t>5.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FFDCE-9BBC-45A1-80E0-07FAD44B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2915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02A"/>
                </a:solidFill>
              </a:defRPr>
            </a:pPr>
            <a:r>
              <a:rPr sz="1575" b="0">
                <a:solidFill>
                  <a:srgbClr val="14202A"/>
                </a:solidFill>
              </a:rPr>
              <a:t>Vulnerable IaC files and sample scanner findings.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5B590-B977-4494-9C86-46AC71B2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F9F"/>
                </a:solidFill>
              </a:defRPr>
            </a:pPr>
            <a:r>
              <a:rPr sz="1575" b="1">
                <a:solidFill>
                  <a:srgbClr val="007F9F"/>
                </a:solidFill>
              </a:rPr>
              <a:t>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F31CC-97FF-4563-AECC-C3B05116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2920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02A"/>
                </a:solidFill>
              </a:defRPr>
            </a:pPr>
            <a:r>
              <a:rPr sz="1575" b="0">
                <a:solidFill>
                  <a:srgbClr val="14202A"/>
                </a:solidFill>
              </a:rPr>
              <a:t>Budget alerts, TTL tags and cleanup plan for live labs.</a:t>
            </a:r>
          </a:p>
        </p:txBody>
      </p:sp>
    </p:spTree>
    <p:extLst>
      <p:ext uri="{BB962C8B-B14F-4D97-AF65-F5344CB8AC3E}">
        <p14:creationId xmlns:p14="http://schemas.microsoft.com/office/powerpoint/2010/main" val="8828045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EBCD3-B639-4DC1-A8F0-6BBE9869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d0d3f13384d87"/>
          <a:stretch xmlns:a="http://schemas.openxmlformats.org/drawingml/2006/main"/>
        </p:blipFill>
        <p:spPr>
          <a:xfrm xmlns:a="http://schemas.openxmlformats.org/drawingml/2006/main">
            <a:off x="10668000" y="266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C65AF-3514-4DA1-972C-CD9D5E33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52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9F"/>
                </a:solidFill>
              </a:defRPr>
            </a:pPr>
            <a:r>
              <a:rPr sz="1050" b="1">
                <a:solidFill>
                  <a:srgbClr val="007F9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5C9B6-906B-4CCB-8971-8077E7EE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DeepTrustxAI | Cloud Security Module-Wise Syllabus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F2E35-64F8-424D-A22C-BCEBDCBB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AA191-2AC9-4A86-88A7-FBCE697C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2A"/>
                </a:solidFill>
              </a:defRPr>
            </a:pPr>
            <a:r>
              <a:rPr sz="3150" b="1">
                <a:solidFill>
                  <a:srgbClr val="14202A"/>
                </a:solidFill>
              </a:rPr>
              <a:t>Capstone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7ECC1-8764-4101-AF17-AEB02528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02A"/>
                </a:solidFill>
              </a:defRPr>
            </a:pPr>
            <a:r>
              <a:rPr sz="1650" b="0">
                <a:solidFill>
                  <a:srgbClr val="14202A"/>
                </a:solidFill>
              </a:rPr>
              <a:t>Participants work in teams to: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F81DB-8F7C-41A5-A9C6-C23FD104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F9F"/>
                </a:solidFill>
              </a:defRPr>
            </a:pPr>
            <a:r>
              <a:rPr sz="1575" b="1">
                <a:solidFill>
                  <a:srgbClr val="007F9F"/>
                </a:solidFill>
              </a:rPr>
              <a:t>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EC697-94AB-45DF-8B7E-C7A327C5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86125"/>
            <a:ext cx="775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02A"/>
                </a:solidFill>
              </a:defRPr>
            </a:pPr>
            <a:r>
              <a:rPr sz="1575" b="0">
                <a:solidFill>
                  <a:srgbClr val="14202A"/>
                </a:solidFill>
              </a:rPr>
              <a:t>Identify the highest-risk connected attack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881EC-3C40-44D1-8450-7C4834F4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F9F"/>
                </a:solidFill>
              </a:defRPr>
            </a:pPr>
            <a:r>
              <a:rPr sz="1575" b="1">
                <a:solidFill>
                  <a:srgbClr val="007F9F"/>
                </a:solidFill>
              </a:rPr>
              <a:t>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BEE37-ECFE-4AD3-B938-A154E18B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29025"/>
            <a:ext cx="775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02A"/>
                </a:solidFill>
              </a:defRPr>
            </a:pPr>
            <a:r>
              <a:rPr sz="1575" b="0">
                <a:solidFill>
                  <a:srgbClr val="14202A"/>
                </a:solidFill>
              </a:rPr>
              <a:t>Run the relevant authorized scanner workflow.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F51CD-D7B1-45C8-8F90-B7B19195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F9F"/>
                </a:solidFill>
              </a:defRPr>
            </a:pPr>
            <a:r>
              <a:rPr sz="1575" b="1">
                <a:solidFill>
                  <a:srgbClr val="007F9F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DC643-2519-4405-9571-BC1971D5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71925"/>
            <a:ext cx="775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02A"/>
                </a:solidFill>
              </a:defRPr>
            </a:pPr>
            <a:r>
              <a:rPr sz="1575" b="0">
                <a:solidFill>
                  <a:srgbClr val="14202A"/>
                </a:solidFill>
              </a:rPr>
              <a:t>Reconcile scanner findings with manual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8A29D-1B40-4E19-B581-C17268E3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F9F"/>
                </a:solidFill>
              </a:defRPr>
            </a:pPr>
            <a:r>
              <a:rPr sz="1575" b="1">
                <a:solidFill>
                  <a:srgbClr val="007F9F"/>
                </a:solidFill>
              </a:rPr>
              <a:t>4.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B5E42-F32B-40DA-BF9E-A53EE23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775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02A"/>
                </a:solidFill>
              </a:defRPr>
            </a:pPr>
            <a:r>
              <a:rPr sz="1575" b="0">
                <a:solidFill>
                  <a:srgbClr val="14202A"/>
                </a:solidFill>
              </a:rPr>
              <a:t>Map evidence to controls, owners and deadlines.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AFBBB-8102-47F7-B543-24E6CA39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577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F9F"/>
                </a:solidFill>
              </a:defRPr>
            </a:pPr>
            <a:r>
              <a:rPr sz="1575" b="1">
                <a:solidFill>
                  <a:srgbClr val="007F9F"/>
                </a:solidFill>
              </a:rPr>
              <a:t>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E2C79-D29D-4E64-A260-2F34E96C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7725"/>
            <a:ext cx="775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02A"/>
                </a:solidFill>
              </a:defRPr>
            </a:pPr>
            <a:r>
              <a:rPr sz="1575" b="0">
                <a:solidFill>
                  <a:srgbClr val="14202A"/>
                </a:solidFill>
              </a:rPr>
              <a:t>Deliver a five-minute executive risk briefing.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A8164-B38A-4F8B-A794-5F1A8F22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F9F"/>
                </a:solidFill>
              </a:defRPr>
            </a:pPr>
            <a:r>
              <a:rPr sz="1575" b="1">
                <a:solidFill>
                  <a:srgbClr val="007F9F"/>
                </a:solidFill>
              </a:rPr>
              <a:t>Final output: evidence bundle, control map, prioritized remediation and executive summary.</a:t>
            </a:r>
          </a:p>
        </p:txBody>
      </p:sp>
    </p:spTree>
    <p:extLst>
      <p:ext uri="{BB962C8B-B14F-4D97-AF65-F5344CB8AC3E}">
        <p14:creationId xmlns:p14="http://schemas.microsoft.com/office/powerpoint/2010/main" val="3706280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4B0A4C-89E6-4D77-A7D6-00D6B48C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f071acdf9425c"/>
          <a:stretch xmlns:a="http://schemas.openxmlformats.org/drawingml/2006/main"/>
        </p:blipFill>
        <p:spPr>
          <a:xfrm xmlns:a="http://schemas.openxmlformats.org/drawingml/2006/main">
            <a:off x="10668000" y="266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27DF3-676C-46DC-9C7C-5F1C4E2E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52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9F"/>
                </a:solidFill>
              </a:defRPr>
            </a:pPr>
            <a:r>
              <a:rPr sz="1050" b="1">
                <a:solidFill>
                  <a:srgbClr val="007F9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9E6F0-669A-4E83-99C8-6F539F2F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DeepTrustxAI | Cloud Security Module-Wise Syllabus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55C90-D3ED-4ABD-9E13-742BB02F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6"/>
                </a:solidFill>
              </a:defRPr>
            </a:pPr>
            <a:r>
              <a:rPr sz="900" b="0">
                <a:solidFill>
                  <a:srgbClr val="5D6B76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85016-9F76-4F57-8A66-43CE4BAC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02A"/>
                </a:solidFill>
              </a:defRPr>
            </a:pPr>
            <a:r>
              <a:rPr sz="3150" b="1">
                <a:solidFill>
                  <a:srgbClr val="14202A"/>
                </a:solidFill>
              </a:rPr>
              <a:t>Deliverables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3269A-F3F8-468D-AD6D-5E28A565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C5F50-3EEA-43B6-9B4D-9B2A53D9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Deliverable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BA81F-B5F3-4A4B-A446-69BC76FA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542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9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F8722-595C-440D-B6CA-C7E532D3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861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159F4-CD9E-47A5-A95E-2ADE9696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A4E7B-17C5-4BDB-BCEF-5AB8D6C5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Module-wise PPT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A4CB1-249C-4424-ABC5-91FFA1BD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67100"/>
            <a:ext cx="542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28A5A-EC65-4740-BE4D-91B9120A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433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Review and delivery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F83DC-8AC3-4A9D-A9FE-30E54084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16EA2-4B55-428E-9631-00052975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Detailed syllabus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F3053-7C98-4122-BB96-F86B0585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24300"/>
            <a:ext cx="542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FB61C-F55B-408E-B738-669621CE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005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Instructor depth and preparation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FB554-4948-489F-9F28-85DF33F7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A00A1-FE66-4B50-854B-4019BAA3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Lab evidence bundle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CA8D0-EA8A-4415-AB92-8B2A259B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81500"/>
            <a:ext cx="542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42F8F-BE20-45C4-9ABC-B7EAC1A0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577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Proof for scanner/GRC demonstration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EA518-ADE4-4DA2-8422-4974281A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1F8A4-F76B-4EDA-82B7-71B376AA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Capstone briefing format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C88CBD-3EE3-421D-94EF-2B0C60EF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38700"/>
            <a:ext cx="542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9525">
            <a:solidFill>
              <a:srgbClr val="CF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41241-8307-4AF3-9552-2DF2E12D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149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2A"/>
                </a:solidFill>
              </a:defRPr>
            </a:pPr>
            <a:r>
              <a:rPr sz="1125" b="0">
                <a:solidFill>
                  <a:srgbClr val="14202A"/>
                </a:solidFill>
              </a:rPr>
              <a:t>Sponsor-friendly final 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DEB133-6891-4140-A00B-8CEB7535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F9F"/>
                </a:solidFill>
              </a:defRPr>
            </a:pPr>
            <a:r>
              <a:rPr sz="1800" b="1">
                <a:solidFill>
                  <a:srgbClr val="007F9F"/>
                </a:solidFill>
              </a:rPr>
              <a:t>The PPT stays short. The syllabus carries the details.</a:t>
            </a:r>
          </a:p>
        </p:txBody>
      </p:sp>
    </p:spTree>
    <p:extLst>
      <p:ext uri="{BB962C8B-B14F-4D97-AF65-F5344CB8AC3E}">
        <p14:creationId xmlns:p14="http://schemas.microsoft.com/office/powerpoint/2010/main" val="13039817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2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418A6F-1AEF-4A1E-A05F-EDA1201D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e9e7a39af4b9f"/>
          <a:stretch xmlns:a="http://schemas.openxmlformats.org/drawingml/2006/main"/>
        </p:blipFill>
        <p:spPr>
          <a:xfrm xmlns:a="http://schemas.openxmlformats.org/drawingml/2006/main">
            <a:off x="685800" y="21336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A749C-0828-4773-82D9-94A1972D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3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DeepTrustxAI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47777-DC9A-46D1-9DC0-924D3680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Module-wise. Evidence-driven. CloudGuard-backed.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B30B7-440F-4392-B5F0-547FAD29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FEFFF"/>
                </a:solidFill>
              </a:defRPr>
            </a:pPr>
            <a:r>
              <a:rPr sz="1950" b="1">
                <a:solidFill>
                  <a:srgbClr val="8FEFFF"/>
                </a:solidFill>
              </a:rPr>
              <a:t>Ready for review, then ready for delivery.</a:t>
            </a:r>
          </a:p>
        </p:txBody>
      </p:sp>
    </p:spTree>
    <p:extLst>
      <p:ext uri="{BB962C8B-B14F-4D97-AF65-F5344CB8AC3E}">
        <p14:creationId xmlns:p14="http://schemas.microsoft.com/office/powerpoint/2010/main" val="588592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2026-06-26T13:02:54.6510000Z</dcterms:created>
  <dcterms:modified xsi:type="dcterms:W3CDTF">2026-06-26T13:02:54.6510000Z</dcterms:modified>
</coreProperties>
</file>