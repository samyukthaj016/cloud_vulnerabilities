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7ba1dc3ee74389" /><Relationship Type="http://schemas.openxmlformats.org/officeDocument/2006/relationships/extended-properties" Target="/docProps/app.xml" Id="Re3aad35cd4124824" /><Relationship Type="http://schemas.openxmlformats.org/officeDocument/2006/relationships/officeDocument" Target="/ppt/presentation.xml" Id="Rdd4734726af84f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e87e7428ba472a"/>
  </p:sldMasterIdLst>
  <p:notesMasterIdLst>
    <p:notesMasterId xmlns:r="http://schemas.openxmlformats.org/officeDocument/2006/relationships" r:id="R8591751596b348d8"/>
  </p:notesMasterIdLst>
  <p:sldIdLst>
    <p:sldId xmlns:r="http://schemas.openxmlformats.org/officeDocument/2006/relationships" id="256" r:id="Rddcf8104ccbc408d"/>
    <p:sldId xmlns:r="http://schemas.openxmlformats.org/officeDocument/2006/relationships" id="257" r:id="Reb748f9adf4244a3"/>
    <p:sldId xmlns:r="http://schemas.openxmlformats.org/officeDocument/2006/relationships" id="258" r:id="R4f7c540d11134a08"/>
    <p:sldId xmlns:r="http://schemas.openxmlformats.org/officeDocument/2006/relationships" id="259" r:id="R00544d87afc54cd9"/>
    <p:sldId xmlns:r="http://schemas.openxmlformats.org/officeDocument/2006/relationships" id="260" r:id="Rb79cee1e8be041ee"/>
    <p:sldId xmlns:r="http://schemas.openxmlformats.org/officeDocument/2006/relationships" id="261" r:id="Refcbb3b9c63b443c"/>
    <p:sldId xmlns:r="http://schemas.openxmlformats.org/officeDocument/2006/relationships" id="262" r:id="Rbfe06d4e01064b87"/>
    <p:sldId xmlns:r="http://schemas.openxmlformats.org/officeDocument/2006/relationships" id="263" r:id="R3b9b8688920a431f"/>
    <p:sldId xmlns:r="http://schemas.openxmlformats.org/officeDocument/2006/relationships" id="264" r:id="R41b8d9bde4584dc8"/>
    <p:sldId xmlns:r="http://schemas.openxmlformats.org/officeDocument/2006/relationships" id="265" r:id="R29e73ae0b6a04e78"/>
    <p:sldId xmlns:r="http://schemas.openxmlformats.org/officeDocument/2006/relationships" id="266" r:id="R449bed90c4744340"/>
    <p:sldId xmlns:r="http://schemas.openxmlformats.org/officeDocument/2006/relationships" id="267" r:id="Rd22f2e4b0d9b4164"/>
    <p:sldId xmlns:r="http://schemas.openxmlformats.org/officeDocument/2006/relationships" id="268" r:id="Rd0ad4d8424a04ac4"/>
    <p:sldId xmlns:r="http://schemas.openxmlformats.org/officeDocument/2006/relationships" id="269" r:id="Re58d723d7504480b"/>
    <p:sldId xmlns:r="http://schemas.openxmlformats.org/officeDocument/2006/relationships" id="270" r:id="R075f0823a4b140e6"/>
    <p:sldId xmlns:r="http://schemas.openxmlformats.org/officeDocument/2006/relationships" id="271" r:id="R24e9894b470c49c7"/>
    <p:sldId xmlns:r="http://schemas.openxmlformats.org/officeDocument/2006/relationships" id="272" r:id="Rd7a4641c923e49e1"/>
    <p:sldId xmlns:r="http://schemas.openxmlformats.org/officeDocument/2006/relationships" id="273" r:id="Rc7a5db2c56d246ec"/>
    <p:sldId xmlns:r="http://schemas.openxmlformats.org/officeDocument/2006/relationships" id="274" r:id="Rf3eca27bbd924757"/>
    <p:sldId xmlns:r="http://schemas.openxmlformats.org/officeDocument/2006/relationships" id="275" r:id="R755691c719594ce7"/>
    <p:sldId xmlns:r="http://schemas.openxmlformats.org/officeDocument/2006/relationships" id="276" r:id="Rc33b3d52ea77488b"/>
    <p:sldId xmlns:r="http://schemas.openxmlformats.org/officeDocument/2006/relationships" id="277" r:id="Rd4059e2aca9a4db4"/>
    <p:sldId xmlns:r="http://schemas.openxmlformats.org/officeDocument/2006/relationships" id="278" r:id="Ra94caa3fef3843de"/>
    <p:sldId xmlns:r="http://schemas.openxmlformats.org/officeDocument/2006/relationships" id="279" r:id="Rd60dcbbcf842478a"/>
    <p:sldId xmlns:r="http://schemas.openxmlformats.org/officeDocument/2006/relationships" id="280" r:id="R988c2d04f3c34c83"/>
    <p:sldId xmlns:r="http://schemas.openxmlformats.org/officeDocument/2006/relationships" id="281" r:id="Raf874eed944343c4"/>
    <p:sldId xmlns:r="http://schemas.openxmlformats.org/officeDocument/2006/relationships" id="282" r:id="R2eea0c64e5474ec4"/>
    <p:sldId xmlns:r="http://schemas.openxmlformats.org/officeDocument/2006/relationships" id="283" r:id="R29a2242716ec46cd"/>
    <p:sldId xmlns:r="http://schemas.openxmlformats.org/officeDocument/2006/relationships" id="284" r:id="R059f3d75316c40a7"/>
    <p:sldId xmlns:r="http://schemas.openxmlformats.org/officeDocument/2006/relationships" id="285" r:id="R29f468d7e1354b93"/>
    <p:sldId xmlns:r="http://schemas.openxmlformats.org/officeDocument/2006/relationships" id="286" r:id="R060fbee6d79c4d19"/>
    <p:sldId xmlns:r="http://schemas.openxmlformats.org/officeDocument/2006/relationships" id="287" r:id="Re2839ab67d194722"/>
    <p:sldId xmlns:r="http://schemas.openxmlformats.org/officeDocument/2006/relationships" id="288" r:id="R3a5eb215a4624dc1"/>
    <p:sldId xmlns:r="http://schemas.openxmlformats.org/officeDocument/2006/relationships" id="289" r:id="Rde6d19c873b345d9"/>
    <p:sldId xmlns:r="http://schemas.openxmlformats.org/officeDocument/2006/relationships" id="290" r:id="R5714db6528804fc3"/>
    <p:sldId xmlns:r="http://schemas.openxmlformats.org/officeDocument/2006/relationships" id="291" r:id="R6aae3c10c9fe4f96"/>
    <p:sldId xmlns:r="http://schemas.openxmlformats.org/officeDocument/2006/relationships" id="292" r:id="R2838ff6ec605463f"/>
    <p:sldId xmlns:r="http://schemas.openxmlformats.org/officeDocument/2006/relationships" id="293" r:id="R552fbf3fe6684a9a"/>
    <p:sldId xmlns:r="http://schemas.openxmlformats.org/officeDocument/2006/relationships" id="294" r:id="R6d8fb2583d314c85"/>
    <p:sldId xmlns:r="http://schemas.openxmlformats.org/officeDocument/2006/relationships" id="295" r:id="Rf8ffec4daa05402f"/>
    <p:sldId xmlns:r="http://schemas.openxmlformats.org/officeDocument/2006/relationships" id="296" r:id="Rdd7a2cdb66d04f2a"/>
    <p:sldId xmlns:r="http://schemas.openxmlformats.org/officeDocument/2006/relationships" id="297" r:id="Rb9688997408e4c83"/>
    <p:sldId xmlns:r="http://schemas.openxmlformats.org/officeDocument/2006/relationships" id="298" r:id="R85824b9c056044ef"/>
    <p:sldId xmlns:r="http://schemas.openxmlformats.org/officeDocument/2006/relationships" id="299" r:id="R7c11f37ed7934bc2"/>
    <p:sldId xmlns:r="http://schemas.openxmlformats.org/officeDocument/2006/relationships" id="300" r:id="Redad2a7be03b4e94"/>
    <p:sldId xmlns:r="http://schemas.openxmlformats.org/officeDocument/2006/relationships" id="301" r:id="Rd778936c7956432f"/>
    <p:sldId xmlns:r="http://schemas.openxmlformats.org/officeDocument/2006/relationships" id="302" r:id="Re4935eb1411e47c5"/>
    <p:sldId xmlns:r="http://schemas.openxmlformats.org/officeDocument/2006/relationships" id="303" r:id="R6a2d22a011804a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a67ee9a21948ba" /><Relationship Type="http://schemas.openxmlformats.org/officeDocument/2006/relationships/slideMaster" Target="/ppt/slideMasters/slideMaster1.xml" Id="R5be87e7428ba472a" /><Relationship Type="http://schemas.openxmlformats.org/officeDocument/2006/relationships/notesMaster" Target="/ppt/notesMasters/notesMaster1.xml" Id="R8591751596b348d8" /><Relationship Type="http://schemas.openxmlformats.org/officeDocument/2006/relationships/presProps" Target="/ppt/presProps.xml" Id="R9725f16bfdcc4e1b" /><Relationship Type="http://schemas.openxmlformats.org/officeDocument/2006/relationships/tableStyles" Target="/ppt/tableStyles.xml" Id="R9a49b4a9eea54036" /><Relationship Type="http://schemas.openxmlformats.org/officeDocument/2006/relationships/slide" Target="/ppt/slides/slide1.xml" Id="Rddcf8104ccbc408d" /><Relationship Type="http://schemas.openxmlformats.org/officeDocument/2006/relationships/slide" Target="/ppt/slides/slide2.xml" Id="Reb748f9adf4244a3" /><Relationship Type="http://schemas.openxmlformats.org/officeDocument/2006/relationships/slide" Target="/ppt/slides/slide3.xml" Id="R4f7c540d11134a08" /><Relationship Type="http://schemas.openxmlformats.org/officeDocument/2006/relationships/slide" Target="/ppt/slides/slide4.xml" Id="R00544d87afc54cd9" /><Relationship Type="http://schemas.openxmlformats.org/officeDocument/2006/relationships/slide" Target="/ppt/slides/slide5.xml" Id="Rb79cee1e8be041ee" /><Relationship Type="http://schemas.openxmlformats.org/officeDocument/2006/relationships/slide" Target="/ppt/slides/slide6.xml" Id="Refcbb3b9c63b443c" /><Relationship Type="http://schemas.openxmlformats.org/officeDocument/2006/relationships/slide" Target="/ppt/slides/slide7.xml" Id="Rbfe06d4e01064b87" /><Relationship Type="http://schemas.openxmlformats.org/officeDocument/2006/relationships/slide" Target="/ppt/slides/slide8.xml" Id="R3b9b8688920a431f" /><Relationship Type="http://schemas.openxmlformats.org/officeDocument/2006/relationships/slide" Target="/ppt/slides/slide9.xml" Id="R41b8d9bde4584dc8" /><Relationship Type="http://schemas.openxmlformats.org/officeDocument/2006/relationships/slide" Target="/ppt/slides/slide10.xml" Id="R29e73ae0b6a04e78" /><Relationship Type="http://schemas.openxmlformats.org/officeDocument/2006/relationships/slide" Target="/ppt/slides/slide11.xml" Id="R449bed90c4744340" /><Relationship Type="http://schemas.openxmlformats.org/officeDocument/2006/relationships/slide" Target="/ppt/slides/slide12.xml" Id="Rd22f2e4b0d9b4164" /><Relationship Type="http://schemas.openxmlformats.org/officeDocument/2006/relationships/slide" Target="/ppt/slides/slide13.xml" Id="Rd0ad4d8424a04ac4" /><Relationship Type="http://schemas.openxmlformats.org/officeDocument/2006/relationships/slide" Target="/ppt/slides/slide14.xml" Id="Re58d723d7504480b" /><Relationship Type="http://schemas.openxmlformats.org/officeDocument/2006/relationships/slide" Target="/ppt/slides/slide15.xml" Id="R075f0823a4b140e6" /><Relationship Type="http://schemas.openxmlformats.org/officeDocument/2006/relationships/slide" Target="/ppt/slides/slide16.xml" Id="R24e9894b470c49c7" /><Relationship Type="http://schemas.openxmlformats.org/officeDocument/2006/relationships/slide" Target="/ppt/slides/slide17.xml" Id="Rd7a4641c923e49e1" /><Relationship Type="http://schemas.openxmlformats.org/officeDocument/2006/relationships/slide" Target="/ppt/slides/slide18.xml" Id="Rc7a5db2c56d246ec" /><Relationship Type="http://schemas.openxmlformats.org/officeDocument/2006/relationships/slide" Target="/ppt/slides/slide19.xml" Id="Rf3eca27bbd924757" /><Relationship Type="http://schemas.openxmlformats.org/officeDocument/2006/relationships/slide" Target="/ppt/slides/slide20.xml" Id="R755691c719594ce7" /><Relationship Type="http://schemas.openxmlformats.org/officeDocument/2006/relationships/slide" Target="/ppt/slides/slide21.xml" Id="Rc33b3d52ea77488b" /><Relationship Type="http://schemas.openxmlformats.org/officeDocument/2006/relationships/slide" Target="/ppt/slides/slide22.xml" Id="Rd4059e2aca9a4db4" /><Relationship Type="http://schemas.openxmlformats.org/officeDocument/2006/relationships/slide" Target="/ppt/slides/slide23.xml" Id="Ra94caa3fef3843de" /><Relationship Type="http://schemas.openxmlformats.org/officeDocument/2006/relationships/slide" Target="/ppt/slides/slide24.xml" Id="Rd60dcbbcf842478a" /><Relationship Type="http://schemas.openxmlformats.org/officeDocument/2006/relationships/slide" Target="/ppt/slides/slide25.xml" Id="R988c2d04f3c34c83" /><Relationship Type="http://schemas.openxmlformats.org/officeDocument/2006/relationships/slide" Target="/ppt/slides/slide26.xml" Id="Raf874eed944343c4" /><Relationship Type="http://schemas.openxmlformats.org/officeDocument/2006/relationships/slide" Target="/ppt/slides/slide27.xml" Id="R2eea0c64e5474ec4" /><Relationship Type="http://schemas.openxmlformats.org/officeDocument/2006/relationships/slide" Target="/ppt/slides/slide28.xml" Id="R29a2242716ec46cd" /><Relationship Type="http://schemas.openxmlformats.org/officeDocument/2006/relationships/slide" Target="/ppt/slides/slide29.xml" Id="R059f3d75316c40a7" /><Relationship Type="http://schemas.openxmlformats.org/officeDocument/2006/relationships/slide" Target="/ppt/slides/slide30.xml" Id="R29f468d7e1354b93" /><Relationship Type="http://schemas.openxmlformats.org/officeDocument/2006/relationships/slide" Target="/ppt/slides/slide31.xml" Id="R060fbee6d79c4d19" /><Relationship Type="http://schemas.openxmlformats.org/officeDocument/2006/relationships/slide" Target="/ppt/slides/slide32.xml" Id="Re2839ab67d194722" /><Relationship Type="http://schemas.openxmlformats.org/officeDocument/2006/relationships/slide" Target="/ppt/slides/slide33.xml" Id="R3a5eb215a4624dc1" /><Relationship Type="http://schemas.openxmlformats.org/officeDocument/2006/relationships/slide" Target="/ppt/slides/slide34.xml" Id="Rde6d19c873b345d9" /><Relationship Type="http://schemas.openxmlformats.org/officeDocument/2006/relationships/slide" Target="/ppt/slides/slide35.xml" Id="R5714db6528804fc3" /><Relationship Type="http://schemas.openxmlformats.org/officeDocument/2006/relationships/slide" Target="/ppt/slides/slide36.xml" Id="R6aae3c10c9fe4f96" /><Relationship Type="http://schemas.openxmlformats.org/officeDocument/2006/relationships/slide" Target="/ppt/slides/slide37.xml" Id="R2838ff6ec605463f" /><Relationship Type="http://schemas.openxmlformats.org/officeDocument/2006/relationships/slide" Target="/ppt/slides/slide38.xml" Id="R552fbf3fe6684a9a" /><Relationship Type="http://schemas.openxmlformats.org/officeDocument/2006/relationships/slide" Target="/ppt/slides/slide39.xml" Id="R6d8fb2583d314c85" /><Relationship Type="http://schemas.openxmlformats.org/officeDocument/2006/relationships/slide" Target="/ppt/slides/slide40.xml" Id="Rf8ffec4daa05402f" /><Relationship Type="http://schemas.openxmlformats.org/officeDocument/2006/relationships/slide" Target="/ppt/slides/slide41.xml" Id="Rdd7a2cdb66d04f2a" /><Relationship Type="http://schemas.openxmlformats.org/officeDocument/2006/relationships/slide" Target="/ppt/slides/slide42.xml" Id="Rb9688997408e4c83" /><Relationship Type="http://schemas.openxmlformats.org/officeDocument/2006/relationships/slide" Target="/ppt/slides/slide43.xml" Id="R85824b9c056044ef" /><Relationship Type="http://schemas.openxmlformats.org/officeDocument/2006/relationships/slide" Target="/ppt/slides/slide44.xml" Id="R7c11f37ed7934bc2" /><Relationship Type="http://schemas.openxmlformats.org/officeDocument/2006/relationships/slide" Target="/ppt/slides/slide45.xml" Id="Redad2a7be03b4e94" /><Relationship Type="http://schemas.openxmlformats.org/officeDocument/2006/relationships/slide" Target="/ppt/slides/slide46.xml" Id="Rd778936c7956432f" /><Relationship Type="http://schemas.openxmlformats.org/officeDocument/2006/relationships/slide" Target="/ppt/slides/slide47.xml" Id="Re4935eb1411e47c5" /><Relationship Type="http://schemas.openxmlformats.org/officeDocument/2006/relationships/slide" Target="/ppt/slides/slide48.xml" Id="R6a2d22a011804a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cd11499db846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673b6d902c4b7e" /><Relationship Type="http://schemas.openxmlformats.org/officeDocument/2006/relationships/notesMaster" Target="/ppt/notesMasters/notesMaster1.xml" Id="R5c7c1646924c4a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565a2f2db34307" /><Relationship Type="http://schemas.openxmlformats.org/officeDocument/2006/relationships/notesMaster" Target="/ppt/notesMasters/notesMaster1.xml" Id="R784c52b6294f4b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a63350d2f34ae4" /><Relationship Type="http://schemas.openxmlformats.org/officeDocument/2006/relationships/notesMaster" Target="/ppt/notesMasters/notesMaster1.xml" Id="R816609fa69cc40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8736879b434133" /><Relationship Type="http://schemas.openxmlformats.org/officeDocument/2006/relationships/notesMaster" Target="/ppt/notesMasters/notesMaster1.xml" Id="Rc678504953d440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59ab90e8dd4421" /><Relationship Type="http://schemas.openxmlformats.org/officeDocument/2006/relationships/notesMaster" Target="/ppt/notesMasters/notesMaster1.xml" Id="R1af1120fc05e4e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37ae45f5ad4c6c" /><Relationship Type="http://schemas.openxmlformats.org/officeDocument/2006/relationships/notesMaster" Target="/ppt/notesMasters/notesMaster1.xml" Id="R67ea222814d04d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7b8350d48c4bfc" /><Relationship Type="http://schemas.openxmlformats.org/officeDocument/2006/relationships/notesMaster" Target="/ppt/notesMasters/notesMaster1.xml" Id="Rc9d9bcb0d87042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0f970cc5f34405" /><Relationship Type="http://schemas.openxmlformats.org/officeDocument/2006/relationships/notesMaster" Target="/ppt/notesMasters/notesMaster1.xml" Id="Rce030de8f1664c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0f13f9b7f4457a" /><Relationship Type="http://schemas.openxmlformats.org/officeDocument/2006/relationships/notesMaster" Target="/ppt/notesMasters/notesMaster1.xml" Id="R22f0c25a5a3540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b97b9fd2304bbe" /><Relationship Type="http://schemas.openxmlformats.org/officeDocument/2006/relationships/notesMaster" Target="/ppt/notesMasters/notesMaster1.xml" Id="R26d5052afa394e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ae4eba1ddc4c47" /><Relationship Type="http://schemas.openxmlformats.org/officeDocument/2006/relationships/notesMaster" Target="/ppt/notesMasters/notesMaster1.xml" Id="R7973532664574b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45884fc5ac4dee" /><Relationship Type="http://schemas.openxmlformats.org/officeDocument/2006/relationships/notesMaster" Target="/ppt/notesMasters/notesMaster1.xml" Id="Red1145978e0f41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3edb2d6da34b86" /><Relationship Type="http://schemas.openxmlformats.org/officeDocument/2006/relationships/notesMaster" Target="/ppt/notesMasters/notesMaster1.xml" Id="R9ef750d44a9845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184cf5239a49a6" /><Relationship Type="http://schemas.openxmlformats.org/officeDocument/2006/relationships/notesMaster" Target="/ppt/notesMasters/notesMaster1.xml" Id="Ra741e8348bae45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ec661031584183" /><Relationship Type="http://schemas.openxmlformats.org/officeDocument/2006/relationships/notesMaster" Target="/ppt/notesMasters/notesMaster1.xml" Id="Re987d6d442bc44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9209f58fa64e9d" /><Relationship Type="http://schemas.openxmlformats.org/officeDocument/2006/relationships/notesMaster" Target="/ppt/notesMasters/notesMaster1.xml" Id="R0be3738c6b8f45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99b2f904a2460b" /><Relationship Type="http://schemas.openxmlformats.org/officeDocument/2006/relationships/notesMaster" Target="/ppt/notesMasters/notesMaster1.xml" Id="R9db9a8b32c114d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1a8d5f80ec4e11" /><Relationship Type="http://schemas.openxmlformats.org/officeDocument/2006/relationships/notesMaster" Target="/ppt/notesMasters/notesMaster1.xml" Id="R189ea38dde554d0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0f83eb855c4b86" /><Relationship Type="http://schemas.openxmlformats.org/officeDocument/2006/relationships/notesMaster" Target="/ppt/notesMasters/notesMaster1.xml" Id="R4991c80e834e4f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fed3d7029242f4" /><Relationship Type="http://schemas.openxmlformats.org/officeDocument/2006/relationships/notesMaster" Target="/ppt/notesMasters/notesMaster1.xml" Id="R251f9f48b17f4bf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27f1ae3f584182" /><Relationship Type="http://schemas.openxmlformats.org/officeDocument/2006/relationships/notesMaster" Target="/ppt/notesMasters/notesMaster1.xml" Id="R4be48063eda94d1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bd9e0dbeaf14e54" /><Relationship Type="http://schemas.openxmlformats.org/officeDocument/2006/relationships/notesMaster" Target="/ppt/notesMasters/notesMaster1.xml" Id="Rcb3c75a4a4b947b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65fc1e93d874aa6" /><Relationship Type="http://schemas.openxmlformats.org/officeDocument/2006/relationships/notesMaster" Target="/ppt/notesMasters/notesMaster1.xml" Id="Reb8e9dc62588430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ae27178bc07401c" /><Relationship Type="http://schemas.openxmlformats.org/officeDocument/2006/relationships/notesMaster" Target="/ppt/notesMasters/notesMaster1.xml" Id="R60c3f09c275140a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b51dfa25583478e" /><Relationship Type="http://schemas.openxmlformats.org/officeDocument/2006/relationships/notesMaster" Target="/ppt/notesMasters/notesMaster1.xml" Id="R1f9074f0409b48c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2114ad959e44ad0" /><Relationship Type="http://schemas.openxmlformats.org/officeDocument/2006/relationships/notesMaster" Target="/ppt/notesMasters/notesMaster1.xml" Id="Rd384d92210864c8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45f535acc4f4674" /><Relationship Type="http://schemas.openxmlformats.org/officeDocument/2006/relationships/notesMaster" Target="/ppt/notesMasters/notesMaster1.xml" Id="Rf81448bc2014461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368c499d1714a59" /><Relationship Type="http://schemas.openxmlformats.org/officeDocument/2006/relationships/notesMaster" Target="/ppt/notesMasters/notesMaster1.xml" Id="Refac9e30a3e8489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73bdc428fda4c00" /><Relationship Type="http://schemas.openxmlformats.org/officeDocument/2006/relationships/notesMaster" Target="/ppt/notesMasters/notesMaster1.xml" Id="R29ca25185e48465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aad42d3792e4c42" /><Relationship Type="http://schemas.openxmlformats.org/officeDocument/2006/relationships/notesMaster" Target="/ppt/notesMasters/notesMaster1.xml" Id="Rb00d3f12a9e44c8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c254aa5109944d4" /><Relationship Type="http://schemas.openxmlformats.org/officeDocument/2006/relationships/notesMaster" Target="/ppt/notesMasters/notesMaster1.xml" Id="R7754693c5dc7411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c94b83dc1b44b2b" /><Relationship Type="http://schemas.openxmlformats.org/officeDocument/2006/relationships/notesMaster" Target="/ppt/notesMasters/notesMaster1.xml" Id="Recc10a1bd1be41f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70707a7877f4732" /><Relationship Type="http://schemas.openxmlformats.org/officeDocument/2006/relationships/notesMaster" Target="/ppt/notesMasters/notesMaster1.xml" Id="Rb2ecfea0b1a141b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912848742684c8d" /><Relationship Type="http://schemas.openxmlformats.org/officeDocument/2006/relationships/notesMaster" Target="/ppt/notesMasters/notesMaster1.xml" Id="R97131f2c77b1403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895e2f890f344fd" /><Relationship Type="http://schemas.openxmlformats.org/officeDocument/2006/relationships/notesMaster" Target="/ppt/notesMasters/notesMaster1.xml" Id="R49313601c2ca422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907a64cb608453d" /><Relationship Type="http://schemas.openxmlformats.org/officeDocument/2006/relationships/notesMaster" Target="/ppt/notesMasters/notesMaster1.xml" Id="R7542952486d0439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044e5d0a7fd4b1b" /><Relationship Type="http://schemas.openxmlformats.org/officeDocument/2006/relationships/notesMaster" Target="/ppt/notesMasters/notesMaster1.xml" Id="R82e6e2cb181c492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9bee9b4e6c246c9" /><Relationship Type="http://schemas.openxmlformats.org/officeDocument/2006/relationships/notesMaster" Target="/ppt/notesMasters/notesMaster1.xml" Id="Rb94d558d63a24a5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5d5e5c797194dd3" /><Relationship Type="http://schemas.openxmlformats.org/officeDocument/2006/relationships/notesMaster" Target="/ppt/notesMasters/notesMaster1.xml" Id="R6632125dd8ec4e2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acc6e606e234c57" /><Relationship Type="http://schemas.openxmlformats.org/officeDocument/2006/relationships/notesMaster" Target="/ppt/notesMasters/notesMaster1.xml" Id="R6d50008487b147a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691f635e7cd4777" /><Relationship Type="http://schemas.openxmlformats.org/officeDocument/2006/relationships/notesMaster" Target="/ppt/notesMasters/notesMaster1.xml" Id="R94feace733a24b8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c8c2f485807421a" /><Relationship Type="http://schemas.openxmlformats.org/officeDocument/2006/relationships/notesMaster" Target="/ppt/notesMasters/notesMaster1.xml" Id="Rf71889c365d5495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5e92e12d06f4f8e" /><Relationship Type="http://schemas.openxmlformats.org/officeDocument/2006/relationships/notesMaster" Target="/ppt/notesMasters/notesMaster1.xml" Id="Rec5d5f371f0e47c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1b2d5c6b9c34811" /><Relationship Type="http://schemas.openxmlformats.org/officeDocument/2006/relationships/notesMaster" Target="/ppt/notesMasters/notesMaster1.xml" Id="R2595259b7add439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9435b92966b40d5" /><Relationship Type="http://schemas.openxmlformats.org/officeDocument/2006/relationships/notesMaster" Target="/ppt/notesMasters/notesMaster1.xml" Id="R9f015c5159df45a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3ee5e7bfa4f411b" /><Relationship Type="http://schemas.openxmlformats.org/officeDocument/2006/relationships/notesMaster" Target="/ppt/notesMasters/notesMaster1.xml" Id="R1fb7b2fbb8404b3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e0edc20f0bf488d" /><Relationship Type="http://schemas.openxmlformats.org/officeDocument/2006/relationships/notesMaster" Target="/ppt/notesMasters/notesMaster1.xml" Id="R4fd683eed5d6408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e10d8fb0af542ee" /><Relationship Type="http://schemas.openxmlformats.org/officeDocument/2006/relationships/notesMaster" Target="/ppt/notesMasters/notesMaster1.xml" Id="Rf9074d1a60ba4b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c2bcd94044c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51bc25fec64120" /><Relationship Type="http://schemas.openxmlformats.org/officeDocument/2006/relationships/slideLayout" Target="/ppt/slideLayouts/slideLayout1.xml" Id="Re22dde40b0f040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2dde40b0f040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02cbd4371425e" /><Relationship Type="http://schemas.openxmlformats.org/officeDocument/2006/relationships/image" Target="/ppt/media/image.png" Id="Rf4a39105a2b84c80" /><Relationship Type="http://schemas.openxmlformats.org/officeDocument/2006/relationships/notesSlide" Target="/ppt/notesSlides/notesSlide1.xml" Id="R568ef7f1320b41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403a443cd40de" /><Relationship Type="http://schemas.openxmlformats.org/officeDocument/2006/relationships/image" Target="/ppt/media/image2.png" Id="Rfe8f1f3c179d4ebf" /><Relationship Type="http://schemas.openxmlformats.org/officeDocument/2006/relationships/notesSlide" Target="/ppt/notesSlides/notesSlide2.xml" Id="Rd6ededb3f4da46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8a689e5144214" /><Relationship Type="http://schemas.openxmlformats.org/officeDocument/2006/relationships/image" Target="/ppt/media/image3.png" Id="R40b98809d4db4ae0" /><Relationship Type="http://schemas.openxmlformats.org/officeDocument/2006/relationships/notesSlide" Target="/ppt/notesSlides/notesSlide3.xml" Id="R51cedaa6b3e242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cb893343f4779" /><Relationship Type="http://schemas.openxmlformats.org/officeDocument/2006/relationships/image" Target="/ppt/media/image4.png" Id="Rc9cbcff32c664382" /><Relationship Type="http://schemas.openxmlformats.org/officeDocument/2006/relationships/notesSlide" Target="/ppt/notesSlides/notesSlide4.xml" Id="Rc39fe3359ab646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8ee5622f1447f" /><Relationship Type="http://schemas.openxmlformats.org/officeDocument/2006/relationships/image" Target="/ppt/media/image5.png" Id="R7924534eb0a540f8" /><Relationship Type="http://schemas.openxmlformats.org/officeDocument/2006/relationships/notesSlide" Target="/ppt/notesSlides/notesSlide5.xml" Id="Rd64bb31b266749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39349d27142f4" /><Relationship Type="http://schemas.openxmlformats.org/officeDocument/2006/relationships/image" Target="/ppt/media/image6.png" Id="Ra93762add7704125" /><Relationship Type="http://schemas.openxmlformats.org/officeDocument/2006/relationships/notesSlide" Target="/ppt/notesSlides/notesSlide6.xml" Id="R71b5635cae7043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0ec4a62ef4813" /><Relationship Type="http://schemas.openxmlformats.org/officeDocument/2006/relationships/image" Target="/ppt/media/image7.png" Id="R2b9d08a9cd4a4033" /><Relationship Type="http://schemas.openxmlformats.org/officeDocument/2006/relationships/notesSlide" Target="/ppt/notesSlides/notesSlide7.xml" Id="R6f23c473802d49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190ac2b324329" /><Relationship Type="http://schemas.openxmlformats.org/officeDocument/2006/relationships/image" Target="/ppt/media/image8.png" Id="Raa13530f4eb94ea2" /><Relationship Type="http://schemas.openxmlformats.org/officeDocument/2006/relationships/notesSlide" Target="/ppt/notesSlides/notesSlide8.xml" Id="Rd7f795155e3b49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6de01c9b84141" /><Relationship Type="http://schemas.openxmlformats.org/officeDocument/2006/relationships/image" Target="/ppt/media/image9.png" Id="R02ab617474c043d6" /><Relationship Type="http://schemas.openxmlformats.org/officeDocument/2006/relationships/notesSlide" Target="/ppt/notesSlides/notesSlide9.xml" Id="R56d2eac48d804c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e6de9f0234ca4" /><Relationship Type="http://schemas.openxmlformats.org/officeDocument/2006/relationships/image" Target="/ppt/media/image10.png" Id="R72ae80ab0673415f" /><Relationship Type="http://schemas.openxmlformats.org/officeDocument/2006/relationships/notesSlide" Target="/ppt/notesSlides/notesSlide10.xml" Id="Rd1afbe33881049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adfefbd7a431b" /><Relationship Type="http://schemas.openxmlformats.org/officeDocument/2006/relationships/image" Target="/ppt/media/image11.png" Id="Ra03bcd53bec24a53" /><Relationship Type="http://schemas.openxmlformats.org/officeDocument/2006/relationships/notesSlide" Target="/ppt/notesSlides/notesSlide11.xml" Id="R10d0081f6b5749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59425e90946d8" /><Relationship Type="http://schemas.openxmlformats.org/officeDocument/2006/relationships/image" Target="/ppt/media/image12.png" Id="R300d78982af149d0" /><Relationship Type="http://schemas.openxmlformats.org/officeDocument/2006/relationships/notesSlide" Target="/ppt/notesSlides/notesSlide12.xml" Id="R38b80b26e79f4c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b6dff7f8c4651" /><Relationship Type="http://schemas.openxmlformats.org/officeDocument/2006/relationships/image" Target="/ppt/media/image13.png" Id="R4f9812b1bf7347ad" /><Relationship Type="http://schemas.openxmlformats.org/officeDocument/2006/relationships/notesSlide" Target="/ppt/notesSlides/notesSlide13.xml" Id="Rddbbe017860944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e302cae4d49c2" /><Relationship Type="http://schemas.openxmlformats.org/officeDocument/2006/relationships/image" Target="/ppt/media/image14.png" Id="R79f612a95a164350" /><Relationship Type="http://schemas.openxmlformats.org/officeDocument/2006/relationships/notesSlide" Target="/ppt/notesSlides/notesSlide14.xml" Id="Rd4d236b33e1245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4eec1f667491a" /><Relationship Type="http://schemas.openxmlformats.org/officeDocument/2006/relationships/image" Target="/ppt/media/image15.png" Id="R18b7ee94598a4424" /><Relationship Type="http://schemas.openxmlformats.org/officeDocument/2006/relationships/notesSlide" Target="/ppt/notesSlides/notesSlide15.xml" Id="Rec4518be9aee49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95f2d532743fa" /><Relationship Type="http://schemas.openxmlformats.org/officeDocument/2006/relationships/image" Target="/ppt/media/image16.png" Id="Rebebc2117cfc4e8d" /><Relationship Type="http://schemas.openxmlformats.org/officeDocument/2006/relationships/notesSlide" Target="/ppt/notesSlides/notesSlide16.xml" Id="Ra1259b84874f4d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59e15cd294d23" /><Relationship Type="http://schemas.openxmlformats.org/officeDocument/2006/relationships/image" Target="/ppt/media/image17.png" Id="R4ca25269bee6460a" /><Relationship Type="http://schemas.openxmlformats.org/officeDocument/2006/relationships/notesSlide" Target="/ppt/notesSlides/notesSlide17.xml" Id="Rffa4b886369d4f4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45f73a8d5403c" /><Relationship Type="http://schemas.openxmlformats.org/officeDocument/2006/relationships/image" Target="/ppt/media/image18.png" Id="Rf22ebe83f0594816" /><Relationship Type="http://schemas.openxmlformats.org/officeDocument/2006/relationships/notesSlide" Target="/ppt/notesSlides/notesSlide18.xml" Id="Rc6dd87377683418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ede76670a4a5f" /><Relationship Type="http://schemas.openxmlformats.org/officeDocument/2006/relationships/image" Target="/ppt/media/image19.png" Id="R61db2a6b6c984a8a" /><Relationship Type="http://schemas.openxmlformats.org/officeDocument/2006/relationships/notesSlide" Target="/ppt/notesSlides/notesSlide19.xml" Id="R0afdee40e2214e2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7d76851ae4a7e" /><Relationship Type="http://schemas.openxmlformats.org/officeDocument/2006/relationships/image" Target="/ppt/media/image20.png" Id="Rd7c9e39642324119" /><Relationship Type="http://schemas.openxmlformats.org/officeDocument/2006/relationships/notesSlide" Target="/ppt/notesSlides/notesSlide20.xml" Id="Rf8249d1f4da4464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c24c78b304398" /><Relationship Type="http://schemas.openxmlformats.org/officeDocument/2006/relationships/image" Target="/ppt/media/image21.png" Id="R6a71796569a74203" /><Relationship Type="http://schemas.openxmlformats.org/officeDocument/2006/relationships/notesSlide" Target="/ppt/notesSlides/notesSlide21.xml" Id="R9e4909997e894df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ac0c1d62c468b" /><Relationship Type="http://schemas.openxmlformats.org/officeDocument/2006/relationships/image" Target="/ppt/media/image22.png" Id="R74b05d145d6248f1" /><Relationship Type="http://schemas.openxmlformats.org/officeDocument/2006/relationships/notesSlide" Target="/ppt/notesSlides/notesSlide22.xml" Id="R4ee58322b47b45c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6527434f946ce" /><Relationship Type="http://schemas.openxmlformats.org/officeDocument/2006/relationships/image" Target="/ppt/media/image23.png" Id="R0894f376075d4385" /><Relationship Type="http://schemas.openxmlformats.org/officeDocument/2006/relationships/notesSlide" Target="/ppt/notesSlides/notesSlide23.xml" Id="R79de88c1c42d415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e2a2c88664744" /><Relationship Type="http://schemas.openxmlformats.org/officeDocument/2006/relationships/image" Target="/ppt/media/image24.png" Id="R28cba58a29754a31" /><Relationship Type="http://schemas.openxmlformats.org/officeDocument/2006/relationships/notesSlide" Target="/ppt/notesSlides/notesSlide24.xml" Id="R736425990f094fc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55f7286ac496b" /><Relationship Type="http://schemas.openxmlformats.org/officeDocument/2006/relationships/image" Target="/ppt/media/image25.png" Id="R0ffeb2b1978f40d0" /><Relationship Type="http://schemas.openxmlformats.org/officeDocument/2006/relationships/notesSlide" Target="/ppt/notesSlides/notesSlide25.xml" Id="R4d6cefe2560043a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529607dfe4ea9" /><Relationship Type="http://schemas.openxmlformats.org/officeDocument/2006/relationships/image" Target="/ppt/media/image26.png" Id="Rb8ed73bac0e14c46" /><Relationship Type="http://schemas.openxmlformats.org/officeDocument/2006/relationships/notesSlide" Target="/ppt/notesSlides/notesSlide26.xml" Id="R27a6258403d8488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eaaff2a994aec" /><Relationship Type="http://schemas.openxmlformats.org/officeDocument/2006/relationships/image" Target="/ppt/media/image27.png" Id="Ra3de0740469247a1" /><Relationship Type="http://schemas.openxmlformats.org/officeDocument/2006/relationships/notesSlide" Target="/ppt/notesSlides/notesSlide27.xml" Id="Rd3e7da575b07489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64daa63c3410c" /><Relationship Type="http://schemas.openxmlformats.org/officeDocument/2006/relationships/image" Target="/ppt/media/image28.png" Id="Rc5bbcaaf8b834fe8" /><Relationship Type="http://schemas.openxmlformats.org/officeDocument/2006/relationships/notesSlide" Target="/ppt/notesSlides/notesSlide28.xml" Id="Rc9d9083d15584ef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17a0f6cc84496" /><Relationship Type="http://schemas.openxmlformats.org/officeDocument/2006/relationships/image" Target="/ppt/media/image29.png" Id="R9e00f4a0355446eb" /><Relationship Type="http://schemas.openxmlformats.org/officeDocument/2006/relationships/notesSlide" Target="/ppt/notesSlides/notesSlide29.xml" Id="R8d12e9a2a52a4d1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60ebae05c4d4d" /><Relationship Type="http://schemas.openxmlformats.org/officeDocument/2006/relationships/image" Target="/ppt/media/image30.png" Id="R7b9f5a94174b4ea3" /><Relationship Type="http://schemas.openxmlformats.org/officeDocument/2006/relationships/notesSlide" Target="/ppt/notesSlides/notesSlide30.xml" Id="Rff2be915591c41c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b563c84514b70" /><Relationship Type="http://schemas.openxmlformats.org/officeDocument/2006/relationships/image" Target="/ppt/media/image31.png" Id="Rf0dff0c3548043a0" /><Relationship Type="http://schemas.openxmlformats.org/officeDocument/2006/relationships/notesSlide" Target="/ppt/notesSlides/notesSlide31.xml" Id="R6a88670cdc4b49a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785816e3a4cef" /><Relationship Type="http://schemas.openxmlformats.org/officeDocument/2006/relationships/image" Target="/ppt/media/image32.png" Id="R041ec4d9d62f4f05" /><Relationship Type="http://schemas.openxmlformats.org/officeDocument/2006/relationships/notesSlide" Target="/ppt/notesSlides/notesSlide32.xml" Id="Rb34ad7a32fba4f9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61d99b7cd4960" /><Relationship Type="http://schemas.openxmlformats.org/officeDocument/2006/relationships/image" Target="/ppt/media/image33.png" Id="R1fd47b919c414419" /><Relationship Type="http://schemas.openxmlformats.org/officeDocument/2006/relationships/notesSlide" Target="/ppt/notesSlides/notesSlide33.xml" Id="R0882e4d0920d4b3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e9d0e470f406f" /><Relationship Type="http://schemas.openxmlformats.org/officeDocument/2006/relationships/image" Target="/ppt/media/image34.png" Id="R5e54cd15b0fa4c47" /><Relationship Type="http://schemas.openxmlformats.org/officeDocument/2006/relationships/notesSlide" Target="/ppt/notesSlides/notesSlide34.xml" Id="Rd6bf6525510b45d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ddf5754e64678" /><Relationship Type="http://schemas.openxmlformats.org/officeDocument/2006/relationships/image" Target="/ppt/media/image35.png" Id="R9ae70f6646b349fd" /><Relationship Type="http://schemas.openxmlformats.org/officeDocument/2006/relationships/notesSlide" Target="/ppt/notesSlides/notesSlide35.xml" Id="Rb7c12a53e1f3461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2eb64e1cb4e05" /><Relationship Type="http://schemas.openxmlformats.org/officeDocument/2006/relationships/image" Target="/ppt/media/image36.png" Id="R711b9cec722742ac" /><Relationship Type="http://schemas.openxmlformats.org/officeDocument/2006/relationships/notesSlide" Target="/ppt/notesSlides/notesSlide36.xml" Id="R8de95da2d0de494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41d861e114e4e" /><Relationship Type="http://schemas.openxmlformats.org/officeDocument/2006/relationships/image" Target="/ppt/media/image37.png" Id="R916c2de6afed4499" /><Relationship Type="http://schemas.openxmlformats.org/officeDocument/2006/relationships/notesSlide" Target="/ppt/notesSlides/notesSlide37.xml" Id="R0d9572277a42410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f6bbc7d2243f0" /><Relationship Type="http://schemas.openxmlformats.org/officeDocument/2006/relationships/image" Target="/ppt/media/image38.png" Id="R394732192e5c47f0" /><Relationship Type="http://schemas.openxmlformats.org/officeDocument/2006/relationships/notesSlide" Target="/ppt/notesSlides/notesSlide38.xml" Id="Rd5a782544a2b4e8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e3761845d4504" /><Relationship Type="http://schemas.openxmlformats.org/officeDocument/2006/relationships/image" Target="/ppt/media/image39.png" Id="R02ef782c2938435a" /><Relationship Type="http://schemas.openxmlformats.org/officeDocument/2006/relationships/notesSlide" Target="/ppt/notesSlides/notesSlide39.xml" Id="Ra3c90a352bbb489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143f4329c44ce" /><Relationship Type="http://schemas.openxmlformats.org/officeDocument/2006/relationships/image" Target="/ppt/media/image40.png" Id="R153f61ab09c042d8" /><Relationship Type="http://schemas.openxmlformats.org/officeDocument/2006/relationships/notesSlide" Target="/ppt/notesSlides/notesSlide40.xml" Id="R9e5e32ad26944cf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6cd861fcb4336" /><Relationship Type="http://schemas.openxmlformats.org/officeDocument/2006/relationships/image" Target="/ppt/media/image41.png" Id="R01b0d256f2c54e36" /><Relationship Type="http://schemas.openxmlformats.org/officeDocument/2006/relationships/notesSlide" Target="/ppt/notesSlides/notesSlide41.xml" Id="R41dda433b9804c5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7418d6f434101" /><Relationship Type="http://schemas.openxmlformats.org/officeDocument/2006/relationships/image" Target="/ppt/media/image42.png" Id="R03185cd21db84196" /><Relationship Type="http://schemas.openxmlformats.org/officeDocument/2006/relationships/notesSlide" Target="/ppt/notesSlides/notesSlide42.xml" Id="R84c20834ddea461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cb195ba5c4ad6" /><Relationship Type="http://schemas.openxmlformats.org/officeDocument/2006/relationships/image" Target="/ppt/media/image43.png" Id="R7f73f2cb2cdc4608" /><Relationship Type="http://schemas.openxmlformats.org/officeDocument/2006/relationships/notesSlide" Target="/ppt/notesSlides/notesSlide43.xml" Id="R88416b5d87e34de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3be2c43f943cb" /><Relationship Type="http://schemas.openxmlformats.org/officeDocument/2006/relationships/image" Target="/ppt/media/image44.png" Id="R32cd7d41974946f8" /><Relationship Type="http://schemas.openxmlformats.org/officeDocument/2006/relationships/notesSlide" Target="/ppt/notesSlides/notesSlide44.xml" Id="R06c70e9736c04ea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f18c0009948e0" /><Relationship Type="http://schemas.openxmlformats.org/officeDocument/2006/relationships/image" Target="/ppt/media/image45.png" Id="R7e9e05ae2a2b4faf" /><Relationship Type="http://schemas.openxmlformats.org/officeDocument/2006/relationships/notesSlide" Target="/ppt/notesSlides/notesSlide45.xml" Id="R80b390cb25d940b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edc77abb84e10" /><Relationship Type="http://schemas.openxmlformats.org/officeDocument/2006/relationships/image" Target="/ppt/media/image46.png" Id="R10e50a5940074a93" /><Relationship Type="http://schemas.openxmlformats.org/officeDocument/2006/relationships/notesSlide" Target="/ppt/notesSlides/notesSlide46.xml" Id="R3309bb8b9d764e5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c3965619141ce" /><Relationship Type="http://schemas.openxmlformats.org/officeDocument/2006/relationships/image" Target="/ppt/media/image47.png" Id="Rb5569618d8d0488e" /><Relationship Type="http://schemas.openxmlformats.org/officeDocument/2006/relationships/notesSlide" Target="/ppt/notesSlides/notesSlide47.xml" Id="R0b172b13bdc84d4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e8a9d533d49b3" /><Relationship Type="http://schemas.openxmlformats.org/officeDocument/2006/relationships/image" Target="/ppt/media/image48.png" Id="R1b044452accd434e" /><Relationship Type="http://schemas.openxmlformats.org/officeDocument/2006/relationships/notesSlide" Target="/ppt/notesSlides/notesSlide48.xml" Id="Rc656b6e690a0433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9F4B04-FA0A-4D4C-8E32-A8FCB0E9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48F8F-DFBC-40B4-9AD2-C83D32B9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39105a2b84c80"/>
          <a:stretch xmlns:a="http://schemas.openxmlformats.org/drawingml/2006/main"/>
        </p:blipFill>
        <p:spPr>
          <a:xfrm xmlns:a="http://schemas.openxmlformats.org/drawingml/2006/main">
            <a:off x="628650" y="5524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89337-1816-4B5D-B4B8-3C7EA5EE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17042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DD527-7A7E-4A57-BA06-4314B419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9FE9C-0AF6-4DA9-83B2-396081D2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Two-day authorized multi-cloud security workshop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67CF8-9835-41EF-BEE7-3F6AFD41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AWS · Azure · GCP · DigitalOcean · Kubernetes · IaC · CI/CD · GRC</a:t>
            </a:r>
          </a:p>
        </p:txBody>
      </p:sp>
    </p:spTree>
    <p:extLst>
      <p:ext uri="{BB962C8B-B14F-4D97-AF65-F5344CB8AC3E}">
        <p14:creationId xmlns:p14="http://schemas.microsoft.com/office/powerpoint/2010/main" val="31657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233BF-8BBB-4BCC-80A2-83E786E7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3BEFB-76F7-4C47-B46F-0BD9D9C0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Workshop Promise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54C1A-D8B6-4DEF-ABF0-0FF13C28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0CAA0-6C35-468E-AEBF-C62D5014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02 / 48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f1f3c179d4ebf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2206B-0DA4-4EE7-AF1A-F205B81B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1716B-A9EE-46D0-82A5-5B92CAB6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2FF59-D5DB-4EE3-9E1C-2B9221D4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67D7F-1C90-4D37-8AAC-FCA74EB6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Think in attack paths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4C63E-3EFD-4609-AEBE-137E8BAD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Connect exposure, identity, workload, data, and control-plane impact.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0E253-7A18-42B1-938C-A3EAD472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1DF62-8F61-42F5-A996-0E19D655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5141D-8EB2-42BE-81FF-D749CE64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Prove with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ECD1E-654B-4F61-B349-5E99EF94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Compare manual lab observations with scanner and connector output.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D491F-2139-461A-A11C-AEAB476A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5F6EA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0A8C3-88AB-4C20-A33D-42F95E2F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87717-6CBB-4746-B40B-8D74C31D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rPr>
              <a:t>Finish with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6F731-3EF3-4F57-AE79-E1A9C0CB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Map findings to owners, remediation, control status, and closure proof.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74FC3-1B2F-4523-A580-66F0DA9B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E2F8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CA973C-2E11-416C-91CF-CD8EBED1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24631-7B59-4700-A7F1-31760F05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0537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The goal is not to collect more findings. The goal is to explain the most important path, prove it safely, and close it permanently.</a:t>
            </a:r>
          </a:p>
        </p:txBody>
      </p:sp>
    </p:spTree>
    <p:extLst>
      <p:ext uri="{BB962C8B-B14F-4D97-AF65-F5344CB8AC3E}">
        <p14:creationId xmlns:p14="http://schemas.microsoft.com/office/powerpoint/2010/main" val="44901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8E19A8-242E-4692-BAE5-1EA8E6DE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5A207-EFA2-46BE-9BC7-DEA2556B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Learning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5DC0D-9E1B-4A91-9B75-632AC1A7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88CAB-4A93-419C-B96C-D260B770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03 / 48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98809d4db4ae0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93757-8820-4403-A3D0-A13D3057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FD354-2CDE-44ED-9785-E694ED9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7CD25-E38D-4945-A387-A17DB793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Explain a multi-step cloud attack path without relying on provider jargon.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E77E4-FD55-4AFC-B476-F2FBB3C8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2FD72-2BD5-4BAB-91F3-14150A37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Identify high-risk weaknesses across IAM, storage, metadata, serverless, data, Kubernetes, IaC, CI/CD, and AI automation.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1711B-3724-4F8D-A20F-D7301453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6BF41-8713-4FE8-9CDD-2678AD45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Validate a condition inside an authorized disposable lab and compare it with scanner output.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8EF73-9E60-40D8-96E4-5A86869F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BCED2-45E0-4DFA-BDCA-8AF9FA4E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Normalize evidence using a connector contract with tenantid and scan lineage.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40DAE-8B93-473C-9651-4FF6466A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1C973-3E25-4357-8C3E-FEBD774E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Convert findings into control status, remediation ownership, and audit-ready proof.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1596F0-7172-4F69-85B7-EA1396B0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85729-E397-4093-A529-99806176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Deliver a five-minute leadership briefing focused on business impact and action.</a:t>
            </a:r>
          </a:p>
        </p:txBody>
      </p:sp>
    </p:spTree>
    <p:extLst>
      <p:ext uri="{BB962C8B-B14F-4D97-AF65-F5344CB8AC3E}">
        <p14:creationId xmlns:p14="http://schemas.microsoft.com/office/powerpoint/2010/main" val="4205711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7B5CE2-BBBB-4292-BA9C-9D1A698D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6C3FD-9A18-4D44-B075-00E0B590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Format and Team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9B033-CF17-4125-A305-ECFA83E9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388B3-8959-4F06-B8B9-F2A79E77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04 / 48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bcff32c664382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E26B7-3A6E-4FE7-98D3-38C7BBA8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42FDE-C7B4-47B6-9B7E-2123124C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54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F9534-7657-47B2-8E7C-6EB3B0D3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535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5C279-9533-40B5-9857-70904086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554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69CD1-DCF3-4CAC-A50F-4B382616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28825"/>
            <a:ext cx="535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Workshop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046D6-8B29-412C-93AE-222B06E0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0309F-F23F-4A21-9DD4-9DE96F13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Duration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F3F71-8AC3-4A74-987C-F10FF78A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6970D-6538-4DA8-9719-74BDB634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 days, 8 hours per day including breaks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A97DF-420C-48FB-A43D-AB4B5FDC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B3101-6B59-4CE4-9FE7-2FBC141E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Level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1829E-838A-429F-886E-F26ADB82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42AFC-4B69-4ED7-9823-FA7184F1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Intermediate to advanced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0ED19-9FAF-4641-9DC2-9D273D5D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80BE39-75BE-4AFA-BE50-196A79D9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Delivery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B59B6-AFBD-47A2-8090-094537AA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647E1-4B9E-441D-8566-9448808E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Instructor-led, lab-heavy, team-based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7FC00-9431-4917-A98F-41C8ED47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190703-F71A-4D87-9D32-7E7DC84C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Lab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942A2F-F829-4422-8328-0E7665A9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D7191E-D00A-47E2-A7BB-1E541D3C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Disposable accounts/projects, namespaces, and local clusters 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3AA267-1DDA-4A45-BAA2-02C5D08A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ED10FE-FEE2-45B3-B376-1E3E87AD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Team roles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EA88C6-C223-4384-B924-E3F59C44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2C8FE6-B5DD-45CC-95E5-4B8DB03B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Cloud operator, investigator, evidence owner, dashboard owner, presenter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FD628B-D471-41DA-A967-38C6FCE6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FC570F-3304-4DBB-901E-4180A373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Final 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ADB836-FE70-482D-877D-A748F698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1CCCF8-7FB8-4331-B231-35CBCF5D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Attack path, evidence bundle, scanner validation, control mapping, remediation brief</a:t>
            </a:r>
          </a:p>
        </p:txBody>
      </p:sp>
    </p:spTree>
    <p:extLst>
      <p:ext uri="{BB962C8B-B14F-4D97-AF65-F5344CB8AC3E}">
        <p14:creationId xmlns:p14="http://schemas.microsoft.com/office/powerpoint/2010/main" val="213318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A42A58-91B0-4477-B4A3-055151C0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9525">
            <a:solidFill>
              <a:srgbClr val="B83B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B14F4-02BC-470E-9202-54413E59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Rules of Engagement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DC221-02A0-40C3-A305-7EFE8D1F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B6EA2-1CFA-4ABF-8AF0-0E28CF48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05 / 48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4534eb0a540f8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DE8EA-2BCF-42EC-AA50-7C825D44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61272-D068-4075-AA8C-DA9F2C27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5C9BA-9BDF-442A-921A-58DE582A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Use only the target list and tenant assigned by the instructor.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EC4F2-C54A-4CA7-A0F2-36D1D0A6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A681F-03E1-4D81-8C20-D72657C3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Do not scan public targets, third-party systems, personal accounts, or production environments.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15FA2-A55E-44D5-AFB8-C4559025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9A8DA-E690-49CD-A3EB-B90B257C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Stop immediately when an asset falls outside the documented lab boundary.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D34A1-4528-4CCE-B4B8-C70D725A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5E2D3-2C76-44DD-8A27-31412E94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Never place a real production secret inside a vulnerable fixture.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B759E-A049-44C8-89BB-74492BE3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9533E-E592-4A79-B3B5-EE02C9FB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Capture only the evidence needed; redact tokens, personal data, and sensitive values.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2EFBC-952A-42DE-AF48-5DB8C5B1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6A609-1AC5-4734-B50C-51BC6F8C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Keep budgets, quotas, expiry tags, and cleanup workers active.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6F0DB-0819-4F0E-AD18-1719024E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516D7-01DA-4F5C-9595-564E2159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Rotate or destroy lab credentials after completion.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D2A31-9A0E-411F-99B4-5C3D72EF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E2F8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295C0-2548-4C59-A407-5428B2B1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72125"/>
            <a:ext cx="967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If it is not owned, isolated, approved, and recoverable, it is not a workshop target.</a:t>
            </a:r>
          </a:p>
        </p:txBody>
      </p:sp>
    </p:spTree>
    <p:extLst>
      <p:ext uri="{BB962C8B-B14F-4D97-AF65-F5344CB8AC3E}">
        <p14:creationId xmlns:p14="http://schemas.microsoft.com/office/powerpoint/2010/main" val="111373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9CB2D5-3936-4E07-BEA9-A46C3B39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46198-3083-45C1-B95A-5E127AF4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Training Lab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BA48C-CD7B-4D0C-BF89-CA0EEC8A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7A14E-808B-4CF4-A0F4-7AAC6441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06 / 48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762add7704125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E0ABB-A8B7-42F9-B77E-89C92F2F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AD643-65D2-4053-BF85-BE9F658B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3F134-F2A6-47D9-A340-A0793FE9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2D5D3-FAA7-474E-930B-292BA592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Vulnerable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5A842-EB4D-403D-917C-60E458CB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Isolated cloud account, project, namespace, or IaC bundle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CF5E8-C624-4E34-A119-A79C89F7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4E0DF-3150-470B-819A-27DA3CCC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978CD-4DE3-4C20-83F7-5F569712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4BA7E-0992-44B9-9A5F-E359BAF0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Scanner 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BAE2F-DF6B-4E01-A66C-E99FBF90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AWS, GCP, Kubernetes, IaC, web, secret, or dependency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5399F-4F7F-4EEB-9032-1F0277BD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2132F-5380-4294-B591-437A57BE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539E1-225C-4C12-AB33-9558A659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AD9A4-0DCF-4081-A52E-A5F3B73C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Connector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C2C9D-9B45-42FE-9635-266DBAE1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Normalize source output and preserve scan lineage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59BD39-F5C9-4E9A-9EF7-BCD95A7B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4514F-4BDC-4B16-B82A-F5738FDF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D5F52-0C3C-4A8B-A7F9-49A3A673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232363-82AE-41A5-8B71-C0FA8BB0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Evidence Processor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765A9-7217-47D2-A57C-E0DCC2AA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Validate tenant, deduplicate, store artifact, map controls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052BE1-5548-4D66-BA31-76A8E6E2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7A948D-3F42-465C-B034-EE8E89E8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75E399-5F59-4EE3-ACF4-82CEC53A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D65062-B935-42EE-843D-CB0DCBDD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GRC 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A1543F-57B6-4A02-9FC7-3870EDC7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Risk, owner, status, remediation, and audit proof</a:t>
            </a:r>
          </a:p>
        </p:txBody>
      </p:sp>
    </p:spTree>
    <p:extLst>
      <p:ext uri="{BB962C8B-B14F-4D97-AF65-F5344CB8AC3E}">
        <p14:creationId xmlns:p14="http://schemas.microsoft.com/office/powerpoint/2010/main" val="851186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95C199-22E8-421B-9EE9-78495F86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B863C-464F-48CB-9D01-F04A97A8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Common Evidence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4A91D-E070-4BFF-AD80-94CD0BC6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81709-A3DB-4724-BB43-536F097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07 / 48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d08a9cd4a4033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23D86-6FA9-49F1-B6AE-7249E5E3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9273D-878E-47BA-902C-29A8D102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1057275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51EDA-FB36-4FFC-904A-7DD6C23E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53F26-9DA0-4516-A57A-BEE64490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1000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rPr>
              <a:t>  "tenant_id": "tenant_demo_001",</a:t>
            </a:r>
          </a:p>
          <a:p xmlns:a="http://schemas.openxmlformats.org/drawingml/2006/main">
            <a:pPr algn="l">
              <a:def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rPr>
              <a:t>  "source_system": "aws_scanner",</a:t>
            </a:r>
          </a:p>
          <a:p xmlns:a="http://schemas.openxmlformats.org/drawingml/2006/main">
            <a:pPr algn="l">
              <a:def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rPr>
              <a:t>  "scanner_type": "cloud",</a:t>
            </a:r>
          </a:p>
          <a:p xmlns:a="http://schemas.openxmlformats.org/drawingml/2006/main">
            <a:pPr algn="l">
              <a:def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rPr>
              <a:t>  "scan_job_id": "scan_001",</a:t>
            </a:r>
          </a:p>
          <a:p xmlns:a="http://schemas.openxmlformats.org/drawingml/2006/main">
            <a:pPr algn="l">
              <a:def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rPr>
              <a:t>  "asset_id": "aws:s3:::lab-artifacts",</a:t>
            </a:r>
          </a:p>
          <a:p xmlns:a="http://schemas.openxmlformats.org/drawingml/2006/main">
            <a:pPr algn="l">
              <a:def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rPr>
              <a:t>  "finding_id": "public_storage_001",</a:t>
            </a:r>
          </a:p>
          <a:p xmlns:a="http://schemas.openxmlformats.org/drawingml/2006/main">
            <a:pPr algn="l">
              <a:def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rPr>
              <a:t>  "severity": "high",</a:t>
            </a:r>
          </a:p>
          <a:p xmlns:a="http://schemas.openxmlformats.org/drawingml/2006/main">
            <a:pPr algn="l">
              <a:def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rPr>
              <a:t>  "control_ids": ["DATA-04", "IAM-02"],</a:t>
            </a:r>
          </a:p>
          <a:p xmlns:a="http://schemas.openxmlformats.org/drawingml/2006/main">
            <a:pPr algn="l">
              <a:def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rPr>
              <a:t>  "evidence_type": "policy_snapshot",</a:t>
            </a:r>
          </a:p>
          <a:p xmlns:a="http://schemas.openxmlformats.org/drawingml/2006/main">
            <a:pPr algn="l">
              <a:def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rPr>
              <a:t>  "evidence_uri": "evidence://tenant_demo_001/scan_001/policy.json",</a:t>
            </a:r>
          </a:p>
          <a:p xmlns:a="http://schemas.openxmlformats.org/drawingml/2006/main">
            <a:pPr algn="l">
              <a:def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rPr>
              <a:t>  "status": "open",</a:t>
            </a:r>
          </a:p>
          <a:p xmlns:a="http://schemas.openxmlformats.org/drawingml/2006/main">
            <a:pPr algn="l">
              <a:def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rPr>
              <a:t>  "remediation": "Restrict public access and require explicit principals."</a:t>
            </a:r>
          </a:p>
          <a:p xmlns:a="http://schemas.openxmlformats.org/drawingml/2006/main">
            <a:pPr algn="l">
              <a:def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FAFF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2747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C09536-5774-4DFB-A43E-511EBC85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F5E38-E45C-48F1-A2D4-8F6D721A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Two-Day Module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A3F6A-9D8D-4019-8B1B-D606F243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7ABB0-2AB7-4D2E-9029-A0CA9C8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08 / 48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3530f4eb94ea2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6391B-9509-4B0F-AAF3-75052A6F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CC772-0226-4201-A43C-04298518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54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45CEC-CEEA-4DAB-B978-9490C310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535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Day 1: Exposure to 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5921E-ECF4-4E21-903C-C366C875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554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8FF55-B5DA-4CF3-A637-2D2B6C06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28825"/>
            <a:ext cx="535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Day 2: Platform depth to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6622C-161F-4AAB-81CF-A71FB157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37097-7AF0-4BB4-915B-3743FFCE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M0 Orientation and 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1BB10-002C-4B09-A0E7-F38FF9C8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823AB-191A-4D8F-97A8-6860AC3B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M6 Containers and Kubernetes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1ABD6-8069-4E67-9AD5-C157E0D3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58F60-B3E9-4300-A3DC-21B6C49B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M1 Multi-cloud attack-path mindset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8BF8A-93EB-4ECF-A5FD-37858162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D7455-322F-4FCE-B7C8-3D94C274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M7 IAM escalation graph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B2057-7FC8-4B4F-8464-B31BBC4C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8C60F-AAC6-4343-9918-97D7520C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M2 Recon to first foothold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697BD-FBE2-4CA4-9B94-827E1B70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BF50F-56EE-45DE-95F5-8C604B1E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M8 Provider-specific kill chains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6ECDB9-5FE2-4EA0-B3B0-98A8C8E8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06F0F8-245B-4AFB-97BD-ECB8309B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M3 Storage and artifact exposure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991432-DBD2-4ED4-8B72-16F6C194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A5447F-949A-4810-84D3-19276FCF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M9 CI/CD, developer platforms and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4C179-AE75-4236-BCD2-1988ABD9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05E3A-7FE2-46A7-9374-74677134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M4 SSRF, metadata and identity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CA4EA8-9F16-42CC-87FB-4AA9586E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7DF82-9ABF-445D-B2DC-8331538C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M10 Defenses that work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C7CB18-F06B-4731-BAC1-FF1C4F02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949A5E-3659-497E-9C59-DC45C769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M5 Serverless and data tier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1289F1-CC9A-457B-B527-D102A02A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EC52DC-F760-41D2-BABD-217FAF52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Capstone investigation and briefing</a:t>
            </a:r>
          </a:p>
        </p:txBody>
      </p:sp>
    </p:spTree>
    <p:extLst>
      <p:ext uri="{BB962C8B-B14F-4D97-AF65-F5344CB8AC3E}">
        <p14:creationId xmlns:p14="http://schemas.microsoft.com/office/powerpoint/2010/main" val="21454574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B2689E-049A-4CE8-B68B-AD346FE7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2529F-BEAA-4A2A-911A-729D4637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b617474c043d6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73FC5-CBE1-43D5-83FF-60B5FD61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97F10-AD8D-4265-827E-4F842D98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3F026-D406-4039-9EF3-C0B38605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Orientation and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5A1BD-0E52-4989-A4D5-804ABCB3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Confirm authorization, tenant routing, and the end-to-end evidence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8A784-3968-4DBB-92CE-A1753ACD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30 minutes · Portal walkthrough · Dry-run job · Evidence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22CDC-63E3-435E-94AC-8A2C4591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09 / 48</a:t>
            </a:r>
          </a:p>
        </p:txBody>
      </p:sp>
    </p:spTree>
    <p:extLst>
      <p:ext uri="{BB962C8B-B14F-4D97-AF65-F5344CB8AC3E}">
        <p14:creationId xmlns:p14="http://schemas.microsoft.com/office/powerpoint/2010/main" val="5245115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E784E7-546F-45AA-975D-E54A3BEE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E2D3C-210F-4BDB-810B-2FF235AA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Module 0 Lab: Prove Tenant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0502E-82AF-4479-904E-48D9EEEC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9018F-964F-4FDE-9D35-6593DBCC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10 / 48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e80ab0673415f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3A594-E0F6-43FC-B274-98FC927C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56422-E7EA-4749-AFF9-B23EBA8F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E8655-56F6-4BA8-88DB-246087DB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80693-CBF2-4AA0-B9F7-99C24731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A5CAE-48DB-4636-B5FE-723D1682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Participant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624A5-23CB-448D-8F87-7BA63052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4279B-EBB5-475E-8E96-D8ACBBBA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Expected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43246-48A3-41BF-A92C-7784187F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A185C-22B4-41DD-8405-DA63144E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0CC7C-C1DB-4BDF-A83C-E2173963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F975E-98F0-4DEA-922C-D8FB86DC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Confirm assigned tenant and disposable lab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40D5D-C394-4EDD-8CA2-9177C1A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F4B75-A0AB-4C0A-9D82-EBFC72B8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Scope acknowledgement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63F55-03E4-4E0E-A627-CB5AAD1F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F0F934-2501-4584-ABE2-3DD70EC1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C55BC3-E20A-4C95-B11E-13281824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A316D-3AF1-452F-9EB3-0D44D291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Trigger a dry-run scan job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63C1FD-2874-4A9D-ABB1-04C68F2F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8938DB-93DA-425D-9DC2-A70B0A0E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scanjob.created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96172-2F7F-4D72-9D57-92FE5536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6A741B-FAA2-4B8C-AAA7-75786575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Ingest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EC75A1-23A2-4B9F-9CEF-BE70FC4A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6D19BE-6429-47D0-B0A3-1042BFDE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Submit a sample evidence record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D1602A-7688-47F9-8404-B94206AB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E63CEE-F7AE-4563-86EA-2B674038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evidence.accepted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DAF27A-1359-4741-BBB6-7E3AF1D3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E3A731-3AB3-429D-94D6-17DCA369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Isolate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924FF9-173A-4FA9-B297-5B583E76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5DAFCF-FAB2-4FF8-AE7F-0C61A9F2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Attempt lookup using another training tenant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FF68D5-A0D7-4599-9CEC-F706F59D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EBA22D-3CFD-4DE7-8657-5C977728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Access denied or no result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207F31-99E4-488E-A00C-E48D801D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92C0C4-66E0-4795-BB19-4B3067A8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Verify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67B074-FAF8-424A-A66B-373A7D24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44C9AB-E9FA-45FD-B45F-B8F90D5A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Open the compliance/evidence 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7F6611-3645-4783-8F03-BD77C665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D3E69A-E265-4E71-8CC9-0D9DCE28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Correct tenant and control context</a:t>
            </a:r>
          </a:p>
        </p:txBody>
      </p:sp>
    </p:spTree>
    <p:extLst>
      <p:ext uri="{BB962C8B-B14F-4D97-AF65-F5344CB8AC3E}">
        <p14:creationId xmlns:p14="http://schemas.microsoft.com/office/powerpoint/2010/main" val="3580223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36B192-C77A-48C1-A00A-7F960A7B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2A35B-C8F7-4A5C-A0C4-74CD8BB6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bcd53bec24a53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6B504-1A50-4AC5-BFBD-3D52E8D9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24356-C1F2-4087-9B1D-DA891118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E76DB-672D-4C82-96C5-46AE1D92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Multi-Cloud Attack-Path Mindset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28A72-2ECD-4841-B4F6-6CC33F34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Model cloud compromises as connected control failures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DB8A5-A2D0-45D3-B925-76B0DA0E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60 minutes · Attack graph · Scanner detection points · Control mapping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5CCCD-3F02-4C97-AAD2-E9B867D2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11 / 48</a:t>
            </a:r>
          </a:p>
        </p:txBody>
      </p:sp>
    </p:spTree>
    <p:extLst>
      <p:ext uri="{BB962C8B-B14F-4D97-AF65-F5344CB8AC3E}">
        <p14:creationId xmlns:p14="http://schemas.microsoft.com/office/powerpoint/2010/main" val="1830138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00454C-4081-4678-9CD8-4EE6FD77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78411-10BB-4DE5-A473-DA317402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Anatomy of a Cloud Attack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1D660-C1FB-4621-803F-EE210E17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3E5C5-47E1-4FCC-BC1C-43BC71CA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12 / 48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d78982af149d0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C0241-9977-4068-B862-D651C5FF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660A0-7802-47B9-8740-F33D8563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B6972-88D7-4B13-8448-05CF79E0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958A6-F643-4957-AE9F-058307E5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Exposure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6F418-B10A-4838-B1A7-6965766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Public asset, leaked artifact, vulnerable app, or weak trust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189AB-2010-4947-8730-E148B94C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EF2B0-C81B-4AF5-905B-26CA7E6B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348A1-0DAF-4B2F-87E8-9FA896F5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D4664-F5E7-45D8-8C72-851262C2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9D0B6-6915-4C98-8E69-6B61D645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User, role, service account, managed identity, or token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5D28E-5A97-435F-BE1A-2AB312A1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C5F7C-D10D-47E9-8530-B232CB84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17185-C9A6-4DF8-B60B-84D03CF7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93BF4-1C93-46E3-A9E7-8845F865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Privilege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BCC11-2D4C-4E07-BF19-74FD16CE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Broad action, trust edge, role chain, or automation capability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C2D69-D26A-4B40-8522-4F160502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6B7D5-C735-47A7-A0DE-1369FC28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AB016-F905-4556-ABF9-EB37B22A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759A9C-5599-4304-BA9C-98B481F3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Target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B61A6-84A7-47C7-8933-BC42F64D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Data store, secret, workload, pipeline, or control-plane resource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350403-9BCA-4759-B030-F3EADE47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EA47D9-0215-41E3-BAAC-461937B5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3CCB76-4A9A-44C5-BD3B-D60DC705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662670-30BC-4E9A-8BEB-8B9622B8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4B9486-8C24-460F-9502-ACAFB459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Disclosure, persistence, service disruption, or governance failure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B46F72-15CF-4075-B8F4-74DF2D77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E2F8F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42BEE2-D6AE-4919-A7B0-6EC51555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3395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A useful finding explains where the path starts, which identity moves it forward, and what evidence proves the blast radius.</a:t>
            </a:r>
          </a:p>
        </p:txBody>
      </p:sp>
    </p:spTree>
    <p:extLst>
      <p:ext uri="{BB962C8B-B14F-4D97-AF65-F5344CB8AC3E}">
        <p14:creationId xmlns:p14="http://schemas.microsoft.com/office/powerpoint/2010/main" val="16387976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89D81B-6AB9-4E6B-886F-73F8AE7C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ED2BB-CDB1-4674-AAE9-521B1E21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Module 1 Exercise: Build the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1B1DC-8865-424F-843D-51B2BD20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5C672-0CA3-4165-A4A8-E756086F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13 / 48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812b1bf7347ad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4AE8D-0D40-4A2C-9E11-B7CC0212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A3ECE-2D83-4559-8D0A-5A845245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467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1AA22-C37E-4944-9D0D-D0109106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73B50-5E3F-4058-A15A-103E2CF2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Technical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9ECFE-F788-43F0-94DE-ABF46AEF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Entry point, identity, privilege edge, target, impact, and missing detection.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2C704-F0BA-4516-9B0D-5B749EE3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5467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45A14-D8A4-467F-996A-0914C36A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FFFC4-5BB4-4343-AA9D-60D448FD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24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Evidence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56AB8-1835-46AD-882D-416C3B5D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API response, policy snapshot, log event, scanner finding, artifact hash, and owner.</a:t>
            </a:r>
          </a:p>
        </p:txBody>
      </p:sp>
    </p:spTree>
    <p:extLst>
      <p:ext uri="{BB962C8B-B14F-4D97-AF65-F5344CB8AC3E}">
        <p14:creationId xmlns:p14="http://schemas.microsoft.com/office/powerpoint/2010/main" val="166021781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5A19E9-3373-4542-9A7B-88D52313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0276E-1226-4403-96C9-64307DF1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612a95a164350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D30DE-C072-4953-AC0E-97B3F5FA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47B31-6E30-477C-BEF8-A78403F5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F3D32-3658-47F2-9F2D-C0B5E233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Recon to First Foothold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088AF-9499-4F8F-8E5C-7FBA8A76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Find inventory gaps and intentional exposure only inside assigned lab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90061-EFF9-4F08-997D-B857134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90 minutes · Asset inventory · Manual proof · Scanner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7A38A-2FFC-494E-BF46-7159C25D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14 / 48</a:t>
            </a:r>
          </a:p>
        </p:txBody>
      </p:sp>
    </p:spTree>
    <p:extLst>
      <p:ext uri="{BB962C8B-B14F-4D97-AF65-F5344CB8AC3E}">
        <p14:creationId xmlns:p14="http://schemas.microsoft.com/office/powerpoint/2010/main" val="11986364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0C2A0A-8E5D-43BD-B4FB-3E096EEF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24834-2E31-4393-98D4-1712B4C1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Recon Evidence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BF453-0349-4658-8AC2-58DBB1AA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A5E69-6968-471D-81FC-EE0E5044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15 / 48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7ee94598a4424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D5A1B-C19A-417F-8AB9-BD5545AF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AFD93-73B8-405B-A7B2-485A4E30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E374A-F779-4BE1-A7BE-CA0EB0B6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2BE48-8D37-4F8C-A041-EA498968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BB865-A9AB-41AA-9382-394FCE87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Asset identifier, provider, region, owner, environment, and expected exposure.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951CB-0926-4DFA-9FBC-1F4B8E28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2D5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72947-98CF-4F06-88D6-0BE6A9B8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E6B59-1506-4DD5-8DE7-52E710F2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Observation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25AD5-23FF-4F9D-9F77-DBB0F480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Service response, policy state, DNS record, or artifact class without collecting secrets.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F39EE-AFE6-4512-A0E3-DE990709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C9240-37F6-40A3-BF88-6DCAC7B3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6F693-A8E3-46C2-A65D-8BF94E60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43EFF-C426-4086-83C4-3C898739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Scanner finding, duplicate handling, false-positive note, severity, and control mapping.</a:t>
            </a:r>
          </a:p>
        </p:txBody>
      </p:sp>
    </p:spTree>
    <p:extLst>
      <p:ext uri="{BB962C8B-B14F-4D97-AF65-F5344CB8AC3E}">
        <p14:creationId xmlns:p14="http://schemas.microsoft.com/office/powerpoint/2010/main" val="3215916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0140A0-5797-4771-8745-88B2BE58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DF216-65A5-4B2C-89DE-89CB63E3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Module 2 Lab: Manual vs Scanner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C65BD-87BB-4644-9EA8-7A206A8E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A4A10-CE0D-4373-B7BB-AA7D6CC0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16 / 48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bc2117cfc4e8d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ACBFD-0B28-427A-BD99-7F5AB152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E9456-D58A-4B04-9686-4365AE91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DD498-B405-40E0-9CDF-4D46FCBF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3181B-147A-46DA-AA9F-F3FCFEFA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E0E0D-D350-4D17-82C2-C1675558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A1C0B-F9A6-47C5-A36F-0109B96D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BD3EC-8B25-4C0D-B7E3-349116D3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E22CE-1CA7-4228-986C-AE667B1B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C9FCE-1838-476A-A452-57032DA2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091B8-096D-49EB-AE05-C06A7D86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C1628-6232-43B4-B783-03E7D792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Enumerate only assigned lab assets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76586-736A-40E5-9281-4257321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8C3FBC-7D90-4F3F-B460-E5042AF1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Asset 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892F4-46F4-4400-9B3C-FE9D2609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9F1174-8FC2-4929-B3C7-C498B70F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1B4E8-1EC2-443F-895C-CB4D6822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0C78D-685E-4290-BE0F-42508B9D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Record intended and unintended exposure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083027-E36B-41CE-88C0-238FB65B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BF437F-8A05-42EF-879D-8C7E08F9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Observation worksheet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159C2-058B-47D1-9662-A27D2751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091CE5-6E94-4E6F-9B6E-D1652ED3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D4478F-0599-422A-A2A9-EE498181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0856CC-FAD8-47EE-BB11-645C3EB5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Capture redacted proof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567A13-C8A4-49D0-B0A7-1943ED99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8AA7C0-3631-4393-A453-E3CC2DCE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Screenshot or API artifact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BC1358-6A10-4CC5-A24F-7C039C92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591B42-CF37-48FB-B1BA-48A2434E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D592A9-FDC1-47C0-9CA2-46C6974C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9F55D6-02E6-4BB5-9612-7D9D323B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Run the cloud inventory scanner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6C9BA3-93BB-4DDC-888B-1831FF43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2A7C4A-766D-4904-A82A-ED2AD44F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Finding export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3A1C7A-1D6F-4AF7-B2F5-9F7D09F4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BDBE57-FDD7-479E-89D1-F7CE06D1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F5FB-CB9E-4FFA-9551-EAC69228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455273-397B-4479-941D-2E66BE6C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Reconcile misses, duplicates, and severity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546D97-45F4-4966-8B80-A9CA0B75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5F7228-528E-49B5-84DF-88A6A9B9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Validation notes</a:t>
            </a:r>
          </a:p>
        </p:txBody>
      </p:sp>
    </p:spTree>
    <p:extLst>
      <p:ext uri="{BB962C8B-B14F-4D97-AF65-F5344CB8AC3E}">
        <p14:creationId xmlns:p14="http://schemas.microsoft.com/office/powerpoint/2010/main" val="82565455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8EBAB5-C0C2-45A9-AF27-5F4D42A8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78230-C922-4E69-90C1-1601E2B9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25269bee6460a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59267-9846-41C5-ABAD-373038E5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FF40E-E517-4501-AB43-30443636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52BFA-AF51-4BA7-B619-6B5D73F7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Storage and Artifact Exposure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C2FCD-1E5E-4D0D-A808-D142FE12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Trace how buckets, backups, logs, and build artifacts expose sensitive 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AEFFD-0557-477E-A506-47E48E63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75 minutes · Policy review · Artifact classification · Remediation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FC53E-1C2C-4A50-8EC2-F92A9558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17 / 48</a:t>
            </a:r>
          </a:p>
        </p:txBody>
      </p:sp>
    </p:spTree>
    <p:extLst>
      <p:ext uri="{BB962C8B-B14F-4D97-AF65-F5344CB8AC3E}">
        <p14:creationId xmlns:p14="http://schemas.microsoft.com/office/powerpoint/2010/main" val="15664666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F760C9-2528-435A-AFB6-79D7C19D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A3FD5-13A4-4D9C-8669-F97F4312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Storage Risk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45CD3-6D25-4540-86B8-89E772A6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64991-8799-45F3-83DB-19A68CD8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18 / 48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ebe83f0594816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4E56C-621A-41E6-B3E0-477431FB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CC592-B69D-4698-9D16-8CD5D0CA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7086C-9594-4C15-BF3C-58FF182A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67788-026F-401A-9730-2530CCFB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Public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310B5-7F0C-4899-863B-29A083F7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Anonymous or internet-wide read/list permissions.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3EC27-9F96-475B-A2C8-2A2462A7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4C6C2-9232-4019-B94D-5317F1B4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BFBEB-4A88-4F6E-8973-4A5C2877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Cross-tenant trust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466A9-0372-43D5-B4C8-D78FC8FD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Broad principals or shared credentials beyond intended scope.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C72D7-EFB0-4B7F-AC6F-506C0EF3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2D5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E010E-9B9A-4575-BAB6-89E89583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CBCD3-F0AD-4DB0-9D1E-45DDD27E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Artifact leakage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4C85D-52ED-4587-AF8F-8E4925CE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Backups, logs, source maps, environment files, or build output.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A4756-1B73-4C5B-9362-0E64758F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E9E7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F3575-1BA1-43C7-90C4-8EA68E60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9525">
            <a:solidFill>
              <a:srgbClr val="B83B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DBA4D-FC8D-432A-9E2E-B8780F7D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3B3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83B36"/>
                </a:solidFill>
                <a:latin typeface="Aptos Display"/>
                <a:ea typeface="Aptos Display"/>
                <a:cs typeface="Aptos Display"/>
              </a:rPr>
              <a:t>Weak evidence handling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4F4DF-7E66-431F-8933-E7782EDC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Raw sensitive material copied into tickets or chat.</a:t>
            </a:r>
          </a:p>
        </p:txBody>
      </p:sp>
    </p:spTree>
    <p:extLst>
      <p:ext uri="{BB962C8B-B14F-4D97-AF65-F5344CB8AC3E}">
        <p14:creationId xmlns:p14="http://schemas.microsoft.com/office/powerpoint/2010/main" val="21385418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B8322A-FA0A-4CFB-8E9A-4F72054F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5801D-154E-401D-8FCF-378DAF3E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Module 3 Lab: Policy to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9E19B-CCE5-4CC7-A6A8-A841DD41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C40D7-FF4A-4124-9927-BD929992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19 / 48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b2a6b6c984a8a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987E1-B03F-4CCB-837C-D53C37DF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1AD73-A4FA-4796-925D-C27067C1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3A31C-496D-4F54-A30B-895A267D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9ED17-152D-4DB0-8B8C-B38C1583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2E674-E2A1-4E43-9F66-CA7D97F1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Participant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E778D-B41D-4D6A-9FE0-D5FF3CE2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8B086-84D1-4A03-BCEF-3513C75C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Evidence produced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EAC6F-1618-4912-8D6A-856557EE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E47B8-61E2-4BEB-A5C9-3ED08E73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D247B-0CA2-4CCE-ACF3-3B017452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A3EF0-BFDD-443A-B6CA-C2D0BD7D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Inspect the prepared vulnerable storage configuration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A6E0C-B1F3-4B43-8D1D-6E32FCC9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C2DF0-34C9-4648-9A42-17B396AD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Policy snapshot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AE1E3-AC9F-4C10-9F67-AD3AA2E9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D461E-0E58-4265-9B07-834BEADB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Classify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E7109-46F8-444F-ACA8-597FF77F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DF416-CDBC-46AF-B6CB-F4AC14D2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Identify artifact type without exposing its value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5CEA1-6127-434E-BEC8-438798A2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A92141-F180-4F6B-95A0-17CF2A41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Data-classification label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338726-AF31-4B68-9721-715783A3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CBE47-643E-499C-A579-B0BF92AA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Detect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319FB1-BF68-4975-8F41-3698B0B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D5E282-EA4A-4191-B436-CA843600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Compare manual result with scanner finding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21BCBF-0984-4521-A192-B29F78D3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B05C0F-59F6-42FD-8B6F-09DD9220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Finding and lineage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FFF3C3-3F22-469F-A7CC-BE0CCF2A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2C5488-83EB-4967-8365-C77D511D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Fix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61450F-AB8C-4E3C-9966-D2B1A43A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DC8BFD-BD05-4EA6-86F0-569F5AF6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Draft or apply least-privilege access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84E49F-BB48-4C95-B6FE-7D31093F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F7E4EF-4580-42F4-B1C6-DF22AA78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Remediation diff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FD96CD-24DB-48C9-B72F-379FCDF2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9D63FF-69C7-44FB-B5CD-2C65F24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Prove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D0EE5F-4175-42DA-98C2-08E6328D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FB503E-3A0F-4984-90AA-EBC01860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Rescan and record new state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F1BDF0-500F-455B-898F-FC1EB086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0D9842-A6BE-426E-9887-E79D24BF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Closure evidence</a:t>
            </a:r>
          </a:p>
        </p:txBody>
      </p:sp>
    </p:spTree>
    <p:extLst>
      <p:ext uri="{BB962C8B-B14F-4D97-AF65-F5344CB8AC3E}">
        <p14:creationId xmlns:p14="http://schemas.microsoft.com/office/powerpoint/2010/main" val="97138744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B84AFA-50A1-4CF4-9628-6F52640C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49351-2F87-4BB7-B5A2-7F208620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9e39642324119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6CC6A-FD92-431C-80DE-4C67DF09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6C66C-8EF0-4492-82CE-9CFC04DB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DE1F1-EB52-4948-ADD0-D42197E3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SSRF, Metadata and Cloud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2A673-4F64-47A0-8BE2-45A995F0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Understand how an application weakness can become runtime-identity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F0B55-E335-4A94-BCE5-9931F750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75 minutes · Controlled trace · Effective permissions · Shared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45B40-597B-43F8-B3EC-B9E96DF2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20 / 48</a:t>
            </a:r>
          </a:p>
        </p:txBody>
      </p:sp>
    </p:spTree>
    <p:extLst>
      <p:ext uri="{BB962C8B-B14F-4D97-AF65-F5344CB8AC3E}">
        <p14:creationId xmlns:p14="http://schemas.microsoft.com/office/powerpoint/2010/main" val="6874167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7459A5-E034-46B1-AD82-8CA47181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A4EE6-1666-433A-8606-98D11B7E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Controlled Application-to-Identity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97A37-F8E4-4568-8195-4D6686B9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FAA87-D9F3-4F8B-B2E6-38166F1B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21 / 48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1796569a74203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BE529-DE2B-4FCC-B40F-341C4CAC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E443C-BE00-4488-8920-E2216B52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F3AE0-F371-42C9-9B4D-7F4F0412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04FA6-D0BB-4BA3-B031-B3ABC5BE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Application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6C5F1-F272-49FF-BCBB-6C40006B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Instructor-provided request path inside the 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16079-AE69-4926-AEDA-398578E5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18233-7329-4B02-AA5A-3C5FD8A7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7AAAA-F6E8-4C5A-A490-AA23D266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8BEA6-F059-407A-91BA-7FD74379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Internal reachability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8FF94-60D8-4DEA-A05E-858379AF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Application can reach a restricted metadata surface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05EE3-7959-41FC-8531-5C0B21D2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EC59D-49E7-4073-9984-52C4C4C2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F49B2-F167-4C97-9233-CB3ED3F2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8FDF4-481E-4714-98D9-E7D111F2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Runtime identity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15FB6-BBDA-4B53-9A0E-AF643304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Instance, workload, or managed identity becomes relevant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752C0F-3920-4E2B-A78A-8FC830A4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3D8FC-02F3-4D5E-BD4B-4F630593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750FE-EA8E-4921-BF54-D0A2ABF3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CC887B-DDC5-4F69-B19B-A974188E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Effective permissions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DCB5F6-AB88-42FF-AA50-CCB8F54A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The attached role defines the actual blast radius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88C08-7041-4759-A58E-08025927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681B4-F688-443C-9E1F-9CCE2737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970B8F-78B6-4713-B48D-549C9F0A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3BD557-7525-49F9-BF84-88484364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Control response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7842E2-8091-49DB-A8B3-1B561424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App fix, metadata hardening, egress restriction, least privilege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2065D0-E0D4-4340-86BC-51EB2A5C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E2F8F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06717D-80FF-478E-8A18-8C7AB622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3395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The lab focuses on evidence and remediation, not exploitation of public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4199740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1752D-DB8F-4CBA-AF51-DFCED067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77BFA-BECB-4C24-93FF-E9E5E8EF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Module 4 Evidence and 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5EEB7-286E-4507-B041-F81965A6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A2DA6-3318-492C-AF7A-FB1FBE22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22 / 48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05d145d6248f1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C000D-85F9-494A-9177-F3A0747F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71BDF-E898-4E3E-ACE8-A4672580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467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E9E7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66D62-A293-42FC-BCB7-A4D76A87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9525">
            <a:solidFill>
              <a:srgbClr val="B83B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73318-7464-4D2D-BC39-FC4F2C6B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3B3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83B36"/>
                </a:solidFill>
                <a:latin typeface="Aptos Display"/>
                <a:ea typeface="Aptos Display"/>
                <a:cs typeface="Aptos Display"/>
              </a:rPr>
              <a:t>Application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03876-D9A8-4231-B23C-5813CEED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Validate input handling, destination restrictions, redirects, and server-side request behavior.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62F3E-CF3E-4909-9771-881827B3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5467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5F6EA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ACD69-2780-40B6-AC49-E2E4D104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AE238-EA7A-498A-9B6C-3C402F4B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24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rPr>
              <a:t>Cloud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AF210-CB3A-4D31-B51B-F32A1FD2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Harden metadata access, reduce runtime permissions, restrict egress, and monitor identity use.</a:t>
            </a:r>
          </a:p>
        </p:txBody>
      </p:sp>
    </p:spTree>
    <p:extLst>
      <p:ext uri="{BB962C8B-B14F-4D97-AF65-F5344CB8AC3E}">
        <p14:creationId xmlns:p14="http://schemas.microsoft.com/office/powerpoint/2010/main" val="142375483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1B966C-C1CE-424E-8D90-B1A66639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82FD9-0209-48DB-96B4-F1E5E494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4f376075d4385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08428-AFE0-4829-80C0-B8AE211B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F3083-6548-4B01-AAC4-00B3D67D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1C9E7-269B-4F10-BEB8-BDACE25C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Serverless and Data Tier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F685C-80A2-4117-9875-157F078E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Identify lateral-movement risk in functions, queues, databases, and secrets stores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0F094-E0CF-4148-9B1E-1FE8D677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60 minutes · Function identity · Sensitive configuration · Control mapping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D6852-1599-4DF2-86D1-CE0B427B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23 / 48</a:t>
            </a:r>
          </a:p>
        </p:txBody>
      </p:sp>
    </p:spTree>
    <p:extLst>
      <p:ext uri="{BB962C8B-B14F-4D97-AF65-F5344CB8AC3E}">
        <p14:creationId xmlns:p14="http://schemas.microsoft.com/office/powerpoint/2010/main" val="170847175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5DAFFD-0D39-4049-8F42-2237BDF2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163F4-DC7C-4321-8211-AC3B6265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Module 5 Lab: Automation Identity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A0A9F-FC49-467A-8A18-2E091109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56936-3288-4DE5-85E2-1F34D2FE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24 / 48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ba58a29754a31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FE01E-A77A-4950-95AE-8CFC912E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0FF23-8C73-4C60-82DC-11C69269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E5209-559E-48CE-8163-6E4427B2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177E1-DEFB-4E08-8FE7-5C52B18D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Function or job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F2FEE-B149-48DB-AA58-5E705E1D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Trigger, attached identity, environment configuration, and deployment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976D7-5961-4414-8CC7-107AF0E5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2D5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C9DBD-C8DF-4DD3-96CB-A6811DFC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545EE-24A1-4CF8-BAD7-5209B8D6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Data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ACB07-071E-4F95-8810-39B035C7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Database, queue, object store, or secret store reachable from the workload.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9A583-141F-4073-A9F1-B0A3EE66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20E21-9FEC-47B5-A90F-0AE36877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E4FDD-8F6D-45E8-AE1F-86B3A411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Evidence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FC133-3FD8-410F-B067-66AEDD05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Manual observation, scanner finding, control mapping, and closure proof.</a:t>
            </a:r>
          </a:p>
        </p:txBody>
      </p:sp>
    </p:spTree>
    <p:extLst>
      <p:ext uri="{BB962C8B-B14F-4D97-AF65-F5344CB8AC3E}">
        <p14:creationId xmlns:p14="http://schemas.microsoft.com/office/powerpoint/2010/main" val="40215406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2B4558-6BEC-49CD-B1E7-FC525CF7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B5041-803F-490D-8D88-E59C6A2F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eb2b1978f40d0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026A2-41E3-46F4-9577-2A1D3C72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7AFF4-83DE-4652-BF36-3CE13D17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DAY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8454A-6BC4-4861-96B5-407AC395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Platform Depth to Governance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1D8B9-78D4-43D3-BEF3-CC65057F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Kubernetes, IAM graphs, provider equivalence, CI/CD, AI, controls, and capstone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EEB1F-C98B-47FB-AEBB-A8A36C0C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Scanner validation becomes evidence, ownership, remediation, and executive proof.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AAC4A-4394-4B8A-B78E-4A32A524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25 / 48</a:t>
            </a:r>
          </a:p>
        </p:txBody>
      </p:sp>
    </p:spTree>
    <p:extLst>
      <p:ext uri="{BB962C8B-B14F-4D97-AF65-F5344CB8AC3E}">
        <p14:creationId xmlns:p14="http://schemas.microsoft.com/office/powerpoint/2010/main" val="45505147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9B03A1-3380-4C4A-A065-33256697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A6997-2868-438E-9FF1-549837B7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d73bac0e14c46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B9A0F-9211-4E1F-BF23-4FDCE93C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9EB3D-3245-43C2-B7BD-1EC74676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E9812-0A18-4683-B146-1B6034D4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Containers and Kubernetes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4A887-71E8-409A-A40E-281DA4BB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Assess workload, RBAC, network, secret, and drift risk in a disposable cluster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710A3-5B9E-470A-A9BE-A0F36B52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75 minutes · Kubeconfig scan · Live state · IaC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64614-C51F-4541-AF07-CF6C6D80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26 / 48</a:t>
            </a:r>
          </a:p>
        </p:txBody>
      </p:sp>
    </p:spTree>
    <p:extLst>
      <p:ext uri="{BB962C8B-B14F-4D97-AF65-F5344CB8AC3E}">
        <p14:creationId xmlns:p14="http://schemas.microsoft.com/office/powerpoint/2010/main" val="6147134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6F502D-6275-4D85-963B-78931547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C38CE-C27E-4663-8727-F1E0FA26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Kubernetes Scanner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341FD-EAC7-405B-9C75-01808579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57CC1-B30E-4342-9531-CA5D3281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27 / 48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e0740469247a1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1234A-9C66-4F9F-845E-0CE0D8BC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8E8A4-719A-42B2-99B7-974BEDA7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C6E86-00F3-4AE2-B7B9-6910027F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7AADA-18C2-4588-87AE-6FDA6471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347D6-09CC-46CE-B839-D388A22C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16D44-E2D2-48E8-9C20-F0E1318A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D0D1A-05FB-45D5-B9FF-8466ABA7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93997-01D4-45F7-85CF-7F4D237C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9E7B5-0AE9-46D9-A982-00913414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Workloads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23184-094A-44B9-946B-9CD50D31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FC332-D62E-4C9D-9003-B3166852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Privileged mode, host mounts, risky capabilities, default namespace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78B3D-D1A2-47D3-A2F0-F41AF582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8F5FF-1124-490E-9926-5B4F1C6B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Pod/deployment specification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230FA-8AAF-4E92-B707-FE3C1B8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0A7DD-9198-49E7-B29B-1AD18BE3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Identity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86A0F-D21A-4AC6-873D-6472D9C4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32DC0-32BC-450B-AD59-6803B800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Service accounts, Roles, ClusterRoles, bindings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4EF78-B92D-4B25-8A8D-02E00311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FA8DD-58BE-42CF-972C-D70F13E4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Effective RBAC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FF207B-1A46-4DC0-B87B-AEBE2744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1CD564-20BE-424D-AD4D-79A06EF5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Network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667FDC-22F2-440D-AD98-6D810BB2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14F8A-6CC9-4B93-9A43-F4A2CA00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LoadBalancer/NodePort exposure, missing NetworkPolicy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63436B-597B-4B65-872A-85C3C934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4B244D-BFB4-4B06-A5D8-FEABC0F2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Service and policy snapshot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CEDC70-CDE9-4DDF-B920-85605915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FDD014-B57E-4E37-B56B-14BDC7B6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Secrets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E1C34A-CAE4-4489-83B7-7CF06E7F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BF8ED2-6E4E-48D1-81A0-E2CDA7CB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Unnecessary mounts and broad namespace visibility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969BC4-B9C6-4E38-8ECF-B4F674FE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CCF64D-F9C5-47BA-997A-DC69E8B6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Redacted workload reference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CE7D96-D763-40DF-9051-07787F52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2791FB-672D-49A0-B239-CF5D1473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Drift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321628-C79F-47A0-A380-C691FA12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81BD14-CC69-4196-9A27-F4020A92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Live state compared with YAML or Terraform intent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E49DD0-CF00-4655-8CAE-CC778406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5C83E2-7FBD-485A-923C-55719C39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Deployment-to-IaC diff</a:t>
            </a:r>
          </a:p>
        </p:txBody>
      </p:sp>
    </p:spTree>
    <p:extLst>
      <p:ext uri="{BB962C8B-B14F-4D97-AF65-F5344CB8AC3E}">
        <p14:creationId xmlns:p14="http://schemas.microsoft.com/office/powerpoint/2010/main" val="14056616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B15A6B-7129-4CD2-A73A-8348A2F2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285F8-F00E-41A1-AC7D-72878DFB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Module 6 Lab: Live Cluster to IaC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DD79D-105A-4016-8992-32606319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FDACA-F8EB-4A6B-AFDC-093016EA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28 / 48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bcaaf8b834fe8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3E712-8E61-489F-8925-79E0977C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8D39D-3E9A-459A-8A3D-B2A123B5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A62A0-DC2B-4EF1-B0D6-63004BD6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Connect using the assigned kubeconfig and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4FA8B-61C3-4517-94D7-339F0C9C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31068-C9AC-432B-B05E-930C5876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Inventory pods, services, namespaces, RBAC, and network policies.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23EF5-2727-4042-A35C-7B2DBE87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DFEDA-9B4E-41F0-8AAF-B0A89F80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Identify the prepared privileged workload and broad identity path.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A3474-9A75-4047-9E68-15CDC178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7283F-A732-4021-B2C2-C7EADF79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Compare live objects with the provided IaC manifests.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03F85-17EE-40C7-AFA9-2A6EB40C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64FE7-C6C3-425E-8D35-25EC23D6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Rank fixes by blast radius, operational impact, and proof requirement.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449E7-7C79-478E-A4DC-8B8DD6B7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E2F8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21219-C949-4668-A387-13AFC385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72125"/>
            <a:ext cx="967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Success is not “the scanner produced findings.” Success is a defensible priority order with evidence and owners.</a:t>
            </a:r>
          </a:p>
        </p:txBody>
      </p:sp>
    </p:spTree>
    <p:extLst>
      <p:ext uri="{BB962C8B-B14F-4D97-AF65-F5344CB8AC3E}">
        <p14:creationId xmlns:p14="http://schemas.microsoft.com/office/powerpoint/2010/main" val="113607178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6F4249-C905-4F6D-85A5-1379EF17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8E9E7-B33E-4C63-A631-42B01E97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0f4a0355446eb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EF763-359D-4A4F-8A79-911DF1C6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64B61-32D2-414C-BFFD-6E34E24E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EED01-3898-4475-8FDB-79DEC018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IAM Escalation 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6BAAE-23D4-4259-817D-0AE5148D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See permissions as graph edges and trust relationships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F0C89-2172-4197-B25D-EFFD38A0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75 minutes · Identity graph · Dangerous edges · Least-privilege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BA91E-097E-4847-953E-E0FAF707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29 / 48</a:t>
            </a:r>
          </a:p>
        </p:txBody>
      </p:sp>
    </p:spTree>
    <p:extLst>
      <p:ext uri="{BB962C8B-B14F-4D97-AF65-F5344CB8AC3E}">
        <p14:creationId xmlns:p14="http://schemas.microsoft.com/office/powerpoint/2010/main" val="8448205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49E84B-B315-43D7-855F-306CE07F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83300-202C-4B62-A4BF-3A1C2F6A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Identity Graph Thinking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BF690-B86F-4626-8C60-874006F2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CC262-58EE-4C60-99E5-CB0051B5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30 / 48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f5a94174b4ea3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DC29F-D855-4F21-B0D6-5695DC0D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772AA-1634-44F5-91AA-7347F041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E4C78-486C-4E82-BF5E-FB342C47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2AF68-6D5C-4E4B-8141-BC3DA180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Principal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E2B41-A4C8-4B03-89EA-C97ED1BF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User, workload, CI token, function, or service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A6431-AEAF-4684-BFDA-9A3246CA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4BD09-806C-4BAC-A2FA-52F1DCA2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C78B9-83DA-44BD-A834-8311644E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7F7E4-8392-4F2D-BD6A-5FC64941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Trust 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A9095-8A55-426D-8EE5-60261C6C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Assume, impersonate, bind, delegate, or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5F2F1-3C3E-44E4-BCDD-4900B9A9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5EA45-DE3F-4483-8B4F-5AF7790D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A8DA9-4EF7-4AA6-82B8-71E38F95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81CA2-C8F3-4014-8E76-668680D9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AB23F-EA07-423F-BD34-423D2872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Create, update, attach, invoke, deploy, or modify 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A0FFC-43D0-46FA-BBC1-9906CA85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C136C-F592-4D9E-AD4E-A3FCCB94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843708-5CF3-41E1-8747-C54333D1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41F40-11C0-4FA1-9FDD-2999CB99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Resource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CAF7F-ED5B-4146-8296-32AA5D63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Wildcard, project, subscription, account, namespace, or object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F19A2E-9360-40CE-B2F0-443C536B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71E3A4-850B-49F6-A4B7-1CC9190F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A4F5A9-6EA3-40B5-8006-BA66D158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438D86-9737-4004-BB4B-FE4F4B3D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C918CD-7B8B-4656-B4B1-A2DE9AD6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Privilege expansion, persistence, secret access, or control-plane change</a:t>
            </a:r>
          </a:p>
        </p:txBody>
      </p:sp>
    </p:spTree>
    <p:extLst>
      <p:ext uri="{BB962C8B-B14F-4D97-AF65-F5344CB8AC3E}">
        <p14:creationId xmlns:p14="http://schemas.microsoft.com/office/powerpoint/2010/main" val="57681424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810CF9-E723-4E15-8614-8948ABE7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1542A-FB73-4D23-AE49-4987F285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Module 7 Lab: Mark the Dangerous Edges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4025C-A258-405F-A3E2-5E5E7073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BBB31-D426-4287-82D7-BD7A7B2C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31 / 48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ff0c3548043a0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DEC3F-9AB3-4BDD-9961-27D23542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E3E1D-3621-4D1C-BB1D-CC83DBD9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467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E9E7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F26CF-F463-46E2-B195-BA3E8FC4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9525">
            <a:solidFill>
              <a:srgbClr val="B83B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687CF-EC58-4AED-AEA5-95D999E1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3B3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83B36"/>
                </a:solidFill>
                <a:latin typeface="Aptos Display"/>
                <a:ea typeface="Aptos Display"/>
                <a:cs typeface="Aptos Display"/>
              </a:rPr>
              <a:t>Investigation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0DBAE-8C54-47BC-9370-7A3DA81A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Build the identity graph, mark escalation edges, and identify the highest-impact reachable resource.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54CC6-39A7-4983-B881-C314EAA7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5467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5F6EA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D02E7-4985-4814-A858-B13A925C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9D8C5-CDAA-42EE-9910-D4B2AB51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24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rPr>
              <a:t>Remediation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E2B28-4265-42FD-B085-E314CA63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Reduce action and resource scope, add conditions, preserve a documented break-glass path, and rescan.</a:t>
            </a:r>
          </a:p>
        </p:txBody>
      </p:sp>
    </p:spTree>
    <p:extLst>
      <p:ext uri="{BB962C8B-B14F-4D97-AF65-F5344CB8AC3E}">
        <p14:creationId xmlns:p14="http://schemas.microsoft.com/office/powerpoint/2010/main" val="89211988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295BAF-AFDE-45C8-A014-4232D95C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0E422-5072-4D3E-9100-083555D6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ec4d9d62f4f05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74762-5B04-45B2-BA85-47AE1BE3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E5D0D-5F75-475C-8194-FA4729EB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93BFF-B6AF-4782-A534-1804BD8D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Provider-Specific Kill Chains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638D1-C714-4007-9F34-9F4B9727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Normalize the evidence, not the provider terminology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87666-38FC-4251-A5FD-6C426E42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75 minutes · AWS · Azure · GCP · DigitalOcean · Developer platforms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BF0BC-C1EF-4535-A384-D3408405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32 / 48</a:t>
            </a:r>
          </a:p>
        </p:txBody>
      </p:sp>
    </p:spTree>
    <p:extLst>
      <p:ext uri="{BB962C8B-B14F-4D97-AF65-F5344CB8AC3E}">
        <p14:creationId xmlns:p14="http://schemas.microsoft.com/office/powerpoint/2010/main" val="88493037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08FD3C-E0DB-4C89-ABEE-03F97DD5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62BD7-4035-4636-B8CC-5DCDA38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Equivalent Control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3F3DA-3F33-4A85-9D71-0907EEEF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67170-7874-46E9-994B-ED531450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33 / 48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47b919c414419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10C3F-67D7-4173-A9C3-7A573525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2EF79-9848-450F-9914-724A2542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2174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F55FF-FAD9-49C9-AB7C-DA3A64E5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202692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Control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8D2D1-7E93-4375-BACF-DD86E723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1924050"/>
            <a:ext cx="22174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81595-DD56-41DC-8E80-BE2EBEF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2028825"/>
            <a:ext cx="202692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B9765-743C-4471-9B54-DF88F0F7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290" y="1924050"/>
            <a:ext cx="22174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867CB-07F6-4632-82AA-049DB328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028825"/>
            <a:ext cx="202692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Azure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27C66-27AF-4276-9138-CF0645C4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1924050"/>
            <a:ext cx="22174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B9742-F414-4A8E-9AFB-479FC6AB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028825"/>
            <a:ext cx="202692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9ECEF-8E26-4C17-BA98-A3CC5AF7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130" y="1924050"/>
            <a:ext cx="22174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970F7-1B89-4E93-8B9F-EFB19662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2028825"/>
            <a:ext cx="202692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DigitalOcean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F8E2E-E046-4D38-B9BC-C65FA93A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1AF65-B993-45E4-A314-5F4889A0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17B16-503A-4206-A375-452F5F6D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22860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4FC99-470C-4867-A7F9-3147D67E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23812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IAM role/policy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9E556-1815-4F6D-907A-1AC71EA2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290" y="22860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C472E-4809-4EC1-8F76-CDDA17F9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3812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Entra ID/managed identity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7C4D80-CE0B-448F-9AC6-9D65EF85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22860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C20C8-0F1F-41F3-B911-AE5A9537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3812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Project IAM/service account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0AD050-BC35-4DD5-A565-B5127274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130" y="22860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D8E6B6-C82B-4A96-B321-84F1A392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23812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Teams, projects, API tokens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10AEB2-3F7F-4AB3-9F20-4ADEEFC0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74DB06-8753-4050-8A58-2D8D10A2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B67507-A5D7-4437-A840-EBA5196D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283845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ACDBEF-9A79-4AF9-BE70-2C35BC45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29337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DA5794-B376-48B6-A944-0552AA64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290" y="283845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FE588E-E14B-4F15-86B4-E8FE3690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9337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Blob/storage account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57D674-DAF0-46D9-BBA6-3BE6E91D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283845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61E8FD-E423-4EF2-A5E0-399BF62A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9337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Cloud Storage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AD012E-65ED-4064-AE6D-CF4745B5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130" y="283845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1210CE-CD98-459E-8595-A44616EB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29337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Spaces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172B8C-7D4D-40EC-AAFC-38C89821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E8725A-1815-4072-8787-C87FE8F9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Runtime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A961E3-F4DC-412E-9922-03218C00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33909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680864-63DB-46DB-A6EF-018C491C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34861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EC2/Lambda/EKS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67AD07-8B2A-4104-8866-58E957F6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290" y="33909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038504-BDB9-47A8-81AD-6EEA427E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4861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VM/Functions/AKS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47CAC8-4B04-4AC6-8271-5BD974E7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33909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3E7088-6748-4C6B-9535-98D35908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34861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Compute/Functions/GKE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968AFF-B5CF-41BF-A47A-43AE1539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130" y="33909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517307-1545-41D6-8C19-891E0E19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34861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Droplet/Functions/DOKS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EAAF42-C995-45FE-9DCF-6FEEBFA5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6B76B9-5CD7-4090-A767-79098B9B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Data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A13007-EC3C-45E0-805A-3F370836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394335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472EE6-7886-4031-9B53-299F20A5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40386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RDS/DynamoDB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093FA1-7686-4E78-886C-52560523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290" y="394335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284605-066E-4CA3-95E7-E9F0DDDD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40386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Azure SQL/Cosmos DB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10E977-B196-464B-869E-3BA4E5C6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394335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4EF817-94A4-4D54-A4F3-72628FFD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40386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Cloud SQL/Firestore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C0A7B4-BFF0-445B-B7FE-C98D68A0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130" y="394335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BB0DF0-12ED-49CD-A9ED-D8F2AF2D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40386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Managed databases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59F5A9-F7AA-4017-AA62-587524F8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248444-7CFD-4399-B10B-BFD56721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95E296-85B1-4B3B-8B99-0F70F353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44958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43EBA1-057B-4FEC-A839-596A7B2B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45910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CloudTrail/config APIs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1BB3608-0A69-4664-B737-36051EC9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290" y="44958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D42C79-0D39-432D-ACA5-B2FD2AF1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45910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Activity logs/resource graph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D787AF-6F49-4520-94C1-904E4FBD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44958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FB9B1B9-F493-4BF6-8999-B4DB983F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45910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Audit logs/asset inventory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DDB3B1A-75CE-4322-93A5-DF227445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130" y="4495800"/>
            <a:ext cx="22174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5009ED5-3A7A-412A-BE14-6452B53B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459105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API inventory/service logs</a:t>
            </a:r>
          </a:p>
        </p:txBody>
      </p:sp>
    </p:spTree>
    <p:extLst>
      <p:ext uri="{BB962C8B-B14F-4D97-AF65-F5344CB8AC3E}">
        <p14:creationId xmlns:p14="http://schemas.microsoft.com/office/powerpoint/2010/main" val="198988311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2AE592-BB8D-4FB1-A157-010BC6FA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044D4-D915-4A95-94A3-9FF4C53F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Module 8 Exercise: Normalize Four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2DD80-46EE-4471-9040-0427DB45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727EB-A942-4394-955D-86C22061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34 / 48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4cd15b0fa4c47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5D3A0-2235-4BB6-BD13-CA6C9178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19586-CAD2-4784-AE96-37ADD624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CA21B-FE35-4501-A331-AC6BB033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Tenant and scan-job lineage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94DCD-72CB-4375-8B09-093752BB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F98BD-97A6-4DC7-B1BC-1C5C0C5C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Asset identifier and 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F424B-A2B3-4CA7-9001-FAA63BD5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AC32E-B66E-4FA1-91FB-F4A056DF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Finding class and severity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68853-5BD3-4EAC-BC3C-D39F5BB3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BE502-1FD8-4980-8433-848DBC4D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Identity or exposure root cause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9BDF0-0D9D-4B76-AFCE-9AB897FA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3EF92-941C-401B-BAA9-58BADFD2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Evidence type and URI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FE09C-E10D-49F1-8F29-286DFC6A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80300-A3AE-494C-99E2-BF35ADCC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Control IDs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4D509-1FFF-41E0-BDA6-FC71E134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87730C-CBF7-4CC6-86E3-424162CD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Owner and remediation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FF810-5054-4F3A-A3AC-9249A92E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366CA-E9C6-472C-BFF9-AD59058D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Closure proof requirement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9258E-B853-4D12-BDF9-5CE62D1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E2F8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66EAE7-C571-4D42-AC3D-6394613A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72125"/>
            <a:ext cx="967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Provider-specific details belong in metadata. The control title should remain understandable across clouds.</a:t>
            </a:r>
          </a:p>
        </p:txBody>
      </p:sp>
    </p:spTree>
    <p:extLst>
      <p:ext uri="{BB962C8B-B14F-4D97-AF65-F5344CB8AC3E}">
        <p14:creationId xmlns:p14="http://schemas.microsoft.com/office/powerpoint/2010/main" val="413265588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92674B-2AE4-4563-BE16-BEF2E28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30A45-0F49-4165-82E7-02E371A1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70f6646b349fd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FBBC1-57A1-4538-9099-D0D4A4EB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3B477-3B32-4DAE-9080-2508D213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67BC3-0120-4EE5-B6CF-5D025372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CI/CD, Developer Platforms and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3C74F-C482-4839-8701-4750DCB1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Treat automation platforms and agents as cloud-adjacent control planes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BECF2-5AB4-4042-9C01-AC3C6A44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60 minutes · OIDC · Tokens · Artifacts · Deployment permissions · AI guardrails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5E5FF-DDBD-4F38-A88E-7211BD42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35 / 48</a:t>
            </a:r>
          </a:p>
        </p:txBody>
      </p:sp>
    </p:spTree>
    <p:extLst>
      <p:ext uri="{BB962C8B-B14F-4D97-AF65-F5344CB8AC3E}">
        <p14:creationId xmlns:p14="http://schemas.microsoft.com/office/powerpoint/2010/main" val="93860779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78E7AE-E833-4FFB-9420-F1804F12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4EB9A-4966-4B52-9564-A8F0E554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CI/CD Attack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5E258-1FA0-4BEA-9F4F-B8C51875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18609-352B-42BF-93B2-DD4275B0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36 / 48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b9cec722742ac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EB033-3134-4F6F-9F69-9E86EC59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EFF3F-76A0-46BF-B65F-4305F130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E1F62-E508-4533-B7EC-B192C7B8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B5BBF-96D0-4225-9B89-652673B7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Repository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50C52-9E03-475C-B74B-1AE9E7FF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Workflow definition, branch control, secret references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372DC-1FB4-4A62-AD93-BD561E6A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39BAA-2CAC-434F-A892-77508455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035F2-67BE-49D6-973A-F9BDF5BF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4D2A6-C58E-45C2-A243-BB97DDE6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Runner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C207E-3D0E-4B3A-A762-925A00D7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Build environment, logs, cache, artifacts, network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5B2B8-BC02-4527-81B8-00FC6457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00C8D-EFFC-4526-ABB1-C946FE85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E76A7-CC23-4D10-953B-CE5400B3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98D3C-BDD2-468E-B58F-115FBE47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Identity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29350-770A-43A0-88FA-AA62F5E3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OIDC trust, deployment token, cloud role, service account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4F2E7-38C7-42AA-B62B-094D2CE1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F1B87-2F9D-44DD-ACC0-7AC7B3C0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5015C-2C27-49AE-979F-B8CB86C0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83CE5-DAAD-486C-85E2-AE76D6F6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6599F-43E9-4FE1-B5E5-781FDE18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Environment variables, project settings, deployment control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FF068-0FED-4055-A8B0-D1C5788A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038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EB86B1-8A67-4CC8-8215-5401E005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DFE27-E8DE-4C90-B62F-0658BBA4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333625"/>
            <a:ext cx="20421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4BDB35-2F5B-4D72-8919-AA6DF787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590800"/>
            <a:ext cx="17754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Cloud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5B5670-6D47-4D43-ABCC-4ACDEDBC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3105150"/>
            <a:ext cx="17754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Runtime, storage, registry, database, or cluster</a:t>
            </a:r>
          </a:p>
        </p:txBody>
      </p:sp>
    </p:spTree>
    <p:extLst>
      <p:ext uri="{BB962C8B-B14F-4D97-AF65-F5344CB8AC3E}">
        <p14:creationId xmlns:p14="http://schemas.microsoft.com/office/powerpoint/2010/main" val="37612350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A7B001-0801-4DC7-BE51-13109C96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1010C-C2EA-4178-9809-328C0F31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AI Integration Guardrails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23A7A-A117-4BBD-8B28-1107F36D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9872B-0224-41A1-95D5-9ABE96BE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37 / 48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c2de6afed4499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A579B-A98E-4DBA-9475-BBB4C23E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FD48B-F9E5-4085-9B93-D126762F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E9E7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D7439-C3E2-4183-9909-C0F19EF9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9525">
            <a:solidFill>
              <a:srgbClr val="B83B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2C39A-8A37-434E-B539-A2CAB945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3B3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83B36"/>
                </a:solidFill>
                <a:latin typeface="Aptos Display"/>
                <a:ea typeface="Aptos Display"/>
                <a:cs typeface="Aptos Display"/>
              </a:rPr>
              <a:t>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E4455-5DC2-45F2-839A-2445D8F3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Agent receives broad cloud credentials, sensitive evidence, or direct scanner/deployment 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266AA-151C-49C4-9CBF-817928FE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5F6EA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2230C-8638-4CBD-91C7-26285EA5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7D979-4A88-4F10-BCBF-98AA3A99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rPr>
              <a:t>Containment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4A4A7-E853-4837-9124-D536F398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Private model endpoint when needed, tenant-scoped tools, redaction, action logs, and approval gates.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3D059-9E91-46B9-9E3A-5654D719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952625"/>
            <a:ext cx="35750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2D5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D04D5-6177-4FFA-85AF-0CC42C1A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A24FD-5503-4AFC-88DA-C04C0069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2124075"/>
            <a:ext cx="321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180DE-6EB8-489F-84CB-90A13318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2495550"/>
            <a:ext cx="3213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Use small models for summaries, batch findings, cache outputs, and reserve larger models for complex reasoning.</a:t>
            </a:r>
          </a:p>
        </p:txBody>
      </p:sp>
    </p:spTree>
    <p:extLst>
      <p:ext uri="{BB962C8B-B14F-4D97-AF65-F5344CB8AC3E}">
        <p14:creationId xmlns:p14="http://schemas.microsoft.com/office/powerpoint/2010/main" val="77630774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8F8C59-FA07-4FA0-AE6F-16B332A0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172B1-FA2E-4086-8B1E-AA8785EE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Module 9 Lab: Workflow and Agent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09233-C5A1-4977-8950-6E58CB69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FA56C-F9BB-4C39-A1B4-A7226687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38 / 48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732192e5c47f0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FE9AC-BE85-4048-A1E7-B18B53CF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BE5E3-C1AC-4ED5-94C9-2DA97E5A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DEC1D-27BF-4DCE-A3AD-C313FA8D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167AB-5B79-4E24-9AC0-FAC0F03D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F6ADF-A25F-4D08-BC18-FF1714AE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Participant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FAFA1-9486-4FDB-A7D8-13AAB84A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D6066-B576-4DA5-9137-661173D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Evidence produced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FB860-C975-42A2-BCA2-19A23B37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6903E-A652-4C57-8407-C1CF2074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E6372-A01E-42AB-BDCC-3805E16C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7DED5-7306-41D1-907D-4E286512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Review the prepared workflow and deployment trust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A1DFC-F3D8-4BCB-AC18-C296FC3F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3B786-6A03-4D6C-B80E-00566BB6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Workflow snapshot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C4691-573E-499D-A7A1-67023EE1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B8E2B-C583-485D-9708-50939529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Scope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E4A04-2024-4268-B40F-61DB73B4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750F7A-ECFC-4AD5-8B4D-952B9460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Identify token, OIDC, and cloud permission excess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AF41B5-FA03-4C33-BD59-5E6490AA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6B6928-8592-432C-946C-2AFF09AA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Identity finding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4B0478-9696-4C1F-8DBD-2B4D54C4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E415C7-8B02-431E-BD7E-4CA50B9C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Normalize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B6D22E-BD84-4A2F-A1D5-44647188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1F880F-1017-4938-8CE1-484F4CEC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Submit a CI/CD connector payload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65DF1B-B03A-4DAD-B1A7-6C6195AB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388BA5-5FA2-4501-AA74-CE19945E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Accepted evidence record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6C328B-B2B2-4E30-BDE6-045BBA2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EC9268-90B1-4C13-8295-27DF4949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Guard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1DB619-63F1-41DC-A473-F39A4C52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B41880-300A-46D6-96D1-EE3A3392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Define AI tool permissions and approval rule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1761CB-19E4-4D8D-99E4-30CE0592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A0D66C-B929-42C9-BEC1-8F2B0B3E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Boundary recommendation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D27A9D-5EC3-4DF2-8728-67B57B06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C77966-C104-4A9F-9AC3-E54AEDAC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Prove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24C16E-4E6F-46EE-9212-72610290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23FDC4-082E-4C2E-A1B9-9CA9119D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Show the action log and tenant context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978506-5CFF-4A6C-8B14-A865957F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1F2596-7D23-4B0C-9726-5354829C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</p:spTree>
    <p:extLst>
      <p:ext uri="{BB962C8B-B14F-4D97-AF65-F5344CB8AC3E}">
        <p14:creationId xmlns:p14="http://schemas.microsoft.com/office/powerpoint/2010/main" val="54413686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9C20DA-EEFF-47DE-80C7-CAA18790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0AC4F-F83A-4AF8-904A-2778C1AF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f782c2938435a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DD93E-6C3B-41CD-8D23-262AA9C6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63932-5454-451B-B251-FBB8264A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6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E0467-CDCD-47AD-A916-F52B659E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Defenses That Actually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C06E9-8833-4592-BC46-7D83C392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Convert findings into prevention, detection, response, and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C5325-BD2F-4E96-8F44-D88DC5EB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45 minutes · Control matrix · Remediation ticket · Rescan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BCBA2-27EB-42AB-B5E3-9F83BFF9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39 / 48</a:t>
            </a:r>
          </a:p>
        </p:txBody>
      </p:sp>
    </p:spTree>
    <p:extLst>
      <p:ext uri="{BB962C8B-B14F-4D97-AF65-F5344CB8AC3E}">
        <p14:creationId xmlns:p14="http://schemas.microsoft.com/office/powerpoint/2010/main" val="13278348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69F633-451F-441C-9561-2F057F08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40F05-E707-4552-A74F-572D3C3F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Control and Evidence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1CBF2-014C-4A35-8BA9-33AC9C97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A12CD-CA5F-4A75-A303-4DF25EDA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40 / 48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f61ab09c042d8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477E3-DF10-4B82-AB16-F72B7BC5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83619-8997-44F3-844C-D62F7FDE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FF2E3-8F29-458C-AF18-84F77DD4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6DD6F-4A91-4626-9782-F8A3A9B0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347E0-E250-49C5-95F0-D3B9444C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Required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0011D-8644-49DE-BD29-90494C85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3C17D-8533-4AA8-955E-54324C6B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Workshop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9ABA1-C238-44DA-9004-D0784C9C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76D8E-159F-413A-A143-05791907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Prevent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A69A8-B744-4DA8-88E7-9DEF72A6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0904E-DA5B-415A-A5B9-4B0033F0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What stops the weakness from being introduced?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83D6B-10D4-4CBD-88E3-49364D6A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13898-E047-4009-B897-32AD4060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Policy-as-code result, permission boundary, protected branch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2C0C7-4A95-4D69-83C7-E767AF1E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1796F9-C629-458F-8B24-394BD7E7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Detect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DD972-8AE2-4866-AB15-3EAD8863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6A981-70DF-4CDF-8B22-5A1F4412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What identifies the condition or abuse?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3C12C0-4629-4210-BD69-524798BA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4180C5-B1E3-4E1D-8571-93680B00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Scanner run, audit event, drift alert, anomaly detection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8AC08E-1196-4D5D-99DE-94091CE3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FA46A-F726-4797-A89C-8BBAF064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Respond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E33DF7-DBD8-450A-8E7F-986C83A2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AEA6CA-1243-4EEE-9761-FE658EB9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Who owns containment and remediation?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77854D-0D0E-4E50-A4BC-8B5EC1CF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CD9CF8-A8F6-4EBC-BE2A-831C5236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Ticket, severity, due date, exception, rollback or rotation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ED6A90-BE51-42BD-8332-E42B34A6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F7FBEE-2811-479D-9634-37AB6DF1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Prove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7B71A4-1817-44C7-BA45-8B7FF4F4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8451BB-751E-477F-A830-BF473A73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What demonstrates closure?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7CAAF9-3108-4AB2-90D8-695CEE3F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2CC024-9DDE-472F-9A34-0AB88A68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Before/after configuration, rescan, artifact checksum, approval</a:t>
            </a:r>
          </a:p>
        </p:txBody>
      </p:sp>
    </p:spTree>
    <p:extLst>
      <p:ext uri="{BB962C8B-B14F-4D97-AF65-F5344CB8AC3E}">
        <p14:creationId xmlns:p14="http://schemas.microsoft.com/office/powerpoint/2010/main" val="1669929566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1D632-D035-46CC-9F75-FA9468B3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4C518-DD72-48A1-A1EC-A43ADA99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0d256f2c54e36"/>
          <a:stretch xmlns:a="http://schemas.openxmlformats.org/drawingml/2006/main"/>
        </p:blipFill>
        <p:spPr>
          <a:xfrm xmlns:a="http://schemas.openxmlformats.org/drawingml/2006/main">
            <a:off x="628650" y="552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EF3AB-2B6D-4D0C-8F11-A5A6CC79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0464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61F08-7E8C-4E2C-83B3-AB08807C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78E9FF"/>
                </a:solidFill>
                <a:latin typeface="Aptos Display"/>
                <a:ea typeface="Aptos Display"/>
                <a:cs typeface="Aptos Display"/>
              </a:rPr>
              <a:t>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75FFB-3343-4EEE-B6C6-EDCF4D4B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End-to-End Investigation and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BD12B-E954-47D9-9FE4-15F18308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Find the most important path, prove it, and explain how to close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DA172-E443-4301-ADAD-63A53A27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8DF"/>
                </a:solidFill>
                <a:latin typeface="Aptos"/>
                <a:ea typeface="Aptos"/>
                <a:cs typeface="Aptos"/>
              </a:rPr>
              <a:t>60 minutes · Team investigation · Evidence bundle · Five-minute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E5C05-9055-4134-8A9F-736DB172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93A9B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3A9B3"/>
                </a:solidFill>
                <a:latin typeface="Aptos"/>
                <a:ea typeface="Aptos"/>
                <a:cs typeface="Aptos"/>
              </a:rPr>
              <a:t>41 / 48</a:t>
            </a:r>
          </a:p>
        </p:txBody>
      </p:sp>
    </p:spTree>
    <p:extLst>
      <p:ext uri="{BB962C8B-B14F-4D97-AF65-F5344CB8AC3E}">
        <p14:creationId xmlns:p14="http://schemas.microsoft.com/office/powerpoint/2010/main" val="107049424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D57DC1-0F78-4074-98C3-E3AC23E5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12D4E-0C78-4901-BD79-B7C9B352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Capstone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212E8-3924-4DF4-A1CD-43408058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C3A39-F7C2-4ECD-9C89-D2FB89DA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42 / 48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85cd21db84196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EDBE4-C3BE-4F6F-91CB-760B8A19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A9498-3D58-463F-990D-EE3E1832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B703A-112D-44C8-8137-E2EB49EC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51301-E394-499E-A755-E446AE03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IaC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DAA73-ABF1-4AA6-8D73-97F48520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Public exposure, broad IAM, weak labels, or privileged workload.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E545A-F2E7-4790-9244-D2AF88DE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43AFB-47E6-4FCA-841A-00D44049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4B8C1-8877-40DB-BBDA-ACFC7CA8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Cloud IAM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FB186-9FF7-4439-AD0E-84946C1E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Trust edge or excessive automation permission.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72A65-2934-49AD-9FA3-475432D9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2D5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07D7D-D360-404F-A639-EE50D2F0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6A626-9404-4AFF-928B-86A08ACD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Storage and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5C6BE-7347-4B18-8EA0-61753F0B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Over-broad access or exposed lab artifact.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0F825-D070-4162-9F69-4C0FB1C7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E9E7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443B8-71D5-49FE-8AB4-85894BCA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9525">
            <a:solidFill>
              <a:srgbClr val="B83B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257C7-393B-45A5-8163-C07D2F10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3B3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83B36"/>
                </a:solidFill>
                <a:latin typeface="Aptos Display"/>
                <a:ea typeface="Aptos Display"/>
                <a:cs typeface="Aptos Display"/>
              </a:rPr>
              <a:t>Kubernetes/CI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2A822-3F9D-4230-A2DC-3DF3925B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Broad RBAC, exposed service, drift, or deployment token risk.</a:t>
            </a:r>
          </a:p>
        </p:txBody>
      </p:sp>
    </p:spTree>
    <p:extLst>
      <p:ext uri="{BB962C8B-B14F-4D97-AF65-F5344CB8AC3E}">
        <p14:creationId xmlns:p14="http://schemas.microsoft.com/office/powerpoint/2010/main" val="165836966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323822-FD6F-4A3C-8815-F3D09E57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82182-53A5-4F9F-92ED-031468E1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Capstone Deliverables and Scoring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347AD-F1C8-4946-8C22-A60CFFD9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884DB-2668-4FB0-8591-F0AF2DA1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43 / 48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3f2cb2cdc4608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BE58C-3590-4A71-83DB-C8BDE0FA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EEA59-9C60-4F62-84A8-8EB45533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9C47B-0B8C-4657-A689-58B44F7E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B327C-44CD-4DA3-B569-CDD8B772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C6C7D-616B-4555-ACD6-E76EA6E3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B2CA3-D4CC-4D68-8518-F73E5012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039A6-5B24-4011-93F7-620CE8FE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28825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good looks like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D98A0-F50F-4B5E-89F1-6B3EA5D6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67D0F-5FB1-471C-98FA-49ED48D3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Attack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CEA0E-D8FF-4F4D-A746-4567F416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2F80D-A2A8-4D85-A0FE-058BAF9E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4CB2D-BA98-4F81-B5DE-DCB3E559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1E0F5-6B37-4B17-BE16-B7BD3662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Correct chain from exposure to 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B184A-E034-4756-A092-29627A71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32717-CD5E-488B-BF9E-DAEF3459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Evidence and tenant isolation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4600D-1A8D-4A11-BF1D-0005EEEE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F947B-6B4A-4F3C-96C3-145F54D3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6C4CD-4FE6-4C34-A3D3-6231303D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38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A433C-BFC7-44EA-B393-4EC59F82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Redacted artifacts with lineage and correct tenantid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B6A65E-3C83-45FE-9AE3-680AF8A5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2BC191-A38A-4729-8BA6-82F6E03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Scanner 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20E328-CD37-4266-86DF-3A6C041A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A3BC6-AB12-496B-AEE0-9E85B9C9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428EC1-B5EB-41D9-8B04-3C456D16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B17CA3-B31C-461B-882D-D19A4EF4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Manual proof reconciled with scanner findings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CE852C-3F0E-4FCF-8CFF-A11579E7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E749AD-5E0C-4B59-A556-C0514280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Control mapping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3AA5C7-2DE1-40BC-8BCD-51731F7E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D71EDE-0F7A-4D77-92F9-60D33A58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7F10DC-5579-494F-98E7-5CAFEBC4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530CC7-6FA6-4C04-8361-8F48B88B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Findings linked to controls and accountable owners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6A80F4-0C27-4B3D-BC72-6BADA9FB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5AED94-79E4-44F8-81DF-55358A1E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Remediation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19C955-F554-4C7B-B917-B34F421F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C24C53-4FC9-4F4C-AE7F-827B1D87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6486E9-F341-4B1C-B1D9-FD625060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D77357-8CEF-4046-949F-1AFEF20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Practical fix with proof and exception handling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72946E-6BB4-47C0-AF6C-1ABD9C21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EA0515-B01B-4C2E-A473-03659B1F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Executive briefing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74CE5A-3B9B-4D80-A418-87CBD0F7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58F911-0A7B-4CE5-999D-BC39F6EF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435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4082DD-6944-476A-90CE-2D371343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482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049D68-2E9B-4ED0-9B36-CCCB1B18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Clear impact, priority, action, and residual risk</a:t>
            </a:r>
          </a:p>
        </p:txBody>
      </p:sp>
    </p:spTree>
    <p:extLst>
      <p:ext uri="{BB962C8B-B14F-4D97-AF65-F5344CB8AC3E}">
        <p14:creationId xmlns:p14="http://schemas.microsoft.com/office/powerpoint/2010/main" val="87718472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7DDC92-A881-4C01-B82F-82071AE1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C965F-C954-444A-B9DC-F51F0599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Instructor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24AA8-4866-48B8-B6EF-952D0F6C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DE10B-5EEC-4C3F-BADA-54E2A4EE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44 / 48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d7d41974946f8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C1EE1-0BDE-4E26-88B6-D95F0552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7855F-C664-4457-8790-A0193389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F6251-AA58-46DE-B65E-349A554E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FB0E2-F540-4988-9AF4-1A071410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Lab 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38FDA-73A1-4CD7-BF61-81536117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Disposable accounts/projects, region restrictions, budgets, expiry tags, reset and teardown scripts.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844A2-FB6B-431D-AC64-801A7245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1D30B-B47D-4269-8175-1BA47C28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72758-73F9-4A05-AB59-AA40552C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Platform readiness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6CB86-6B79-41E8-A13C-DC09EA1B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Portal, database, object storage, queue, workers, connectors, and health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9383F-0E10-49AC-A1A4-0E3FC501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2D5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2DD14-AE0B-43F9-BF86-A7F15C38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E9B7C-CCD1-439E-BE4E-C0A0FF8B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Evidence fixtures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441B1-E816-4725-A413-863EA81F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Known-good scanner outputs, connector payloads, negative tenant tests, and redacted artifacts.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26FA5-AF3F-4431-944D-B7B1739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5F6EA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A913F-343E-4A1C-8A11-8B2BDAEF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E6FA4-6742-45E7-9F41-03D1FC46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rPr>
              <a:t>Delivery 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6DC68-BE7B-46C1-A054-165B2419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Prerecorded demos, sample evidence, solution guide, capstone answer, and scoring sheet.</a:t>
            </a:r>
          </a:p>
        </p:txBody>
      </p:sp>
    </p:spTree>
    <p:extLst>
      <p:ext uri="{BB962C8B-B14F-4D97-AF65-F5344CB8AC3E}">
        <p14:creationId xmlns:p14="http://schemas.microsoft.com/office/powerpoint/2010/main" val="731690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A7C4FA-F1F5-463B-8B80-88C6B8B8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8B654-7540-4EAC-AC99-C51EE679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Student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998E5-7CE0-43B6-888C-2DE3055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D2C2D-F16E-49B7-A77C-A8C49269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45 / 48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e05ae2a2b4faf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18DC0-997D-499D-8A9E-8E0CDDE0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9BD77-B1DA-456F-BBE7-BC4A5A2B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54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1CD6C-48E8-449F-9EB8-45E81070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535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31EDC-EDB3-4CD3-9863-A3EC56F3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554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3729F-5B20-4CE2-AAED-BE1DA232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28825"/>
            <a:ext cx="535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Included material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9A892-FC02-4CB4-8121-CF50C5EE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BC571-18DE-4E12-88FC-1D721CE2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Lab guide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4B291-2E97-4122-9C9B-DE51D110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3BC69-BF32-4F18-A840-DD977D3E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Authorized steps, scope boundaries, expected evidence, and stop conditions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34AED-85B8-49A9-87C9-8108E690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FAA7B-323C-4DFA-8E4A-704B0A92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Cheat sheets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1F29F-F16F-4096-A87A-FAC7DD41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50F8A-9AD4-4B96-BB36-17D50A87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Cloud CLI, kubectl, Terraform, evidence schema, severity guide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37D16-DDD4-402B-8E03-E2E95854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6A05D-7B6E-4D8E-8667-3D5C0221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Connector examples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85B7B-BAD5-45A3-A6BB-77FB66B2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FEC5B-0149-4004-BF20-E5A9505C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AWS, GCP, Kubernetes, IaC, CI/CD normalized payloads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AC019A-8D73-4822-97F6-BCC831C7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8AED6-5DD4-4816-8999-AA1E06C5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Hardening checklist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C6A50F-18D7-4C73-9801-A16A3C07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97952-9B33-45D2-8714-F6050981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Provider-specific controls mapped to finding classes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E36FC4-219F-4E3D-BBD4-28D93C61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1B66E2-4FEB-4167-A1A7-FB71D568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Cleanup guide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33E86-5128-4282-8345-302C1971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A164AF-DDF0-45C2-93CE-D9FD9358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Resource teardown, credential rotation, cost check, audit export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63FEE3-F38E-46BA-A947-ABF0175E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B2961D-D581-4DFF-89AC-4C8C010A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Reporting templates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60C830-FF05-470E-9880-1BAC4F06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A5E4F4-6FA6-4BBE-854F-B6C62017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Attack path worksheet, remediation ticket, executive briefing</a:t>
            </a:r>
          </a:p>
        </p:txBody>
      </p:sp>
    </p:spTree>
    <p:extLst>
      <p:ext uri="{BB962C8B-B14F-4D97-AF65-F5344CB8AC3E}">
        <p14:creationId xmlns:p14="http://schemas.microsoft.com/office/powerpoint/2010/main" val="179453254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2507A0-52D7-49D3-9CC3-25F003F8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FB079-E3FD-457B-B840-BCB934DC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Delivery Rollout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52F0B-2D89-4F39-A747-CA0BD3AB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1DE5D-0EAC-46E5-AE2A-4C8B9E6D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46 / 48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50a5940074a93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8F15F-FF71-44F8-B739-F05EF554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E661C-70BA-470E-B329-29B7BC4A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2F8FC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1044F-0D06-425A-BC8A-A84ADC76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9525">
            <a:solidFill>
              <a:srgbClr val="007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E9B60-1931-4ADC-98DF-D4135183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Week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C3687-DE9B-43F2-9C01-010DD1CA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Freeze syllabus, evidence schema, authorization model, and tenant boundaries.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A14E6-6297-49F9-A695-53BA639F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D01D1-0A79-434C-AD94-FB9922B3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9525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769C9-6C77-4618-B65B-03E4CD72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556D9"/>
                </a:solidFill>
                <a:latin typeface="Aptos Display"/>
                <a:ea typeface="Aptos Display"/>
                <a:cs typeface="Aptos Display"/>
              </a:rPr>
              <a:t>Week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D371D-A24A-408E-9E04-2F84C65D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Build and test AWS, GCP, Kubernetes, IaC, and CI/CD fixtures.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ECFFB-D83A-45B6-9ED7-2B855CE0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2D5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0CB2A-3F46-4109-A43F-CA25E147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B4997-9DD4-4C91-B592-E654091D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Week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A83B3-472B-46A1-B52F-15974D9B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Run internal dry run with scanners, connectors, GRC, scoring, and cleanup.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E8E9B-ECCD-4EC2-AD18-AFA89646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6289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5F6EA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4F38C-50EA-47E8-894A-5E50B2FF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1E315-6B2D-43A6-AB36-7BF10A8A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24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864B"/>
                </a:solidFill>
                <a:latin typeface="Aptos Display"/>
                <a:ea typeface="Aptos Display"/>
                <a:cs typeface="Aptos Display"/>
              </a:rPr>
              <a:t>Week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AC0B7B-DF70-4DEA-93C1-D5D335C6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95550"/>
            <a:ext cx="2266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Deliver, collect feedback, export evidence, and create the improvement backlog.</a:t>
            </a:r>
          </a:p>
        </p:txBody>
      </p:sp>
    </p:spTree>
    <p:extLst>
      <p:ext uri="{BB962C8B-B14F-4D97-AF65-F5344CB8AC3E}">
        <p14:creationId xmlns:p14="http://schemas.microsoft.com/office/powerpoint/2010/main" val="16802886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B63143-1629-4CFA-B993-516F3A89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9525">
            <a:solidFill>
              <a:srgbClr val="00BF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583E3-55B6-465C-9569-D80C4DFF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4202A"/>
                </a:solidFill>
                <a:latin typeface="Aptos Display"/>
                <a:ea typeface="Aptos Display"/>
                <a:cs typeface="Aptos Display"/>
              </a:rPr>
              <a:t>Sources and 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0C3F8-F04B-47AE-B003-8200E2F4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DeepTrustxAI | Authorized Cloud Security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9C42E-D6C2-43EF-A6E5-2F6F4D92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6"/>
                </a:solidFill>
                <a:latin typeface="Aptos"/>
                <a:ea typeface="Aptos"/>
                <a:cs typeface="Aptos"/>
              </a:rPr>
              <a:t>47 / 48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69618d8d0488e"/>
          <a:stretch xmlns:a="http://schemas.openxmlformats.org/drawingml/2006/main"/>
        </p:blipFill>
        <p:spPr>
          <a:xfrm xmlns:a="http://schemas.openxmlformats.org/drawingml/2006/main">
            <a:off x="10287000" y="228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F2BBE-A6BC-4513-8B68-E670D6EA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609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7F9F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48C0B-69CC-4F50-9F94-9B6BEA25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DB6AC-3004-4D95-8504-2CD6EB71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DeepTrustxAI logo: official brand asset from deeptrustxai.com/images/darkmode.png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4D132-F2A5-4FAE-A35C-171220DB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15CC7-8D3C-4765-BD9E-277CBD6A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Curriculum scope reference: public DEF CON Training listing for “Breaking the Cloud Layer - Modern and Practical Attacks on AWS, Azure, GCP, Aliyun, Railway and Vercel”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37992-0FE7-43EE-A41A-5A1589B3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6AECB-59A1-4672-B3B2-EFC33671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CloudGuard project context: scanner workers, evidence connectors, compliance dashboard, tenant-aware architecture, and authorized vulnerable labs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196E2-E031-4A3D-B675-2EAB20BE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9F"/>
          </a:solidFill>
          <a:ln xmlns:a="http://schemas.openxmlformats.org/drawingml/2006/main" w="0">
            <a:solidFill>
              <a:srgbClr val="007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CBECC-FEBD-4DDB-A25C-168E13F4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02A"/>
                </a:solidFill>
                <a:latin typeface="Aptos"/>
                <a:ea typeface="Aptos"/>
                <a:cs typeface="Aptos"/>
              </a:rPr>
              <a:t>This deck is original internal training material and is restricted to approved lab environments</a:t>
            </a:r>
          </a:p>
        </p:txBody>
      </p:sp>
    </p:spTree>
    <p:extLst>
      <p:ext uri="{BB962C8B-B14F-4D97-AF65-F5344CB8AC3E}">
        <p14:creationId xmlns:p14="http://schemas.microsoft.com/office/powerpoint/2010/main" val="2089386295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C3F3C7-C39F-4A93-87AE-32419598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0712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7685A-7BE6-4388-A526-32F51AB6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44452accd434e"/>
          <a:stretch xmlns:a="http://schemas.openxmlformats.org/drawingml/2006/main"/>
        </p:blipFill>
        <p:spPr>
          <a:xfrm xmlns:a="http://schemas.openxmlformats.org/drawingml/2006/main">
            <a:off x="628650" y="5524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7C009-D65B-4978-B539-46A0F487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17042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F7FC"/>
                </a:solidFill>
                <a:latin typeface="Aptos Display"/>
                <a:ea typeface="Aptos Display"/>
                <a:cs typeface="Aptos Display"/>
              </a:rPr>
              <a:t>DeepTrustxAI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18F3A-038E-414A-9563-58C67588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Find the Path. Prove the Risk. Close the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4CDDD-705A-48EC-A40E-D6CE6CEF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CEBFF"/>
                </a:solidFill>
                <a:latin typeface="Aptos Display"/>
                <a:ea typeface="Aptos Display"/>
                <a:cs typeface="Aptos Display"/>
              </a:rPr>
              <a:t>Scanner findings become useful when they carry tenant context, evidence, ownership, and remediation proof.</a:t>
            </a:r>
          </a:p>
        </p:txBody>
      </p:sp>
    </p:spTree>
    <p:extLst>
      <p:ext uri="{BB962C8B-B14F-4D97-AF65-F5344CB8AC3E}">
        <p14:creationId xmlns:p14="http://schemas.microsoft.com/office/powerpoint/2010/main" val="29617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2026-06-20T06:10:54.7730000Z</dcterms:created>
  <dcterms:modified xsi:type="dcterms:W3CDTF">2026-06-20T06:10:54.7740000Z</dcterms:modified>
</coreProperties>
</file>