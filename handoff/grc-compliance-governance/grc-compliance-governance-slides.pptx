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1ae6b14eae4ea3" /><Relationship Type="http://schemas.openxmlformats.org/officeDocument/2006/relationships/extended-properties" Target="/docProps/app.xml" Id="R27fcca4801e947bc" /><Relationship Type="http://schemas.openxmlformats.org/officeDocument/2006/relationships/officeDocument" Target="/ppt/presentation.xml" Id="R9b01d04f350043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51cca769c1a43a5"/>
  </p:sldMasterIdLst>
  <p:notesMasterIdLst>
    <p:notesMasterId xmlns:r="http://schemas.openxmlformats.org/officeDocument/2006/relationships" r:id="R999524290a084144"/>
  </p:notesMasterIdLst>
  <p:sldIdLst>
    <p:sldId xmlns:r="http://schemas.openxmlformats.org/officeDocument/2006/relationships" id="256" r:id="R8465f13c7d7646c3"/>
    <p:sldId xmlns:r="http://schemas.openxmlformats.org/officeDocument/2006/relationships" id="257" r:id="R716da6234ee94daf"/>
    <p:sldId xmlns:r="http://schemas.openxmlformats.org/officeDocument/2006/relationships" id="258" r:id="Rd8c35ceb92b64e98"/>
    <p:sldId xmlns:r="http://schemas.openxmlformats.org/officeDocument/2006/relationships" id="259" r:id="R5413fff120774614"/>
    <p:sldId xmlns:r="http://schemas.openxmlformats.org/officeDocument/2006/relationships" id="260" r:id="R1aa5532a5ab5436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4a9113d0d344c8" /><Relationship Type="http://schemas.openxmlformats.org/officeDocument/2006/relationships/slideMaster" Target="/ppt/slideMasters/slideMaster1.xml" Id="R151cca769c1a43a5" /><Relationship Type="http://schemas.openxmlformats.org/officeDocument/2006/relationships/notesMaster" Target="/ppt/notesMasters/notesMaster1.xml" Id="R999524290a084144" /><Relationship Type="http://schemas.openxmlformats.org/officeDocument/2006/relationships/presProps" Target="/ppt/presProps.xml" Id="R9b18f27e66ee48b9" /><Relationship Type="http://schemas.openxmlformats.org/officeDocument/2006/relationships/viewProps" Target="/ppt/viewProps.xml" Id="Rdc166e7a8d0646f8" /><Relationship Type="http://schemas.openxmlformats.org/officeDocument/2006/relationships/tableStyles" Target="/ppt/tableStyles.xml" Id="Rb529c580fae849de" /><Relationship Type="http://schemas.openxmlformats.org/officeDocument/2006/relationships/slide" Target="/ppt/slides/slide1.xml" Id="R8465f13c7d7646c3" /><Relationship Type="http://schemas.openxmlformats.org/officeDocument/2006/relationships/slide" Target="/ppt/slides/slide2.xml" Id="R716da6234ee94daf" /><Relationship Type="http://schemas.openxmlformats.org/officeDocument/2006/relationships/slide" Target="/ppt/slides/slide3.xml" Id="Rd8c35ceb92b64e98" /><Relationship Type="http://schemas.openxmlformats.org/officeDocument/2006/relationships/slide" Target="/ppt/slides/slide4.xml" Id="R5413fff120774614" /><Relationship Type="http://schemas.openxmlformats.org/officeDocument/2006/relationships/slide" Target="/ppt/slides/slide5.xml" Id="R1aa5532a5ab543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af21a96bb544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c44fe88fbe44199" /><Relationship Type="http://schemas.openxmlformats.org/officeDocument/2006/relationships/notesMaster" Target="/ppt/notesMasters/notesMaster1.xml" Id="Rf6a053241249481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92892f324f4035" /><Relationship Type="http://schemas.openxmlformats.org/officeDocument/2006/relationships/notesMaster" Target="/ppt/notesMasters/notesMaster1.xml" Id="Reefee194f9e34d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d5055880d04200" /><Relationship Type="http://schemas.openxmlformats.org/officeDocument/2006/relationships/notesMaster" Target="/ppt/notesMasters/notesMaster1.xml" Id="R00577aae27904b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b74bfbabee94f65" /><Relationship Type="http://schemas.openxmlformats.org/officeDocument/2006/relationships/notesMaster" Target="/ppt/notesMasters/notesMaster1.xml" Id="R839cade89caa41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e085e3ebcc44c6" /><Relationship Type="http://schemas.openxmlformats.org/officeDocument/2006/relationships/notesMaster" Target="/ppt/notesMasters/notesMaster1.xml" Id="R775afe9e7c6a49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2d8ade45a4a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5979076ed15472c" /><Relationship Type="http://schemas.openxmlformats.org/officeDocument/2006/relationships/slideLayout" Target="/ppt/slideLayouts/slideLayout1.xml" Id="R38ab990a12914ef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ab990a12914ef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89b0840f460c" /><Relationship Type="http://schemas.openxmlformats.org/officeDocument/2006/relationships/notesSlide" Target="/ppt/notesSlides/notesSlide1.xml" Id="Rf29ae1fd80e145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e7c848817b47fe" /><Relationship Type="http://schemas.openxmlformats.org/officeDocument/2006/relationships/notesSlide" Target="/ppt/notesSlides/notesSlide2.xml" Id="R106a1b4c2eb640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af6d7c8a74b61" /><Relationship Type="http://schemas.openxmlformats.org/officeDocument/2006/relationships/notesSlide" Target="/ppt/notesSlides/notesSlide3.xml" Id="Rb5186a5c43ab417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9919b65324195" /><Relationship Type="http://schemas.openxmlformats.org/officeDocument/2006/relationships/notesSlide" Target="/ppt/notesSlides/notesSlide4.xml" Id="R2191c023a2d94a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dd3c9d5da74a2a" /><Relationship Type="http://schemas.openxmlformats.org/officeDocument/2006/relationships/notesSlide" Target="/ppt/notesSlides/notesSlide5.xml" Id="R56fc40c9a1224f94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E99903-97B8-485E-8B63-BE3B2E0A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F7FA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0BAC61-43B8-4E38-A7BF-8A6C124A2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79022-1ACC-472B-8707-E7E04D0B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900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BD614-0536-42CA-A155-E3DDB7635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Compliance and Governance | GRC + Cloud Scanner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B714C-28CE-40DE-A8F8-0D6010931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01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7BE448-23B1-4C40-B9F1-75713BDB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742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Compliance and Governance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3B87D2-ADF0-4276-A71A-83F6F071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685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GRC layer powered by scanner evidence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8C0F9-3C1E-40A4-8DA8-0C3BB3874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7239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Converts cloud, infrastructure, web app, identity, monitoring, and DPDP evidence into control status, risk ownership, remediation tracking, and audit-ready reports.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B564F-DE4D-4A1C-8929-5BFBCE80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051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DDF4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6DAE1-EBC5-4FF7-BC49-9FCBDF3C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8132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CloudGuard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DC443D-97AE-4C32-86D4-70858F2E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05125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4FB"/>
          </a:solidFill>
          <a:ln xmlns:a="http://schemas.openxmlformats.org/drawingml/2006/main" w="9525">
            <a:solidFill>
              <a:srgbClr val="E2F4F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0F0B0-2210-49D0-B824-A3107F85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981325"/>
            <a:ext cx="9525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rPr>
              <a:t>Generic GRC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A94D2A-D181-4B82-A701-9021DA7AB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905125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4"/>
          </a:solidFill>
          <a:ln xmlns:a="http://schemas.openxmlformats.org/drawingml/2006/main" w="9525">
            <a:solidFill>
              <a:srgbClr val="FFF1D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DC3D4-0032-4BF9-A704-758860622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981325"/>
            <a:ext cx="16192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rPr>
              <a:t>DPDP / ISO / CIS / NIST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2E119A-FAC4-48E0-9128-0027A52A4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905125"/>
            <a:ext cx="1333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EEEAF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31164F-E968-4A0E-82A2-60567EFC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81325"/>
            <a:ext cx="1143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rPr>
              <a:t>Audit 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F0F7F-5349-4F6C-B32B-BF74FC81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1DCC4C-09CE-473B-A6FC-36EBC7C7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F33B95-6947-4B56-B43B-BDBB5243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Purpose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5000B-934F-4EAC-8F78-C26FDA92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1482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Single governance view for compliance posture, risk, evidence, ownership, and exceptions.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2CD9CD-0F7A-4982-8A04-2515C6D23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D94699-9439-43A8-887D-90AD0C4D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5762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DAA"/>
          </a:solidFill>
          <a:ln xmlns:a="http://schemas.openxmlformats.org/drawingml/2006/main" w="9525">
            <a:solidFill>
              <a:srgbClr val="0C7DA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6D9653-EC7B-4C38-9DEF-B41DF9BE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010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rPr>
              <a:t>Technical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E0F0E7-1611-4555-A75F-7DF334D1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1482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CloudGuard scanner evidence from AWS, GCP, Kubernetes, IaC, and vulnerability tools.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7CDAB3C-A50D-4705-96AA-426984F5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57625"/>
            <a:ext cx="2381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2B9E832-7598-4651-8AA1-A8FC7851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5762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900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4C9EDC-1105-4134-B46E-FAB35E5A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010025"/>
            <a:ext cx="2038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rPr>
              <a:t>Outcome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432681-0929-4366-8C7B-A7AC9BA1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14825"/>
            <a:ext cx="2038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Control-mapped findings that teams can remediate and auditors can verify.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213970-236D-4DAF-B0D6-C93A567C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04875"/>
            <a:ext cx="2238375" cy="3667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C27"/>
          </a:solidFill>
          <a:ln xmlns:a="http://schemas.openxmlformats.org/drawingml/2006/main" w="9525">
            <a:solidFill>
              <a:srgbClr val="102C2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A4686B-0E66-472F-897E-5EA604CF1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143000"/>
            <a:ext cx="1571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8AF0D2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8AF0D2"/>
                </a:solidFill>
                <a:latin typeface="Aptos Display"/>
                <a:ea typeface="Aptos Display"/>
                <a:cs typeface="Aptos Display"/>
              </a:rPr>
              <a:t>Assigned topic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E87EE7-23EF-4610-AEE6-529C0E7E6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695450"/>
            <a:ext cx="17716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GRC and Cloud Scanners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75AC73-8D80-4859-8486-AB0617A43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286125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BFE8DE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BFE8DE"/>
                </a:solidFill>
                <a:latin typeface="Aptos"/>
                <a:ea typeface="Aptos"/>
                <a:cs typeface="Aptos"/>
              </a:rPr>
              <a:t>Inputs from Ishaan's GRC and cloud scanner work</a:t>
            </a:r>
          </a:p>
        </p:txBody>
      </p:sp>
    </p:spTree>
    <p:extLst>
      <p:ext uri="{BB962C8B-B14F-4D97-AF65-F5344CB8AC3E}">
        <p14:creationId xmlns:p14="http://schemas.microsoft.com/office/powerpoint/2010/main" val="7492754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67AC83-19F9-4346-8E12-A98FD6AF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F7FA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5149F-F5E6-48F9-93A9-599F8160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0FEAB9-FCAD-4D05-8F3D-0D7FDD7A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900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EDB7B5-D2A0-4352-84D4-8C5329CC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Compliance and Governance | GRC + Cloud Scanner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D19880-3FA7-4FD5-A5C8-8062E693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02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73F33F-E9B3-43F9-81B9-4B47321A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GRC 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74283-0A82-4554-B9E2-C0BB515F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What the governance layer should own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52AFB6-DDBF-46D8-A55E-F3F7F382D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A GRC platform becomes useful when it links controls to live evidence and accountable remediation.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94AC37-F047-4C0B-8011-7AB00F56B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4238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02BD6-CE44-48CF-9D55-C01AF8C00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C57757-0945-4E37-A41E-2FC905ED9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28850"/>
            <a:ext cx="389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Policies and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DA09BA-13EA-4530-9A4D-EA302FFE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33650"/>
            <a:ext cx="3895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ISO 27001, CIS, NIST, OWASP, Kubernetes, DPDP and internal controls.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01D944-4516-4868-BD25-04C7BE07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4238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A76D50-0440-49DB-BA8D-08C930DB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7645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900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EB9AF2-319D-4233-8310-45E586A8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28850"/>
            <a:ext cx="389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rPr>
              <a:t>Risk register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F054C3-876F-4798-8103-9F2A8D70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3895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Severity, likelihood, impact, owner, due date, exception and residual risk.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827A5B-074D-4357-BCBA-2AD9A70B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4238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A16350-6119-4E51-BB1E-F8055926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052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DAA"/>
          </a:solidFill>
          <a:ln xmlns:a="http://schemas.openxmlformats.org/drawingml/2006/main" w="9525">
            <a:solidFill>
              <a:srgbClr val="0C7DA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3D2C0A-B7B6-47F2-9CAE-133A466AB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57600"/>
            <a:ext cx="389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rPr>
              <a:t>Evidence management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B2177E-8780-4826-8F88-663D20EFF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62400"/>
            <a:ext cx="3895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Raw artifacts, scanner findings, screenshots, logs, approvals and timestamps.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BBE0B9-BA96-4C30-BB81-F7726D20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05200"/>
            <a:ext cx="423862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E5752A-433E-4178-AA30-DEF77DE6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05200"/>
            <a:ext cx="66675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554C0"/>
          </a:solidFill>
          <a:ln xmlns:a="http://schemas.openxmlformats.org/drawingml/2006/main" w="9525">
            <a:solidFill>
              <a:srgbClr val="6554C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20005F-1E00-4D01-8310-3A01DE07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57600"/>
            <a:ext cx="38957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rPr>
              <a:t>Audit and reporting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0FB37-10A8-4053-AA48-470BBA1D1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962400"/>
            <a:ext cx="3895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Control status, evidence trail, remediation proof and executive summaries.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09CEA6-9993-45DB-80A4-57E11A1C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2286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6"/>
          </a:solidFill>
          <a:ln xmlns:a="http://schemas.openxmlformats.org/drawingml/2006/main" w="9525">
            <a:solidFill>
              <a:srgbClr val="123C3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3FC3B4-6666-48FC-A7E7-8FCAEE7D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181600"/>
            <a:ext cx="2133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Input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E02CF5-D8F2-4B8F-98C3-21EE9473F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600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6"/>
          </a:solidFill>
          <a:ln xmlns:a="http://schemas.openxmlformats.org/drawingml/2006/main" w="9525">
            <a:solidFill>
              <a:srgbClr val="123C3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DD5AE7-4C8F-4D36-A7A4-90389AAE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81600"/>
            <a:ext cx="5848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GRC Output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EF4446-5689-4A42-8EEE-ED855939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197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803D82-1199-436C-AACE-6C1643AD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054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Finding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6DAC9F-9524-4814-94CF-832EF37A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419725"/>
            <a:ext cx="600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B449AA-EAB5-43AC-B698-D03C6E9D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505450"/>
            <a:ext cx="584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Control status and risk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5796468-E253-45CB-ACA6-96174A2A6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054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551F88-7741-42D4-A55B-9DB0E415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9120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87F196-7FE8-4184-A9D0-EDB7C67C3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05475"/>
            <a:ext cx="600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1B7F1C-8BEF-4366-B34E-4E29BF07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791200"/>
            <a:ext cx="584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Audit proof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8F97E5-B97A-4D13-A5BC-BC0795278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9122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44C2750-9F66-45B9-A92E-ED61D8B1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6076950"/>
            <a:ext cx="2133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Remediation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69E126-6735-4D84-81A8-5D26D215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91225"/>
            <a:ext cx="600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B82D51E-5112-4547-9DB9-C7FCF76F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6076950"/>
            <a:ext cx="58483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Owner and closure status</a:t>
            </a:r>
          </a:p>
        </p:txBody>
      </p:sp>
    </p:spTree>
    <p:extLst>
      <p:ext uri="{BB962C8B-B14F-4D97-AF65-F5344CB8AC3E}">
        <p14:creationId xmlns:p14="http://schemas.microsoft.com/office/powerpoint/2010/main" val="152781946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28D8C0-CD0F-4656-B689-4322877F9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F7FA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1B4E9F-7B13-4063-B374-C78C991B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98A411-BB23-470F-B753-72067127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900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FE2B4E-51B8-4C6B-A0E6-D66F3425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Compliance and Governance | GRC + Cloud Scanner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50CC5F-12C2-4219-AFBD-8AC4C5126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03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EAB0B2-A5D3-434B-ABA6-AD2DCF314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ARCHITECTURE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D42A-4795-4938-9B82-9FDADE554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Evidence pipeline into GRC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27BF73-AF6A-46D2-B3C5-0A9EEFDB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Every source sends normalized evidence; the GRC layer maps it to controls, risk and remediation.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6798A7-4B43-4628-AD8B-17C00BB0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7D2B0A-77F7-4400-ACA1-7648A95BC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90725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LogManthan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5F9361-79EE-403C-9561-ABBB37AC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Monitoring / threat intel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8A80C0-AFFA-4B1A-8E08-984BACD3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D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FC870A-1B3A-4A9E-8276-5198C0A15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43175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rPr>
              <a:t>Omjee + Vivek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49B738-F71C-417C-BA6D-8C205B7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Infra scanner findings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9C6935-2CE3-4E6B-B25A-2BC955560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E4FEF7-63D3-4F38-99AF-61776DE48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95625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rPr>
              <a:t>Asset inventory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4088A-7FF4-4084-82B6-36A474109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Manual + scanner inputs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56625D-ABA0-4CDD-9005-49F7351B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814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3A3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63685F-C2CD-4536-B646-3C86067E1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B83A3A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B83A3A"/>
                </a:solidFill>
                <a:latin typeface="Aptos Display"/>
                <a:ea typeface="Aptos Display"/>
                <a:cs typeface="Aptos Display"/>
              </a:rPr>
              <a:t>SAST / DAST / Burp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ED5010-DAFD-4C09-A7ED-04FE9B747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1000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Web application security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5C64F5-8115-4C2F-901E-A59FF4594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338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54C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EEEF08-DDB3-4AFA-A5A2-1B33541D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00525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rPr>
              <a:t>Keycloak / IAM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36BA8A-E7A4-4705-A34D-D9FB926E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Identity and access controls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B86E21-7C7E-47BF-9190-F2D378A1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863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FB5E0AE-78F3-4B99-83A3-22AEF967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52975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DPDP inputs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50E0E4-A348-4B54-B3EE-BCE1859F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7716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Privacy evidence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8288CC-0A1B-4748-8572-AAB892C7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71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404256-00F6-43CA-8420-CA0ADFD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6860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Connector Layer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A65B80-C540-4906-9D5C-F9F92FF33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933700"/>
            <a:ext cx="1771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Normalize schema, source, severity, owner, tenant/user context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7BAE517-C920-45C1-BC82-7FCC23BE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71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4FB"/>
          </a:solidFill>
          <a:ln xmlns:a="http://schemas.openxmlformats.org/drawingml/2006/main" w="9525">
            <a:solidFill>
              <a:srgbClr val="0C7DA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4BAAF-0645-45DC-ACFF-001CE28C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860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rPr>
              <a:t>Evidence Ingestion API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CB5A18E-7A71-4D72-98D4-5CCD9092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933700"/>
            <a:ext cx="1771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Validate payload, checksum and auth token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B38B19-0C3A-47AD-BCF2-F3D9EF2DF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71750"/>
            <a:ext cx="20002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4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75AEB2-7161-4E47-A023-EF82613A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6860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rPr>
              <a:t>Storage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B02B7-6DA5-4E31-9E6D-F1FEA720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2933700"/>
            <a:ext cx="17716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PostgreSQL metadata + object storage artifacts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9A40550-EDEF-40C4-8503-A30371656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33875"/>
            <a:ext cx="2571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AFE"/>
          </a:solidFill>
          <a:ln xmlns:a="http://schemas.openxmlformats.org/drawingml/2006/main" w="9525">
            <a:solidFill>
              <a:srgbClr val="6554C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84F8A5-96CF-4F83-8BCF-9960D77D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48175"/>
            <a:ext cx="2343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rPr>
              <a:t>GRC 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898116-6F3A-4CA9-9FC0-D21F7785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695825"/>
            <a:ext cx="23431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Controls, risk, evidence, remediation, audit reports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A28A8DF-4CEE-442A-A9AF-4ED39BF8C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24075"/>
            <a:ext cx="285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E67593-85C5-4E69-BBBA-7C3AF969D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145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270BFA-96CE-4498-8E14-36C7CA9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6700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2ACEFD-C835-45B0-A41E-60DE6034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0FF6B14-4979-4F7B-9138-9F3287E7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7190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CBC80B-3BBA-4032-9165-9839E1A78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2435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EC5C00-CACC-427C-A74F-A217B56C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76800"/>
            <a:ext cx="238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0B76ACB-20AE-4409-8FF6-37E64116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09562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D131564-4915-4B98-AB31-9FA98DFF8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038475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3835335-FC24-41C7-BF34-FEDDD552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09562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FAB20E0-4F2B-4872-BFDE-984AFDE8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038475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49E9B5D-1355-42FC-91A1-3873961E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95625"/>
            <a:ext cx="371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981AC1-DF1B-4984-960C-C13AA328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038475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772F3CF-5061-44D5-B502-A14EA4108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638550"/>
            <a:ext cx="285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178DEBC-4C01-4045-804C-BDB3D207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086225"/>
            <a:ext cx="2238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19BEB2-91F4-4F3A-9FB7-907456DB1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95750"/>
            <a:ext cx="2857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533CDC5-42E8-468A-88D0-C5A1A2B7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81475"/>
            <a:ext cx="133350" cy="1524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9765F5-D2CE-4B83-B7E4-04166466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952625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23C36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123C36"/>
                </a:solidFill>
                <a:latin typeface="Aptos Display"/>
                <a:ea typeface="Aptos Display"/>
                <a:cs typeface="Aptos Display"/>
              </a:rPr>
              <a:t>CloudGuard scanners feed the same pipeline for AWS, GCP, Kubernetes and IaC evidence.</a:t>
            </a:r>
          </a:p>
        </p:txBody>
      </p:sp>
    </p:spTree>
    <p:extLst>
      <p:ext uri="{BB962C8B-B14F-4D97-AF65-F5344CB8AC3E}">
        <p14:creationId xmlns:p14="http://schemas.microsoft.com/office/powerpoint/2010/main" val="84615361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AEE65A-7E0C-4F24-BC2E-D78B9C4D2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F7FA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78EE4-44DA-4D82-9B1D-9E41557B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EB10AD-DBD0-4FC7-86E0-64C446789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900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34B214-347D-4581-B291-D907CF66D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Compliance and Governance | GRC + Cloud Scanner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9B2444-4A08-4E68-B479-AD0760B8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04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627F7A-338B-4ACF-B87E-5AC6BB95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B171A9-208F-4B6E-93CF-0015C058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Docker/Dokploy PoC deployment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961243-4E98-48E9-9002-2675911F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The GRC and scanner services can run as separate Docker services while Dokploy handles HTTPS, domains and logs.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0236D6-9D31-4FB4-A18A-15360756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AB71AD-ACD1-46B9-904E-897A140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0980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app.cloudscanner.com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6CF46B-5E53-41D2-A06C-1F6006E46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Dashboard / GRC portal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D2C6D-4504-413C-800B-0D26BE03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4FB"/>
          </a:solidFill>
          <a:ln xmlns:a="http://schemas.openxmlformats.org/drawingml/2006/main" w="9525">
            <a:solidFill>
              <a:srgbClr val="0C7DA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1C231-268C-4B4D-BF01-E1D97BB2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1467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rPr>
              <a:t>api.cloudscanner.com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F46C8C-8025-4D18-B65B-200CA67B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62325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Backend APIs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B96987-5212-4269-BC66-DBC008855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05250"/>
            <a:ext cx="1809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D4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215635-4365-4445-B149-FBCDB372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19550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rPr>
              <a:t>ingest.cloudscanner.com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4812FF-5A99-4475-8338-552DEF9E2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67200"/>
            <a:ext cx="1581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Evidence ingestion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823EC-E341-4723-B37E-17AB46F3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00037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2"/>
          </a:solidFill>
          <a:ln xmlns:a="http://schemas.openxmlformats.org/drawingml/2006/main" w="9525">
            <a:solidFill>
              <a:srgbClr val="123C3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453F0F-6318-4DDF-B858-ECE3E580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1146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23C36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123C36"/>
                </a:solidFill>
                <a:latin typeface="Aptos Display"/>
                <a:ea typeface="Aptos Display"/>
                <a:cs typeface="Aptos Display"/>
              </a:rPr>
              <a:t>Dokploy / Traefik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30A0BA-E2D6-443D-AAF7-F5D34D7E8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362325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HTTPS, domains, deploys, logs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BB15B3-6DA2-430A-AC96-67287831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FA25C8-606F-435C-9785-7FEAE5D7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146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Backend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7BCEB7-BCF0-4F66-83C4-CEA93B24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362325"/>
            <a:ext cx="17716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FastAPI UI + API + GRC endpoints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1F501-87CD-4290-A1D8-670E3A9B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33625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DA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A92FCA-9C4B-487C-82E8-9D2CDCB1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4479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C7DAA"/>
                </a:solidFill>
                <a:latin typeface="Aptos Display"/>
                <a:ea typeface="Aptos Display"/>
                <a:cs typeface="Aptos Display"/>
              </a:rPr>
              <a:t>PostgreSQL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17557F-E202-4346-A66C-41A7DD27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9557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Findings, jobs, evidence metadata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027378-A7E3-433D-B798-707AC55A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76625"/>
            <a:ext cx="2000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60A813-E78F-4D00-AC9D-F7CB5CC43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9092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B57900"/>
                </a:solidFill>
                <a:latin typeface="Aptos Display"/>
                <a:ea typeface="Aptos Display"/>
                <a:cs typeface="Aptos Display"/>
              </a:rPr>
              <a:t>Object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DCE3686-C640-4B75-968E-510AF1E7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838575"/>
            <a:ext cx="1771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Raw evidence artifacts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D6400B-8C1A-4AD6-9F1B-E07F2C512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7625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6554C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C684714-0753-439C-81F2-AEB1A4067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48768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6554C0"/>
                </a:solidFill>
                <a:latin typeface="Aptos Display"/>
                <a:ea typeface="Aptos Display"/>
                <a:cs typeface="Aptos Display"/>
              </a:rPr>
              <a:t>Scheduler Worker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3EDC258-6B01-47A3-BA7B-9C667E5F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5124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Creates scheduled scan jobs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F5D32-1FB9-4A5C-A307-08E73A19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625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3A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40888AA-7804-4167-8CD4-33BEB248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8768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B83A3A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B83A3A"/>
                </a:solidFill>
                <a:latin typeface="Aptos Display"/>
                <a:ea typeface="Aptos Display"/>
                <a:cs typeface="Aptos Display"/>
              </a:rPr>
              <a:t>Scan Worker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FA99B2-09F4-4BA2-89E8-2B071244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124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Polls jobs and writes results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C6312F-0124-4B09-AD83-C40CE4209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62500"/>
            <a:ext cx="2000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C1A410-83CF-4449-B69C-F1F77E13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87680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013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Evidence Connector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62E872-07C9-4977-9AA2-32D5BC358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5124450"/>
            <a:ext cx="1771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Posts normalized evidence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742151-AFFA-49F2-ADBF-0C6E63F0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90775"/>
            <a:ext cx="2857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42C278-99A2-4272-82D9-B869C2B1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8125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59BAE24-B7A3-4F87-B2D5-743CA001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28612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AB88C8-1B35-4F2C-A1A9-823C131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191000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09DD2F-F838-4A6A-AA01-A406EFB15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2762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4E238D4-685A-41FE-A47B-704831EE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37185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7574375-01FD-40A4-A667-F216DFB83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4290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C788FF-63E3-4AAE-AFDB-84B674044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37185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7A79908-0FBF-4E2A-A612-DFF3BFE3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876675"/>
            <a:ext cx="28575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431E72-267F-436D-B61B-0EFBD3D23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290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B8B8A7D-DBE9-4841-A927-87C704DC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2695575"/>
            <a:ext cx="2857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4374351-2E1B-46BF-99C7-C2969FF6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86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4B53C3D-EA0E-423F-85F5-211C9F02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2890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B7CDCD-64F5-42A9-8CF2-038D0702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29050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8C9225C-1CDD-413B-8085-F487F6B8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7190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740368E-8247-45E2-AA50-644D1293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0673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383C2A-5249-40E0-9376-5948F05D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501015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0C1892D-703F-4126-9B46-A9D59A6E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067300"/>
            <a:ext cx="561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5985439-85B8-4E21-A9FA-84E1D8437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5010150"/>
            <a:ext cx="15240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0">
            <a:solidFill>
              <a:srgbClr val="C8D8D2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D3E2C7F-A79E-4E6D-B758-12A1BD9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4200525"/>
            <a:ext cx="285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D2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116642B-95D8-4313-B1E5-D84D0F59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76875"/>
            <a:ext cx="914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23C36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123C36"/>
                </a:solidFill>
                <a:latin typeface="Aptos Display"/>
                <a:ea typeface="Aptos Display"/>
                <a:cs typeface="Aptos Display"/>
              </a:rPr>
              <a:t>PoC VM: 4 vCPU / 8 GB RAM / 100 GB SSD recommended for scanner-heavy demos.</a:t>
            </a:r>
          </a:p>
        </p:txBody>
      </p:sp>
    </p:spTree>
    <p:extLst>
      <p:ext uri="{BB962C8B-B14F-4D97-AF65-F5344CB8AC3E}">
        <p14:creationId xmlns:p14="http://schemas.microsoft.com/office/powerpoint/2010/main" val="3715253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EE3D2B6-4620-4D64-A18C-8DADAF7BC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8"/>
          </a:solidFill>
          <a:ln xmlns:a="http://schemas.openxmlformats.org/drawingml/2006/main" w="9525">
            <a:solidFill>
              <a:srgbClr val="F7FAF8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7CDF96-787A-4277-86AB-28A2CF4B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68940-76D3-4DAE-976C-CBA35359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7900"/>
          </a:solidFill>
          <a:ln xmlns:a="http://schemas.openxmlformats.org/drawingml/2006/main" w="9525">
            <a:solidFill>
              <a:srgbClr val="B579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AEA92-3EE5-4EBC-8DFC-BDB137C65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81750"/>
            <a:ext cx="7239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Compliance and Governance | GRC + Cloud Scanner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2958F-68B6-4C8D-92C0-8343865B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3817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05 /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B32AF6-7C58-473E-A12D-B5CB3934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"/>
            <a:ext cx="5905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OUTPUTS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5F4E12-7FED-4403-88C1-0B5ECFE2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58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What we can send as relevant details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A47DE-5692-471A-8285-967F1014A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The GRC topic should show business value and technical implementation together.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CB2D8-69A6-4FB2-8896-3B4501DB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6"/>
          </a:solidFill>
          <a:ln xmlns:a="http://schemas.openxmlformats.org/drawingml/2006/main" w="9525">
            <a:solidFill>
              <a:srgbClr val="123C3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AF9DD3-A548-4D36-A164-841CC492D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38350"/>
            <a:ext cx="1847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Area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91D1C3-A7B8-4549-B456-EF0511E35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952625"/>
            <a:ext cx="5905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6"/>
          </a:solidFill>
          <a:ln xmlns:a="http://schemas.openxmlformats.org/drawingml/2006/main" w="9525">
            <a:solidFill>
              <a:srgbClr val="123C3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69488C-D5C2-475D-885E-3D662F166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38350"/>
            <a:ext cx="5753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Details to include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A31727-1433-4578-8D2C-C2F5F881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476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C36"/>
          </a:solidFill>
          <a:ln xmlns:a="http://schemas.openxmlformats.org/drawingml/2006/main" w="9525">
            <a:solidFill>
              <a:srgbClr val="123C3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E0D87-84B5-4382-8A29-6DA74DAA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38350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Owner / input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B47D1-81C0-44B5-9C1B-85BD0926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8AF1E3-7BBB-4BC0-A6C8-0ED653598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Compliance dashboard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F3835-DC69-4013-B781-AB497B58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2764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1D542A-AE16-461B-9AE6-9B4F4ECCC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6220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Control status, evidence count, non-compliance, risk owner, remediation status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9E852-5E82-4402-9ABD-CBDBD055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764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159528-F8DD-4589-A43A-324583B7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GRC + CloudGuard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FD6EBA-1E44-4346-90C3-A7B4A32F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908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48EA5-7524-41CB-8A7E-9BE844CE5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765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Cloud scanner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4CC345-D2CD-4E16-B742-B7FF4131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9082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E48111-5C9E-4C6B-A093-F950BB86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87655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AWS, GCP, Kubernetes, IaC, vulnerability/dependency findings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A93418-D652-4199-A0BD-9D70E9703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908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B7B447-B751-421A-8F0D-8AC2D17A4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7655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Ishaan / Cloud scanners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AC79B4-6E3B-43CE-BA28-0BF0BD69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0517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19CA21-042D-45E0-9BE9-76C6B4F7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909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Identity controls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B07F80-DC62-4E00-B75A-E1DC21E52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3051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746657-A026-41E4-BEA9-0048F738A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39090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SSO, MFA, RBAC, lifecycle, audit logs using open-source Keycloak-style IAM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0D46B-401E-4AFD-9F02-4665230D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051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F86162C-9E9E-4D5B-979A-E0DA3160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9090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Identity stream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E726457-3FAC-4F48-A585-986617D7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952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A46CF3-ED49-48C0-A369-E65C020F9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DPDP governance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4BB25-D258-429E-97E8-C41818D9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1952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0B2642-1A3D-4189-B236-DE925462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0525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Consent, access control, audit evidence, privacy evidence mapping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843A87-204B-4BBA-AB94-78169BC9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952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7F4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42369BE-D4AA-447C-AB75-7E32A16C1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90525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Pratik / Shaswati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FFA390D-5475-4310-97C8-CA30A2EE7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F9E7B83-C9BA-429C-A723-6E778E18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19600"/>
            <a:ext cx="1847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defRPr>
            </a:pPr>
            <a:r>
              <a:rPr sz="788" b="1">
                <a:solidFill>
                  <a:srgbClr val="10201C"/>
                </a:solidFill>
                <a:latin typeface="Aptos Display"/>
                <a:ea typeface="Aptos Display"/>
                <a:cs typeface="Aptos Display"/>
              </a:rPr>
              <a:t>Integrations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A94EBD-9575-4A32-BC59-2986785A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333875"/>
            <a:ext cx="590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67E9CBA-9A6C-476C-9414-F2A0D0848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19600"/>
            <a:ext cx="5753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LogManthan, infra scanner, asset inventory, SAST, DAST/Burp via connectors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33436C-150A-42DE-B614-511637AE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FCA070E-10BC-4F60-BC91-5103D5C7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419600"/>
            <a:ext cx="2324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All topic owners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6EE14E2-F6B0-419F-841A-BD74E2B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67300"/>
            <a:ext cx="8763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4ED"/>
          </a:solidFill>
          <a:ln xmlns:a="http://schemas.openxmlformats.org/drawingml/2006/main" w="9525">
            <a:solidFill>
              <a:srgbClr val="C8D8D2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1A62DD-0B1D-495E-A79E-EF08ECA1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67300"/>
            <a:ext cx="666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7C66"/>
          </a:solidFill>
          <a:ln xmlns:a="http://schemas.openxmlformats.org/drawingml/2006/main" w="9525">
            <a:solidFill>
              <a:srgbClr val="0E7C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C27676-040C-49D8-9373-CB089ECE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219700"/>
            <a:ext cx="842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E7C66"/>
                </a:solidFill>
                <a:latin typeface="Aptos Display"/>
                <a:ea typeface="Aptos Display"/>
                <a:cs typeface="Aptos Display"/>
              </a:rPr>
              <a:t>Recommendation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8E41F90-DD84-4495-9128-4FC605D2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524500"/>
            <a:ext cx="8420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9726B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9726B"/>
                </a:solidFill>
                <a:latin typeface="Aptos"/>
                <a:ea typeface="Aptos"/>
                <a:cs typeface="Aptos"/>
              </a:rPr>
              <a:t>Use the GRC layer as the common reporting layer: scanners and teams produce evidence, connectors normalize it, and the dashboard maps it to controls and remediation.</a:t>
            </a:r>
          </a:p>
        </p:txBody>
      </p:sp>
    </p:spTree>
    <p:extLst>
      <p:ext uri="{BB962C8B-B14F-4D97-AF65-F5344CB8AC3E}">
        <p14:creationId xmlns:p14="http://schemas.microsoft.com/office/powerpoint/2010/main" val="3257483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2026-06-14T04:30:38.9990000Z</dcterms:created>
  <dcterms:modified xsi:type="dcterms:W3CDTF">2026-06-14T04:30:38.9990000Z</dcterms:modified>
</coreProperties>
</file>