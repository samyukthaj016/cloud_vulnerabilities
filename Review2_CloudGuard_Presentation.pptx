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15-20 seconds: Introduce yourself and point to the guide approval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minute: Explain why cloud security needs integrated scanning, not isolated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minute: Mention at least 3 prior tools/systems and what each misses.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minute: Keep problem and gap explicit; this directly maps to review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seconds: Present measurable objectives and mention what success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minute: Explain data flow end-to-end in plain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minute: Walk left-to-right flow, then top-to-bottom processing and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minute: Emphasize security boundary and per-user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minute: Explain why orchestrator design improves extensibility and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minute: Mention strength of combining config + dependency + secret + offensive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minute: Show how users consume results and produce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minute: Keep this structured; this slide maps to 10-mark analysis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seconds: Show planned phases and current completion percentage.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minute: State clearly what is already working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screenshots to demonstrate implemented modules and current working status (~45%).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CloudGuard: Multi-Cloud Vulnerability Scanner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163B8"/>
                </a:solidFill>
              </a:defRPr>
            </a:pPr>
            <a:r>
              <a:t>Review-2 Presentation (12–15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Student Name: __________   |   Roll No: __________   |   Guide: __________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0515600" cy="384048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21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B02A37"/>
                </a:solidFill>
              </a:defRPr>
            </a:pPr>
            <a:r>
              <a:t>MANDATORY: Insert screenshot of Guide Approval Email here</a:t>
            </a:r>
          </a:p>
          <a:p>
            <a:pPr algn="ctr">
              <a:defRPr sz="1600">
                <a:solidFill>
                  <a:srgbClr val="282828"/>
                </a:solidFill>
              </a:defRPr>
            </a:pPr>
            <a:r>
              <a:t>(Replace this box with the screenshot before final submission)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CloudGuard | Review-2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1. Introduction (Slide 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Cloud organizations manage AWS/GCP resources at scale, increasing security exposure.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Threats include misconfigured IAM, exposed storage, vulnerable dependencies, and secret leakage.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Security teams often use multiple disconnected tools and manual checks.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Our project goal: one unified platform for cloud posture + vulnerability visibility.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CloudGuard | Review-2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1. Introduction (Slide 2/2) +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Existing approaches reviewed: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Prowler/ScoutSuite: strong cloud checks but limited integrated workflow.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Trivy/Safety/Gitleaks/Nuclei: excellent specialization but fragmented outputs.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Native dashboards (CSP tools): provider-specific, weaker cross-cloud correlation.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Observation: Most solutions require manual aggregation for complete risk assessment.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Need identified in literature: unified, extensible, and automation-friendly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CloudGuard | Review-2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2. Problem Statement +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82828"/>
                </a:solidFill>
              </a:defRPr>
            </a:pPr>
            <a:r>
              <a:t>Problem Statement:</a:t>
            </a:r>
          </a:p>
          <a:p>
            <a:pPr lvl="1">
              <a:defRPr sz="1900">
                <a:solidFill>
                  <a:srgbClr val="282828"/>
                </a:solidFill>
              </a:defRPr>
            </a:pPr>
            <a:r>
              <a:t>Current cloud vulnerability assessment is fragmented across tools, clouds, and output formats.</a:t>
            </a:r>
          </a:p>
          <a:p>
            <a:pPr lvl="1">
              <a:defRPr sz="1900">
                <a:solidFill>
                  <a:srgbClr val="282828"/>
                </a:solidFill>
              </a:defRPr>
            </a:pPr>
            <a:r>
              <a:t>Teams lack a single workflow for scan, compare, prioritize, and report findings.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Research Gap:</a:t>
            </a:r>
          </a:p>
          <a:p>
            <a:pPr lvl="1">
              <a:defRPr sz="1900">
                <a:solidFill>
                  <a:srgbClr val="282828"/>
                </a:solidFill>
              </a:defRPr>
            </a:pPr>
            <a:r>
              <a:t>Limited student-level implementations combine multi-cloud scanning, offensive checks, and AI-assisted analysis in one system.</a:t>
            </a:r>
          </a:p>
          <a:p>
            <a:pPr lvl="1">
              <a:defRPr sz="1900">
                <a:solidFill>
                  <a:srgbClr val="282828"/>
                </a:solidFill>
              </a:defRPr>
            </a:pPr>
            <a:r>
              <a:t>Few systems enforce user-scoped credential security with integrated dashboard reporting.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CloudGuard | Review-2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3. 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82828"/>
                </a:solidFill>
              </a:defRPr>
            </a:pPr>
            <a:r>
              <a:t>Design and implement a unified cloud vulnerability scanner (AWS + GCP).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Integrate scanners (Trivy, Safety, Gitleaks, Nuclei, CloudFox) into one workflow.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Provide secure user authentication and credential isolation for scan operations.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Build a dashboard for findings, history, reports, and scheduled scans.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Deliver actionable output: severity-based prioritization and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CloudGuard | Review-2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4. Proposed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User logs in -&gt; provides/selects cloud credentials -&gt; starts scan from dashboard.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FastAPI backend orchestrates scan plugins and vulnerability engines via MCP architecture.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Results are normalized and stored in PostgreSQL for analytics and reporting.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Scheduler + Redis support recurring scans and automated execution.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Frontend presents live status, findings, severity trends, and downloadable 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CloudGuard | Review-2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5. System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463040" cy="822960"/>
          </a:xfrm>
          <a:prstGeom prst="roundRect">
            <a:avLst/>
          </a:prstGeom>
          <a:solidFill>
            <a:srgbClr val="E6F2FF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828"/>
                </a:solidFill>
              </a:defRPr>
            </a:pPr>
            <a: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1188720"/>
            <a:ext cx="2103120" cy="822960"/>
          </a:xfrm>
          <a:prstGeom prst="roundRect">
            <a:avLst/>
          </a:prstGeom>
          <a:solidFill>
            <a:srgbClr val="E6F2FF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828"/>
                </a:solidFill>
              </a:defRPr>
            </a:pPr>
            <a:r>
              <a:t>Frontend</a:t>
            </a:r>
            <a:br/>
            <a:r>
              <a:t>(HTML/JS)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188720"/>
            <a:ext cx="2011680" cy="822960"/>
          </a:xfrm>
          <a:prstGeom prst="roundRect">
            <a:avLst/>
          </a:prstGeom>
          <a:solidFill>
            <a:srgbClr val="E2F0FF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828"/>
                </a:solidFill>
              </a:defRPr>
            </a:pPr>
            <a:r>
              <a:t>Backend API</a:t>
            </a:r>
            <a:br/>
            <a:r>
              <a:t>(FastAPI)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188720"/>
            <a:ext cx="2103120" cy="822960"/>
          </a:xfrm>
          <a:prstGeom prst="roundRect">
            <a:avLst/>
          </a:prstGeom>
          <a:solidFill>
            <a:srgbClr val="E2F0FF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828"/>
                </a:solidFill>
              </a:defRPr>
            </a:pPr>
            <a:r>
              <a:t>OAuth + Session</a:t>
            </a:r>
            <a:br/>
            <a:r>
              <a:t>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2468880"/>
            <a:ext cx="2286000" cy="822960"/>
          </a:xfrm>
          <a:prstGeom prst="roundRect">
            <a:avLst/>
          </a:prstGeom>
          <a:solidFill>
            <a:srgbClr val="EAF8EB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828"/>
                </a:solidFill>
              </a:defRPr>
            </a:pPr>
            <a:r>
              <a:t>MCP Orchestrator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3749039"/>
            <a:ext cx="4389120" cy="914400"/>
          </a:xfrm>
          <a:prstGeom prst="roundRect">
            <a:avLst/>
          </a:prstGeom>
          <a:solidFill>
            <a:srgbClr val="FFF6E6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828"/>
                </a:solidFill>
              </a:defRPr>
            </a:pPr>
            <a:r>
              <a:t>Scanner Engines</a:t>
            </a:r>
            <a:br/>
            <a:r>
              <a:t>(Trivy/Nuclei/Gitleaks/Safety/CloudFox)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749039"/>
            <a:ext cx="1645920" cy="822960"/>
          </a:xfrm>
          <a:prstGeom prst="roundRect">
            <a:avLst/>
          </a:prstGeom>
          <a:solidFill>
            <a:srgbClr val="F2F2F2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828"/>
                </a:solidFill>
              </a:defRPr>
            </a:pPr>
            <a:r>
              <a:t>PostgreSQL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846320"/>
            <a:ext cx="2103120" cy="822960"/>
          </a:xfrm>
          <a:prstGeom prst="roundRect">
            <a:avLst/>
          </a:prstGeom>
          <a:solidFill>
            <a:srgbClr val="F2F2F2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828"/>
                </a:solidFill>
              </a:defRPr>
            </a:pPr>
            <a:r>
              <a:t>Redis + Scheduler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846320"/>
            <a:ext cx="1828800" cy="822960"/>
          </a:xfrm>
          <a:prstGeom prst="roundRect">
            <a:avLst/>
          </a:prstGeom>
          <a:solidFill>
            <a:srgbClr val="FFF6E6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828"/>
                </a:solidFill>
              </a:defRPr>
            </a:pPr>
            <a:r>
              <a:t>AWS / GCP</a:t>
            </a:r>
          </a:p>
        </p:txBody>
      </p:sp>
      <p:sp>
        <p:nvSpPr>
          <p:cNvPr id="12" name="Straight Connector 11"/>
          <p:cNvSpPr/>
          <p:nvPr/>
        </p:nvSpPr>
        <p:spPr>
          <a:xfrm>
            <a:off x="2011680" y="1600200"/>
            <a:ext cx="457200" cy="0"/>
          </a:xfrm>
          <a:prstGeom prst="lineInv">
            <a:avLst/>
          </a:prstGeom>
          <a:ln w="2032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raight Connector 12"/>
          <p:cNvSpPr/>
          <p:nvPr/>
        </p:nvSpPr>
        <p:spPr>
          <a:xfrm>
            <a:off x="4572000" y="1600200"/>
            <a:ext cx="457200" cy="0"/>
          </a:xfrm>
          <a:prstGeom prst="lineInv">
            <a:avLst/>
          </a:prstGeom>
          <a:ln w="2032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aight Connector 13"/>
          <p:cNvSpPr/>
          <p:nvPr/>
        </p:nvSpPr>
        <p:spPr>
          <a:xfrm>
            <a:off x="7040880" y="1600200"/>
            <a:ext cx="457199" cy="0"/>
          </a:xfrm>
          <a:prstGeom prst="lineInv">
            <a:avLst/>
          </a:prstGeom>
          <a:ln w="2032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raight Connector 14"/>
          <p:cNvSpPr/>
          <p:nvPr/>
        </p:nvSpPr>
        <p:spPr>
          <a:xfrm>
            <a:off x="6035040" y="2011680"/>
            <a:ext cx="0" cy="457200"/>
          </a:xfrm>
          <a:prstGeom prst="lineInv">
            <a:avLst/>
          </a:prstGeom>
          <a:ln w="2032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6035040" y="3291840"/>
            <a:ext cx="0" cy="457199"/>
          </a:xfrm>
          <a:prstGeom prst="lineInv">
            <a:avLst/>
          </a:prstGeom>
          <a:ln w="2032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raight Connector 16"/>
          <p:cNvSpPr/>
          <p:nvPr/>
        </p:nvSpPr>
        <p:spPr>
          <a:xfrm>
            <a:off x="7406640" y="4160520"/>
            <a:ext cx="457200" cy="0"/>
          </a:xfrm>
          <a:prstGeom prst="lineInv">
            <a:avLst/>
          </a:prstGeom>
          <a:ln w="2032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raight Connector 17"/>
          <p:cNvSpPr/>
          <p:nvPr/>
        </p:nvSpPr>
        <p:spPr>
          <a:xfrm>
            <a:off x="7223760" y="5257800"/>
            <a:ext cx="640079" cy="0"/>
          </a:xfrm>
          <a:prstGeom prst="lineInv">
            <a:avLst/>
          </a:prstGeom>
          <a:ln w="2032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raight Connector 18"/>
          <p:cNvSpPr/>
          <p:nvPr/>
        </p:nvSpPr>
        <p:spPr>
          <a:xfrm>
            <a:off x="2834640" y="5257800"/>
            <a:ext cx="2103120" cy="-2377440"/>
          </a:xfrm>
          <a:prstGeom prst="lineInv">
            <a:avLst/>
          </a:prstGeom>
          <a:ln w="2032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CloudGuard | Review-2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6. Modules (1/4): Authentication &amp; Credential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Google OAuth login and session-based access control for protected APIs.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Credential APIs for AWS/GCP/OpenAI/Azure with user-scoped ownership.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Secure storage pipeline and validation support in backend credential manager.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Outcome: only authenticated users can run scans and access their own credentials.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CloudGuard | Review-2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6. Modules (2/4): Scan Orchestration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MCP-based plugin registry initializes provider-specific scan servers.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Supports direct scans, multi-cloud scans, offensive scans, and scheduled scans.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Error-handling persists failed scan context for dashboard visibility.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Scheduler worker + Redis enables recurring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CloudGuard | Review-2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6. Modules (3/4): Vulnerability &amp; Analysis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Combines multiple scanners: Trivy, Nuclei, Safety, Gitleaks, CloudFox.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Normalizes heterogeneous findings into a common result model.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AI components generate explanation and prioritization support.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Includes enhanced scan modes for deeper analysis and comparison.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CloudGuard | Review-2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6. Modules (4/4): Dashboard, Reports &amp;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Frontend pages: Home, Dashboard, History, Scheduled Scans, System Status.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REST APIs: health, scan history, findings, reports (including PDF export).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System status endpoint provides component and operational checks.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Outcome: actionable visibility for review, triage, and reporting.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CloudGuard | Review-2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Analysis &amp;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2A4A"/>
                </a:solidFill>
              </a:defRPr>
            </a:pPr>
            <a:r>
              <a:t>Functional Requirements</a:t>
            </a:r>
          </a:p>
          <a:p>
            <a:pPr lvl="1">
              <a:defRPr sz="1800"/>
            </a:pPr>
            <a:r>
              <a:t>User authentication and session management</a:t>
            </a:r>
          </a:p>
          <a:p>
            <a:pPr lvl="1">
              <a:defRPr sz="1800"/>
            </a:pPr>
            <a:r>
              <a:t>Credential CRUD and validation</a:t>
            </a:r>
          </a:p>
          <a:p>
            <a:pPr lvl="1">
              <a:defRPr sz="1800"/>
            </a:pPr>
            <a:r>
              <a:t>Single and multi-cloud scan execution</a:t>
            </a:r>
          </a:p>
          <a:p>
            <a:pPr lvl="1">
              <a:defRPr sz="1800"/>
            </a:pPr>
            <a:r>
              <a:t>Scheduled scans and status tracking</a:t>
            </a:r>
          </a:p>
          <a:p>
            <a:pPr lvl="1">
              <a:defRPr sz="1800"/>
            </a:pPr>
            <a:r>
              <a:t>Dashboard visualization and report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2A4A"/>
                </a:solidFill>
              </a:defRPr>
            </a:pPr>
            <a:r>
              <a:t>Non-Functional Requirements</a:t>
            </a:r>
          </a:p>
          <a:p>
            <a:pPr lvl="1">
              <a:defRPr sz="1800"/>
            </a:pPr>
            <a:r>
              <a:t>Security: protected APIs, credential isolation</a:t>
            </a:r>
          </a:p>
          <a:p>
            <a:pPr lvl="1">
              <a:defRPr sz="1800"/>
            </a:pPr>
            <a:r>
              <a:t>Scalability: modular scan plugin architecture</a:t>
            </a:r>
          </a:p>
          <a:p>
            <a:pPr lvl="1">
              <a:defRPr sz="1800"/>
            </a:pPr>
            <a:r>
              <a:t>Reliability: error persistence and health checks</a:t>
            </a:r>
          </a:p>
          <a:p>
            <a:pPr lvl="1">
              <a:defRPr sz="1800"/>
            </a:pPr>
            <a:r>
              <a:t>Usability: dashboard-driven workflow</a:t>
            </a:r>
          </a:p>
          <a:p>
            <a:pPr lvl="1">
              <a:defRPr sz="1800"/>
            </a:pPr>
            <a:r>
              <a:t>Deployability: dockerized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CloudGuard | Review-2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Project Plan (Review-2 Status)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89920" cy="5029200"/>
          </a:xfrm>
          <a:prstGeom prst="roundRect">
            <a:avLst/>
          </a:prstGeom>
          <a:solidFill>
            <a:srgbClr val="FCFCFC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88038"/>
                </a:solidFill>
              </a:defRPr>
            </a:pPr>
            <a:r>
              <a:t>1. Phase 1: Requirement Analysis  -&gt;  Completed</a:t>
            </a:r>
          </a:p>
          <a:p>
            <a:pPr>
              <a:defRPr sz="2100" b="1">
                <a:solidFill>
                  <a:srgbClr val="188038"/>
                </a:solidFill>
              </a:defRPr>
            </a:pPr>
            <a:r>
              <a:t>2. Phase 2: Architecture &amp; DB Schema  -&gt;  Completed</a:t>
            </a:r>
          </a:p>
          <a:p>
            <a:pPr>
              <a:defRPr sz="2100" b="0">
                <a:solidFill>
                  <a:srgbClr val="CD7820"/>
                </a:solidFill>
              </a:defRPr>
            </a:pPr>
            <a:r>
              <a:t>3. Phase 3: Core Module Implementation  -&gt;  ~45% Completed</a:t>
            </a:r>
          </a:p>
          <a:p>
            <a:pPr>
              <a:defRPr sz="2100" b="0">
                <a:solidFill>
                  <a:srgbClr val="CD7820"/>
                </a:solidFill>
              </a:defRPr>
            </a:pPr>
            <a:r>
              <a:t>4. Phase 4: Integration Testing  -&gt;  In Progress</a:t>
            </a:r>
          </a:p>
          <a:p>
            <a:pPr>
              <a:defRPr sz="2100" b="0">
                <a:solidFill>
                  <a:srgbClr val="B02A37"/>
                </a:solidFill>
              </a:defRPr>
            </a:pPr>
            <a:r>
              <a:t>5. Phase 5: Final Validation + Documentation  -&gt;  Pending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Target for next review: complete remaining integration, testing, and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CloudGuard | Review-2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7. 40–50% Implementation Results (Slide 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Current implementation progress: approximately 45%.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Completed so far: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Core FastAPI backend with scan, report, and health APIs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Credential and scheduling modules with DB integration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OAuth-based authentication routes and protected endpoints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Frontend dashboard pages integrated with backend APIs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Initial dockerized deployment validated in dev profile.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CloudGuard | Review-2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7. 40–50% Implementation Results (Slide 2/2): Evidence Screenshots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60120"/>
            <a:ext cx="5623560" cy="2331720"/>
          </a:xfrm>
          <a:prstGeom prst="roundRect">
            <a:avLst/>
          </a:prstGeom>
          <a:solidFill>
            <a:srgbClr val="FCFDFF"/>
          </a:solidFill>
          <a:ln>
            <a:solidFill>
              <a:srgbClr val="B4C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1005840"/>
            <a:ext cx="54772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A4A"/>
                </a:solidFill>
              </a:defRPr>
            </a:pPr>
            <a:r>
              <a:t>Scheduled Scan Module</a:t>
            </a:r>
          </a:p>
        </p:txBody>
      </p:sp>
      <p:pic>
        <p:nvPicPr>
          <p:cNvPr id="5" name="Picture 4" descr="WhatsApp Image 2026-01-10 at 14.26.5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122" y="1252728"/>
            <a:ext cx="3116275" cy="19476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53912" y="960120"/>
            <a:ext cx="5623560" cy="2331720"/>
          </a:xfrm>
          <a:prstGeom prst="roundRect">
            <a:avLst/>
          </a:prstGeom>
          <a:solidFill>
            <a:srgbClr val="FCFDFF"/>
          </a:solidFill>
          <a:ln>
            <a:solidFill>
              <a:srgbClr val="B4C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27064" y="1005840"/>
            <a:ext cx="54772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A4A"/>
                </a:solidFill>
              </a:defRPr>
            </a:pPr>
            <a:r>
              <a:t>Detailed Finding + AI Remediation</a:t>
            </a:r>
          </a:p>
        </p:txBody>
      </p:sp>
      <p:pic>
        <p:nvPicPr>
          <p:cNvPr id="8" name="Picture 7" descr="WhatsApp Image 2026-01-15 at 18.41.1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7554" y="1252728"/>
            <a:ext cx="3116275" cy="19476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1480" y="3456432"/>
            <a:ext cx="3685032" cy="2560320"/>
          </a:xfrm>
          <a:prstGeom prst="roundRect">
            <a:avLst/>
          </a:prstGeom>
          <a:solidFill>
            <a:srgbClr val="FCFDFF"/>
          </a:solidFill>
          <a:ln>
            <a:solidFill>
              <a:srgbClr val="B4C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3502151"/>
            <a:ext cx="35387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A4A"/>
                </a:solidFill>
              </a:defRPr>
            </a:pPr>
            <a:r>
              <a:t>Home/Login (OAuth) Screen</a:t>
            </a:r>
          </a:p>
        </p:txBody>
      </p:sp>
      <p:pic>
        <p:nvPicPr>
          <p:cNvPr id="11" name="Picture 10" descr="Screenshot 2026-02-25 at 10.48.23 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78" y="3749039"/>
            <a:ext cx="3482035" cy="21762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251960" y="3456432"/>
            <a:ext cx="3685032" cy="2560320"/>
          </a:xfrm>
          <a:prstGeom prst="roundRect">
            <a:avLst/>
          </a:prstGeom>
          <a:solidFill>
            <a:srgbClr val="FCFDFF"/>
          </a:solidFill>
          <a:ln>
            <a:solidFill>
              <a:srgbClr val="B4C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3502151"/>
            <a:ext cx="35387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A4A"/>
                </a:solidFill>
              </a:defRPr>
            </a:pPr>
            <a:r>
              <a:t>Main Dashboard Overview</a:t>
            </a:r>
          </a:p>
        </p:txBody>
      </p:sp>
      <p:pic>
        <p:nvPicPr>
          <p:cNvPr id="14" name="Picture 13" descr="Screenshot 2026-02-25 at 10.48.34 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3458" y="3749039"/>
            <a:ext cx="3482035" cy="217627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092440" y="3456432"/>
            <a:ext cx="3685032" cy="2560320"/>
          </a:xfrm>
          <a:prstGeom prst="roundRect">
            <a:avLst/>
          </a:prstGeom>
          <a:solidFill>
            <a:srgbClr val="FCFDFF"/>
          </a:solidFill>
          <a:ln>
            <a:solidFill>
              <a:srgbClr val="B4C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3502151"/>
            <a:ext cx="35387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A4A"/>
                </a:solidFill>
              </a:defRPr>
            </a:pPr>
            <a:r>
              <a:t>Cloud Metrics + Trend Section</a:t>
            </a:r>
          </a:p>
        </p:txBody>
      </p:sp>
      <p:pic>
        <p:nvPicPr>
          <p:cNvPr id="17" name="Picture 16" descr="Screenshot 2026-02-25 at 10.48.41 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938" y="3749039"/>
            <a:ext cx="3482035" cy="21762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A5A5A"/>
                </a:solidFill>
              </a:defRPr>
            </a:pPr>
            <a:r>
              <a:t>CloudGuard | Review-2 | Real implementation evidence from running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